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roxima Nova"/>
      <p:regular r:id="rId31"/>
      <p:bold r:id="rId32"/>
      <p:italic r:id="rId33"/>
      <p:boldItalic r:id="rId34"/>
    </p:embeddedFont>
    <p:embeddedFont>
      <p:font typeface="Roboto Mono Light"/>
      <p:regular r:id="rId35"/>
      <p:bold r:id="rId36"/>
      <p:italic r:id="rId37"/>
      <p:boldItalic r:id="rId38"/>
    </p:embeddedFont>
    <p:embeddedFont>
      <p:font typeface="Roboto Mono"/>
      <p:regular r:id="rId39"/>
      <p:bold r:id="rId40"/>
      <p:italic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5.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roximaNova-italic.fntdata"/><Relationship Id="rId10" Type="http://schemas.openxmlformats.org/officeDocument/2006/relationships/slide" Target="slides/slide5.xml"/><Relationship Id="rId32" Type="http://schemas.openxmlformats.org/officeDocument/2006/relationships/font" Target="fonts/ProximaNova-bold.fntdata"/><Relationship Id="rId13" Type="http://schemas.openxmlformats.org/officeDocument/2006/relationships/slide" Target="slides/slide8.xml"/><Relationship Id="rId35" Type="http://schemas.openxmlformats.org/officeDocument/2006/relationships/font" Target="fonts/RobotoMonoLight-regular.fntdata"/><Relationship Id="rId12" Type="http://schemas.openxmlformats.org/officeDocument/2006/relationships/slide" Target="slides/slide7.xml"/><Relationship Id="rId34" Type="http://schemas.openxmlformats.org/officeDocument/2006/relationships/font" Target="fonts/ProximaNova-boldItalic.fntdata"/><Relationship Id="rId15" Type="http://schemas.openxmlformats.org/officeDocument/2006/relationships/slide" Target="slides/slide10.xml"/><Relationship Id="rId37" Type="http://schemas.openxmlformats.org/officeDocument/2006/relationships/font" Target="fonts/RobotoMonoLight-italic.fntdata"/><Relationship Id="rId14" Type="http://schemas.openxmlformats.org/officeDocument/2006/relationships/slide" Target="slides/slide9.xml"/><Relationship Id="rId36" Type="http://schemas.openxmlformats.org/officeDocument/2006/relationships/font" Target="fonts/RobotoMonoLight-bold.fntdata"/><Relationship Id="rId17" Type="http://schemas.openxmlformats.org/officeDocument/2006/relationships/slide" Target="slides/slide12.xml"/><Relationship Id="rId39" Type="http://schemas.openxmlformats.org/officeDocument/2006/relationships/font" Target="fonts/RobotoMono-regular.fntdata"/><Relationship Id="rId16" Type="http://schemas.openxmlformats.org/officeDocument/2006/relationships/slide" Target="slides/slide11.xml"/><Relationship Id="rId38" Type="http://schemas.openxmlformats.org/officeDocument/2006/relationships/font" Target="fonts/RobotoMonoLigh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bb50e8fe7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 name="Google Shape;50;gbb50e8fe7e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gbb50e8fe7e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b7819e670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b7819e670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4b7819e670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bb50e8fe7e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 name="Google Shape;67;gbb50e8fe7e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gbb50e8fe7e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bb50e8fe7e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5" name="Google Shape;75;gbb50e8fe7e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bb50e8fe7e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d54273245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 name="Google Shape;83;gd54273245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d542732452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542732452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 name="Google Shape;93;gd542732452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d542732452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d3a7afe718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d3a7afe718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d3a7afe718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d3a7afe71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d3a7afe718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d3a7afe718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d542732452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d542732452_1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d542732452_1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b7819e670_0_7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8" name="Google Shape;128;g34b7819e670_0_70:notes"/>
          <p:cNvSpPr txBox="1"/>
          <p:nvPr>
            <p:ph idx="1" type="body"/>
          </p:nvPr>
        </p:nvSpPr>
        <p:spPr>
          <a:xfrm>
            <a:off x="686098" y="4343703"/>
            <a:ext cx="5485800" cy="4113900"/>
          </a:xfrm>
          <a:prstGeom prst="rect">
            <a:avLst/>
          </a:prstGeom>
          <a:noFill/>
          <a:ln>
            <a:noFill/>
          </a:ln>
        </p:spPr>
        <p:txBody>
          <a:bodyPr anchorCtr="0" anchor="t" bIns="43075" lIns="86175" spcFirstLastPara="1" rIns="86175" wrap="square" tIns="43075">
            <a:noAutofit/>
          </a:bodyPr>
          <a:lstStyle/>
          <a:p>
            <a:pPr indent="0" lvl="0" marL="0" rtl="0" algn="l">
              <a:lnSpc>
                <a:spcPct val="100000"/>
              </a:lnSpc>
              <a:spcBef>
                <a:spcPts val="300"/>
              </a:spcBef>
              <a:spcAft>
                <a:spcPts val="0"/>
              </a:spcAft>
              <a:buSzPts val="1300"/>
              <a:buNone/>
            </a:pPr>
            <a:r>
              <a:t/>
            </a:r>
            <a:endParaRPr/>
          </a:p>
        </p:txBody>
      </p:sp>
      <p:sp>
        <p:nvSpPr>
          <p:cNvPr id="129" name="Google Shape;129;g34b7819e670_0_70:notes"/>
          <p:cNvSpPr txBox="1"/>
          <p:nvPr>
            <p:ph idx="12" type="sldNum"/>
          </p:nvPr>
        </p:nvSpPr>
        <p:spPr>
          <a:xfrm>
            <a:off x="3884414" y="8685893"/>
            <a:ext cx="2972100" cy="456600"/>
          </a:xfrm>
          <a:prstGeom prst="rect">
            <a:avLst/>
          </a:prstGeom>
          <a:noFill/>
          <a:ln>
            <a:noFill/>
          </a:ln>
        </p:spPr>
        <p:txBody>
          <a:bodyPr anchorCtr="0" anchor="b" bIns="43075" lIns="86175" spcFirstLastPara="1" rIns="86175" wrap="square" tIns="4307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d542732452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d542732452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d542732452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542732452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542732452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d542732452_1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b7819e670_0_12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4" name="Google Shape;154;g34b7819e670_0_125:notes"/>
          <p:cNvSpPr txBox="1"/>
          <p:nvPr>
            <p:ph idx="1" type="body"/>
          </p:nvPr>
        </p:nvSpPr>
        <p:spPr>
          <a:xfrm>
            <a:off x="686098" y="4343703"/>
            <a:ext cx="5485800" cy="4113900"/>
          </a:xfrm>
          <a:prstGeom prst="rect">
            <a:avLst/>
          </a:prstGeom>
          <a:noFill/>
          <a:ln>
            <a:noFill/>
          </a:ln>
        </p:spPr>
        <p:txBody>
          <a:bodyPr anchorCtr="0" anchor="t" bIns="43075" lIns="86175" spcFirstLastPara="1" rIns="86175" wrap="square" tIns="43075">
            <a:noAutofit/>
          </a:bodyPr>
          <a:lstStyle/>
          <a:p>
            <a:pPr indent="0" lvl="0" marL="0" rtl="0" algn="l">
              <a:lnSpc>
                <a:spcPct val="100000"/>
              </a:lnSpc>
              <a:spcBef>
                <a:spcPts val="300"/>
              </a:spcBef>
              <a:spcAft>
                <a:spcPts val="0"/>
              </a:spcAft>
              <a:buSzPts val="1300"/>
              <a:buNone/>
            </a:pPr>
            <a:r>
              <a:t/>
            </a:r>
            <a:endParaRPr/>
          </a:p>
        </p:txBody>
      </p:sp>
      <p:sp>
        <p:nvSpPr>
          <p:cNvPr id="155" name="Google Shape;155;g34b7819e670_0_125:notes"/>
          <p:cNvSpPr txBox="1"/>
          <p:nvPr>
            <p:ph idx="12" type="sldNum"/>
          </p:nvPr>
        </p:nvSpPr>
        <p:spPr>
          <a:xfrm>
            <a:off x="3884414" y="8685893"/>
            <a:ext cx="2972100" cy="456600"/>
          </a:xfrm>
          <a:prstGeom prst="rect">
            <a:avLst/>
          </a:prstGeom>
          <a:noFill/>
          <a:ln>
            <a:noFill/>
          </a:ln>
        </p:spPr>
        <p:txBody>
          <a:bodyPr anchorCtr="0" anchor="b" bIns="43075" lIns="86175" spcFirstLastPara="1" rIns="86175" wrap="square" tIns="4307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542732452_1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542732452_1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d542732452_1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d542732452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d542732452_1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d542732452_1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b7819e670_0_25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1" name="Google Shape;181;g34b7819e670_0_251:notes"/>
          <p:cNvSpPr txBox="1"/>
          <p:nvPr>
            <p:ph idx="1" type="body"/>
          </p:nvPr>
        </p:nvSpPr>
        <p:spPr>
          <a:xfrm>
            <a:off x="686098" y="4343703"/>
            <a:ext cx="5485800" cy="4113900"/>
          </a:xfrm>
          <a:prstGeom prst="rect">
            <a:avLst/>
          </a:prstGeom>
          <a:noFill/>
          <a:ln>
            <a:noFill/>
          </a:ln>
        </p:spPr>
        <p:txBody>
          <a:bodyPr anchorCtr="0" anchor="t" bIns="43075" lIns="86175" spcFirstLastPara="1" rIns="86175" wrap="square" tIns="43075">
            <a:noAutofit/>
          </a:bodyPr>
          <a:lstStyle/>
          <a:p>
            <a:pPr indent="0" lvl="0" marL="0" rtl="0" algn="l">
              <a:lnSpc>
                <a:spcPct val="100000"/>
              </a:lnSpc>
              <a:spcBef>
                <a:spcPts val="300"/>
              </a:spcBef>
              <a:spcAft>
                <a:spcPts val="0"/>
              </a:spcAft>
              <a:buSzPts val="1300"/>
              <a:buNone/>
            </a:pPr>
            <a:r>
              <a:t/>
            </a:r>
            <a:endParaRPr/>
          </a:p>
        </p:txBody>
      </p:sp>
      <p:sp>
        <p:nvSpPr>
          <p:cNvPr id="182" name="Google Shape;182;g34b7819e670_0_251:notes"/>
          <p:cNvSpPr txBox="1"/>
          <p:nvPr>
            <p:ph idx="12" type="sldNum"/>
          </p:nvPr>
        </p:nvSpPr>
        <p:spPr>
          <a:xfrm>
            <a:off x="3884414" y="8685893"/>
            <a:ext cx="2972100" cy="456600"/>
          </a:xfrm>
          <a:prstGeom prst="rect">
            <a:avLst/>
          </a:prstGeom>
          <a:noFill/>
          <a:ln>
            <a:noFill/>
          </a:ln>
        </p:spPr>
        <p:txBody>
          <a:bodyPr anchorCtr="0" anchor="b" bIns="43075" lIns="86175" spcFirstLastPara="1" rIns="86175" wrap="square" tIns="4307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4b7819e670_0_25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 name="Google Shape;190;g34b7819e670_0_259:notes"/>
          <p:cNvSpPr txBox="1"/>
          <p:nvPr>
            <p:ph idx="1" type="body"/>
          </p:nvPr>
        </p:nvSpPr>
        <p:spPr>
          <a:xfrm>
            <a:off x="686098" y="4343703"/>
            <a:ext cx="5485800" cy="4113900"/>
          </a:xfrm>
          <a:prstGeom prst="rect">
            <a:avLst/>
          </a:prstGeom>
          <a:noFill/>
          <a:ln>
            <a:noFill/>
          </a:ln>
        </p:spPr>
        <p:txBody>
          <a:bodyPr anchorCtr="0" anchor="t" bIns="43075" lIns="86175" spcFirstLastPara="1" rIns="86175" wrap="square" tIns="43075">
            <a:noAutofit/>
          </a:bodyPr>
          <a:lstStyle/>
          <a:p>
            <a:pPr indent="0" lvl="0" marL="0" rtl="0" algn="l">
              <a:lnSpc>
                <a:spcPct val="100000"/>
              </a:lnSpc>
              <a:spcBef>
                <a:spcPts val="300"/>
              </a:spcBef>
              <a:spcAft>
                <a:spcPts val="0"/>
              </a:spcAft>
              <a:buSzPts val="1300"/>
              <a:buNone/>
            </a:pPr>
            <a:r>
              <a:t/>
            </a:r>
            <a:endParaRPr/>
          </a:p>
        </p:txBody>
      </p:sp>
      <p:sp>
        <p:nvSpPr>
          <p:cNvPr id="191" name="Google Shape;191;g34b7819e670_0_259:notes"/>
          <p:cNvSpPr txBox="1"/>
          <p:nvPr>
            <p:ph idx="12" type="sldNum"/>
          </p:nvPr>
        </p:nvSpPr>
        <p:spPr>
          <a:xfrm>
            <a:off x="3884414" y="8685893"/>
            <a:ext cx="2972100" cy="456600"/>
          </a:xfrm>
          <a:prstGeom prst="rect">
            <a:avLst/>
          </a:prstGeom>
          <a:noFill/>
          <a:ln>
            <a:noFill/>
          </a:ln>
        </p:spPr>
        <p:txBody>
          <a:bodyPr anchorCtr="0" anchor="b" bIns="43075" lIns="86175" spcFirstLastPara="1" rIns="86175" wrap="square" tIns="4307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542732452_1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d542732452_1_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d542732452_1_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d394fc3252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d394fc3252_2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d394fc3252_2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394fc3252_2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394fc3252_2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d394fc3252_2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d542732452_1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d542732452_1_1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d542732452_1_1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d394fc3252_2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d394fc3252_2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d394fc3252_2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d394fc3252_2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d394fc3252_2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d394fc3252_2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d3a7afe71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d3a7afe718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d3a7afe718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d542732452_0_1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d542732452_0_16:notes"/>
          <p:cNvSpPr txBox="1"/>
          <p:nvPr>
            <p:ph idx="1" type="body"/>
          </p:nvPr>
        </p:nvSpPr>
        <p:spPr>
          <a:xfrm>
            <a:off x="686098" y="4343703"/>
            <a:ext cx="5485800" cy="4113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d542732452_0_16:notes"/>
          <p:cNvSpPr txBox="1"/>
          <p:nvPr>
            <p:ph idx="12" type="sldNum"/>
          </p:nvPr>
        </p:nvSpPr>
        <p:spPr>
          <a:xfrm>
            <a:off x="3884414" y="8685894"/>
            <a:ext cx="2972100" cy="4566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1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owZXg33Zx8Bjj9ThYkwKkOuCeCXnoZjIZa0sK4doF8/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Machine Learning:</a:t>
            </a:r>
            <a:endParaRPr/>
          </a:p>
          <a:p>
            <a:pPr indent="0" lvl="0" marL="0" rtl="0" algn="ctr">
              <a:spcBef>
                <a:spcPts val="0"/>
              </a:spcBef>
              <a:spcAft>
                <a:spcPts val="0"/>
              </a:spcAft>
              <a:buNone/>
            </a:pPr>
            <a:r>
              <a:rPr lang="en-US"/>
              <a:t>Neural Networks and Assessment</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Learning Objectives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By the end of this week, you should:</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understand the basics of artificial neural networks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identify the key components of ANNs</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know how to use a multilayer perceptron algorithm</a:t>
            </a:r>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chemeClr val="dk1"/>
                </a:solidFill>
              </a:rPr>
              <a:t>Measurable Outcomes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By the end of this week, you should be able to:</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implement an MLP in code</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scale data to feed into an algorithm</a:t>
            </a:r>
            <a:endParaRPr>
              <a:solidFill>
                <a:schemeClr val="dk1"/>
              </a:solidFill>
            </a:endParaRPr>
          </a:p>
          <a:p>
            <a:pPr indent="-330200" lvl="0" marL="457200" rtl="0" algn="l">
              <a:spcBef>
                <a:spcPts val="0"/>
              </a:spcBef>
              <a:spcAft>
                <a:spcPts val="0"/>
              </a:spcAft>
              <a:buClr>
                <a:schemeClr val="dk1"/>
              </a:buClr>
              <a:buSzPts val="1600"/>
              <a:buChar char="•"/>
            </a:pPr>
            <a:r>
              <a:rPr lang="en-US">
                <a:solidFill>
                  <a:schemeClr val="dk1"/>
                </a:solidFill>
              </a:rPr>
              <a:t>more effectively assess the predictive capabilities of a given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3900"/>
              <a:t>ARTIFICIAL NEURAL NETWORKS</a:t>
            </a:r>
            <a:endParaRPr sz="3900"/>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Artificial</a:t>
            </a:r>
            <a:r>
              <a:rPr lang="en-US"/>
              <a:t> Neural Networks: ANN</a:t>
            </a:r>
            <a:endParaRPr/>
          </a:p>
        </p:txBody>
      </p:sp>
      <p:sp>
        <p:nvSpPr>
          <p:cNvPr id="79" name="Google Shape;79;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0" name="Google Shape;80;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You've already looked at the KNN algorithm for machine learning. There are many more to choose from. One of the most popular kinds at the moment is the artificial neural network. An </a:t>
            </a:r>
            <a:r>
              <a:rPr b="1" lang="en-US" sz="1400"/>
              <a:t>artificial neural network</a:t>
            </a:r>
            <a:r>
              <a:rPr lang="en-US" sz="1400"/>
              <a:t> (ANN) is a machine-learning system inspired primarily by animal neurons.</a:t>
            </a:r>
            <a:endParaRPr sz="1400"/>
          </a:p>
          <a:p>
            <a:pPr indent="0" lvl="0" marL="0" rtl="0" algn="l">
              <a:spcBef>
                <a:spcPts val="0"/>
              </a:spcBef>
              <a:spcAft>
                <a:spcPts val="0"/>
              </a:spcAft>
              <a:buNone/>
            </a:pPr>
            <a:r>
              <a:t/>
            </a:r>
            <a:endParaRPr sz="1400"/>
          </a:p>
          <a:p>
            <a:pPr indent="-311150" lvl="0" marL="457200" rtl="0" algn="l">
              <a:spcBef>
                <a:spcPts val="0"/>
              </a:spcBef>
              <a:spcAft>
                <a:spcPts val="0"/>
              </a:spcAft>
              <a:buSzPts val="1300"/>
              <a:buChar char="•"/>
            </a:pPr>
            <a:r>
              <a:rPr lang="en-US" sz="1300"/>
              <a:t>Layers of neurons - called </a:t>
            </a:r>
            <a:r>
              <a:rPr b="1" lang="en-US" sz="1300"/>
              <a:t>nodes</a:t>
            </a:r>
            <a:r>
              <a:rPr lang="en-US" sz="1300"/>
              <a:t> - are connected to each other via </a:t>
            </a:r>
            <a:r>
              <a:rPr b="1" lang="en-US" sz="1300"/>
              <a:t>edges</a:t>
            </a:r>
            <a:r>
              <a:rPr lang="en-US" sz="1300"/>
              <a:t> </a:t>
            </a:r>
            <a:r>
              <a:rPr lang="en-US" sz="1300"/>
              <a:t>and transmit a </a:t>
            </a:r>
            <a:r>
              <a:rPr b="1" lang="en-US" sz="1300"/>
              <a:t>signal</a:t>
            </a:r>
            <a:r>
              <a:rPr lang="en-US" sz="1300"/>
              <a:t> which is </a:t>
            </a:r>
            <a:r>
              <a:rPr b="1" lang="en-US" sz="1300"/>
              <a:t>weighted.</a:t>
            </a:r>
            <a:endParaRPr sz="1300"/>
          </a:p>
          <a:p>
            <a:pPr indent="-311150" lvl="0" marL="457200" rtl="0" algn="l">
              <a:spcBef>
                <a:spcPts val="0"/>
              </a:spcBef>
              <a:spcAft>
                <a:spcPts val="0"/>
              </a:spcAft>
              <a:buSzPts val="1300"/>
              <a:buChar char="•"/>
            </a:pPr>
            <a:r>
              <a:rPr lang="en-US" sz="1300">
                <a:solidFill>
                  <a:schemeClr val="dk1"/>
                </a:solidFill>
              </a:rPr>
              <a:t>Each node represents some property of the data. What property? Only the input and output nodes have definite attributes associated with them. The rest are some combination of inputs.</a:t>
            </a:r>
            <a:endParaRPr sz="1300">
              <a:solidFill>
                <a:schemeClr val="dk1"/>
              </a:solidFill>
            </a:endParaRPr>
          </a:p>
          <a:p>
            <a:pPr indent="-311150" lvl="0" marL="457200" rtl="0" algn="l">
              <a:spcBef>
                <a:spcPts val="0"/>
              </a:spcBef>
              <a:spcAft>
                <a:spcPts val="0"/>
              </a:spcAft>
              <a:buSzPts val="1300"/>
              <a:buChar char="•"/>
            </a:pPr>
            <a:r>
              <a:rPr lang="en-US" sz="1300"/>
              <a:t>Each signal is a number, and the output of each node is determined by an </a:t>
            </a:r>
            <a:r>
              <a:rPr b="1" lang="en-US" sz="1300"/>
              <a:t>activation function</a:t>
            </a:r>
            <a:r>
              <a:rPr lang="en-US" sz="1300"/>
              <a:t> based on its input signals.</a:t>
            </a:r>
            <a:endParaRPr sz="1300"/>
          </a:p>
          <a:p>
            <a:pPr indent="-311150" lvl="0" marL="457200" rtl="0" algn="l">
              <a:spcBef>
                <a:spcPts val="0"/>
              </a:spcBef>
              <a:spcAft>
                <a:spcPts val="0"/>
              </a:spcAft>
              <a:buSzPts val="1300"/>
              <a:buChar char="•"/>
            </a:pPr>
            <a:r>
              <a:rPr lang="en-US" sz="1300"/>
              <a:t>Usually, the input and output layer nodes are known, but any inner layers are </a:t>
            </a:r>
            <a:r>
              <a:rPr b="1" lang="en-US" sz="1300"/>
              <a:t>hidden</a:t>
            </a:r>
            <a:r>
              <a:rPr lang="en-US" sz="1300"/>
              <a:t>: that is, their purpose and function is not known to the programmer.</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ANN: a model</a:t>
            </a:r>
            <a:endParaRPr/>
          </a:p>
        </p:txBody>
      </p:sp>
      <p:sp>
        <p:nvSpPr>
          <p:cNvPr id="87" name="Google Shape;87;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8" name="Google Shape;88;p1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 the image on the right:</a:t>
            </a:r>
            <a:endParaRPr/>
          </a:p>
          <a:p>
            <a:pPr indent="-330200" lvl="0" marL="457200" rtl="0" algn="l">
              <a:spcBef>
                <a:spcPts val="0"/>
              </a:spcBef>
              <a:spcAft>
                <a:spcPts val="0"/>
              </a:spcAft>
              <a:buSzPts val="1600"/>
              <a:buChar char="•"/>
            </a:pPr>
            <a:r>
              <a:rPr lang="en-US"/>
              <a:t>Each circle is a </a:t>
            </a:r>
            <a:r>
              <a:rPr b="1" lang="en-US"/>
              <a:t>node</a:t>
            </a:r>
            <a:endParaRPr b="1"/>
          </a:p>
          <a:p>
            <a:pPr indent="-330200" lvl="0" marL="457200" rtl="0" algn="l">
              <a:spcBef>
                <a:spcPts val="0"/>
              </a:spcBef>
              <a:spcAft>
                <a:spcPts val="0"/>
              </a:spcAft>
              <a:buSzPts val="1600"/>
              <a:buChar char="•"/>
            </a:pPr>
            <a:r>
              <a:rPr lang="en-US"/>
              <a:t>Each arrow is a </a:t>
            </a:r>
            <a:r>
              <a:rPr b="1" lang="en-US"/>
              <a:t>connection</a:t>
            </a:r>
            <a:r>
              <a:rPr lang="en-US"/>
              <a:t> (also known as </a:t>
            </a:r>
            <a:r>
              <a:rPr b="1" lang="en-US"/>
              <a:t>edge</a:t>
            </a:r>
            <a:r>
              <a:rPr lang="en-US"/>
              <a:t>) from one layer to another</a:t>
            </a:r>
            <a:endParaRPr/>
          </a:p>
          <a:p>
            <a:pPr indent="-330200" lvl="0" marL="457200" rtl="0" algn="l">
              <a:spcBef>
                <a:spcPts val="0"/>
              </a:spcBef>
              <a:spcAft>
                <a:spcPts val="0"/>
              </a:spcAft>
              <a:buSzPts val="1600"/>
              <a:buChar char="•"/>
            </a:pPr>
            <a:r>
              <a:rPr lang="en-US"/>
              <a:t>There are three </a:t>
            </a:r>
            <a:r>
              <a:rPr b="1" lang="en-US"/>
              <a:t>layers</a:t>
            </a:r>
            <a:r>
              <a:rPr lang="en-US"/>
              <a:t>: one input, one output, and one inner </a:t>
            </a:r>
            <a:r>
              <a:rPr i="1" lang="en-US"/>
              <a:t>hidden</a:t>
            </a:r>
            <a:r>
              <a:rPr lang="en-US"/>
              <a:t> layer.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this is not what every ANN looks like; it is just a simple model.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9" name="Google Shape;89;p14"/>
          <p:cNvPicPr preferRelativeResize="0"/>
          <p:nvPr/>
        </p:nvPicPr>
        <p:blipFill>
          <a:blip r:embed="rId3">
            <a:alphaModFix/>
          </a:blip>
          <a:stretch>
            <a:fillRect/>
          </a:stretch>
        </p:blipFill>
        <p:spPr>
          <a:xfrm>
            <a:off x="5910050" y="1358827"/>
            <a:ext cx="2191600" cy="2637224"/>
          </a:xfrm>
          <a:prstGeom prst="rect">
            <a:avLst/>
          </a:prstGeom>
          <a:noFill/>
          <a:ln>
            <a:noFill/>
          </a:ln>
        </p:spPr>
      </p:pic>
      <p:sp>
        <p:nvSpPr>
          <p:cNvPr id="90" name="Google Shape;90;p14"/>
          <p:cNvSpPr txBox="1"/>
          <p:nvPr/>
        </p:nvSpPr>
        <p:spPr>
          <a:xfrm>
            <a:off x="0" y="4153775"/>
            <a:ext cx="9144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800">
                <a:latin typeface="Proxima Nova"/>
                <a:ea typeface="Proxima Nova"/>
                <a:cs typeface="Proxima Nova"/>
                <a:sym typeface="Proxima Nova"/>
              </a:rPr>
              <a:t>https://en.wikipedia.org/wiki/Machine_learning</a:t>
            </a:r>
            <a:endParaRPr i="1" sz="800">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Perceptrons and MLPs</a:t>
            </a:r>
            <a:endParaRPr/>
          </a:p>
        </p:txBody>
      </p:sp>
      <p:sp>
        <p:nvSpPr>
          <p:cNvPr id="97" name="Google Shape;97;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8" name="Google Shape;98;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There are several ML algorithms which make use of ANNs. A perceptron is one of them. A </a:t>
            </a:r>
            <a:r>
              <a:rPr b="1" lang="en-US"/>
              <a:t>perceptron</a:t>
            </a:r>
            <a:r>
              <a:rPr lang="en-US"/>
              <a:t> is the ANN equivalent of a singular neuron: it's got inputs, an output, and an activation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a:t>
            </a:r>
            <a:r>
              <a:rPr b="1" lang="en-US"/>
              <a:t>multilayer perceptron (MLP)</a:t>
            </a:r>
            <a:r>
              <a:rPr lang="en-US"/>
              <a:t> is a type of ANN algorithm in which:</a:t>
            </a:r>
            <a:endParaRPr/>
          </a:p>
          <a:p>
            <a:pPr indent="-330200" lvl="0" marL="457200" rtl="0" algn="l">
              <a:spcBef>
                <a:spcPts val="0"/>
              </a:spcBef>
              <a:spcAft>
                <a:spcPts val="0"/>
              </a:spcAft>
              <a:buSzPts val="1600"/>
              <a:buAutoNum type="arabicPeriod"/>
            </a:pPr>
            <a:r>
              <a:rPr lang="en-US"/>
              <a:t>there are at least two perceptrons (nodes), and</a:t>
            </a:r>
            <a:endParaRPr/>
          </a:p>
          <a:p>
            <a:pPr indent="-330200" lvl="0" marL="457200" rtl="0" algn="l">
              <a:spcBef>
                <a:spcPts val="0"/>
              </a:spcBef>
              <a:spcAft>
                <a:spcPts val="0"/>
              </a:spcAft>
              <a:buSzPts val="1600"/>
              <a:buAutoNum type="arabicPeriod"/>
            </a:pPr>
            <a:r>
              <a:rPr lang="en-US"/>
              <a:t>the connections (edges) only connect toward the output. This type of ANN is called a </a:t>
            </a:r>
            <a:r>
              <a:rPr b="1" lang="en-US"/>
              <a:t>feedforward ANN</a:t>
            </a:r>
            <a:r>
              <a:rPr lang="en-U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Loss function and backpropagation</a:t>
            </a:r>
            <a:endParaRPr/>
          </a:p>
        </p:txBody>
      </p:sp>
      <p:sp>
        <p:nvSpPr>
          <p:cNvPr id="105" name="Google Shape;105;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06" name="Google Shape;106;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During training of many ML algorithms</a:t>
            </a:r>
            <a:r>
              <a:rPr lang="en-US"/>
              <a:t>, it is common for the algorithm to calculate the performance. This is done using one of any number of types of </a:t>
            </a:r>
            <a:r>
              <a:rPr b="1" lang="en-US"/>
              <a:t>loss functions</a:t>
            </a:r>
            <a:r>
              <a:rPr lang="en-US"/>
              <a:t>. This function results in some numeric measure which represents the sum of the errors made during training. The goal is to minimize the result of the loss function.</a:t>
            </a:r>
            <a:endParaRPr/>
          </a:p>
        </p:txBody>
      </p:sp>
      <p:sp>
        <p:nvSpPr>
          <p:cNvPr id="107" name="Google Shape;107;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Many ML algorithms - in particular, ANNs - feed some amount of information back into the model to do things like re-adjust the weights of edges. This is called </a:t>
            </a:r>
            <a:r>
              <a:rPr b="1" lang="en-US">
                <a:solidFill>
                  <a:schemeClr val="dk1"/>
                </a:solidFill>
              </a:rPr>
              <a:t>backpropagation</a:t>
            </a:r>
            <a:r>
              <a:rPr lang="en-US">
                <a:solidFill>
                  <a:schemeClr val="dk1"/>
                </a:solidFill>
              </a:rPr>
              <a:t>. </a:t>
            </a:r>
            <a:r>
              <a:rPr lang="en-US"/>
              <a:t>Backpropagation actually calculates the gradient of the loss function.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Side note: </a:t>
            </a:r>
            <a:r>
              <a:rPr lang="en-US"/>
              <a:t>Optimization</a:t>
            </a:r>
            <a:endParaRPr/>
          </a:p>
        </p:txBody>
      </p:sp>
      <p:sp>
        <p:nvSpPr>
          <p:cNvPr id="114" name="Google Shape;114;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15" name="Google Shape;115;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When creating a model, the goal is to </a:t>
            </a:r>
            <a:r>
              <a:rPr b="1" lang="en-US"/>
              <a:t>fit</a:t>
            </a:r>
            <a:r>
              <a:rPr lang="en-US"/>
              <a:t> the data as effectively as possible - in other words, to create as effective a hypothesis as possible.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the model  generalizes too much, it will likely be </a:t>
            </a:r>
            <a:r>
              <a:rPr b="1" lang="en-US"/>
              <a:t>underfit</a:t>
            </a:r>
            <a:r>
              <a:rPr lang="en-US"/>
              <a:t>. If the model becomes very specific, then it will likely be </a:t>
            </a:r>
            <a:r>
              <a:rPr b="1" lang="en-US"/>
              <a:t>overfit</a:t>
            </a:r>
            <a:r>
              <a:rPr lang="en-US"/>
              <a:t>.</a:t>
            </a:r>
            <a:endParaRPr/>
          </a:p>
        </p:txBody>
      </p:sp>
      <p:pic>
        <p:nvPicPr>
          <p:cNvPr id="116" name="Google Shape;116;p17"/>
          <p:cNvPicPr preferRelativeResize="0"/>
          <p:nvPr/>
        </p:nvPicPr>
        <p:blipFill rotWithShape="1">
          <a:blip r:embed="rId3">
            <a:alphaModFix/>
          </a:blip>
          <a:srcRect b="0" l="11275" r="8872" t="0"/>
          <a:stretch/>
        </p:blipFill>
        <p:spPr>
          <a:xfrm>
            <a:off x="4738025" y="1943629"/>
            <a:ext cx="4261775" cy="1524946"/>
          </a:xfrm>
          <a:prstGeom prst="rect">
            <a:avLst/>
          </a:prstGeom>
          <a:noFill/>
          <a:ln>
            <a:noFill/>
          </a:ln>
        </p:spPr>
      </p:pic>
      <p:sp>
        <p:nvSpPr>
          <p:cNvPr id="117" name="Google Shape;117;p17"/>
          <p:cNvSpPr txBox="1"/>
          <p:nvPr/>
        </p:nvSpPr>
        <p:spPr>
          <a:xfrm>
            <a:off x="0" y="4182100"/>
            <a:ext cx="9144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800"/>
              <a:t>https://scikit-learn.org/0.15/auto_examples/plot_underfitting_overfitting.html</a:t>
            </a:r>
            <a:endParaRPr i="1"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CONTEXTUALIZATION</a:t>
            </a:r>
            <a:endParaRPr/>
          </a:p>
        </p:txBody>
      </p:sp>
      <p:sp>
        <p:nvSpPr>
          <p:cNvPr id="124" name="Google Shape;124;p18"/>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25" name="Google Shape;125;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the process</a:t>
            </a:r>
            <a:endParaRPr/>
          </a:p>
        </p:txBody>
      </p:sp>
      <p:sp>
        <p:nvSpPr>
          <p:cNvPr id="132" name="Google Shape;132;p1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3" name="Google Shape;133;p1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400">
                <a:solidFill>
                  <a:schemeClr val="dk1"/>
                </a:solidFill>
              </a:rPr>
              <a:t>As a reminder: t</a:t>
            </a:r>
            <a:r>
              <a:rPr lang="en-US" sz="1400">
                <a:solidFill>
                  <a:schemeClr val="dk1"/>
                </a:solidFill>
              </a:rPr>
              <a:t>he process of supervised ML is pretty simple. There are only a few steps:</a:t>
            </a:r>
            <a:endParaRPr sz="1400">
              <a:solidFill>
                <a:schemeClr val="dk1"/>
              </a:solidFill>
            </a:endParaRPr>
          </a:p>
          <a:p>
            <a:pPr indent="0" lvl="0" marL="0" rtl="0" algn="l">
              <a:spcBef>
                <a:spcPts val="0"/>
              </a:spcBef>
              <a:spcAft>
                <a:spcPts val="0"/>
              </a:spcAft>
              <a:buClr>
                <a:schemeClr val="dk1"/>
              </a:buClr>
              <a:buSzPts val="2800"/>
              <a:buFont typeface="Arial"/>
              <a:buNone/>
            </a:pPr>
            <a:r>
              <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Wrangle (including a couple you haven't seen yet):</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formatting, NaN, nulls, etc.</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Separate into feature vector and target</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Split into training and testing</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US" sz="1400">
                <a:solidFill>
                  <a:schemeClr val="dk1"/>
                </a:solidFill>
              </a:rPr>
              <a:t>(If necessary) transform the feature vector </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Train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Use - i.e. predict and validate</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import</a:t>
            </a:r>
            <a:endParaRPr/>
          </a:p>
        </p:txBody>
      </p:sp>
      <p:sp>
        <p:nvSpPr>
          <p:cNvPr id="140" name="Google Shape;140;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41" name="Google Shape;141;p2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Let's contextualize ANNs by implementing an MLP to make predictions on the same dataset as before: </a:t>
            </a:r>
            <a:r>
              <a:rPr lang="en-US" sz="1500">
                <a:latin typeface="Courier New"/>
                <a:ea typeface="Courier New"/>
                <a:cs typeface="Courier New"/>
                <a:sym typeface="Courier New"/>
              </a:rPr>
              <a:t>iris</a:t>
            </a:r>
            <a:r>
              <a:rPr lang="en-US" sz="1500"/>
              <a: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Just as you've done in the past, import the appropriate packages/modules. In this case, you'll want the </a:t>
            </a:r>
            <a:r>
              <a:rPr lang="en-US" sz="1500">
                <a:latin typeface="Courier New"/>
                <a:ea typeface="Courier New"/>
                <a:cs typeface="Courier New"/>
                <a:sym typeface="Courier New"/>
              </a:rPr>
              <a:t>StandardScaler</a:t>
            </a:r>
            <a:r>
              <a:rPr lang="en-US" sz="1500"/>
              <a:t> and </a:t>
            </a:r>
            <a:r>
              <a:rPr lang="en-US" sz="1500">
                <a:latin typeface="Courier New"/>
                <a:ea typeface="Courier New"/>
                <a:cs typeface="Courier New"/>
                <a:sym typeface="Courier New"/>
              </a:rPr>
              <a:t>train_test_split</a:t>
            </a:r>
            <a:r>
              <a:rPr lang="en-US" sz="1500"/>
              <a:t> modules again, and swap the KNN modules the </a:t>
            </a:r>
            <a:r>
              <a:rPr lang="en-US" sz="1500">
                <a:latin typeface="Courier New"/>
                <a:ea typeface="Courier New"/>
                <a:cs typeface="Courier New"/>
                <a:sym typeface="Courier New"/>
              </a:rPr>
              <a:t>MLPClassifier</a:t>
            </a:r>
            <a:r>
              <a:rPr lang="en-US" sz="1500"/>
              <a:t> module.</a:t>
            </a:r>
            <a:endParaRPr sz="1500"/>
          </a:p>
        </p:txBody>
      </p:sp>
      <p:sp>
        <p:nvSpPr>
          <p:cNvPr id="142" name="Google Shape;142;p2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pandas as pd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matplotlib.pyplot as plt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sklearn.model_selection import train_test_split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sklearn.preprocessing import StandardScaler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a:t>
            </a:r>
            <a:r>
              <a:rPr b="1" lang="en-US" sz="1000">
                <a:solidFill>
                  <a:schemeClr val="dk1"/>
                </a:solidFill>
                <a:latin typeface="Courier New"/>
                <a:ea typeface="Courier New"/>
                <a:cs typeface="Courier New"/>
                <a:sym typeface="Courier New"/>
              </a:rPr>
              <a:t>sklearn.neural_network</a:t>
            </a:r>
            <a:r>
              <a:rPr lang="en-US" sz="1000">
                <a:solidFill>
                  <a:schemeClr val="dk1"/>
                </a:solidFill>
                <a:latin typeface="Courier New"/>
                <a:ea typeface="Courier New"/>
                <a:cs typeface="Courier New"/>
                <a:sym typeface="Courier New"/>
              </a:rPr>
              <a:t> import </a:t>
            </a:r>
            <a:r>
              <a:rPr b="1" lang="en-US" sz="1000">
                <a:solidFill>
                  <a:schemeClr val="dk1"/>
                </a:solidFill>
                <a:latin typeface="Courier New"/>
                <a:ea typeface="Courier New"/>
                <a:cs typeface="Courier New"/>
                <a:sym typeface="Courier New"/>
              </a:rPr>
              <a:t>MLPClassifier</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Step 1a: Wrangle</a:t>
            </a:r>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0" name="Google Shape;150;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before, you'll want to load the dataset you want to work with (in this case, </a:t>
            </a:r>
            <a:r>
              <a:rPr lang="en-US">
                <a:latin typeface="Courier New"/>
                <a:ea typeface="Courier New"/>
                <a:cs typeface="Courier New"/>
                <a:sym typeface="Courier New"/>
              </a:rPr>
              <a:t>iris</a:t>
            </a:r>
            <a:r>
              <a:rPr lang="en-US"/>
              <a:t>) into a DataFrame.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a reminder: you will always want to go through the full wrangling process here (i.e. deal with dupes, missing values, malformed, et al.). It's just skipped in the slides for brevity.</a:t>
            </a:r>
            <a:endParaRPr/>
          </a:p>
        </p:txBody>
      </p:sp>
      <p:sp>
        <p:nvSpPr>
          <p:cNvPr id="151" name="Google Shape;151;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pandas as pd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import matplotlib.pyplot as plt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sklearn.model_selection import train_test_split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sklearn.preprocessing import StandardScaler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from sklearn.neural_network import MLPClassifier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file_path = 'iris.csv'</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df_iris = pd.read_csv(file_path)</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a:p>
            <a:pPr indent="457200" lvl="0" marL="0" rtl="0" algn="l">
              <a:spcBef>
                <a:spcPts val="0"/>
              </a:spcBef>
              <a:spcAft>
                <a:spcPts val="0"/>
              </a:spcAft>
              <a:buNone/>
            </a:pPr>
            <a:r>
              <a:t/>
            </a:r>
            <a:endParaRPr sz="10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a:t>
            </a:r>
            <a:r>
              <a:rPr lang="en-US"/>
              <a:t> Step 1b: split and split</a:t>
            </a:r>
            <a:endParaRPr/>
          </a:p>
        </p:txBody>
      </p:sp>
      <p:sp>
        <p:nvSpPr>
          <p:cNvPr id="158" name="Google Shape;158;p22"/>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Roboto Mono Light"/>
                <a:ea typeface="Roboto Mono Light"/>
                <a:cs typeface="Roboto Mono Light"/>
                <a:sym typeface="Roboto Mono Light"/>
              </a:rPr>
              <a:t># ... previous code goes here</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2800"/>
              <a:buFont typeface="Arial"/>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2800"/>
              <a:buFont typeface="Arial"/>
              <a:buNone/>
            </a:pPr>
            <a:r>
              <a:rPr lang="en-US" sz="900">
                <a:solidFill>
                  <a:schemeClr val="dk1"/>
                </a:solidFill>
                <a:latin typeface="Roboto Mono Light"/>
                <a:ea typeface="Roboto Mono Light"/>
                <a:cs typeface="Roboto Mono Light"/>
                <a:sym typeface="Roboto Mono Light"/>
              </a:rPr>
              <a:t>def main():</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2800"/>
              <a:buFont typeface="Arial"/>
              <a:buNone/>
            </a:pPr>
            <a:r>
              <a:rPr lang="en-US" sz="900">
                <a:solidFill>
                  <a:schemeClr val="dk1"/>
                </a:solidFill>
                <a:latin typeface="Roboto Mono Light"/>
                <a:ea typeface="Roboto Mono Light"/>
                <a:cs typeface="Roboto Mono Light"/>
                <a:sym typeface="Roboto Mono Light"/>
              </a:rPr>
              <a:t>	# ... previous code goes here</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SzPts val="2800"/>
              <a:buNone/>
            </a:pPr>
            <a:r>
              <a:rPr lang="en-US" sz="900">
                <a:solidFill>
                  <a:schemeClr val="dk1"/>
                </a:solidFill>
                <a:latin typeface="Roboto Mono Light"/>
                <a:ea typeface="Roboto Mono Light"/>
                <a:cs typeface="Roboto Mono Light"/>
                <a:sym typeface="Roboto Mono Light"/>
              </a:rPr>
              <a:t>	</a:t>
            </a:r>
            <a:r>
              <a:rPr b="1" lang="en-US" sz="900">
                <a:solidFill>
                  <a:schemeClr val="dk1"/>
                </a:solidFill>
                <a:latin typeface="Roboto Mono"/>
                <a:ea typeface="Roboto Mono"/>
                <a:cs typeface="Roboto Mono"/>
                <a:sym typeface="Roboto Mono"/>
              </a:rPr>
              <a:t>X = df_iris.drop(columns='Species')</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SzPts val="2800"/>
              <a:buNone/>
            </a:pPr>
            <a:r>
              <a:rPr b="1" lang="en-US" sz="900">
                <a:solidFill>
                  <a:schemeClr val="dk1"/>
                </a:solidFill>
                <a:latin typeface="Roboto Mono"/>
                <a:ea typeface="Roboto Mono"/>
                <a:cs typeface="Roboto Mono"/>
                <a:sym typeface="Roboto Mono"/>
              </a:rPr>
              <a:t>	y = df_iris['Species']</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SzPts val="2800"/>
              <a:buNone/>
            </a:pPr>
            <a:r>
              <a:t/>
            </a:r>
            <a:endParaRPr sz="9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SzPts val="2800"/>
              <a:buNone/>
            </a:pPr>
            <a:r>
              <a:rPr b="1" lang="en-US" sz="900">
                <a:solidFill>
                  <a:schemeClr val="dk1"/>
                </a:solidFill>
                <a:latin typeface="Roboto Mono"/>
                <a:ea typeface="Roboto Mono"/>
                <a:cs typeface="Roboto Mono"/>
                <a:sym typeface="Roboto Mono"/>
              </a:rPr>
              <a:t>X_train, X_test, y_train, y_test = train_test_split(X, y, random_state=1, stratify=y)</a:t>
            </a:r>
            <a:endParaRPr b="1" sz="900">
              <a:solidFill>
                <a:schemeClr val="dk1"/>
              </a:solidFill>
              <a:latin typeface="Roboto Mono"/>
              <a:ea typeface="Roboto Mono"/>
              <a:cs typeface="Roboto Mono"/>
              <a:sym typeface="Roboto Mono"/>
            </a:endParaRPr>
          </a:p>
          <a:p>
            <a:pPr indent="0" lvl="0" marL="0" rtl="0" algn="l">
              <a:spcBef>
                <a:spcPts val="0"/>
              </a:spcBef>
              <a:spcAft>
                <a:spcPts val="0"/>
              </a:spcAft>
              <a:buSzPts val="2800"/>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SzPts val="2800"/>
              <a:buNone/>
            </a:pPr>
            <a:r>
              <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SzPts val="2800"/>
              <a:buNone/>
            </a:pPr>
            <a:r>
              <a:rPr lang="en-US" sz="900">
                <a:solidFill>
                  <a:schemeClr val="dk1"/>
                </a:solidFill>
                <a:latin typeface="Roboto Mono Light"/>
                <a:ea typeface="Roboto Mono Light"/>
                <a:cs typeface="Roboto Mono Light"/>
                <a:sym typeface="Roboto Mono Light"/>
              </a:rPr>
              <a:t>if __name__ == '__main__':</a:t>
            </a:r>
            <a:endParaRPr sz="9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SzPts val="2800"/>
              <a:buNone/>
            </a:pPr>
            <a:r>
              <a:rPr lang="en-US" sz="900">
                <a:solidFill>
                  <a:schemeClr val="dk1"/>
                </a:solidFill>
                <a:latin typeface="Roboto Mono Light"/>
                <a:ea typeface="Roboto Mono Light"/>
                <a:cs typeface="Roboto Mono Light"/>
                <a:sym typeface="Roboto Mono Light"/>
              </a:rPr>
              <a:t>	main()</a:t>
            </a:r>
            <a:endParaRPr sz="900">
              <a:solidFill>
                <a:schemeClr val="dk1"/>
              </a:solidFill>
              <a:latin typeface="Roboto Mono Light"/>
              <a:ea typeface="Roboto Mono Light"/>
              <a:cs typeface="Roboto Mono Light"/>
              <a:sym typeface="Roboto Mono Light"/>
            </a:endParaRPr>
          </a:p>
        </p:txBody>
      </p:sp>
      <p:sp>
        <p:nvSpPr>
          <p:cNvPr id="159" name="Google Shape;159;p22"/>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60" name="Google Shape;160;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As before, t</a:t>
            </a:r>
            <a:r>
              <a:rPr lang="en-US">
                <a:solidFill>
                  <a:schemeClr val="dk1"/>
                </a:solidFill>
              </a:rPr>
              <a:t>he next thing you'll need to do is:</a:t>
            </a:r>
            <a:endParaRPr>
              <a:solidFill>
                <a:schemeClr val="dk1"/>
              </a:solidFill>
            </a:endParaRPr>
          </a:p>
          <a:p>
            <a:pPr indent="-330200" lvl="0" marL="457200" rtl="0" algn="l">
              <a:spcBef>
                <a:spcPts val="0"/>
              </a:spcBef>
              <a:spcAft>
                <a:spcPts val="0"/>
              </a:spcAft>
              <a:buClr>
                <a:schemeClr val="dk1"/>
              </a:buClr>
              <a:buSzPts val="1600"/>
              <a:buAutoNum type="arabicPeriod"/>
            </a:pPr>
            <a:r>
              <a:rPr lang="en-US">
                <a:solidFill>
                  <a:schemeClr val="dk1"/>
                </a:solidFill>
              </a:rPr>
              <a:t>separate the dataset into a feature vector </a:t>
            </a:r>
            <a:r>
              <a:rPr b="1" lang="en-US">
                <a:solidFill>
                  <a:schemeClr val="dk1"/>
                </a:solidFill>
                <a:latin typeface="Roboto Mono"/>
                <a:ea typeface="Roboto Mono"/>
                <a:cs typeface="Roboto Mono"/>
                <a:sym typeface="Roboto Mono"/>
              </a:rPr>
              <a:t>X</a:t>
            </a:r>
            <a:r>
              <a:rPr lang="en-US">
                <a:solidFill>
                  <a:schemeClr val="dk1"/>
                </a:solidFill>
              </a:rPr>
              <a:t> and a target </a:t>
            </a:r>
            <a:r>
              <a:rPr b="1" lang="en-US">
                <a:solidFill>
                  <a:schemeClr val="dk1"/>
                </a:solidFill>
                <a:latin typeface="Roboto Mono"/>
                <a:ea typeface="Roboto Mono"/>
                <a:cs typeface="Roboto Mono"/>
                <a:sym typeface="Roboto Mono"/>
              </a:rPr>
              <a:t>y</a:t>
            </a:r>
            <a:r>
              <a:rPr lang="en-US">
                <a:solidFill>
                  <a:schemeClr val="dk1"/>
                </a:solidFill>
              </a:rPr>
              <a:t>.</a:t>
            </a:r>
            <a:endParaRPr>
              <a:solidFill>
                <a:schemeClr val="dk1"/>
              </a:solidFill>
            </a:endParaRPr>
          </a:p>
          <a:p>
            <a:pPr indent="-330200" lvl="0" marL="457200" rtl="0" algn="l">
              <a:spcBef>
                <a:spcPts val="0"/>
              </a:spcBef>
              <a:spcAft>
                <a:spcPts val="0"/>
              </a:spcAft>
              <a:buClr>
                <a:schemeClr val="dk1"/>
              </a:buClr>
              <a:buSzPts val="1600"/>
              <a:buAutoNum type="arabicPeriod"/>
            </a:pPr>
            <a:r>
              <a:rPr lang="en-US">
                <a:solidFill>
                  <a:schemeClr val="dk1"/>
                </a:solidFill>
              </a:rPr>
              <a:t>separate the feature vector and target into training and testing sets.</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Step 1c: Transform</a:t>
            </a:r>
            <a:endParaRPr/>
          </a:p>
        </p:txBody>
      </p:sp>
      <p:sp>
        <p:nvSpPr>
          <p:cNvPr id="167" name="Google Shape;167;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8" name="Google Shape;168;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before: because MLP uses more than one feature at once in its maths, you'll need to transform the feature vector so that no </a:t>
            </a:r>
            <a:r>
              <a:rPr lang="en-US"/>
              <a:t>individual</a:t>
            </a:r>
            <a:r>
              <a:rPr lang="en-US"/>
              <a:t> feature is weighted more strongly than the rest.</a:t>
            </a:r>
            <a:endParaRPr/>
          </a:p>
        </p:txBody>
      </p:sp>
      <p:sp>
        <p:nvSpPr>
          <p:cNvPr id="169" name="Google Shape;169;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tfr_std = StandardScaler()</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tfr_std.fit(X_train)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transform and wrap back into DataFrame</a:t>
            </a:r>
            <a:endParaRPr sz="1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X_train = pd.DataFrame(</a:t>
            </a:r>
            <a:r>
              <a:rPr b="1" lang="en-US" sz="1000">
                <a:solidFill>
                  <a:schemeClr val="dk1"/>
                </a:solidFill>
                <a:latin typeface="Courier New"/>
                <a:ea typeface="Courier New"/>
                <a:cs typeface="Courier New"/>
                <a:sym typeface="Courier New"/>
              </a:rPr>
              <a:t>tfr_std</a:t>
            </a:r>
            <a:r>
              <a:rPr b="1" lang="en-US" sz="1000">
                <a:solidFill>
                  <a:schemeClr val="dk1"/>
                </a:solidFill>
                <a:latin typeface="Courier New"/>
                <a:ea typeface="Courier New"/>
                <a:cs typeface="Courier New"/>
                <a:sym typeface="Courier New"/>
              </a:rPr>
              <a:t>.transform</a:t>
            </a:r>
            <a:r>
              <a:rPr lang="en-US" sz="1000">
                <a:solidFill>
                  <a:schemeClr val="dk1"/>
                </a:solidFill>
                <a:latin typeface="Courier New"/>
                <a:ea typeface="Courier New"/>
                <a:cs typeface="Courier New"/>
                <a:sym typeface="Courier New"/>
              </a:rPr>
              <a:t>(X_train), columns=X_train.columns, index=X_train.index)</a:t>
            </a:r>
            <a:endParaRPr sz="1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X_test = pd.DataFrame(</a:t>
            </a:r>
            <a:r>
              <a:rPr b="1" lang="en-US" sz="1000">
                <a:solidFill>
                  <a:schemeClr val="dk1"/>
                </a:solidFill>
                <a:latin typeface="Courier New"/>
                <a:ea typeface="Courier New"/>
                <a:cs typeface="Courier New"/>
                <a:sym typeface="Courier New"/>
              </a:rPr>
              <a:t>tfr_std</a:t>
            </a:r>
            <a:r>
              <a:rPr b="1" lang="en-US" sz="1000">
                <a:solidFill>
                  <a:schemeClr val="dk1"/>
                </a:solidFill>
                <a:latin typeface="Courier New"/>
                <a:ea typeface="Courier New"/>
                <a:cs typeface="Courier New"/>
                <a:sym typeface="Courier New"/>
              </a:rPr>
              <a:t>.transform</a:t>
            </a:r>
            <a:r>
              <a:rPr lang="en-US" sz="1000">
                <a:solidFill>
                  <a:schemeClr val="dk1"/>
                </a:solidFill>
                <a:latin typeface="Courier New"/>
                <a:ea typeface="Courier New"/>
                <a:cs typeface="Courier New"/>
                <a:sym typeface="Courier New"/>
              </a:rPr>
              <a:t>(</a:t>
            </a:r>
            <a:r>
              <a:rPr lang="en-US" sz="1000">
                <a:solidFill>
                  <a:schemeClr val="dk1"/>
                </a:solidFill>
                <a:latin typeface="Courier New"/>
                <a:ea typeface="Courier New"/>
                <a:cs typeface="Courier New"/>
                <a:sym typeface="Courier New"/>
              </a:rPr>
              <a:t>X_test</a:t>
            </a:r>
            <a:r>
              <a:rPr lang="en-US" sz="1000">
                <a:solidFill>
                  <a:schemeClr val="dk1"/>
                </a:solidFill>
                <a:latin typeface="Courier New"/>
                <a:ea typeface="Courier New"/>
                <a:cs typeface="Courier New"/>
                <a:sym typeface="Courier New"/>
              </a:rPr>
              <a:t>), columns=</a:t>
            </a:r>
            <a:r>
              <a:rPr lang="en-US" sz="1000">
                <a:solidFill>
                  <a:schemeClr val="dk1"/>
                </a:solidFill>
                <a:latin typeface="Courier New"/>
                <a:ea typeface="Courier New"/>
                <a:cs typeface="Courier New"/>
                <a:sym typeface="Courier New"/>
              </a:rPr>
              <a:t>X_test</a:t>
            </a:r>
            <a:r>
              <a:rPr lang="en-US" sz="1000">
                <a:solidFill>
                  <a:schemeClr val="dk1"/>
                </a:solidFill>
                <a:latin typeface="Courier New"/>
                <a:ea typeface="Courier New"/>
                <a:cs typeface="Courier New"/>
                <a:sym typeface="Courier New"/>
              </a:rPr>
              <a:t>.columns, index=</a:t>
            </a:r>
            <a:r>
              <a:rPr lang="en-US" sz="1000">
                <a:solidFill>
                  <a:schemeClr val="dk1"/>
                </a:solidFill>
                <a:latin typeface="Courier New"/>
                <a:ea typeface="Courier New"/>
                <a:cs typeface="Courier New"/>
                <a:sym typeface="Courier New"/>
              </a:rPr>
              <a:t>X_test</a:t>
            </a:r>
            <a:r>
              <a:rPr lang="en-US" sz="1000">
                <a:solidFill>
                  <a:schemeClr val="dk1"/>
                </a:solidFill>
                <a:latin typeface="Courier New"/>
                <a:ea typeface="Courier New"/>
                <a:cs typeface="Courier New"/>
                <a:sym typeface="Courier New"/>
              </a:rPr>
              <a:t>.index)</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ML Step 2: Train</a:t>
            </a:r>
            <a:endParaRPr/>
          </a:p>
        </p:txBody>
      </p:sp>
      <p:sp>
        <p:nvSpPr>
          <p:cNvPr id="176" name="Google Shape;176;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7" name="Google Shape;177;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Now that you've got scaled training and testing sets, it's finally time to train the model!</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There are a couple keyword arguments here:</a:t>
            </a:r>
            <a:endParaRPr sz="1300"/>
          </a:p>
          <a:p>
            <a:pPr indent="-311150" lvl="0" marL="457200" rtl="0" algn="l">
              <a:spcBef>
                <a:spcPts val="0"/>
              </a:spcBef>
              <a:spcAft>
                <a:spcPts val="0"/>
              </a:spcAft>
              <a:buSzPts val="1300"/>
              <a:buChar char="•"/>
            </a:pPr>
            <a:r>
              <a:rPr b="1" lang="en-US" sz="1300">
                <a:solidFill>
                  <a:schemeClr val="dk1"/>
                </a:solidFill>
                <a:latin typeface="Roboto Mono"/>
                <a:ea typeface="Roboto Mono"/>
                <a:cs typeface="Roboto Mono"/>
                <a:sym typeface="Roboto Mono"/>
              </a:rPr>
              <a:t>hidden_layer_sizes</a:t>
            </a:r>
            <a:r>
              <a:rPr lang="en-US" sz="1300"/>
              <a:t> is a tuple and represents how many hidden layers you would like. </a:t>
            </a:r>
            <a:r>
              <a:rPr lang="en-US" sz="1300">
                <a:solidFill>
                  <a:schemeClr val="dk1"/>
                </a:solidFill>
                <a:latin typeface="Roboto Mono Light"/>
                <a:ea typeface="Roboto Mono Light"/>
                <a:cs typeface="Roboto Mono Light"/>
                <a:sym typeface="Roboto Mono Light"/>
              </a:rPr>
              <a:t>(10, 10, 10)</a:t>
            </a:r>
            <a:r>
              <a:rPr lang="en-US" sz="1300"/>
              <a:t> is three hidden layers, each of which have 10 nodes.</a:t>
            </a:r>
            <a:endParaRPr sz="1300"/>
          </a:p>
          <a:p>
            <a:pPr indent="-311150" lvl="0" marL="457200" rtl="0" algn="l">
              <a:spcBef>
                <a:spcPts val="0"/>
              </a:spcBef>
              <a:spcAft>
                <a:spcPts val="0"/>
              </a:spcAft>
              <a:buSzPts val="1300"/>
              <a:buChar char="•"/>
            </a:pPr>
            <a:r>
              <a:rPr b="1" lang="en-US" sz="1300">
                <a:solidFill>
                  <a:schemeClr val="dk1"/>
                </a:solidFill>
                <a:latin typeface="Roboto Mono"/>
                <a:ea typeface="Roboto Mono"/>
                <a:cs typeface="Roboto Mono"/>
                <a:sym typeface="Roboto Mono"/>
              </a:rPr>
              <a:t>max_iter</a:t>
            </a:r>
            <a:r>
              <a:rPr lang="en-US" sz="1300"/>
              <a:t> tells the algorithm how many times to cycle through the model (and readjust values along the way). This is part of the backpropagation step.</a:t>
            </a:r>
            <a:endParaRPr sz="1300"/>
          </a:p>
        </p:txBody>
      </p:sp>
      <p:sp>
        <p:nvSpPr>
          <p:cNvPr id="178" name="Google Shape;178;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b="1" lang="en-US" sz="1000">
                <a:solidFill>
                  <a:schemeClr val="dk1"/>
                </a:solidFill>
                <a:latin typeface="Courier New"/>
                <a:ea typeface="Courier New"/>
                <a:cs typeface="Courier New"/>
                <a:sym typeface="Courier New"/>
              </a:rPr>
              <a:t>model_mlp = MLPClassifier(hidden_layer_sizes=(10, 10, 10), max_iter=1000)</a:t>
            </a:r>
            <a:endParaRPr b="1" sz="10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US" sz="1000">
                <a:solidFill>
                  <a:schemeClr val="dk1"/>
                </a:solidFill>
                <a:latin typeface="Courier New"/>
                <a:ea typeface="Courier New"/>
                <a:cs typeface="Courier New"/>
                <a:sym typeface="Courier New"/>
              </a:rPr>
              <a:t>model_mlp.fit</a:t>
            </a:r>
            <a:r>
              <a:rPr lang="en-US" sz="1000">
                <a:solidFill>
                  <a:schemeClr val="dk1"/>
                </a:solidFill>
                <a:latin typeface="Courier New"/>
                <a:ea typeface="Courier New"/>
                <a:cs typeface="Courier New"/>
                <a:sym typeface="Courier New"/>
              </a:rPr>
              <a:t>(X_train, y_train)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 </a:t>
            </a:r>
            <a:r>
              <a:rPr lang="en-US"/>
              <a:t>Step 3: predict</a:t>
            </a:r>
            <a:endParaRPr/>
          </a:p>
        </p:txBody>
      </p:sp>
      <p:sp>
        <p:nvSpPr>
          <p:cNvPr id="185" name="Google Shape;185;p25"/>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def main():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b="1" lang="en-US" sz="1000">
                <a:solidFill>
                  <a:schemeClr val="dk1"/>
                </a:solidFill>
                <a:latin typeface="Courier New"/>
                <a:ea typeface="Courier New"/>
                <a:cs typeface="Courier New"/>
                <a:sym typeface="Courier New"/>
              </a:rPr>
              <a:t>	</a:t>
            </a:r>
            <a:r>
              <a:rPr lang="en-US" sz="1000">
                <a:solidFill>
                  <a:schemeClr val="dk1"/>
                </a:solidFill>
                <a:latin typeface="Courier New"/>
                <a:ea typeface="Courier New"/>
                <a:cs typeface="Courier New"/>
                <a:sym typeface="Courier New"/>
              </a:rPr>
              <a:t># ... previous code goes here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 make all the predictions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y_pred = model_mlp.predict(X_test)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SzPts val="1100"/>
              <a:buNone/>
            </a:pPr>
            <a:r>
              <a:rPr lang="en-US"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if __name__ == '__main__':</a:t>
            </a:r>
            <a:endParaRPr sz="10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10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
        <p:nvSpPr>
          <p:cNvPr id="186" name="Google Shape;186;p2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87" name="Google Shape;187;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Now that the model has been trained, it's time to make some predictions. Two reminders:</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US" sz="1500">
                <a:solidFill>
                  <a:schemeClr val="dk1"/>
                </a:solidFill>
              </a:rPr>
              <a:t>You reserved a whole dataset for this purpose: </a:t>
            </a:r>
            <a:r>
              <a:rPr lang="en-US" sz="1500">
                <a:solidFill>
                  <a:schemeClr val="dk1"/>
                </a:solidFill>
                <a:latin typeface="Roboto Mono Light"/>
                <a:ea typeface="Roboto Mono Light"/>
                <a:cs typeface="Roboto Mono Light"/>
                <a:sym typeface="Roboto Mono Light"/>
              </a:rPr>
              <a:t>X_test</a:t>
            </a:r>
            <a:r>
              <a:rPr lang="en-US" sz="1500">
                <a:solidFill>
                  <a:schemeClr val="dk1"/>
                </a:solidFill>
              </a:rPr>
              <a:t> and </a:t>
            </a:r>
            <a:r>
              <a:rPr lang="en-US" sz="1500">
                <a:solidFill>
                  <a:schemeClr val="dk1"/>
                </a:solidFill>
                <a:latin typeface="Roboto Mono Light"/>
                <a:ea typeface="Roboto Mono Light"/>
                <a:cs typeface="Roboto Mono Light"/>
                <a:sym typeface="Roboto Mono Light"/>
              </a:rPr>
              <a:t>y_test</a:t>
            </a:r>
            <a:r>
              <a:rPr lang="en-US"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US" sz="1500">
                <a:solidFill>
                  <a:schemeClr val="dk1"/>
                </a:solidFill>
              </a:rPr>
              <a:t>T</a:t>
            </a:r>
            <a:r>
              <a:rPr lang="en-US" sz="1500">
                <a:solidFill>
                  <a:schemeClr val="dk1"/>
                </a:solidFill>
              </a:rPr>
              <a:t>he naming convention for this set of predictions is </a:t>
            </a:r>
            <a:r>
              <a:rPr b="1" lang="en-US" sz="1500">
                <a:solidFill>
                  <a:schemeClr val="dk1"/>
                </a:solidFill>
                <a:latin typeface="Roboto Mono"/>
                <a:ea typeface="Roboto Mono"/>
                <a:cs typeface="Roboto Mono"/>
                <a:sym typeface="Roboto Mono"/>
              </a:rPr>
              <a:t>y_pred</a:t>
            </a:r>
            <a:r>
              <a:rPr lang="en-US" sz="1500">
                <a:solidFill>
                  <a:schemeClr val="dk1"/>
                </a:solidFill>
              </a:rPr>
              <a:t>.</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(You haven't actually used </a:t>
            </a:r>
            <a:r>
              <a:rPr lang="en-US" sz="1500">
                <a:solidFill>
                  <a:schemeClr val="dk1"/>
                </a:solidFill>
                <a:latin typeface="Roboto Mono Light"/>
                <a:ea typeface="Roboto Mono Light"/>
                <a:cs typeface="Roboto Mono Light"/>
                <a:sym typeface="Roboto Mono Light"/>
              </a:rPr>
              <a:t>y_pred</a:t>
            </a:r>
            <a:r>
              <a:rPr lang="en-US" sz="1500">
                <a:solidFill>
                  <a:schemeClr val="dk1"/>
                </a:solidFill>
              </a:rPr>
              <a:t> at all - not even last week - but its use will become apparent shortly.)</a:t>
            </a: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4400"/>
              <a:buNone/>
            </a:pPr>
            <a:r>
              <a:rPr lang="en-US">
                <a:solidFill>
                  <a:schemeClr val="hlink"/>
                </a:solidFill>
              </a:rPr>
              <a:t>ML Step 3</a:t>
            </a:r>
            <a:r>
              <a:rPr lang="en-US">
                <a:solidFill>
                  <a:schemeClr val="hlink"/>
                </a:solidFill>
              </a:rPr>
              <a:t>: validate</a:t>
            </a:r>
            <a:endParaRPr/>
          </a:p>
        </p:txBody>
      </p:sp>
      <p:sp>
        <p:nvSpPr>
          <p:cNvPr id="194" name="Google Shape;194;p2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900">
                <a:solidFill>
                  <a:schemeClr val="dk1"/>
                </a:solidFill>
                <a:latin typeface="Courier New"/>
                <a:ea typeface="Courier New"/>
                <a:cs typeface="Courier New"/>
                <a:sym typeface="Courier New"/>
              </a:rPr>
              <a:t>	print('accuracy:', </a:t>
            </a:r>
            <a:r>
              <a:rPr b="1" lang="en-US" sz="900">
                <a:solidFill>
                  <a:schemeClr val="dk1"/>
                </a:solidFill>
                <a:latin typeface="Courier New"/>
                <a:ea typeface="Courier New"/>
                <a:cs typeface="Courier New"/>
                <a:sym typeface="Courier New"/>
              </a:rPr>
              <a:t>model_mlp.score(X_test, y_test)</a:t>
            </a:r>
            <a:r>
              <a:rPr lang="en-US" sz="900">
                <a:solidFill>
                  <a:schemeClr val="dk1"/>
                </a:solidFill>
                <a:latin typeface="Courier New"/>
                <a:ea typeface="Courier New"/>
                <a:cs typeface="Courier New"/>
                <a:sym typeface="Courier New"/>
              </a:rPr>
              <a:t>)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SzPts val="2800"/>
              <a:buNone/>
            </a:pPr>
            <a:r>
              <a:rPr lang="en-US" sz="900">
                <a:solidFill>
                  <a:schemeClr val="dk1"/>
                </a:solidFill>
                <a:latin typeface="Courier New"/>
                <a:ea typeface="Courier New"/>
                <a:cs typeface="Courier New"/>
                <a:sym typeface="Courier New"/>
              </a:rPr>
              <a:t>	main()</a:t>
            </a:r>
            <a:endParaRPr sz="900">
              <a:solidFill>
                <a:schemeClr val="dk1"/>
              </a:solidFill>
              <a:latin typeface="Verdana"/>
              <a:ea typeface="Verdana"/>
              <a:cs typeface="Verdana"/>
              <a:sym typeface="Verdana"/>
            </a:endParaRPr>
          </a:p>
        </p:txBody>
      </p:sp>
      <p:sp>
        <p:nvSpPr>
          <p:cNvPr id="195" name="Google Shape;195;p2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96" name="Google Shape;196;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sz="1400">
                <a:solidFill>
                  <a:schemeClr val="dk1"/>
                </a:solidFill>
              </a:rPr>
              <a:t>As before: to see how well the model has done, simply use the </a:t>
            </a:r>
            <a:r>
              <a:rPr lang="en-US" sz="1400">
                <a:solidFill>
                  <a:schemeClr val="dk1"/>
                </a:solidFill>
                <a:latin typeface="Courier New"/>
                <a:ea typeface="Courier New"/>
                <a:cs typeface="Courier New"/>
                <a:sym typeface="Courier New"/>
              </a:rPr>
              <a:t>.score()</a:t>
            </a:r>
            <a:r>
              <a:rPr lang="en-US" sz="1400">
                <a:solidFill>
                  <a:schemeClr val="dk1"/>
                </a:solidFill>
              </a:rPr>
              <a:t> method, and give it the test data.</a:t>
            </a:r>
            <a:endParaRPr sz="1400">
              <a:solidFill>
                <a:schemeClr val="dk1"/>
              </a:solidFill>
            </a:endParaRPr>
          </a:p>
          <a:p>
            <a:pPr indent="0" lvl="0" marL="0" rtl="0" algn="l">
              <a:spcBef>
                <a:spcPts val="0"/>
              </a:spcBef>
              <a:spcAft>
                <a:spcPts val="0"/>
              </a:spcAft>
              <a:buClr>
                <a:schemeClr val="dk1"/>
              </a:buClr>
              <a:buSzPts val="2800"/>
              <a:buFont typeface="Arial"/>
              <a:buNone/>
            </a:pPr>
            <a:r>
              <a:t/>
            </a:r>
            <a:endParaRPr sz="1400">
              <a:solidFill>
                <a:schemeClr val="dk1"/>
              </a:solidFill>
            </a:endParaRPr>
          </a:p>
          <a:p>
            <a:pPr indent="0" lvl="0" marL="0" rtl="0" algn="l">
              <a:spcBef>
                <a:spcPts val="0"/>
              </a:spcBef>
              <a:spcAft>
                <a:spcPts val="0"/>
              </a:spcAft>
              <a:buClr>
                <a:schemeClr val="dk1"/>
              </a:buClr>
              <a:buSzPts val="2800"/>
              <a:buFont typeface="Arial"/>
              <a:buNone/>
            </a:pPr>
            <a:r>
              <a:rPr lang="en-US" sz="1400">
                <a:solidFill>
                  <a:schemeClr val="dk1"/>
                </a:solidFill>
              </a:rPr>
              <a:t>(Note: </a:t>
            </a:r>
            <a:r>
              <a:rPr lang="en-US" sz="1400">
                <a:solidFill>
                  <a:schemeClr val="dk1"/>
                </a:solidFill>
                <a:latin typeface="Courier New"/>
                <a:ea typeface="Courier New"/>
                <a:cs typeface="Courier New"/>
                <a:sym typeface="Courier New"/>
              </a:rPr>
              <a:t>.score()</a:t>
            </a:r>
            <a:r>
              <a:rPr lang="en-US" sz="1400">
                <a:solidFill>
                  <a:schemeClr val="dk1"/>
                </a:solidFill>
              </a:rPr>
              <a:t> is basically calculating </a:t>
            </a:r>
            <a:r>
              <a:rPr lang="en-US" sz="1400">
                <a:solidFill>
                  <a:schemeClr val="dk1"/>
                </a:solidFill>
                <a:latin typeface="Courier New"/>
                <a:ea typeface="Courier New"/>
                <a:cs typeface="Courier New"/>
                <a:sym typeface="Courier New"/>
              </a:rPr>
              <a:t>y_pred</a:t>
            </a:r>
            <a:r>
              <a:rPr lang="en-US" sz="1400">
                <a:solidFill>
                  <a:schemeClr val="dk1"/>
                </a:solidFill>
              </a:rPr>
              <a:t> (from the previous slide) behind the scenes, using </a:t>
            </a:r>
            <a:r>
              <a:rPr lang="en-US" sz="1400">
                <a:solidFill>
                  <a:schemeClr val="dk1"/>
                </a:solidFill>
                <a:latin typeface="Courier New"/>
                <a:ea typeface="Courier New"/>
                <a:cs typeface="Courier New"/>
                <a:sym typeface="Courier New"/>
              </a:rPr>
              <a:t>X_test</a:t>
            </a:r>
            <a:r>
              <a:rPr lang="en-US" sz="1400">
                <a:solidFill>
                  <a:schemeClr val="dk1"/>
                </a:solidFill>
              </a:rPr>
              <a:t>; then comparing to </a:t>
            </a:r>
            <a:r>
              <a:rPr lang="en-US" sz="1400">
                <a:solidFill>
                  <a:schemeClr val="dk1"/>
                </a:solidFill>
                <a:latin typeface="Courier New"/>
                <a:ea typeface="Courier New"/>
                <a:cs typeface="Courier New"/>
                <a:sym typeface="Courier New"/>
              </a:rPr>
              <a:t>y_test</a:t>
            </a:r>
            <a:r>
              <a:rPr lang="en-US" sz="1400">
                <a:solidFill>
                  <a:schemeClr val="dk1"/>
                </a:solidFill>
              </a:rPr>
              <a:t> known true labels.)</a:t>
            </a:r>
            <a:endParaRPr sz="1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ASSESSING PERFORMANCE</a:t>
            </a:r>
            <a:endParaRPr/>
          </a:p>
        </p:txBody>
      </p:sp>
      <p:sp>
        <p:nvSpPr>
          <p:cNvPr id="203" name="Google Shape;203;p27"/>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204" name="Google Shape;204;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Is this any good?</a:t>
            </a:r>
            <a:endParaRPr/>
          </a:p>
        </p:txBody>
      </p:sp>
      <p:sp>
        <p:nvSpPr>
          <p:cNvPr id="211" name="Google Shape;211;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2" name="Google Shape;212;p2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Testing your model is as simple as feeding it the testing dataset. And you've already seen one metric for assessing performance of the model: the mean accuracy value, via the </a:t>
            </a:r>
            <a:r>
              <a:rPr lang="en-US" sz="2000">
                <a:latin typeface="Courier New"/>
                <a:ea typeface="Courier New"/>
                <a:cs typeface="Courier New"/>
                <a:sym typeface="Courier New"/>
              </a:rPr>
              <a:t>score()</a:t>
            </a:r>
            <a:r>
              <a:rPr lang="en-US" sz="2000"/>
              <a:t> method of whatever model you're using. But what if you want more information on how the model performs? For instance: how good is it at identifying whether an item is a particular label? How good is it at identifying whether an item is </a:t>
            </a:r>
            <a:r>
              <a:rPr i="1" lang="en-US" sz="2000"/>
              <a:t>not</a:t>
            </a:r>
            <a:r>
              <a:rPr lang="en-US" sz="2000"/>
              <a:t> a particular label? How does the model perform compared to random?</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Confusion Matrix</a:t>
            </a:r>
            <a:endParaRPr/>
          </a:p>
        </p:txBody>
      </p:sp>
      <p:sp>
        <p:nvSpPr>
          <p:cNvPr id="219" name="Google Shape;219;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20" name="Google Shape;220;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The </a:t>
            </a:r>
            <a:r>
              <a:rPr b="1" lang="en-US" sz="1300"/>
              <a:t>confusion matrix</a:t>
            </a:r>
            <a:r>
              <a:rPr lang="en-US" sz="1300"/>
              <a:t> is a very useful way to visually, as well as mathematically, assess the performance of a particular classification model.</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Actual and predicted labels are mapped to a 2D matrix. From this, several useful quantities can be calculated, includes </a:t>
            </a:r>
            <a:r>
              <a:rPr b="1" lang="en-US" sz="1300"/>
              <a:t>sensitivity</a:t>
            </a:r>
            <a:r>
              <a:rPr lang="en-US" sz="1300"/>
              <a:t> (true positive rate) and </a:t>
            </a:r>
            <a:r>
              <a:rPr b="1" lang="en-US" sz="1300"/>
              <a:t>specificity</a:t>
            </a:r>
            <a:r>
              <a:rPr lang="en-US" sz="1300"/>
              <a:t> (true negative rate).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Confusion matrices can be used for any size classification model - not just binary.</a:t>
            </a:r>
            <a:endParaRPr sz="1300"/>
          </a:p>
        </p:txBody>
      </p:sp>
      <p:pic>
        <p:nvPicPr>
          <p:cNvPr id="221" name="Google Shape;221;p29"/>
          <p:cNvPicPr preferRelativeResize="0"/>
          <p:nvPr/>
        </p:nvPicPr>
        <p:blipFill>
          <a:blip r:embed="rId3">
            <a:alphaModFix/>
          </a:blip>
          <a:stretch>
            <a:fillRect/>
          </a:stretch>
        </p:blipFill>
        <p:spPr>
          <a:xfrm>
            <a:off x="4649000" y="1398994"/>
            <a:ext cx="4342599" cy="2249369"/>
          </a:xfrm>
          <a:prstGeom prst="rect">
            <a:avLst/>
          </a:prstGeom>
          <a:noFill/>
          <a:ln>
            <a:noFill/>
          </a:ln>
        </p:spPr>
      </p:pic>
      <p:sp>
        <p:nvSpPr>
          <p:cNvPr id="222" name="Google Shape;222;p29"/>
          <p:cNvSpPr txBox="1"/>
          <p:nvPr/>
        </p:nvSpPr>
        <p:spPr>
          <a:xfrm>
            <a:off x="0" y="4178450"/>
            <a:ext cx="9144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800">
                <a:latin typeface="Proxima Nova"/>
                <a:ea typeface="Proxima Nova"/>
                <a:cs typeface="Proxima Nova"/>
                <a:sym typeface="Proxima Nova"/>
              </a:rPr>
              <a:t>source: </a:t>
            </a:r>
            <a:r>
              <a:rPr i="1" lang="en-US" sz="800">
                <a:latin typeface="Proxima Nova"/>
                <a:ea typeface="Proxima Nova"/>
                <a:cs typeface="Proxima Nova"/>
                <a:sym typeface="Proxima Nova"/>
              </a:rPr>
              <a:t>https://miro.medium.com/max/1780/1*LQ1YMKBlbDhH9K6Ujz8QTw.jpeg</a:t>
            </a:r>
            <a:endParaRPr i="1" sz="800">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Confusion Matrix: context</a:t>
            </a:r>
            <a:endParaRPr/>
          </a:p>
        </p:txBody>
      </p:sp>
      <p:sp>
        <p:nvSpPr>
          <p:cNvPr id="229" name="Google Shape;229;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30" name="Google Shape;230;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sklearn comes with a host of assessment tools in in the </a:t>
            </a:r>
            <a:r>
              <a:rPr lang="en-US">
                <a:solidFill>
                  <a:schemeClr val="dk1"/>
                </a:solidFill>
                <a:latin typeface="Courier New"/>
                <a:ea typeface="Courier New"/>
                <a:cs typeface="Courier New"/>
                <a:sym typeface="Courier New"/>
              </a:rPr>
              <a:t>metrics</a:t>
            </a:r>
            <a:r>
              <a:rPr lang="en-US">
                <a:solidFill>
                  <a:schemeClr val="dk1"/>
                </a:solidFill>
              </a:rPr>
              <a:t> package. The</a:t>
            </a:r>
            <a:r>
              <a:rPr lang="en-US"/>
              <a:t> </a:t>
            </a:r>
            <a:r>
              <a:rPr lang="en-US">
                <a:latin typeface="Courier New"/>
                <a:ea typeface="Courier New"/>
                <a:cs typeface="Courier New"/>
                <a:sym typeface="Courier New"/>
              </a:rPr>
              <a:t>confusion_matrix</a:t>
            </a:r>
            <a:r>
              <a:rPr lang="en-US"/>
              <a:t> package, unsurprisingly, allows you to construct a confusion matrix.</a:t>
            </a:r>
            <a:endParaRPr/>
          </a:p>
        </p:txBody>
      </p:sp>
      <p:sp>
        <p:nvSpPr>
          <p:cNvPr id="231" name="Google Shape;231;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from </a:t>
            </a:r>
            <a:r>
              <a:rPr b="1" lang="en-US" sz="900">
                <a:solidFill>
                  <a:schemeClr val="dk1"/>
                </a:solidFill>
                <a:latin typeface="Courier New"/>
                <a:ea typeface="Courier New"/>
                <a:cs typeface="Courier New"/>
                <a:sym typeface="Courier New"/>
              </a:rPr>
              <a:t>sklearn.metrics</a:t>
            </a:r>
            <a:r>
              <a:rPr lang="en-US" sz="900">
                <a:solidFill>
                  <a:schemeClr val="dk1"/>
                </a:solidFill>
                <a:latin typeface="Courier New"/>
                <a:ea typeface="Courier New"/>
                <a:cs typeface="Courier New"/>
                <a:sym typeface="Courier New"/>
              </a:rPr>
              <a:t> import </a:t>
            </a:r>
            <a:r>
              <a:rPr b="1" lang="en-US" sz="900">
                <a:solidFill>
                  <a:schemeClr val="dk1"/>
                </a:solidFill>
                <a:latin typeface="Courier New"/>
                <a:ea typeface="Courier New"/>
                <a:cs typeface="Courier New"/>
                <a:sym typeface="Courier New"/>
              </a:rPr>
              <a:t>confusion_matrix</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	# create a confusion matrix</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	conf_matrix = </a:t>
            </a:r>
            <a:r>
              <a:rPr b="1" lang="en-US" sz="900">
                <a:solidFill>
                  <a:schemeClr val="dk1"/>
                </a:solidFill>
                <a:latin typeface="Courier New"/>
                <a:ea typeface="Courier New"/>
                <a:cs typeface="Courier New"/>
                <a:sym typeface="Courier New"/>
              </a:rPr>
              <a:t>confusion_matrix(y_test, y_pred)</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	print('confusion matrix:', conf_matrix)</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	main()</a:t>
            </a:r>
            <a:endParaRPr sz="1000">
              <a:solidFill>
                <a:schemeClr val="dk1"/>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Confusion Matrix: context</a:t>
            </a:r>
            <a:endParaRPr/>
          </a:p>
        </p:txBody>
      </p:sp>
      <p:sp>
        <p:nvSpPr>
          <p:cNvPr id="238" name="Google Shape;238;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39" name="Google Shape;239;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It might be useful to actually visualize the confusion matrix; it'll give a bit more context to the numbers you're currently seeing in the console.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Note that this is a </a:t>
            </a:r>
            <a:r>
              <a:rPr i="1" lang="en-US">
                <a:solidFill>
                  <a:schemeClr val="dk1"/>
                </a:solidFill>
              </a:rPr>
              <a:t>slightly different way</a:t>
            </a:r>
            <a:r>
              <a:rPr lang="en-US">
                <a:solidFill>
                  <a:schemeClr val="dk1"/>
                </a:solidFill>
              </a:rPr>
              <a:t> of plotting than you might be used to.</a:t>
            </a:r>
            <a:endParaRPr/>
          </a:p>
        </p:txBody>
      </p:sp>
      <p:sp>
        <p:nvSpPr>
          <p:cNvPr id="240" name="Google Shape;240;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from </a:t>
            </a:r>
            <a:r>
              <a:rPr b="1" lang="en-US" sz="700">
                <a:solidFill>
                  <a:schemeClr val="dk1"/>
                </a:solidFill>
                <a:latin typeface="Courier New"/>
                <a:ea typeface="Courier New"/>
                <a:cs typeface="Courier New"/>
                <a:sym typeface="Courier New"/>
              </a:rPr>
              <a:t>sklearn.metrics</a:t>
            </a:r>
            <a:r>
              <a:rPr lang="en-US" sz="700">
                <a:solidFill>
                  <a:schemeClr val="dk1"/>
                </a:solidFill>
                <a:latin typeface="Courier New"/>
                <a:ea typeface="Courier New"/>
                <a:cs typeface="Courier New"/>
                <a:sym typeface="Courier New"/>
              </a:rPr>
              <a:t> import confusion_matrix, </a:t>
            </a:r>
            <a:r>
              <a:rPr b="1" lang="en-US" sz="700">
                <a:solidFill>
                  <a:schemeClr val="dk1"/>
                </a:solidFill>
                <a:latin typeface="Courier New"/>
                <a:ea typeface="Courier New"/>
                <a:cs typeface="Courier New"/>
                <a:sym typeface="Courier New"/>
              </a:rPr>
              <a:t>ConfusionMatrixDisplay</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def main():</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 ... previous code goes here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 create a confusion matrix display object</a:t>
            </a:r>
            <a:endParaRPr sz="700">
              <a:solidFill>
                <a:schemeClr val="dk1"/>
              </a:solidFill>
              <a:latin typeface="Courier New"/>
              <a:ea typeface="Courier New"/>
              <a:cs typeface="Courier New"/>
              <a:sym typeface="Courier New"/>
            </a:endParaRPr>
          </a:p>
          <a:p>
            <a:pPr indent="-457200" lvl="0" marL="457200" rtl="0" algn="l">
              <a:spcBef>
                <a:spcPts val="0"/>
              </a:spcBef>
              <a:spcAft>
                <a:spcPts val="0"/>
              </a:spcAft>
              <a:buClr>
                <a:schemeClr val="dk1"/>
              </a:buClr>
              <a:buSzPts val="1100"/>
              <a:buFont typeface="Arial"/>
              <a:buNone/>
            </a:pPr>
            <a:r>
              <a:rPr b="1" lang="en-US" sz="700">
                <a:solidFill>
                  <a:schemeClr val="dk1"/>
                </a:solidFill>
                <a:latin typeface="Courier New"/>
                <a:ea typeface="Courier New"/>
                <a:cs typeface="Courier New"/>
                <a:sym typeface="Courier New"/>
              </a:rPr>
              <a:t>	cm_disp = ConfusionMatrixDisplay(confusion_matrix=conf_matrix, display_labels=model_mlp.classes_)</a:t>
            </a:r>
            <a:endParaRPr b="1" sz="700">
              <a:solidFill>
                <a:schemeClr val="dk1"/>
              </a:solidFill>
              <a:latin typeface="Courier New"/>
              <a:ea typeface="Courier New"/>
              <a:cs typeface="Courier New"/>
              <a:sym typeface="Courier New"/>
            </a:endParaRPr>
          </a:p>
          <a:p>
            <a:pPr indent="-457200" lvl="0" marL="457200" rtl="0" algn="l">
              <a:spcBef>
                <a:spcPts val="0"/>
              </a:spcBef>
              <a:spcAft>
                <a:spcPts val="0"/>
              </a:spcAft>
              <a:buClr>
                <a:schemeClr val="dk1"/>
              </a:buClr>
              <a:buSzPts val="1100"/>
              <a:buFont typeface="Arial"/>
              <a:buNone/>
            </a:pPr>
            <a:r>
              <a:t/>
            </a:r>
            <a:endParaRPr sz="700">
              <a:solidFill>
                <a:schemeClr val="dk1"/>
              </a:solidFill>
              <a:latin typeface="Courier New"/>
              <a:ea typeface="Courier New"/>
              <a:cs typeface="Courier New"/>
              <a:sym typeface="Courier New"/>
            </a:endParaRPr>
          </a:p>
          <a:p>
            <a:pPr indent="-457200" lvl="0" marL="45720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 plot the confusion matrix display object </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00">
                <a:solidFill>
                  <a:schemeClr val="dk1"/>
                </a:solidFill>
                <a:latin typeface="Courier New"/>
                <a:ea typeface="Courier New"/>
                <a:cs typeface="Courier New"/>
                <a:sym typeface="Courier New"/>
              </a:rPr>
              <a:t>	fig, axes = plt.subplots()</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00">
                <a:solidFill>
                  <a:schemeClr val="dk1"/>
                </a:solidFill>
                <a:latin typeface="Courier New"/>
                <a:ea typeface="Courier New"/>
                <a:cs typeface="Courier New"/>
                <a:sym typeface="Courier New"/>
              </a:rPr>
              <a:t>	cm_disp.plot(ax=axes)</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 save the figure</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	</a:t>
            </a:r>
            <a:r>
              <a:rPr b="1" lang="en-US" sz="700">
                <a:solidFill>
                  <a:schemeClr val="dk1"/>
                </a:solidFill>
                <a:latin typeface="Courier New"/>
                <a:ea typeface="Courier New"/>
                <a:cs typeface="Courier New"/>
                <a:sym typeface="Courier New"/>
              </a:rPr>
              <a:t>axes.set(title='Iris MLP Confusion Matrix')</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700">
                <a:solidFill>
                  <a:schemeClr val="dk1"/>
                </a:solidFill>
                <a:latin typeface="Courier New"/>
                <a:ea typeface="Courier New"/>
                <a:cs typeface="Courier New"/>
                <a:sym typeface="Courier New"/>
              </a:rPr>
              <a:t>	fig.savefig('Iris MLP Confusion Matrix.png')</a:t>
            </a:r>
            <a:endParaRPr b="1" sz="7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7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700">
                <a:solidFill>
                  <a:schemeClr val="dk1"/>
                </a:solidFill>
                <a:latin typeface="Courier New"/>
                <a:ea typeface="Courier New"/>
                <a:cs typeface="Courier New"/>
                <a:sym typeface="Courier New"/>
              </a:rPr>
              <a:t>if __name__ == '__main__':</a:t>
            </a:r>
            <a:endParaRPr sz="7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700">
                <a:solidFill>
                  <a:schemeClr val="dk1"/>
                </a:solidFill>
                <a:latin typeface="Courier New"/>
                <a:ea typeface="Courier New"/>
                <a:cs typeface="Courier New"/>
                <a:sym typeface="Courier New"/>
              </a:rPr>
              <a:t>	main()</a:t>
            </a:r>
            <a:endParaRPr sz="700">
              <a:solidFill>
                <a:schemeClr val="dk1"/>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Classification Report</a:t>
            </a:r>
            <a:endParaRPr/>
          </a:p>
        </p:txBody>
      </p:sp>
      <p:sp>
        <p:nvSpPr>
          <p:cNvPr id="247" name="Google Shape;247;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8" name="Google Shape;248;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Classification-type ML models can be assessed fairly simply using </a:t>
            </a:r>
            <a:r>
              <a:rPr lang="en-US">
                <a:latin typeface="Courier New"/>
                <a:ea typeface="Courier New"/>
                <a:cs typeface="Courier New"/>
                <a:sym typeface="Courier New"/>
              </a:rPr>
              <a:t>metric</a:t>
            </a:r>
            <a:r>
              <a:rPr lang="en-US"/>
              <a:t>'s </a:t>
            </a:r>
            <a:r>
              <a:rPr lang="en-US">
                <a:latin typeface="Courier New"/>
                <a:ea typeface="Courier New"/>
                <a:cs typeface="Courier New"/>
                <a:sym typeface="Courier New"/>
              </a:rPr>
              <a:t>classification_report</a:t>
            </a:r>
            <a:r>
              <a:rPr lang="en-US"/>
              <a:t>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There's a lot of information given back here!</a:t>
            </a:r>
            <a:endParaRPr/>
          </a:p>
        </p:txBody>
      </p:sp>
      <p:sp>
        <p:nvSpPr>
          <p:cNvPr id="249" name="Google Shape;249;p3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900">
                <a:solidFill>
                  <a:schemeClr val="dk1"/>
                </a:solidFill>
                <a:latin typeface="Courier New"/>
                <a:ea typeface="Courier New"/>
                <a:cs typeface="Courier New"/>
                <a:sym typeface="Courier New"/>
              </a:rPr>
              <a:t>from </a:t>
            </a:r>
            <a:r>
              <a:rPr b="1" lang="en-US" sz="900">
                <a:solidFill>
                  <a:schemeClr val="dk1"/>
                </a:solidFill>
                <a:latin typeface="Courier New"/>
                <a:ea typeface="Courier New"/>
                <a:cs typeface="Courier New"/>
                <a:sym typeface="Courier New"/>
              </a:rPr>
              <a:t>sklearn.metrics</a:t>
            </a:r>
            <a:r>
              <a:rPr lang="en-US" sz="900">
                <a:solidFill>
                  <a:schemeClr val="dk1"/>
                </a:solidFill>
                <a:latin typeface="Courier New"/>
                <a:ea typeface="Courier New"/>
                <a:cs typeface="Courier New"/>
                <a:sym typeface="Courier New"/>
              </a:rPr>
              <a:t> import </a:t>
            </a:r>
            <a:r>
              <a:rPr b="1" lang="en-US" sz="900">
                <a:solidFill>
                  <a:schemeClr val="dk1"/>
                </a:solidFill>
                <a:latin typeface="Courier New"/>
                <a:ea typeface="Courier New"/>
                <a:cs typeface="Courier New"/>
                <a:sym typeface="Courier New"/>
              </a:rPr>
              <a:t>classification_report</a:t>
            </a:r>
            <a:endParaRPr b="1"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def main():</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b="1" lang="en-US" sz="900">
                <a:solidFill>
                  <a:schemeClr val="dk1"/>
                </a:solidFill>
                <a:latin typeface="Courier New"/>
                <a:ea typeface="Courier New"/>
                <a:cs typeface="Courier New"/>
                <a:sym typeface="Courier New"/>
              </a:rPr>
              <a:t>	</a:t>
            </a:r>
            <a:r>
              <a:rPr lang="en-US" sz="900">
                <a:solidFill>
                  <a:schemeClr val="dk1"/>
                </a:solidFill>
                <a:latin typeface="Courier New"/>
                <a:ea typeface="Courier New"/>
                <a:cs typeface="Courier New"/>
                <a:sym typeface="Courier New"/>
              </a:rPr>
              <a:t># ... previous code goes here</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 create a classification report</a:t>
            </a:r>
            <a:endParaRPr sz="900">
              <a:solidFill>
                <a:schemeClr val="dk1"/>
              </a:solidFill>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US" sz="900">
                <a:solidFill>
                  <a:schemeClr val="dk1"/>
                </a:solidFill>
                <a:latin typeface="Courier New"/>
                <a:ea typeface="Courier New"/>
                <a:cs typeface="Courier New"/>
                <a:sym typeface="Courier New"/>
              </a:rPr>
              <a:t>class_rep = classification_report(y_test, y_pred)</a:t>
            </a:r>
            <a:endParaRPr b="1" sz="9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US" sz="900">
                <a:solidFill>
                  <a:schemeClr val="dk1"/>
                </a:solidFill>
                <a:latin typeface="Courier New"/>
                <a:ea typeface="Courier New"/>
                <a:cs typeface="Courier New"/>
                <a:sym typeface="Courier New"/>
              </a:rPr>
              <a:t>print('classification report:\n', class_rep)</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t/>
            </a:r>
            <a:endParaRPr sz="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2800"/>
              <a:buFont typeface="Arial"/>
              <a:buNone/>
            </a:pPr>
            <a:r>
              <a:rPr lang="en-US" sz="900">
                <a:solidFill>
                  <a:schemeClr val="dk1"/>
                </a:solidFill>
                <a:latin typeface="Courier New"/>
                <a:ea typeface="Courier New"/>
                <a:cs typeface="Courier New"/>
                <a:sym typeface="Courier New"/>
              </a:rPr>
              <a:t>if __name__ == '__main__':</a:t>
            </a:r>
            <a:endParaRPr sz="9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900">
                <a:solidFill>
                  <a:schemeClr val="dk1"/>
                </a:solidFill>
                <a:latin typeface="Courier New"/>
                <a:ea typeface="Courier New"/>
                <a:cs typeface="Courier New"/>
                <a:sym typeface="Courier New"/>
              </a:rPr>
              <a:t>	main()</a:t>
            </a:r>
            <a:endParaRPr sz="9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The Classification Report: results</a:t>
            </a:r>
            <a:endParaRPr/>
          </a:p>
        </p:txBody>
      </p:sp>
      <p:sp>
        <p:nvSpPr>
          <p:cNvPr id="256" name="Google Shape;256;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57" name="Google Shape;257;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301625" lvl="0" marL="457200" rtl="0" algn="l">
              <a:spcBef>
                <a:spcPts val="0"/>
              </a:spcBef>
              <a:spcAft>
                <a:spcPts val="0"/>
              </a:spcAft>
              <a:buClr>
                <a:schemeClr val="dk1"/>
              </a:buClr>
              <a:buSzPts val="1150"/>
              <a:buChar char="•"/>
            </a:pPr>
            <a:r>
              <a:rPr b="1" lang="en-US" sz="1150">
                <a:solidFill>
                  <a:schemeClr val="dk1"/>
                </a:solidFill>
              </a:rPr>
              <a:t>Precision</a:t>
            </a:r>
            <a:r>
              <a:rPr lang="en-US" sz="1150">
                <a:solidFill>
                  <a:schemeClr val="dk1"/>
                </a:solidFill>
              </a:rPr>
              <a:t>: positive predictive value</a:t>
            </a:r>
            <a:endParaRPr sz="1150">
              <a:solidFill>
                <a:schemeClr val="dk1"/>
              </a:solidFill>
            </a:endParaRPr>
          </a:p>
          <a:p>
            <a:pPr indent="-301625" lvl="1" marL="914400" rtl="0" algn="l">
              <a:spcBef>
                <a:spcPts val="0"/>
              </a:spcBef>
              <a:spcAft>
                <a:spcPts val="0"/>
              </a:spcAft>
              <a:buClr>
                <a:schemeClr val="dk1"/>
              </a:buClr>
              <a:buSzPts val="1150"/>
              <a:buChar char="–"/>
            </a:pPr>
            <a:r>
              <a:rPr b="1" lang="en-US" sz="1150">
                <a:solidFill>
                  <a:schemeClr val="dk1"/>
                </a:solidFill>
                <a:latin typeface="Times New Roman"/>
                <a:ea typeface="Times New Roman"/>
                <a:cs typeface="Times New Roman"/>
                <a:sym typeface="Times New Roman"/>
              </a:rPr>
              <a:t>TP/(TP+FP)</a:t>
            </a:r>
            <a:r>
              <a:rPr lang="en-US" sz="1150">
                <a:solidFill>
                  <a:schemeClr val="dk1"/>
                </a:solidFill>
                <a:latin typeface="Times New Roman"/>
                <a:ea typeface="Times New Roman"/>
                <a:cs typeface="Times New Roman"/>
                <a:sym typeface="Times New Roman"/>
              </a:rPr>
              <a:t>, or </a:t>
            </a:r>
            <a:r>
              <a:rPr b="1" lang="en-US" sz="1150">
                <a:solidFill>
                  <a:schemeClr val="dk1"/>
                </a:solidFill>
                <a:latin typeface="Times New Roman"/>
                <a:ea typeface="Times New Roman"/>
                <a:cs typeface="Times New Roman"/>
                <a:sym typeface="Times New Roman"/>
              </a:rPr>
              <a:t>TP/(all predicted positives)</a:t>
            </a:r>
            <a:endParaRPr b="1" sz="1150">
              <a:solidFill>
                <a:schemeClr val="dk1"/>
              </a:solidFill>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Char char="•"/>
            </a:pPr>
            <a:r>
              <a:rPr b="1" lang="en-US" sz="1150">
                <a:solidFill>
                  <a:schemeClr val="dk1"/>
                </a:solidFill>
              </a:rPr>
              <a:t>Recall</a:t>
            </a:r>
            <a:r>
              <a:rPr lang="en-US" sz="1150">
                <a:solidFill>
                  <a:schemeClr val="dk1"/>
                </a:solidFill>
              </a:rPr>
              <a:t>: true positive rate</a:t>
            </a:r>
            <a:endParaRPr sz="1150">
              <a:solidFill>
                <a:schemeClr val="dk1"/>
              </a:solidFill>
            </a:endParaRPr>
          </a:p>
          <a:p>
            <a:pPr indent="-301625" lvl="1" marL="914400" rtl="0" algn="l">
              <a:spcBef>
                <a:spcPts val="0"/>
              </a:spcBef>
              <a:spcAft>
                <a:spcPts val="0"/>
              </a:spcAft>
              <a:buClr>
                <a:schemeClr val="dk1"/>
              </a:buClr>
              <a:buSzPts val="1150"/>
              <a:buChar char="–"/>
            </a:pPr>
            <a:r>
              <a:rPr b="1" lang="en-US" sz="1150">
                <a:solidFill>
                  <a:schemeClr val="dk1"/>
                </a:solidFill>
                <a:latin typeface="Times New Roman"/>
                <a:ea typeface="Times New Roman"/>
                <a:cs typeface="Times New Roman"/>
                <a:sym typeface="Times New Roman"/>
              </a:rPr>
              <a:t>TP/(TP+FN)</a:t>
            </a:r>
            <a:r>
              <a:rPr lang="en-US" sz="1150">
                <a:solidFill>
                  <a:schemeClr val="dk1"/>
                </a:solidFill>
                <a:latin typeface="Times New Roman"/>
                <a:ea typeface="Times New Roman"/>
                <a:cs typeface="Times New Roman"/>
                <a:sym typeface="Times New Roman"/>
              </a:rPr>
              <a:t>, or </a:t>
            </a:r>
            <a:r>
              <a:rPr b="1" lang="en-US" sz="1150">
                <a:solidFill>
                  <a:schemeClr val="dk1"/>
                </a:solidFill>
                <a:latin typeface="Times New Roman"/>
                <a:ea typeface="Times New Roman"/>
                <a:cs typeface="Times New Roman"/>
                <a:sym typeface="Times New Roman"/>
              </a:rPr>
              <a:t>TP/(all actual positives)</a:t>
            </a:r>
            <a:endParaRPr b="1" sz="1150">
              <a:solidFill>
                <a:schemeClr val="dk1"/>
              </a:solidFill>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Char char="•"/>
            </a:pPr>
            <a:r>
              <a:rPr b="1" lang="en-US" sz="1150">
                <a:solidFill>
                  <a:schemeClr val="dk1"/>
                </a:solidFill>
              </a:rPr>
              <a:t>F1-score</a:t>
            </a:r>
            <a:r>
              <a:rPr lang="en-US" sz="1150">
                <a:solidFill>
                  <a:schemeClr val="dk1"/>
                </a:solidFill>
              </a:rPr>
              <a:t>: harmonic mean of precision and recall</a:t>
            </a:r>
            <a:endParaRPr sz="1150">
              <a:solidFill>
                <a:schemeClr val="dk1"/>
              </a:solidFill>
            </a:endParaRPr>
          </a:p>
          <a:p>
            <a:pPr indent="-301625" lvl="1" marL="914400" rtl="0" algn="l">
              <a:spcBef>
                <a:spcPts val="0"/>
              </a:spcBef>
              <a:spcAft>
                <a:spcPts val="0"/>
              </a:spcAft>
              <a:buClr>
                <a:schemeClr val="dk1"/>
              </a:buClr>
              <a:buSzPts val="1150"/>
              <a:buChar char="–"/>
            </a:pPr>
            <a:r>
              <a:rPr b="1" lang="en-US" sz="1150">
                <a:solidFill>
                  <a:schemeClr val="dk1"/>
                </a:solidFill>
                <a:latin typeface="Times New Roman"/>
                <a:ea typeface="Times New Roman"/>
                <a:cs typeface="Times New Roman"/>
                <a:sym typeface="Times New Roman"/>
              </a:rPr>
              <a:t>2/(recall</a:t>
            </a:r>
            <a:r>
              <a:rPr b="1" baseline="30000" lang="en-US" sz="1150">
                <a:solidFill>
                  <a:schemeClr val="dk1"/>
                </a:solidFill>
                <a:latin typeface="Times New Roman"/>
                <a:ea typeface="Times New Roman"/>
                <a:cs typeface="Times New Roman"/>
                <a:sym typeface="Times New Roman"/>
              </a:rPr>
              <a:t>-1</a:t>
            </a:r>
            <a:r>
              <a:rPr b="1" lang="en-US" sz="1150">
                <a:solidFill>
                  <a:schemeClr val="dk1"/>
                </a:solidFill>
                <a:latin typeface="Times New Roman"/>
                <a:ea typeface="Times New Roman"/>
                <a:cs typeface="Times New Roman"/>
                <a:sym typeface="Times New Roman"/>
              </a:rPr>
              <a:t> + precision</a:t>
            </a:r>
            <a:r>
              <a:rPr b="1" baseline="30000" lang="en-US" sz="1150">
                <a:solidFill>
                  <a:schemeClr val="dk1"/>
                </a:solidFill>
                <a:latin typeface="Times New Roman"/>
                <a:ea typeface="Times New Roman"/>
                <a:cs typeface="Times New Roman"/>
                <a:sym typeface="Times New Roman"/>
              </a:rPr>
              <a:t>-1</a:t>
            </a:r>
            <a:r>
              <a:rPr b="1" lang="en-US" sz="1150">
                <a:solidFill>
                  <a:schemeClr val="dk1"/>
                </a:solidFill>
                <a:latin typeface="Times New Roman"/>
                <a:ea typeface="Times New Roman"/>
                <a:cs typeface="Times New Roman"/>
                <a:sym typeface="Times New Roman"/>
              </a:rPr>
              <a:t>)</a:t>
            </a:r>
            <a:endParaRPr b="1" sz="1150">
              <a:solidFill>
                <a:schemeClr val="dk1"/>
              </a:solidFill>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Char char="•"/>
            </a:pPr>
            <a:r>
              <a:rPr b="1" lang="en-US" sz="1150">
                <a:solidFill>
                  <a:schemeClr val="dk1"/>
                </a:solidFill>
              </a:rPr>
              <a:t>Support</a:t>
            </a:r>
            <a:r>
              <a:rPr lang="en-US" sz="1150">
                <a:solidFill>
                  <a:schemeClr val="dk1"/>
                </a:solidFill>
              </a:rPr>
              <a:t>: number of test-set occurrences of each class which are True</a:t>
            </a:r>
            <a:endParaRPr sz="1150">
              <a:solidFill>
                <a:schemeClr val="dk1"/>
              </a:solidFill>
            </a:endParaRPr>
          </a:p>
          <a:p>
            <a:pPr indent="-301625" lvl="0" marL="457200" rtl="0" algn="l">
              <a:spcBef>
                <a:spcPts val="0"/>
              </a:spcBef>
              <a:spcAft>
                <a:spcPts val="0"/>
              </a:spcAft>
              <a:buClr>
                <a:schemeClr val="dk1"/>
              </a:buClr>
              <a:buSzPts val="1150"/>
              <a:buChar char="•"/>
            </a:pPr>
            <a:r>
              <a:rPr b="1" lang="en-US" sz="1150">
                <a:solidFill>
                  <a:schemeClr val="dk1"/>
                </a:solidFill>
              </a:rPr>
              <a:t>Accuracy</a:t>
            </a:r>
            <a:r>
              <a:rPr lang="en-US" sz="1150">
                <a:solidFill>
                  <a:schemeClr val="dk1"/>
                </a:solidFill>
              </a:rPr>
              <a:t>: proportion of correct among total</a:t>
            </a:r>
            <a:endParaRPr sz="1150">
              <a:solidFill>
                <a:schemeClr val="dk1"/>
              </a:solidFill>
            </a:endParaRPr>
          </a:p>
          <a:p>
            <a:pPr indent="-301625" lvl="1" marL="914400" rtl="0" algn="l">
              <a:spcBef>
                <a:spcPts val="0"/>
              </a:spcBef>
              <a:spcAft>
                <a:spcPts val="0"/>
              </a:spcAft>
              <a:buClr>
                <a:schemeClr val="dk1"/>
              </a:buClr>
              <a:buSzPts val="1150"/>
              <a:buFont typeface="Times New Roman"/>
              <a:buChar char="–"/>
            </a:pPr>
            <a:r>
              <a:rPr b="1" lang="en-US" sz="1150">
                <a:solidFill>
                  <a:schemeClr val="dk1"/>
                </a:solidFill>
                <a:latin typeface="Times New Roman"/>
                <a:ea typeface="Times New Roman"/>
                <a:cs typeface="Times New Roman"/>
                <a:sym typeface="Times New Roman"/>
              </a:rPr>
              <a:t>(TP + TN)/(TP + TN + FP + FN)</a:t>
            </a:r>
            <a:endParaRPr b="1" sz="1150">
              <a:solidFill>
                <a:schemeClr val="dk1"/>
              </a:solidFill>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Char char="•"/>
            </a:pPr>
            <a:r>
              <a:rPr b="1" lang="en-US" sz="1150">
                <a:solidFill>
                  <a:schemeClr val="dk1"/>
                </a:solidFill>
              </a:rPr>
              <a:t>Macro avg</a:t>
            </a:r>
            <a:r>
              <a:rPr lang="en-US" sz="1150">
                <a:solidFill>
                  <a:schemeClr val="dk1"/>
                </a:solidFill>
              </a:rPr>
              <a:t>: average of the unweighted mean per label</a:t>
            </a:r>
            <a:endParaRPr sz="1150">
              <a:solidFill>
                <a:schemeClr val="dk1"/>
              </a:solidFill>
            </a:endParaRPr>
          </a:p>
          <a:p>
            <a:pPr indent="-301625" lvl="0" marL="457200" rtl="0" algn="l">
              <a:spcBef>
                <a:spcPts val="0"/>
              </a:spcBef>
              <a:spcAft>
                <a:spcPts val="0"/>
              </a:spcAft>
              <a:buClr>
                <a:schemeClr val="dk1"/>
              </a:buClr>
              <a:buSzPts val="1150"/>
              <a:buChar char="•"/>
            </a:pPr>
            <a:r>
              <a:rPr b="1" lang="en-US" sz="1150">
                <a:solidFill>
                  <a:schemeClr val="dk1"/>
                </a:solidFill>
              </a:rPr>
              <a:t>Weighted avg</a:t>
            </a:r>
            <a:r>
              <a:rPr lang="en-US" sz="1150">
                <a:solidFill>
                  <a:schemeClr val="dk1"/>
                </a:solidFill>
              </a:rPr>
              <a:t>: average of the support-weighted mean per label</a:t>
            </a:r>
            <a:endParaRPr b="1" sz="1150"/>
          </a:p>
        </p:txBody>
      </p:sp>
      <p:sp>
        <p:nvSpPr>
          <p:cNvPr id="258" name="Google Shape;258;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classification report: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precision	recall  f1-score   support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0   	1.00  	1.00  	1.00    	10</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1   	1.00  	1.00  	1.00    	13</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2   	1.00  	1.00  	1.00    	15</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accuracy	                       	1.00    	38</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   macro avg   	1.00  	1.00  	1.00    	38</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1000">
                <a:solidFill>
                  <a:schemeClr val="dk1"/>
                </a:solidFill>
                <a:latin typeface="Courier New"/>
                <a:ea typeface="Courier New"/>
                <a:cs typeface="Courier New"/>
                <a:sym typeface="Courier New"/>
              </a:rPr>
              <a:t>weighted avg   	1.00  	1.00  	1.00    	38</a:t>
            </a:r>
            <a:endParaRPr sz="1000">
              <a:solidFill>
                <a:schemeClr val="dk1"/>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265" name="Google Shape;265;p3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Terminology:</a:t>
            </a:r>
            <a:endParaRPr/>
          </a:p>
          <a:p>
            <a:pPr indent="-285750" lvl="0" marL="457200" rtl="0" algn="l">
              <a:spcBef>
                <a:spcPts val="0"/>
              </a:spcBef>
              <a:spcAft>
                <a:spcPts val="0"/>
              </a:spcAft>
              <a:buSzPts val="900"/>
              <a:buChar char="•"/>
            </a:pPr>
            <a:r>
              <a:rPr lang="en-US" sz="900"/>
              <a:t>artificial neural network</a:t>
            </a:r>
            <a:endParaRPr sz="900"/>
          </a:p>
          <a:p>
            <a:pPr indent="-285750" lvl="0" marL="457200" rtl="0" algn="l">
              <a:spcBef>
                <a:spcPts val="0"/>
              </a:spcBef>
              <a:spcAft>
                <a:spcPts val="0"/>
              </a:spcAft>
              <a:buSzPts val="900"/>
              <a:buChar char="•"/>
            </a:pPr>
            <a:r>
              <a:rPr lang="en-US" sz="900"/>
              <a:t>node</a:t>
            </a:r>
            <a:endParaRPr sz="900"/>
          </a:p>
          <a:p>
            <a:pPr indent="-285750" lvl="0" marL="457200" rtl="0" algn="l">
              <a:spcBef>
                <a:spcPts val="0"/>
              </a:spcBef>
              <a:spcAft>
                <a:spcPts val="0"/>
              </a:spcAft>
              <a:buSzPts val="900"/>
              <a:buChar char="•"/>
            </a:pPr>
            <a:r>
              <a:rPr lang="en-US" sz="900"/>
              <a:t>edge</a:t>
            </a:r>
            <a:endParaRPr sz="900"/>
          </a:p>
          <a:p>
            <a:pPr indent="-285750" lvl="0" marL="457200" rtl="0" algn="l">
              <a:spcBef>
                <a:spcPts val="0"/>
              </a:spcBef>
              <a:spcAft>
                <a:spcPts val="0"/>
              </a:spcAft>
              <a:buSzPts val="900"/>
              <a:buChar char="•"/>
            </a:pPr>
            <a:r>
              <a:rPr lang="en-US" sz="900"/>
              <a:t>weight</a:t>
            </a:r>
            <a:endParaRPr sz="900"/>
          </a:p>
          <a:p>
            <a:pPr indent="-285750" lvl="0" marL="457200" rtl="0" algn="l">
              <a:spcBef>
                <a:spcPts val="0"/>
              </a:spcBef>
              <a:spcAft>
                <a:spcPts val="0"/>
              </a:spcAft>
              <a:buSzPts val="900"/>
              <a:buChar char="•"/>
            </a:pPr>
            <a:r>
              <a:rPr lang="en-US" sz="900"/>
              <a:t>propagation function</a:t>
            </a:r>
            <a:endParaRPr sz="900"/>
          </a:p>
          <a:p>
            <a:pPr indent="-285750" lvl="0" marL="457200" rtl="0" algn="l">
              <a:spcBef>
                <a:spcPts val="0"/>
              </a:spcBef>
              <a:spcAft>
                <a:spcPts val="0"/>
              </a:spcAft>
              <a:buSzPts val="900"/>
              <a:buChar char="•"/>
            </a:pPr>
            <a:r>
              <a:rPr lang="en-US" sz="900"/>
              <a:t>layers (input, output, hidden)</a:t>
            </a:r>
            <a:endParaRPr sz="900"/>
          </a:p>
          <a:p>
            <a:pPr indent="-285750" lvl="0" marL="457200" rtl="0" algn="l">
              <a:spcBef>
                <a:spcPts val="0"/>
              </a:spcBef>
              <a:spcAft>
                <a:spcPts val="0"/>
              </a:spcAft>
              <a:buSzPts val="900"/>
              <a:buChar char="•"/>
            </a:pPr>
            <a:r>
              <a:rPr lang="en-US" sz="900"/>
              <a:t>perceptron, multilayer perceptron</a:t>
            </a:r>
            <a:endParaRPr sz="900"/>
          </a:p>
          <a:p>
            <a:pPr indent="-285750" lvl="0" marL="457200" rtl="0" algn="l">
              <a:spcBef>
                <a:spcPts val="0"/>
              </a:spcBef>
              <a:spcAft>
                <a:spcPts val="0"/>
              </a:spcAft>
              <a:buSzPts val="900"/>
              <a:buChar char="•"/>
            </a:pPr>
            <a:r>
              <a:rPr lang="en-US" sz="900"/>
              <a:t>feedforward</a:t>
            </a:r>
            <a:endParaRPr sz="900"/>
          </a:p>
          <a:p>
            <a:pPr indent="-285750" lvl="0" marL="457200" rtl="0" algn="l">
              <a:spcBef>
                <a:spcPts val="0"/>
              </a:spcBef>
              <a:spcAft>
                <a:spcPts val="0"/>
              </a:spcAft>
              <a:buSzPts val="900"/>
              <a:buChar char="•"/>
            </a:pPr>
            <a:r>
              <a:rPr lang="en-US" sz="900"/>
              <a:t>scaling</a:t>
            </a:r>
            <a:endParaRPr sz="900"/>
          </a:p>
          <a:p>
            <a:pPr indent="-285750" lvl="0" marL="457200" rtl="0" algn="l">
              <a:spcBef>
                <a:spcPts val="0"/>
              </a:spcBef>
              <a:spcAft>
                <a:spcPts val="0"/>
              </a:spcAft>
              <a:buSzPts val="900"/>
              <a:buChar char="•"/>
            </a:pPr>
            <a:r>
              <a:rPr lang="en-US" sz="900"/>
              <a:t>loss function</a:t>
            </a:r>
            <a:endParaRPr sz="900"/>
          </a:p>
          <a:p>
            <a:pPr indent="-285750" lvl="0" marL="457200" rtl="0" algn="l">
              <a:spcBef>
                <a:spcPts val="0"/>
              </a:spcBef>
              <a:spcAft>
                <a:spcPts val="0"/>
              </a:spcAft>
              <a:buSzPts val="900"/>
              <a:buChar char="•"/>
            </a:pPr>
            <a:r>
              <a:rPr lang="en-US" sz="900"/>
              <a:t>backpropagation</a:t>
            </a:r>
            <a:endParaRPr sz="900"/>
          </a:p>
          <a:p>
            <a:pPr indent="-285750" lvl="0" marL="457200" rtl="0" algn="l">
              <a:spcBef>
                <a:spcPts val="0"/>
              </a:spcBef>
              <a:spcAft>
                <a:spcPts val="0"/>
              </a:spcAft>
              <a:buSzPts val="900"/>
              <a:buChar char="•"/>
            </a:pPr>
            <a:r>
              <a:rPr lang="en-US" sz="900"/>
              <a:t>fitting (over, under)</a:t>
            </a:r>
            <a:endParaRPr sz="900"/>
          </a:p>
          <a:p>
            <a:pPr indent="-285750" lvl="0" marL="457200" rtl="0" algn="l">
              <a:spcBef>
                <a:spcPts val="0"/>
              </a:spcBef>
              <a:spcAft>
                <a:spcPts val="0"/>
              </a:spcAft>
              <a:buSzPts val="900"/>
              <a:buChar char="•"/>
            </a:pPr>
            <a:r>
              <a:rPr lang="en-US" sz="900"/>
              <a:t>confusion matrix</a:t>
            </a:r>
            <a:endParaRPr sz="900"/>
          </a:p>
        </p:txBody>
      </p:sp>
      <p:sp>
        <p:nvSpPr>
          <p:cNvPr id="266" name="Google Shape;266;p3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Specific vocab/syntax:</a:t>
            </a:r>
            <a:endParaRPr/>
          </a:p>
          <a:p>
            <a:pPr indent="-292100" lvl="0" marL="457200" rtl="0" algn="l">
              <a:spcBef>
                <a:spcPts val="0"/>
              </a:spcBef>
              <a:spcAft>
                <a:spcPts val="0"/>
              </a:spcAft>
              <a:buSzPts val="1000"/>
              <a:buFont typeface="Courier New"/>
              <a:buChar char="•"/>
            </a:pPr>
            <a:r>
              <a:rPr lang="en-US" sz="1000">
                <a:latin typeface="Courier New"/>
                <a:ea typeface="Courier New"/>
                <a:cs typeface="Courier New"/>
                <a:sym typeface="Courier New"/>
              </a:rPr>
              <a:t>StandardScaler</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US" sz="1000">
                <a:latin typeface="Courier New"/>
                <a:ea typeface="Courier New"/>
                <a:cs typeface="Courier New"/>
                <a:sym typeface="Courier New"/>
              </a:rPr>
              <a:t>MLPClassifier</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US" sz="1000">
                <a:latin typeface="Courier New"/>
                <a:ea typeface="Courier New"/>
                <a:cs typeface="Courier New"/>
                <a:sym typeface="Courier New"/>
              </a:rPr>
              <a:t>confusion_matrix()</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US" sz="1000">
                <a:latin typeface="Courier New"/>
                <a:ea typeface="Courier New"/>
                <a:cs typeface="Courier New"/>
                <a:sym typeface="Courier New"/>
              </a:rPr>
              <a:t>classification_report()</a:t>
            </a:r>
            <a:endParaRPr sz="1000">
              <a:latin typeface="Courier New"/>
              <a:ea typeface="Courier New"/>
              <a:cs typeface="Courier New"/>
              <a:sym typeface="Courier New"/>
            </a:endParaRPr>
          </a:p>
        </p:txBody>
      </p:sp>
      <p:sp>
        <p:nvSpPr>
          <p:cNvPr id="267" name="Google Shape;267;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