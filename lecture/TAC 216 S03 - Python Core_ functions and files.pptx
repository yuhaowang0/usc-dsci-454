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7315200" cy="9601200"/>
  <p:embeddedFontLst>
    <p:embeddedFont>
      <p:font typeface="Proxima Nova"/>
      <p:regular r:id="rId42"/>
      <p:bold r:id="rId43"/>
      <p:italic r:id="rId44"/>
      <p:boldItalic r:id="rId45"/>
    </p:embeddedFont>
    <p:embeddedFont>
      <p:font typeface="Roboto"/>
      <p:regular r:id="rId46"/>
      <p:bold r:id="rId47"/>
      <p:italic r:id="rId48"/>
      <p:boldItalic r:id="rId49"/>
    </p:embeddedFont>
    <p:embeddedFont>
      <p:font typeface="Roboto Mono Light"/>
      <p:regular r:id="rId50"/>
      <p:bold r:id="rId51"/>
      <p:italic r:id="rId52"/>
      <p:boldItalic r:id="rId53"/>
    </p:embeddedFont>
    <p:embeddedFont>
      <p:font typeface="Roboto Mono"/>
      <p:regular r:id="rId54"/>
      <p:bold r:id="rId55"/>
      <p:italic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ProximaNova-regular.fntdata"/><Relationship Id="rId41" Type="http://schemas.openxmlformats.org/officeDocument/2006/relationships/slide" Target="slides/slide36.xml"/><Relationship Id="rId44" Type="http://schemas.openxmlformats.org/officeDocument/2006/relationships/font" Target="fonts/ProximaNova-italic.fntdata"/><Relationship Id="rId43" Type="http://schemas.openxmlformats.org/officeDocument/2006/relationships/font" Target="fonts/ProximaNova-bold.fntdata"/><Relationship Id="rId46" Type="http://schemas.openxmlformats.org/officeDocument/2006/relationships/font" Target="fonts/Roboto-regular.fntdata"/><Relationship Id="rId45" Type="http://schemas.openxmlformats.org/officeDocument/2006/relationships/font" Target="fonts/ProximaNova-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font" Target="fonts/OpenSans-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Light-bold.fntdata"/><Relationship Id="rId50" Type="http://schemas.openxmlformats.org/officeDocument/2006/relationships/font" Target="fonts/RobotoMonoLight-regular.fntdata"/><Relationship Id="rId53" Type="http://schemas.openxmlformats.org/officeDocument/2006/relationships/font" Target="fonts/RobotoMonoLight-boldItalic.fntdata"/><Relationship Id="rId52" Type="http://schemas.openxmlformats.org/officeDocument/2006/relationships/font" Target="fonts/RobotoMonoLight-italic.fntdata"/><Relationship Id="rId11" Type="http://schemas.openxmlformats.org/officeDocument/2006/relationships/slide" Target="slides/slide6.xml"/><Relationship Id="rId55" Type="http://schemas.openxmlformats.org/officeDocument/2006/relationships/font" Target="fonts/RobotoMono-bold.fntdata"/><Relationship Id="rId10" Type="http://schemas.openxmlformats.org/officeDocument/2006/relationships/slide" Target="slides/slide5.xml"/><Relationship Id="rId54" Type="http://schemas.openxmlformats.org/officeDocument/2006/relationships/font" Target="fonts/RobotoMono-regular.fntdata"/><Relationship Id="rId13" Type="http://schemas.openxmlformats.org/officeDocument/2006/relationships/slide" Target="slides/slide8.xml"/><Relationship Id="rId57" Type="http://schemas.openxmlformats.org/officeDocument/2006/relationships/font" Target="fonts/RobotoMono-boldItalic.fntdata"/><Relationship Id="rId12" Type="http://schemas.openxmlformats.org/officeDocument/2006/relationships/slide" Target="slides/slide7.xml"/><Relationship Id="rId56" Type="http://schemas.openxmlformats.org/officeDocument/2006/relationships/font" Target="fonts/RobotoMono-italic.fntdata"/><Relationship Id="rId15" Type="http://schemas.openxmlformats.org/officeDocument/2006/relationships/slide" Target="slides/slide10.xml"/><Relationship Id="rId59" Type="http://schemas.openxmlformats.org/officeDocument/2006/relationships/font" Target="fonts/OpenSans-bold.fntdata"/><Relationship Id="rId14" Type="http://schemas.openxmlformats.org/officeDocument/2006/relationships/slide" Target="slides/slide9.xml"/><Relationship Id="rId58" Type="http://schemas.openxmlformats.org/officeDocument/2006/relationships/font" Target="fonts/OpenSans-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101116526ee_0_6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0" name="Google Shape;50;g101116526ee_0_6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g101116526ee_0_6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1116526ee_0_18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1116526ee_0_18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 name="Google Shape;59;g101116526ee_0_18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01116526ee_0_10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7" name="Google Shape;67;g101116526ee_0_10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 name="Google Shape;68;g101116526ee_0_10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01116526ee_0_7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5" name="Google Shape;75;g101116526ee_0_7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g101116526ee_0_7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01116526ee_0_20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3" name="Google Shape;83;g101116526ee_0_20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 name="Google Shape;84;g101116526ee_0_20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01116526ee_0_19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2" name="Google Shape;92;g101116526ee_0_19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3" name="Google Shape;93;g101116526ee_0_19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1116526ee_0_21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1116526ee_0_21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g101116526ee_0_21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01116526ee_0_21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01116526ee_0_21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 name="Google Shape;111;g101116526ee_0_21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01116526ee_0_22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01116526ee_0_22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0" name="Google Shape;120;g101116526ee_0_22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01116526ee_0_8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01116526ee_0_8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g101116526ee_0_8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1116526ee_0_23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1116526ee_0_23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7" name="Google Shape;137;g101116526ee_0_23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01116526ee_0_24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01116526ee_0_24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 name="Google Shape;146;g101116526ee_0_24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01116526ee_0_25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01116526ee_0_25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g101116526ee_0_25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01116526ee_0_25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01116526ee_0_25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4" name="Google Shape;164;g101116526ee_0_25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01116526ee_0_26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01116526ee_0_26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g101116526ee_0_26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dc4542622_2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dc4542622_2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2" name="Google Shape;182;g3bdc4542622_2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01116526ee_0_27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01116526ee_0_27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0" name="Google Shape;190;g101116526ee_0_27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01116526ee_0_28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01116526ee_0_28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9" name="Google Shape;199;g101116526ee_0_28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01116526ee_0_9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01116526ee_0_9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8" name="Google Shape;208;g101116526ee_0_9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01116526ee_0_29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01116526ee_0_29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6" name="Google Shape;216;g101116526ee_0_29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01116526ee_0_29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01116526ee_0_29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5" name="Google Shape;225;g101116526ee_0_29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01116526ee_0_30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01116526ee_0_30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4" name="Google Shape;234;g101116526ee_0_30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009ff0a9f2_0_6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009ff0a9f2_0_6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3" name="Google Shape;243;g1009ff0a9f2_0_6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01116526ee_0_31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01116526ee_0_31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1" name="Google Shape;251;g101116526ee_0_31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01116526ee_0_32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01116526ee_0_32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0" name="Google Shape;260;g101116526ee_0_32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ba9ec6b083_0_25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ba9ec6b083_0_25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9" name="Google Shape;269;gba9ec6b083_0_25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01116526ee_0_33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01116526ee_0_33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7" name="Google Shape;277;g101116526ee_0_33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01116526ee_0_34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01116526ee_0_34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6" name="Google Shape;286;g101116526ee_0_34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01116526ee_0_35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01116526ee_0_35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5" name="Google Shape;295;g101116526ee_0_35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01116526ee_0_36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01116526ee_0_36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4" name="Google Shape;304;g101116526ee_0_36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01116526ee_0_37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01116526ee_0_37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3" name="Google Shape;313;g101116526ee_0_37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01116526ee_0_37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01116526ee_0_37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2" name="Google Shape;322;g101116526ee_0_37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01116526ee_0_38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01116526ee_0_38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1" name="Google Shape;331;g101116526ee_0_38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bcb6896659_0_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bcb6896659_0_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0" name="Google Shape;340;gbcb6896659_0_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bcb6896659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bcb6896659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8" name="Google Shape;348;gbcb6896659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09ff0a9f2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09ff0a9f2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7" name="Google Shape;357;g1009ff0a9f2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5" name="Google Shape;25;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 name="Google Shape;28;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29" name="Google Shape;29;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 name="Google Shape;32;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4" name="Shape 34"/>
        <p:cNvGrpSpPr/>
        <p:nvPr/>
      </p:nvGrpSpPr>
      <p:grpSpPr>
        <a:xfrm>
          <a:off x="0" y="0"/>
          <a:ext cx="0" cy="0"/>
          <a:chOff x="0" y="0"/>
          <a:chExt cx="0" cy="0"/>
        </a:xfrm>
      </p:grpSpPr>
      <p:sp>
        <p:nvSpPr>
          <p:cNvPr id="35" name="Google Shape;35;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7" name="Google Shape;37;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8" name="Google Shape;38;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39" name="Shape 39"/>
        <p:cNvGrpSpPr/>
        <p:nvPr/>
      </p:nvGrpSpPr>
      <p:grpSpPr>
        <a:xfrm>
          <a:off x="0" y="0"/>
          <a:ext cx="0" cy="0"/>
          <a:chOff x="0" y="0"/>
          <a:chExt cx="0" cy="0"/>
        </a:xfrm>
      </p:grpSpPr>
      <p:sp>
        <p:nvSpPr>
          <p:cNvPr id="40" name="Google Shape;40;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5" name="Shape 45"/>
        <p:cNvGrpSpPr/>
        <p:nvPr/>
      </p:nvGrpSpPr>
      <p:grpSpPr>
        <a:xfrm>
          <a:off x="0" y="0"/>
          <a:ext cx="0" cy="0"/>
          <a:chOff x="0" y="0"/>
          <a:chExt cx="0" cy="0"/>
        </a:xfrm>
      </p:grpSpPr>
      <p:sp>
        <p:nvSpPr>
          <p:cNvPr id="46" name="Google Shape;46;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7" name="Google Shape;47;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4PN5mc89r6eaSUSAn2Ek_piuGuDB1w1aBoe0rwPjoVM/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hyperlink" Target="https://docs.python.org/3/library/functions.html#pri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Python Core: functions and files</a:t>
            </a:r>
            <a:endParaRPr/>
          </a:p>
        </p:txBody>
      </p:sp>
      <p:sp>
        <p:nvSpPr>
          <p:cNvPr id="54" name="Google Shape;54;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5" name="Google Shape;55;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2" name="Google Shape;62;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63" name="Google Shape;63;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Learning Objectives</a:t>
            </a:r>
            <a:endParaRPr b="1"/>
          </a:p>
          <a:p>
            <a:pPr indent="0" lvl="0" marL="0" rtl="0" algn="l">
              <a:spcBef>
                <a:spcPts val="0"/>
              </a:spcBef>
              <a:spcAft>
                <a:spcPts val="0"/>
              </a:spcAft>
              <a:buClr>
                <a:schemeClr val="dk1"/>
              </a:buClr>
              <a:buSzPts val="1100"/>
              <a:buFont typeface="Arial"/>
              <a:buNone/>
            </a:pPr>
            <a:r>
              <a:rPr lang="en-US"/>
              <a:t>By the end of this week, you should:</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understand the difference between a function and a method.</a:t>
            </a:r>
            <a:endParaRPr/>
          </a:p>
          <a:p>
            <a:pPr indent="-330200" lvl="0" marL="457200" rtl="0" algn="l">
              <a:spcBef>
                <a:spcPts val="0"/>
              </a:spcBef>
              <a:spcAft>
                <a:spcPts val="0"/>
              </a:spcAft>
              <a:buSzPts val="1600"/>
              <a:buChar char="•"/>
            </a:pPr>
            <a:r>
              <a:rPr lang="en-US"/>
              <a:t>identify an argument and a parameter.</a:t>
            </a:r>
            <a:endParaRPr/>
          </a:p>
          <a:p>
            <a:pPr indent="-330200" lvl="0" marL="457200" rtl="0" algn="l">
              <a:spcBef>
                <a:spcPts val="0"/>
              </a:spcBef>
              <a:spcAft>
                <a:spcPts val="0"/>
              </a:spcAft>
              <a:buSzPts val="1600"/>
              <a:buChar char="•"/>
            </a:pPr>
            <a:r>
              <a:rPr lang="en-US"/>
              <a:t>know how to import from and export to files.</a:t>
            </a:r>
            <a:endParaRPr/>
          </a:p>
        </p:txBody>
      </p:sp>
      <p:sp>
        <p:nvSpPr>
          <p:cNvPr id="64" name="Google Shape;64;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Measurable Outcomes</a:t>
            </a:r>
            <a:endParaRPr b="1"/>
          </a:p>
          <a:p>
            <a:pPr indent="0" lvl="0" marL="0" rtl="0" algn="l">
              <a:spcBef>
                <a:spcPts val="0"/>
              </a:spcBef>
              <a:spcAft>
                <a:spcPts val="0"/>
              </a:spcAft>
              <a:buClr>
                <a:schemeClr val="dk1"/>
              </a:buClr>
              <a:buSzPts val="1100"/>
              <a:buFont typeface="Arial"/>
              <a:buNone/>
            </a:pPr>
            <a:r>
              <a:rPr lang="en-US"/>
              <a:t>By the end of this week, you should be able to:</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use parameters and arguments to send data to functions.</a:t>
            </a:r>
            <a:endParaRPr/>
          </a:p>
          <a:p>
            <a:pPr indent="-330200" lvl="0" marL="457200" rtl="0" algn="l">
              <a:spcBef>
                <a:spcPts val="0"/>
              </a:spcBef>
              <a:spcAft>
                <a:spcPts val="0"/>
              </a:spcAft>
              <a:buSzPts val="1600"/>
              <a:buChar char="•"/>
            </a:pPr>
            <a:r>
              <a:rPr lang="en-US"/>
              <a:t>return data from functions.</a:t>
            </a:r>
            <a:endParaRPr/>
          </a:p>
          <a:p>
            <a:pPr indent="-330200" lvl="0" marL="457200" rtl="0" algn="l">
              <a:spcBef>
                <a:spcPts val="0"/>
              </a:spcBef>
              <a:spcAft>
                <a:spcPts val="0"/>
              </a:spcAft>
              <a:buSzPts val="1600"/>
              <a:buChar char="•"/>
            </a:pPr>
            <a:r>
              <a:rPr lang="en-US"/>
              <a:t>write functions that avoid side effects.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FUNCTIONS</a:t>
            </a:r>
            <a:endParaRPr/>
          </a:p>
        </p:txBody>
      </p:sp>
      <p:sp>
        <p:nvSpPr>
          <p:cNvPr id="71" name="Google Shape;71;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2" name="Google Shape;72;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Functions</a:t>
            </a:r>
            <a:endParaRPr/>
          </a:p>
        </p:txBody>
      </p:sp>
      <p:sp>
        <p:nvSpPr>
          <p:cNvPr id="79" name="Google Shape;79;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80" name="Google Shape;80;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 </a:t>
            </a:r>
            <a:r>
              <a:rPr b="1" lang="en-US"/>
              <a:t>function</a:t>
            </a:r>
            <a:r>
              <a:rPr lang="en-US"/>
              <a:t> is a specific, reusable sequence of statements. The purpose of functions is to abstract an algorithm so that it can be used more than once.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You've been using several built-in functions. This week you'll also be writing your own.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Functions: calling</a:t>
            </a:r>
            <a:endParaRPr/>
          </a:p>
        </p:txBody>
      </p:sp>
      <p:sp>
        <p:nvSpPr>
          <p:cNvPr id="87" name="Google Shape;87;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88" name="Google Shape;88;p1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There are two parts to utilizing functions:</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AutoNum type="arabicPeriod"/>
            </a:pPr>
            <a:r>
              <a:rPr lang="en-US"/>
              <a:t>The function definition</a:t>
            </a:r>
            <a:endParaRPr/>
          </a:p>
          <a:p>
            <a:pPr indent="-330200" lvl="0" marL="457200" rtl="0" algn="l">
              <a:spcBef>
                <a:spcPts val="0"/>
              </a:spcBef>
              <a:spcAft>
                <a:spcPts val="0"/>
              </a:spcAft>
              <a:buSzPts val="1600"/>
              <a:buAutoNum type="arabicPeriod"/>
            </a:pPr>
            <a:r>
              <a:rPr lang="en-US"/>
              <a:t>The function call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The </a:t>
            </a:r>
            <a:r>
              <a:rPr b="1" lang="en-US"/>
              <a:t>function call</a:t>
            </a:r>
            <a:r>
              <a:rPr lang="en-US"/>
              <a:t> is the thing you're used to seeing and using at this point: it's what tells the interpreter to actually execute the algorithm.</a:t>
            </a:r>
            <a:endParaRPr/>
          </a:p>
        </p:txBody>
      </p:sp>
      <p:sp>
        <p:nvSpPr>
          <p:cNvPr id="89" name="Google Shape;89;p1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function definition (which is in RAM) is accessed and executed statement by statement.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Functions: definitions</a:t>
            </a:r>
            <a:endParaRPr/>
          </a:p>
        </p:txBody>
      </p:sp>
      <p:sp>
        <p:nvSpPr>
          <p:cNvPr id="96" name="Google Shape;96;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97" name="Google Shape;97;p1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There are two parts to utilizing functions:</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AutoNum type="arabicPeriod"/>
            </a:pPr>
            <a:r>
              <a:rPr lang="en-US"/>
              <a:t>The function definition</a:t>
            </a:r>
            <a:endParaRPr/>
          </a:p>
          <a:p>
            <a:pPr indent="-330200" lvl="0" marL="457200" rtl="0" algn="l">
              <a:spcBef>
                <a:spcPts val="0"/>
              </a:spcBef>
              <a:spcAft>
                <a:spcPts val="0"/>
              </a:spcAft>
              <a:buSzPts val="1600"/>
              <a:buAutoNum type="arabicPeriod"/>
            </a:pPr>
            <a:r>
              <a:rPr lang="en-US"/>
              <a:t>The function call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The </a:t>
            </a:r>
            <a:r>
              <a:rPr b="1" lang="en-US"/>
              <a:t>function definition</a:t>
            </a:r>
            <a:r>
              <a:rPr lang="en-US"/>
              <a:t> is the nuts and bolts of the function. It defines all the input and output (if any), and includes the set of statements that make up the algorithm.</a:t>
            </a:r>
            <a:endParaRPr/>
          </a:p>
        </p:txBody>
      </p:sp>
      <p:sp>
        <p:nvSpPr>
          <p:cNvPr id="98" name="Google Shape;98;p1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When the interpreter encounters a function definition, it sticks it in </a:t>
            </a:r>
            <a:r>
              <a:rPr b="1" lang="en-US" sz="1400"/>
              <a:t>RAM</a:t>
            </a:r>
            <a:r>
              <a:rPr lang="en-US" sz="1400"/>
              <a:t> so that it can be used at any later point in the code. </a:t>
            </a:r>
            <a:r>
              <a:rPr lang="en-US" sz="1400"/>
              <a:t>This is why you need to </a:t>
            </a:r>
            <a:r>
              <a:rPr i="1" lang="en-US" sz="1400"/>
              <a:t>define</a:t>
            </a:r>
            <a:r>
              <a:rPr lang="en-US" sz="1400"/>
              <a:t> all of your functions before they are called</a:t>
            </a:r>
            <a:r>
              <a:rPr lang="en-US" sz="1400"/>
              <a:t>, and why </a:t>
            </a:r>
            <a:r>
              <a:rPr lang="en-US" sz="1400"/>
              <a:t>all </a:t>
            </a:r>
            <a:r>
              <a:rPr i="1" lang="en-US" sz="1400"/>
              <a:t>imports</a:t>
            </a:r>
            <a:r>
              <a:rPr lang="en-US" sz="1400"/>
              <a:t> happen </a:t>
            </a:r>
            <a:r>
              <a:rPr lang="en-US" sz="1400"/>
              <a:t>before they are used: all of those definitions need to be stuck in RAM</a:t>
            </a:r>
            <a:r>
              <a:rPr lang="en-US" sz="1400"/>
              <a: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(Importing everything at the top of your codebase is convention; it's convention as well primarily because of the reason above.)</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Functions: example</a:t>
            </a:r>
            <a:endParaRPr/>
          </a:p>
        </p:txBody>
      </p:sp>
      <p:sp>
        <p:nvSpPr>
          <p:cNvPr id="105" name="Google Shape;105;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06" name="Google Shape;106;p1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To utilize a function, you must first define it. The format in Python is as follows: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def function_name(any_params):</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	# algorithm</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US" sz="1400"/>
              <a:t>So you could make a very simple print function:</a:t>
            </a:r>
            <a:endParaRPr sz="1400"/>
          </a:p>
          <a:p>
            <a:pPr indent="0" lvl="0" marL="0" rtl="0" algn="l">
              <a:spcBef>
                <a:spcPts val="0"/>
              </a:spcBef>
              <a:spcAft>
                <a:spcPts val="0"/>
              </a:spcAft>
              <a:buClr>
                <a:schemeClr val="dk1"/>
              </a:buClr>
              <a:buSzPts val="1100"/>
              <a:buFont typeface="Arial"/>
              <a:buNone/>
            </a:pPr>
            <a:r>
              <a:t/>
            </a:r>
            <a:endParaRPr sz="1400"/>
          </a:p>
          <a:p>
            <a:pPr indent="0" lvl="0" marL="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def print_hi():</a:t>
            </a:r>
            <a:endParaRPr sz="14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	print('hi')</a:t>
            </a:r>
            <a:endParaRPr sz="1400">
              <a:latin typeface="Roboto Mono Light"/>
              <a:ea typeface="Roboto Mono Light"/>
              <a:cs typeface="Roboto Mono Light"/>
              <a:sym typeface="Roboto Mono Light"/>
            </a:endParaRPr>
          </a:p>
        </p:txBody>
      </p:sp>
      <p:sp>
        <p:nvSpPr>
          <p:cNvPr id="107" name="Google Shape;107;p1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Simply defining the function is not enough, however. You must then call that function! How is this done? Channel Destiny's Child: say its name.</a:t>
            </a:r>
            <a:endParaRPr sz="1400"/>
          </a:p>
          <a:p>
            <a:pPr indent="0" lvl="0" marL="0" rtl="0" algn="l">
              <a:spcBef>
                <a:spcPts val="0"/>
              </a:spcBef>
              <a:spcAft>
                <a:spcPts val="0"/>
              </a:spcAft>
              <a:buClr>
                <a:schemeClr val="dk1"/>
              </a:buClr>
              <a:buSzPts val="1100"/>
              <a:buFont typeface="Arial"/>
              <a:buNone/>
            </a:pPr>
            <a:r>
              <a:t/>
            </a:r>
            <a:endParaRPr sz="1400"/>
          </a:p>
          <a:p>
            <a:pPr indent="0" lvl="0" marL="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print_hi()</a:t>
            </a:r>
            <a:endParaRPr sz="14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t/>
            </a:r>
            <a:endParaRPr sz="14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hi</a:t>
            </a:r>
            <a:endParaRPr sz="14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Scope</a:t>
            </a:r>
            <a:endParaRPr/>
          </a:p>
        </p:txBody>
      </p:sp>
      <p:sp>
        <p:nvSpPr>
          <p:cNvPr id="114" name="Google Shape;114;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15" name="Google Shape;115;p1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Because you're now in the territory of separating out code into small, reusable chunks, it's important to take a moment to talk about scope. </a:t>
            </a:r>
            <a:r>
              <a:rPr b="1" lang="en-US"/>
              <a:t>Scope</a:t>
            </a:r>
            <a:r>
              <a:rPr lang="en-US"/>
              <a:t> refers to where a particular part of your code (variable, function, et al.) can actually be seen and accessed from.</a:t>
            </a:r>
            <a:endParaRPr/>
          </a:p>
        </p:txBody>
      </p:sp>
      <p:sp>
        <p:nvSpPr>
          <p:cNvPr id="116" name="Google Shape;116;p1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Generally, things like variables will have either </a:t>
            </a:r>
            <a:r>
              <a:rPr b="1" lang="en-US"/>
              <a:t>global scope</a:t>
            </a:r>
            <a:r>
              <a:rPr lang="en-US"/>
              <a:t> (that is, they can be seen and accessed from anywhere) or some kind of </a:t>
            </a:r>
            <a:r>
              <a:rPr b="1" lang="en-US"/>
              <a:t>local scope</a:t>
            </a:r>
            <a:r>
              <a:rPr lang="en-US"/>
              <a:t> (that is, they can only be seen and accessed from a particular area of the codebase).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b="1" i="1" lang="en-US"/>
              <a:t>A variable's scope is therefore defined solely by where it is declared in your codebase.</a:t>
            </a:r>
            <a:endParaRPr b="1" i="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Scope: examples</a:t>
            </a:r>
            <a:endParaRPr/>
          </a:p>
        </p:txBody>
      </p:sp>
      <p:sp>
        <p:nvSpPr>
          <p:cNvPr id="123" name="Google Shape;123;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24" name="Google Shape;124;p1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000">
                <a:latin typeface="Roboto Mono"/>
                <a:ea typeface="Roboto Mono"/>
                <a:cs typeface="Roboto Mono"/>
                <a:sym typeface="Roboto Mono"/>
              </a:rPr>
              <a:t>favourite_book</a:t>
            </a:r>
            <a:r>
              <a:rPr lang="en-US" sz="1000">
                <a:latin typeface="Roboto Mono Light"/>
                <a:ea typeface="Roboto Mono Light"/>
                <a:cs typeface="Roboto Mono Light"/>
                <a:sym typeface="Roboto Mono Light"/>
              </a:rPr>
              <a:t> = input('What is your favourite book?')</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def books():</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	print(</a:t>
            </a:r>
            <a:r>
              <a:rPr b="1" lang="en-US" sz="1000">
                <a:latin typeface="Roboto Mono"/>
                <a:ea typeface="Roboto Mono"/>
                <a:cs typeface="Roboto Mono"/>
                <a:sym typeface="Roboto Mono"/>
              </a:rPr>
              <a:t>favourite_book</a:t>
            </a:r>
            <a:r>
              <a:rPr lang="en-US" sz="1000">
                <a:latin typeface="Roboto Mono Light"/>
                <a:ea typeface="Roboto Mono Light"/>
                <a:cs typeface="Roboto Mono Light"/>
                <a:sym typeface="Roboto Mono Light"/>
              </a:rPr>
              <a:t>)</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books()</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rPr lang="en-US" sz="1000"/>
              <a:t>Since </a:t>
            </a:r>
            <a:r>
              <a:rPr lang="en-US" sz="1000">
                <a:latin typeface="Roboto Mono Light"/>
                <a:ea typeface="Roboto Mono Light"/>
                <a:cs typeface="Roboto Mono Light"/>
                <a:sym typeface="Roboto Mono Light"/>
              </a:rPr>
              <a:t>favourite_book</a:t>
            </a:r>
            <a:r>
              <a:rPr lang="en-US" sz="1000"/>
              <a:t> is defined outside of any other block of code, it has global scope - it can be seen and accessed from anywhere. </a:t>
            </a:r>
            <a:r>
              <a:rPr lang="en-US" sz="1000">
                <a:latin typeface="Roboto Mono Light"/>
                <a:ea typeface="Roboto Mono Light"/>
                <a:cs typeface="Roboto Mono Light"/>
                <a:sym typeface="Roboto Mono Light"/>
              </a:rPr>
              <a:t>print_book()</a:t>
            </a:r>
            <a:r>
              <a:rPr lang="en-US" sz="1000"/>
              <a:t> can use it. This code </a:t>
            </a:r>
            <a:r>
              <a:rPr b="1" lang="en-US" sz="1000">
                <a:solidFill>
                  <a:srgbClr val="6AA84F"/>
                </a:solidFill>
              </a:rPr>
              <a:t>runs</a:t>
            </a:r>
            <a:r>
              <a:rPr lang="en-US" sz="1000"/>
              <a:t>.</a:t>
            </a:r>
            <a:endParaRPr sz="1000"/>
          </a:p>
        </p:txBody>
      </p:sp>
      <p:sp>
        <p:nvSpPr>
          <p:cNvPr id="125" name="Google Shape;125;p1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def ask_book():</a:t>
            </a:r>
            <a:endParaRPr sz="9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b="1" lang="en-US" sz="900">
                <a:latin typeface="Roboto Mono"/>
                <a:ea typeface="Roboto Mono"/>
                <a:cs typeface="Roboto Mono"/>
                <a:sym typeface="Roboto Mono"/>
              </a:rPr>
              <a:t>favourite_book</a:t>
            </a:r>
            <a:r>
              <a:rPr lang="en-US" sz="900">
                <a:latin typeface="Roboto Mono Light"/>
                <a:ea typeface="Roboto Mono Light"/>
                <a:cs typeface="Roboto Mono Light"/>
                <a:sym typeface="Roboto Mono Light"/>
              </a:rPr>
              <a:t> = input('What is your favourite book?')</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def books():</a:t>
            </a:r>
            <a:endParaRPr sz="9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ask_book()</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print(</a:t>
            </a:r>
            <a:r>
              <a:rPr b="1" lang="en-US" sz="900">
                <a:latin typeface="Roboto Mono"/>
                <a:ea typeface="Roboto Mono"/>
                <a:cs typeface="Roboto Mono"/>
                <a:sym typeface="Roboto Mono"/>
              </a:rPr>
              <a:t>favourite_book</a:t>
            </a:r>
            <a:r>
              <a:rPr lang="en-US" sz="900">
                <a:latin typeface="Roboto Mono Light"/>
                <a:ea typeface="Roboto Mono Light"/>
                <a:cs typeface="Roboto Mono Light"/>
                <a:sym typeface="Roboto Mono Light"/>
              </a:rPr>
              <a:t>)</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books()</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rPr lang="en-US" sz="1000"/>
              <a:t>Because </a:t>
            </a:r>
            <a:r>
              <a:rPr lang="en-US" sz="1000">
                <a:latin typeface="Roboto Mono Light"/>
                <a:ea typeface="Roboto Mono Light"/>
                <a:cs typeface="Roboto Mono Light"/>
                <a:sym typeface="Roboto Mono Light"/>
              </a:rPr>
              <a:t>favourite_book</a:t>
            </a:r>
            <a:r>
              <a:rPr lang="en-US" sz="1000"/>
              <a:t> was defined in </a:t>
            </a:r>
            <a:r>
              <a:rPr lang="en-US" sz="1000">
                <a:latin typeface="Roboto Mono Light"/>
                <a:ea typeface="Roboto Mono Light"/>
                <a:cs typeface="Roboto Mono Light"/>
                <a:sym typeface="Roboto Mono Light"/>
              </a:rPr>
              <a:t>ask_book()</a:t>
            </a:r>
            <a:r>
              <a:rPr lang="en-US" sz="1000"/>
              <a:t>, it is scoped to </a:t>
            </a:r>
            <a:r>
              <a:rPr lang="en-US" sz="1000">
                <a:latin typeface="Roboto Mono Light"/>
                <a:ea typeface="Roboto Mono Light"/>
                <a:cs typeface="Roboto Mono Light"/>
                <a:sym typeface="Roboto Mono Light"/>
              </a:rPr>
              <a:t>ask_book()</a:t>
            </a:r>
            <a:r>
              <a:rPr lang="en-US" sz="1000"/>
              <a:t> - it can only be seen and accessed from inside it. </a:t>
            </a:r>
            <a:r>
              <a:rPr lang="en-US" sz="1000">
                <a:latin typeface="Roboto Mono Light"/>
                <a:ea typeface="Roboto Mono Light"/>
                <a:cs typeface="Roboto Mono Light"/>
                <a:sym typeface="Roboto Mono Light"/>
              </a:rPr>
              <a:t>print_book()</a:t>
            </a:r>
            <a:r>
              <a:rPr lang="en-US" sz="1000"/>
              <a:t> can't see it, so this </a:t>
            </a:r>
            <a:r>
              <a:rPr b="1" lang="en-US" sz="1000">
                <a:solidFill>
                  <a:srgbClr val="FF0000"/>
                </a:solidFill>
              </a:rPr>
              <a:t>crashes</a:t>
            </a:r>
            <a:r>
              <a:rPr lang="en-US" sz="1000"/>
              <a:t>!</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Functions: I/O</a:t>
            </a:r>
            <a:endParaRPr/>
          </a:p>
        </p:txBody>
      </p:sp>
      <p:sp>
        <p:nvSpPr>
          <p:cNvPr id="132" name="Google Shape;132;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33" name="Google Shape;133;p19"/>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t>From time to time (read: regularly), you'll probably want to actually give data to your functions as well as receive data from them. Built-in functions do this already:</a:t>
            </a:r>
            <a:endParaRPr sz="1500"/>
          </a:p>
          <a:p>
            <a:pPr indent="0" lvl="0" marL="0" rtl="0" algn="l">
              <a:spcBef>
                <a:spcPts val="0"/>
              </a:spcBef>
              <a:spcAft>
                <a:spcPts val="0"/>
              </a:spcAft>
              <a:buClr>
                <a:schemeClr val="dk1"/>
              </a:buClr>
              <a:buSzPts val="1100"/>
              <a:buFont typeface="Arial"/>
              <a:buNone/>
            </a:pPr>
            <a:r>
              <a:t/>
            </a:r>
            <a:endParaRPr sz="15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500">
                <a:latin typeface="Roboto Mono Light"/>
                <a:ea typeface="Roboto Mono Light"/>
                <a:cs typeface="Roboto Mono Light"/>
                <a:sym typeface="Roboto Mono Light"/>
              </a:rPr>
              <a:t>print(</a:t>
            </a:r>
            <a:r>
              <a:rPr b="1" lang="en-US" sz="1500">
                <a:latin typeface="Roboto Mono"/>
                <a:ea typeface="Roboto Mono"/>
                <a:cs typeface="Roboto Mono"/>
                <a:sym typeface="Roboto Mono"/>
              </a:rPr>
              <a:t>"This is something I'm sending to the print function."</a:t>
            </a:r>
            <a:r>
              <a:rPr lang="en-US" sz="1500">
                <a:latin typeface="Roboto Mono Light"/>
                <a:ea typeface="Roboto Mono Light"/>
                <a:cs typeface="Roboto Mono Light"/>
                <a:sym typeface="Roboto Mono Light"/>
              </a:rPr>
              <a:t>)</a:t>
            </a:r>
            <a:endParaRPr sz="15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5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1500">
                <a:latin typeface="Roboto Mono"/>
                <a:ea typeface="Roboto Mono"/>
                <a:cs typeface="Roboto Mono"/>
                <a:sym typeface="Roboto Mono"/>
              </a:rPr>
              <a:t>returned = </a:t>
            </a:r>
            <a:r>
              <a:rPr lang="en-US" sz="1500">
                <a:latin typeface="Roboto Mono Light"/>
                <a:ea typeface="Roboto Mono Light"/>
                <a:cs typeface="Roboto Mono Light"/>
                <a:sym typeface="Roboto Mono Light"/>
              </a:rPr>
              <a:t>input('This returns a value which is then assigned to "returned"')</a:t>
            </a:r>
            <a:endParaRPr sz="1500">
              <a:latin typeface="Roboto Mono Light"/>
              <a:ea typeface="Roboto Mono Light"/>
              <a:cs typeface="Roboto Mono Light"/>
              <a:sym typeface="Roboto Mon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OUT: returning</a:t>
            </a:r>
            <a:endParaRPr/>
          </a:p>
        </p:txBody>
      </p:sp>
      <p:sp>
        <p:nvSpPr>
          <p:cNvPr id="140" name="Google Shape;140;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41" name="Google Shape;141;p2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How do you get data back from a function? With a </a:t>
            </a:r>
            <a:r>
              <a:rPr b="1" lang="en-US"/>
              <a:t>return</a:t>
            </a:r>
            <a:r>
              <a:rPr lang="en-US"/>
              <a:t> statement!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Make sure that if you're not going to use it immediately, you assign the returned value it to a new variable.</a:t>
            </a:r>
            <a:endParaRPr/>
          </a:p>
        </p:txBody>
      </p:sp>
      <p:sp>
        <p:nvSpPr>
          <p:cNvPr id="142" name="Google Shape;142;p2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def ask_book():</a:t>
            </a:r>
            <a:endParaRPr sz="11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favourite_book = input('What is your favourite book?')</a:t>
            </a:r>
            <a:endParaRPr sz="11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b="1" lang="en-US" sz="1100">
                <a:latin typeface="Roboto Mono"/>
                <a:ea typeface="Roboto Mono"/>
                <a:cs typeface="Roboto Mono"/>
                <a:sym typeface="Roboto Mono"/>
              </a:rPr>
              <a:t>return favourite_book</a:t>
            </a:r>
            <a:endParaRPr b="1"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def books():</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a:t>
            </a:r>
            <a:r>
              <a:rPr b="1" lang="en-US" sz="1100">
                <a:latin typeface="Roboto Mono"/>
                <a:ea typeface="Roboto Mono"/>
                <a:cs typeface="Roboto Mono"/>
                <a:sym typeface="Roboto Mono"/>
              </a:rPr>
              <a:t>fav_book = </a:t>
            </a:r>
            <a:r>
              <a:rPr lang="en-US" sz="1100">
                <a:latin typeface="Roboto Mono Light"/>
                <a:ea typeface="Roboto Mono Light"/>
                <a:cs typeface="Roboto Mono Light"/>
                <a:sym typeface="Roboto Mono Light"/>
              </a:rPr>
              <a:t>ask_book()</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print(fav_book)</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latin typeface="Roboto Mono Light"/>
              <a:ea typeface="Roboto Mono Light"/>
              <a:cs typeface="Roboto Mono Light"/>
              <a:sym typeface="Roboto Mono Light"/>
            </a:endParaRPr>
          </a:p>
          <a:p>
            <a:pPr indent="0" lvl="0" marL="0" rtl="0" algn="l">
              <a:spcBef>
                <a:spcPts val="0"/>
              </a:spcBef>
              <a:spcAft>
                <a:spcPts val="0"/>
              </a:spcAft>
              <a:buNone/>
            </a:pPr>
            <a:r>
              <a:rPr lang="en-US" sz="1100">
                <a:latin typeface="Roboto Mono Light"/>
                <a:ea typeface="Roboto Mono Light"/>
                <a:cs typeface="Roboto Mono Light"/>
                <a:sym typeface="Roboto Mono Light"/>
              </a:rPr>
              <a:t>books()</a:t>
            </a:r>
            <a:endParaRPr sz="1100">
              <a:latin typeface="Roboto Mono Light"/>
              <a:ea typeface="Roboto Mono Light"/>
              <a:cs typeface="Roboto Mono Light"/>
              <a:sym typeface="Roboto Mon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 </a:t>
            </a:r>
            <a:r>
              <a:rPr lang="en-US"/>
              <a:t>Parameters and arguments</a:t>
            </a:r>
            <a:endParaRPr/>
          </a:p>
        </p:txBody>
      </p:sp>
      <p:sp>
        <p:nvSpPr>
          <p:cNvPr id="149" name="Google Shape;149;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0" name="Google Shape;150;p2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How do you get data into a function? With parameters and arguments. A </a:t>
            </a:r>
            <a:r>
              <a:rPr b="1" lang="en-US" sz="1200"/>
              <a:t>parameter</a:t>
            </a:r>
            <a:r>
              <a:rPr lang="en-US" sz="1200"/>
              <a:t> is a piece of information (variable or object) internal to a function or method. Work will be done on or with this when the function or method runs.</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US" sz="1200"/>
              <a:t>Example: the parameter here is </a:t>
            </a:r>
            <a:r>
              <a:rPr b="1" lang="en-US" sz="1200">
                <a:latin typeface="Roboto Mono"/>
                <a:ea typeface="Roboto Mono"/>
                <a:cs typeface="Roboto Mono"/>
                <a:sym typeface="Roboto Mono"/>
              </a:rPr>
              <a:t>n</a:t>
            </a:r>
            <a:r>
              <a:rPr lang="en-US" sz="1200"/>
              <a:t>.</a:t>
            </a:r>
            <a:endParaRPr sz="1200"/>
          </a:p>
          <a:p>
            <a:pPr indent="0" lvl="0" marL="0" rtl="0" algn="l">
              <a:spcBef>
                <a:spcPts val="0"/>
              </a:spcBef>
              <a:spcAft>
                <a:spcPts val="0"/>
              </a:spcAft>
              <a:buClr>
                <a:schemeClr val="dk1"/>
              </a:buClr>
              <a:buSzPts val="1100"/>
              <a:buFont typeface="Arial"/>
              <a:buNone/>
            </a:pPr>
            <a:r>
              <a:t/>
            </a:r>
            <a:endParaRPr sz="1200"/>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square(</a:t>
            </a:r>
            <a:r>
              <a:rPr b="1" lang="en-US" sz="1200">
                <a:latin typeface="Roboto Mono"/>
                <a:ea typeface="Roboto Mono"/>
                <a:cs typeface="Roboto Mono"/>
                <a:sym typeface="Roboto Mono"/>
              </a:rPr>
              <a:t>n</a:t>
            </a:r>
            <a:r>
              <a:rPr lang="en-US" sz="1200">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a:p>
            <a:pPr indent="0" lvl="0" marL="457200" rtl="0" algn="l">
              <a:spcBef>
                <a:spcPts val="0"/>
              </a:spcBef>
              <a:spcAft>
                <a:spcPts val="0"/>
              </a:spcAft>
              <a:buNone/>
            </a:pPr>
            <a:r>
              <a:rPr lang="en-US" sz="1200">
                <a:latin typeface="Roboto Mono Light"/>
                <a:ea typeface="Roboto Mono Light"/>
                <a:cs typeface="Roboto Mono Light"/>
                <a:sym typeface="Roboto Mono Light"/>
              </a:rPr>
              <a:t>	return n*n</a:t>
            </a:r>
            <a:endParaRPr sz="1200">
              <a:latin typeface="Roboto Mono Light"/>
              <a:ea typeface="Roboto Mono Light"/>
              <a:cs typeface="Roboto Mono Light"/>
              <a:sym typeface="Roboto Mono Light"/>
            </a:endParaRPr>
          </a:p>
        </p:txBody>
      </p:sp>
      <p:sp>
        <p:nvSpPr>
          <p:cNvPr id="151" name="Google Shape;151;p2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An </a:t>
            </a:r>
            <a:r>
              <a:rPr b="1" lang="en-US" sz="1200"/>
              <a:t>argument</a:t>
            </a:r>
            <a:r>
              <a:rPr lang="en-US" sz="1200"/>
              <a:t> is a value fed into a function or method when it is called. The parameter gets assigned the value of the argument.</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US" sz="1200"/>
              <a:t>Example: the argument here is </a:t>
            </a:r>
            <a:r>
              <a:rPr b="1" lang="en-US" sz="1200">
                <a:latin typeface="Roboto Mono"/>
                <a:ea typeface="Roboto Mono"/>
                <a:cs typeface="Roboto Mono"/>
                <a:sym typeface="Roboto Mono"/>
              </a:rPr>
              <a:t>4</a:t>
            </a:r>
            <a:r>
              <a:rPr lang="en-US" sz="1200"/>
              <a:t>.</a:t>
            </a:r>
            <a:endParaRPr sz="1200"/>
          </a:p>
          <a:p>
            <a:pPr indent="0" lvl="0" marL="0" rtl="0" algn="l">
              <a:spcBef>
                <a:spcPts val="0"/>
              </a:spcBef>
              <a:spcAft>
                <a:spcPts val="0"/>
              </a:spcAft>
              <a:buClr>
                <a:schemeClr val="dk1"/>
              </a:buClr>
              <a:buSzPts val="1100"/>
              <a:buFont typeface="Arial"/>
              <a:buNone/>
            </a:pPr>
            <a:r>
              <a:t/>
            </a:r>
            <a:endParaRPr sz="1200"/>
          </a:p>
          <a:p>
            <a:pPr indent="45720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four_squared = square(</a:t>
            </a:r>
            <a:r>
              <a:rPr b="1" lang="en-US" sz="1200">
                <a:latin typeface="Roboto Mono"/>
                <a:ea typeface="Roboto Mono"/>
                <a:cs typeface="Roboto Mono"/>
                <a:sym typeface="Roboto Mono"/>
              </a:rPr>
              <a:t>4</a:t>
            </a:r>
            <a:r>
              <a:rPr lang="en-US" sz="1200">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rPr lang="en-US" sz="1200"/>
              <a:t>(</a:t>
            </a:r>
            <a:r>
              <a:rPr lang="en-US" sz="1200"/>
              <a:t>Don't forget to assign the returned value to a new variable!)</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 </a:t>
            </a:r>
            <a:r>
              <a:rPr lang="en-US"/>
              <a:t>Parameter default values</a:t>
            </a:r>
            <a:endParaRPr/>
          </a:p>
        </p:txBody>
      </p:sp>
      <p:sp>
        <p:nvSpPr>
          <p:cNvPr id="158" name="Google Shape;158;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9" name="Google Shape;159;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When defining functions, you can assign default parameter values. The user doesn't necessarily have to include these arguments when calling the function; the default values are used when arguments aren't included, and are overwritten when arguments are included.</a:t>
            </a:r>
            <a:endParaRPr/>
          </a:p>
        </p:txBody>
      </p:sp>
      <p:sp>
        <p:nvSpPr>
          <p:cNvPr id="160" name="Google Shape;160;p2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As an example, Python's most beloved built-in function is actually even more powerful than it lets on:</a:t>
            </a:r>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print(favourite_book, "something else", </a:t>
            </a:r>
            <a:r>
              <a:rPr b="1" lang="en-US">
                <a:solidFill>
                  <a:schemeClr val="dk1"/>
                </a:solidFill>
                <a:latin typeface="Roboto Mono"/>
                <a:ea typeface="Roboto Mono"/>
                <a:cs typeface="Roboto Mono"/>
                <a:sym typeface="Roboto Mono"/>
              </a:rPr>
              <a:t>end=</a:t>
            </a:r>
            <a:r>
              <a:rPr lang="en-US">
                <a:solidFill>
                  <a:schemeClr val="dk1"/>
                </a:solidFill>
                <a:latin typeface="Roboto Mono Light"/>
                <a:ea typeface="Roboto Mono Light"/>
                <a:cs typeface="Roboto Mono Light"/>
                <a:sym typeface="Roboto Mono Light"/>
              </a:rPr>
              <a:t> "\n", </a:t>
            </a:r>
            <a:r>
              <a:rPr b="1" lang="en-US">
                <a:solidFill>
                  <a:schemeClr val="dk1"/>
                </a:solidFill>
                <a:latin typeface="Roboto Mono"/>
                <a:ea typeface="Roboto Mono"/>
                <a:cs typeface="Roboto Mono"/>
                <a:sym typeface="Roboto Mono"/>
              </a:rPr>
              <a:t>sep=</a:t>
            </a:r>
            <a:r>
              <a:rPr lang="en-US">
                <a:solidFill>
                  <a:schemeClr val="dk1"/>
                </a:solidFill>
                <a:latin typeface="Roboto Mono Light"/>
                <a:ea typeface="Roboto Mono Light"/>
                <a:cs typeface="Roboto Mono Light"/>
                <a:sym typeface="Roboto Mono Light"/>
              </a:rPr>
              <a:t> " ", </a:t>
            </a:r>
            <a:r>
              <a:rPr b="1" lang="en-US">
                <a:solidFill>
                  <a:schemeClr val="dk1"/>
                </a:solidFill>
                <a:latin typeface="Roboto Mono"/>
                <a:ea typeface="Roboto Mono"/>
                <a:cs typeface="Roboto Mono"/>
                <a:sym typeface="Roboto Mono"/>
              </a:rPr>
              <a:t>file=</a:t>
            </a:r>
            <a:r>
              <a:rPr lang="en-US">
                <a:solidFill>
                  <a:schemeClr val="dk1"/>
                </a:solidFill>
                <a:latin typeface="Roboto Mono Light"/>
                <a:ea typeface="Roboto Mono Light"/>
                <a:cs typeface="Roboto Mono Light"/>
                <a:sym typeface="Roboto Mono Light"/>
              </a:rPr>
              <a:t>sys.stdout)</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Now look at the documentation: </a:t>
            </a:r>
            <a:r>
              <a:rPr lang="en-US" u="sng">
                <a:solidFill>
                  <a:schemeClr val="hlink"/>
                </a:solidFill>
                <a:latin typeface="Roboto Mono Light"/>
                <a:ea typeface="Roboto Mono Light"/>
                <a:cs typeface="Roboto Mono Light"/>
                <a:sym typeface="Roboto Mono Light"/>
                <a:hlinkClick r:id="rId3"/>
              </a:rPr>
              <a:t>print()</a:t>
            </a:r>
            <a:endParaRPr>
              <a:latin typeface="Roboto Mono Light"/>
              <a:ea typeface="Roboto Mono Light"/>
              <a:cs typeface="Roboto Mono Light"/>
              <a:sym typeface="Roboto Mon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 </a:t>
            </a:r>
            <a:r>
              <a:rPr lang="en-US"/>
              <a:t>Parameter default values</a:t>
            </a:r>
            <a:endParaRPr/>
          </a:p>
        </p:txBody>
      </p:sp>
      <p:sp>
        <p:nvSpPr>
          <p:cNvPr id="167" name="Google Shape;167;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68" name="Google Shape;168;p2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Default values for parameters and arguments are actually what are called </a:t>
            </a:r>
            <a:r>
              <a:rPr b="1" lang="en-US" sz="1400"/>
              <a:t>keywords</a:t>
            </a:r>
            <a:r>
              <a:rPr lang="en-US" sz="1400"/>
              <a:t>. Important notes:</a:t>
            </a:r>
            <a:endParaRPr sz="1400"/>
          </a:p>
          <a:p>
            <a:pPr indent="0" lvl="0" marL="0" rtl="0" algn="l">
              <a:spcBef>
                <a:spcPts val="0"/>
              </a:spcBef>
              <a:spcAft>
                <a:spcPts val="0"/>
              </a:spcAft>
              <a:buClr>
                <a:schemeClr val="dk1"/>
              </a:buClr>
              <a:buSzPts val="1100"/>
              <a:buFont typeface="Arial"/>
              <a:buNone/>
            </a:pPr>
            <a:r>
              <a:t/>
            </a:r>
            <a:endParaRPr sz="1400"/>
          </a:p>
          <a:p>
            <a:pPr indent="-317500" lvl="0" marL="457200" rtl="0" algn="l">
              <a:spcBef>
                <a:spcPts val="0"/>
              </a:spcBef>
              <a:spcAft>
                <a:spcPts val="0"/>
              </a:spcAft>
              <a:buSzPts val="1400"/>
              <a:buAutoNum type="arabicPeriod"/>
            </a:pPr>
            <a:r>
              <a:rPr lang="en-US" sz="1400"/>
              <a:t>Keyword, optional, default-valued parameters  </a:t>
            </a:r>
            <a:r>
              <a:rPr b="1" i="1" lang="en-US" sz="1400"/>
              <a:t>must be defined after</a:t>
            </a:r>
            <a:r>
              <a:rPr lang="en-US" sz="1400"/>
              <a:t> all non-keyword, required, positional parameters.</a:t>
            </a:r>
            <a:endParaRPr sz="1400"/>
          </a:p>
          <a:p>
            <a:pPr indent="-317500" lvl="0" marL="457200" rtl="0" algn="l">
              <a:spcBef>
                <a:spcPts val="0"/>
              </a:spcBef>
              <a:spcAft>
                <a:spcPts val="0"/>
              </a:spcAft>
              <a:buSzPts val="1400"/>
              <a:buAutoNum type="arabicPeriod"/>
            </a:pPr>
            <a:r>
              <a:rPr lang="en-US" sz="1400"/>
              <a:t>If you are going to be using them, they almost always need to be called out explicitly.</a:t>
            </a:r>
            <a:endParaRPr sz="1400"/>
          </a:p>
        </p:txBody>
      </p:sp>
      <p:sp>
        <p:nvSpPr>
          <p:cNvPr id="169" name="Google Shape;169;p2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This also explicitly means that when you call a function that has these, </a:t>
            </a:r>
            <a:r>
              <a:rPr lang="en-US" sz="1400"/>
              <a:t>you will be passing </a:t>
            </a:r>
            <a:r>
              <a:rPr b="1" lang="en-US" sz="1400"/>
              <a:t>keyword arguments</a:t>
            </a:r>
            <a:r>
              <a:rPr lang="en-US" sz="1400"/>
              <a:t>. (</a:t>
            </a:r>
            <a:r>
              <a:rPr lang="en-US" sz="1400"/>
              <a:t>These are also known as </a:t>
            </a:r>
            <a:r>
              <a:rPr b="1" lang="en-US" sz="1400"/>
              <a:t>kwargs</a:t>
            </a:r>
            <a:r>
              <a:rPr lang="en-US" sz="1400"/>
              <a:t>, and non-keyword arguments are known as </a:t>
            </a:r>
            <a:r>
              <a:rPr b="1" lang="en-US" sz="1400"/>
              <a:t>args</a:t>
            </a:r>
            <a:r>
              <a:rPr lang="en-US" sz="1400"/>
              <a:t>). You've actually used at least one of these already:</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print('Check out the end keyword argument', </a:t>
            </a:r>
            <a:r>
              <a:rPr b="1" lang="en-US" sz="1000">
                <a:latin typeface="Roboto Mono"/>
                <a:ea typeface="Roboto Mono"/>
                <a:cs typeface="Roboto Mono"/>
                <a:sym typeface="Roboto Mono"/>
              </a:rPr>
              <a:t>end='$$$'</a:t>
            </a:r>
            <a:r>
              <a:rPr lang="en-US" sz="1000">
                <a:latin typeface="Roboto Mono Light"/>
                <a:ea typeface="Roboto Mono Light"/>
                <a:cs typeface="Roboto Mono Light"/>
                <a:sym typeface="Roboto Mono Light"/>
              </a:rPr>
              <a:t>)</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latin typeface="Roboto Mono Light"/>
              <a:ea typeface="Roboto Mono Light"/>
              <a:cs typeface="Roboto Mono Light"/>
              <a:sym typeface="Roboto Mono Light"/>
            </a:endParaRPr>
          </a:p>
          <a:p>
            <a:pPr indent="0" lvl="0" marL="0" rtl="0" algn="l">
              <a:spcBef>
                <a:spcPts val="0"/>
              </a:spcBef>
              <a:spcAft>
                <a:spcPts val="0"/>
              </a:spcAft>
              <a:buNone/>
            </a:pPr>
            <a:r>
              <a:rPr lang="en-US" sz="1000">
                <a:latin typeface="Roboto Mono Light"/>
                <a:ea typeface="Roboto Mono Light"/>
                <a:cs typeface="Roboto Mono Light"/>
                <a:sym typeface="Roboto Mono Light"/>
              </a:rPr>
              <a:t>&gt;&gt;&gt; Check out the end keyword argument$$$</a:t>
            </a:r>
            <a:endParaRPr sz="1000">
              <a:latin typeface="Roboto Mono Light"/>
              <a:ea typeface="Roboto Mono Light"/>
              <a:cs typeface="Roboto Mono Light"/>
              <a:sym typeface="Roboto Mon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 </a:t>
            </a:r>
            <a:r>
              <a:rPr lang="en-US"/>
              <a:t>Parameters of your own</a:t>
            </a:r>
            <a:endParaRPr/>
          </a:p>
        </p:txBody>
      </p:sp>
      <p:sp>
        <p:nvSpPr>
          <p:cNvPr id="176" name="Google Shape;176;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77" name="Google Shape;177;p2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Let's write a function with some parameters that have default values, and then call them using keyword arguments.</a:t>
            </a:r>
            <a:endParaRPr/>
          </a:p>
        </p:txBody>
      </p:sp>
      <p:sp>
        <p:nvSpPr>
          <p:cNvPr id="178" name="Google Shape;178;p2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def flower(num_petals, </a:t>
            </a:r>
            <a:r>
              <a:rPr b="1" lang="en-US" sz="1300">
                <a:latin typeface="Roboto Mono"/>
                <a:ea typeface="Roboto Mono"/>
                <a:cs typeface="Roboto Mono"/>
                <a:sym typeface="Roboto Mono"/>
              </a:rPr>
              <a:t>color='red'</a:t>
            </a:r>
            <a:r>
              <a:rPr lang="en-US" sz="1300">
                <a:latin typeface="Roboto Mono Light"/>
                <a:ea typeface="Roboto Mono Light"/>
                <a:cs typeface="Roboto Mono Light"/>
                <a:sym typeface="Roboto Mono Light"/>
              </a:rPr>
              <a:t>):</a:t>
            </a:r>
            <a:endParaRPr sz="13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print('I love', color, 'flowers 	with’, num_petals, ’petals!’)</a:t>
            </a:r>
            <a:endParaRPr sz="13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def main():</a:t>
            </a:r>
            <a:endParaRPr sz="13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flower(4, </a:t>
            </a:r>
            <a:r>
              <a:rPr b="1" lang="en-US" sz="1300">
                <a:latin typeface="Roboto Mono"/>
                <a:ea typeface="Roboto Mono"/>
                <a:cs typeface="Roboto Mono"/>
                <a:sym typeface="Roboto Mono"/>
              </a:rPr>
              <a:t>'blue'</a:t>
            </a:r>
            <a:r>
              <a:rPr lang="en-US" sz="1300">
                <a:latin typeface="Roboto Mono Light"/>
                <a:ea typeface="Roboto Mono Light"/>
                <a:cs typeface="Roboto Mono Light"/>
                <a:sym typeface="Roboto Mono Light"/>
              </a:rPr>
              <a:t>)		  # args</a:t>
            </a:r>
            <a:endParaRPr sz="13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flower(5, </a:t>
            </a:r>
            <a:r>
              <a:rPr b="1" lang="en-US" sz="1300">
                <a:latin typeface="Roboto Mono"/>
                <a:ea typeface="Roboto Mono"/>
                <a:cs typeface="Roboto Mono"/>
                <a:sym typeface="Roboto Mono"/>
              </a:rPr>
              <a:t>color='green'</a:t>
            </a:r>
            <a:r>
              <a:rPr lang="en-US" sz="1300">
                <a:latin typeface="Roboto Mono Light"/>
                <a:ea typeface="Roboto Mono Light"/>
                <a:cs typeface="Roboto Mono Light"/>
                <a:sym typeface="Roboto Mono Light"/>
              </a:rPr>
              <a:t>) # arg, kwarg</a:t>
            </a:r>
            <a:endParaRPr sz="13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flower(6)  			  # default</a:t>
            </a:r>
            <a:endParaRPr sz="13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if __name__ == '__main__':</a:t>
            </a:r>
            <a:endParaRPr sz="1300">
              <a:latin typeface="Roboto Mono Light"/>
              <a:ea typeface="Roboto Mono Light"/>
              <a:cs typeface="Roboto Mono Light"/>
              <a:sym typeface="Roboto Mono Light"/>
            </a:endParaRPr>
          </a:p>
          <a:p>
            <a:pPr indent="457200" lvl="0" marL="0" rtl="0" algn="l">
              <a:spcBef>
                <a:spcPts val="0"/>
              </a:spcBef>
              <a:spcAft>
                <a:spcPts val="0"/>
              </a:spcAft>
              <a:buNone/>
            </a:pPr>
            <a:r>
              <a:rPr lang="en-US" sz="1300">
                <a:latin typeface="Roboto Mono Light"/>
                <a:ea typeface="Roboto Mono Light"/>
                <a:cs typeface="Roboto Mono Light"/>
                <a:sym typeface="Roboto Mono Light"/>
              </a:rPr>
              <a:t>main()</a:t>
            </a:r>
            <a:endParaRPr sz="1300">
              <a:latin typeface="Roboto Mono Light"/>
              <a:ea typeface="Roboto Mono Light"/>
              <a:cs typeface="Roboto Mono Light"/>
              <a:sym typeface="Roboto Mono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OUT: Side effects are bad (mostly)</a:t>
            </a:r>
            <a:endParaRPr/>
          </a:p>
        </p:txBody>
      </p:sp>
      <p:sp>
        <p:nvSpPr>
          <p:cNvPr id="185" name="Google Shape;185;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86" name="Google Shape;186;p25"/>
          <p:cNvSpPr txBox="1"/>
          <p:nvPr>
            <p:ph idx="1" type="body"/>
          </p:nvPr>
        </p:nvSpPr>
        <p:spPr>
          <a:xfrm>
            <a:off x="40100" y="998800"/>
            <a:ext cx="8902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50">
                <a:solidFill>
                  <a:srgbClr val="444746"/>
                </a:solidFill>
                <a:latin typeface="Roboto"/>
                <a:ea typeface="Roboto"/>
                <a:cs typeface="Roboto"/>
                <a:sym typeface="Roboto"/>
              </a:rPr>
              <a:t>A </a:t>
            </a:r>
            <a:r>
              <a:rPr b="1" lang="en-US" sz="1550">
                <a:solidFill>
                  <a:srgbClr val="444746"/>
                </a:solidFill>
                <a:latin typeface="Roboto"/>
                <a:ea typeface="Roboto"/>
                <a:cs typeface="Roboto"/>
                <a:sym typeface="Roboto"/>
              </a:rPr>
              <a:t>side effect</a:t>
            </a:r>
            <a:r>
              <a:rPr lang="en-US" sz="1550">
                <a:solidFill>
                  <a:srgbClr val="444746"/>
                </a:solidFill>
                <a:latin typeface="Roboto"/>
                <a:ea typeface="Roboto"/>
                <a:cs typeface="Roboto"/>
                <a:sym typeface="Roboto"/>
              </a:rPr>
              <a:t> happens when a function or piece of code changes state outside its own scope (or has observable interactions with the outside world)  in addition to returning a value.</a:t>
            </a:r>
            <a:endParaRPr>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550">
                <a:solidFill>
                  <a:srgbClr val="444746"/>
                </a:solidFill>
                <a:latin typeface="Roboto"/>
                <a:ea typeface="Roboto"/>
                <a:cs typeface="Roboto"/>
                <a:sym typeface="Roboto"/>
              </a:rPr>
              <a:t>This can include:</a:t>
            </a:r>
            <a:endParaRPr sz="1550">
              <a:solidFill>
                <a:srgbClr val="44474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latin typeface="Arial"/>
              <a:ea typeface="Arial"/>
              <a:cs typeface="Arial"/>
              <a:sym typeface="Arial"/>
            </a:endParaRPr>
          </a:p>
          <a:p>
            <a:pPr indent="-327025" lvl="0" marL="457200" rtl="0" algn="l">
              <a:spcBef>
                <a:spcPts val="0"/>
              </a:spcBef>
              <a:spcAft>
                <a:spcPts val="0"/>
              </a:spcAft>
              <a:buClr>
                <a:srgbClr val="444746"/>
              </a:buClr>
              <a:buSzPts val="1550"/>
              <a:buFont typeface="Roboto"/>
              <a:buChar char="•"/>
            </a:pPr>
            <a:r>
              <a:rPr lang="en-US" sz="1550">
                <a:solidFill>
                  <a:srgbClr val="444746"/>
                </a:solidFill>
                <a:latin typeface="Roboto"/>
                <a:ea typeface="Roboto"/>
                <a:cs typeface="Roboto"/>
                <a:sym typeface="Roboto"/>
              </a:rPr>
              <a:t>Modifying global variables</a:t>
            </a:r>
            <a:endParaRPr>
              <a:solidFill>
                <a:schemeClr val="dk1"/>
              </a:solidFill>
              <a:latin typeface="Arial"/>
              <a:ea typeface="Arial"/>
              <a:cs typeface="Arial"/>
              <a:sym typeface="Arial"/>
            </a:endParaRPr>
          </a:p>
          <a:p>
            <a:pPr indent="-327025" lvl="0" marL="457200" rtl="0" algn="l">
              <a:spcBef>
                <a:spcPts val="0"/>
              </a:spcBef>
              <a:spcAft>
                <a:spcPts val="0"/>
              </a:spcAft>
              <a:buClr>
                <a:srgbClr val="444746"/>
              </a:buClr>
              <a:buSzPts val="1550"/>
              <a:buFont typeface="Roboto"/>
              <a:buChar char="•"/>
            </a:pPr>
            <a:r>
              <a:rPr lang="en-US" sz="1550">
                <a:solidFill>
                  <a:srgbClr val="444746"/>
                </a:solidFill>
                <a:latin typeface="Roboto"/>
                <a:ea typeface="Roboto"/>
                <a:cs typeface="Roboto"/>
                <a:sym typeface="Roboto"/>
              </a:rPr>
              <a:t>Mutating mutable arguments (lists, dicts, sets)</a:t>
            </a:r>
            <a:endParaRPr>
              <a:solidFill>
                <a:schemeClr val="dk1"/>
              </a:solidFill>
              <a:latin typeface="Arial"/>
              <a:ea typeface="Arial"/>
              <a:cs typeface="Arial"/>
              <a:sym typeface="Arial"/>
            </a:endParaRPr>
          </a:p>
          <a:p>
            <a:pPr indent="-327025" lvl="0" marL="457200" rtl="0" algn="l">
              <a:spcBef>
                <a:spcPts val="0"/>
              </a:spcBef>
              <a:spcAft>
                <a:spcPts val="0"/>
              </a:spcAft>
              <a:buClr>
                <a:srgbClr val="444746"/>
              </a:buClr>
              <a:buSzPts val="1550"/>
              <a:buFont typeface="Roboto"/>
              <a:buChar char="•"/>
            </a:pPr>
            <a:r>
              <a:rPr lang="en-US" sz="1550">
                <a:solidFill>
                  <a:srgbClr val="444746"/>
                </a:solidFill>
                <a:latin typeface="Roboto"/>
                <a:ea typeface="Roboto"/>
                <a:cs typeface="Roboto"/>
                <a:sym typeface="Roboto"/>
              </a:rPr>
              <a:t>Writing to files or databases</a:t>
            </a:r>
            <a:endParaRPr>
              <a:solidFill>
                <a:schemeClr val="dk1"/>
              </a:solidFill>
              <a:latin typeface="Arial"/>
              <a:ea typeface="Arial"/>
              <a:cs typeface="Arial"/>
              <a:sym typeface="Arial"/>
            </a:endParaRPr>
          </a:p>
          <a:p>
            <a:pPr indent="-327025" lvl="0" marL="457200" rtl="0" algn="l">
              <a:spcBef>
                <a:spcPts val="0"/>
              </a:spcBef>
              <a:spcAft>
                <a:spcPts val="0"/>
              </a:spcAft>
              <a:buClr>
                <a:srgbClr val="444746"/>
              </a:buClr>
              <a:buSzPts val="1550"/>
              <a:buFont typeface="Roboto"/>
              <a:buChar char="•"/>
            </a:pPr>
            <a:r>
              <a:rPr lang="en-US" sz="1550">
                <a:solidFill>
                  <a:srgbClr val="444746"/>
                </a:solidFill>
                <a:latin typeface="Roboto"/>
                <a:ea typeface="Roboto"/>
                <a:cs typeface="Roboto"/>
                <a:sym typeface="Roboto"/>
              </a:rPr>
              <a:t>Making network or API calls</a:t>
            </a:r>
            <a:endParaRPr sz="1550">
              <a:solidFill>
                <a:srgbClr val="444746"/>
              </a:solidFill>
              <a:latin typeface="Roboto"/>
              <a:ea typeface="Roboto"/>
              <a:cs typeface="Roboto"/>
              <a:sym typeface="Roboto"/>
            </a:endParaRPr>
          </a:p>
          <a:p>
            <a:pPr indent="0" lvl="0" marL="0" rtl="0" algn="l">
              <a:spcBef>
                <a:spcPts val="0"/>
              </a:spcBef>
              <a:spcAft>
                <a:spcPts val="0"/>
              </a:spcAft>
              <a:buNone/>
            </a:pPr>
            <a:r>
              <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OUT: </a:t>
            </a:r>
            <a:r>
              <a:rPr lang="en-US"/>
              <a:t>Side effects are bad (mostly)</a:t>
            </a:r>
            <a:endParaRPr/>
          </a:p>
        </p:txBody>
      </p:sp>
      <p:sp>
        <p:nvSpPr>
          <p:cNvPr id="193" name="Google Shape;193;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94" name="Google Shape;194;p2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A </a:t>
            </a:r>
            <a:r>
              <a:rPr b="1" lang="en-US" sz="1400"/>
              <a:t>side effect</a:t>
            </a:r>
            <a:r>
              <a:rPr lang="en-US" sz="1400"/>
              <a:t> occurs when </a:t>
            </a:r>
            <a:r>
              <a:rPr i="1" lang="en-US" sz="1400"/>
              <a:t>some part of your codebase (variables, for example) gets changed outside of its own scope</a:t>
            </a:r>
            <a:r>
              <a:rPr lang="en-US" sz="1400"/>
              <a:t>. </a:t>
            </a:r>
            <a:r>
              <a:rPr lang="en-US" sz="1400"/>
              <a:t>This is generally bad</a:t>
            </a:r>
            <a:r>
              <a:rPr lang="en-US" sz="1400"/>
              <a:t> and should be avoided. How does this happen? As an example: mutable variables do things you likely don't want them to do if you're not careful with them and their scope.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This is important when working with files, databases, network, web service calls, RESTful API calls, etc.</a:t>
            </a:r>
            <a:endParaRPr sz="1400"/>
          </a:p>
        </p:txBody>
      </p:sp>
      <p:sp>
        <p:nvSpPr>
          <p:cNvPr id="195" name="Google Shape;195;p2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def mult_item_zero_by_four(my_list):</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a:t>
            </a:r>
            <a:r>
              <a:rPr b="1" lang="en-US" sz="1100">
                <a:latin typeface="Roboto Mono"/>
                <a:ea typeface="Roboto Mono"/>
                <a:cs typeface="Roboto Mono"/>
                <a:sym typeface="Roboto Mono"/>
              </a:rPr>
              <a:t>my_list[0] = my_list[0] * 4</a:t>
            </a:r>
            <a:endParaRPr b="1"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def main():</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lovely_nums = [3, 4, 5]</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lovely_nums_dup = lovely_nums</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mult_item_zero_by_four(lovely_nums)</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a:t>
            </a:r>
            <a:r>
              <a:rPr b="1" lang="en-US" sz="1100">
                <a:latin typeface="Roboto Mono"/>
                <a:ea typeface="Roboto Mono"/>
                <a:cs typeface="Roboto Mono"/>
                <a:sym typeface="Roboto Mono"/>
              </a:rPr>
              <a:t>print(</a:t>
            </a:r>
            <a:r>
              <a:rPr lang="en-US" sz="1100">
                <a:latin typeface="Roboto Mono Light"/>
                <a:ea typeface="Roboto Mono Light"/>
                <a:cs typeface="Roboto Mono Light"/>
                <a:sym typeface="Roboto Mono Light"/>
              </a:rPr>
              <a:t>'lovely nums:', lovely_nums</a:t>
            </a:r>
            <a:r>
              <a:rPr b="1" lang="en-US" sz="1100">
                <a:latin typeface="Roboto Mono"/>
                <a:ea typeface="Roboto Mono"/>
                <a:cs typeface="Roboto Mono"/>
                <a:sym typeface="Roboto Mono"/>
              </a:rPr>
              <a:t>)</a:t>
            </a:r>
            <a:endParaRPr b="1"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a:t>
            </a:r>
            <a:r>
              <a:rPr b="1" lang="en-US" sz="1100">
                <a:latin typeface="Roboto Mono"/>
                <a:ea typeface="Roboto Mono"/>
                <a:cs typeface="Roboto Mono"/>
                <a:sym typeface="Roboto Mono"/>
              </a:rPr>
              <a:t>print(</a:t>
            </a:r>
            <a:r>
              <a:rPr lang="en-US" sz="1100">
                <a:latin typeface="Roboto Mono Light"/>
                <a:ea typeface="Roboto Mono Light"/>
                <a:cs typeface="Roboto Mono Light"/>
                <a:sym typeface="Roboto Mono Light"/>
              </a:rPr>
              <a:t>'lovely nums dup:', lovely_nums_dup</a:t>
            </a:r>
            <a:r>
              <a:rPr b="1" lang="en-US" sz="1100">
                <a:latin typeface="Roboto Mono"/>
                <a:ea typeface="Roboto Mono"/>
                <a:cs typeface="Roboto Mono"/>
                <a:sym typeface="Roboto Mono"/>
              </a:rPr>
              <a:t>)</a:t>
            </a:r>
            <a:endParaRPr b="1"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Light"/>
              <a:ea typeface="Roboto Mono Light"/>
              <a:cs typeface="Roboto Mono Light"/>
              <a:sym typeface="Roboto Mono Light"/>
            </a:endParaRPr>
          </a:p>
          <a:p>
            <a:pPr indent="0" lvl="0" marL="0" rtl="0" algn="l">
              <a:spcBef>
                <a:spcPts val="0"/>
              </a:spcBef>
              <a:spcAft>
                <a:spcPts val="0"/>
              </a:spcAft>
              <a:buNone/>
            </a:pPr>
            <a:r>
              <a:rPr lang="en-US" sz="1100">
                <a:latin typeface="Roboto Mono Light"/>
                <a:ea typeface="Roboto Mono Light"/>
                <a:cs typeface="Roboto Mono Light"/>
                <a:sym typeface="Roboto Mono Light"/>
              </a:rPr>
              <a:t>main()</a:t>
            </a:r>
            <a:endParaRPr sz="1100">
              <a:latin typeface="Roboto Mono Light"/>
              <a:ea typeface="Roboto Mono Light"/>
              <a:cs typeface="Roboto Mono Light"/>
              <a:sym typeface="Roboto Mono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OUT: </a:t>
            </a:r>
            <a:r>
              <a:rPr lang="en-US"/>
              <a:t>Side effects solution</a:t>
            </a:r>
            <a:endParaRPr/>
          </a:p>
        </p:txBody>
      </p:sp>
      <p:sp>
        <p:nvSpPr>
          <p:cNvPr id="202" name="Google Shape;202;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03" name="Google Shape;203;p2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So how do you solve this issue? In particular, with mutable variables, just make a proper copy of them rather than just creating a new alias.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this case, you can slice because slicing always returns a new copy!)</a:t>
            </a:r>
            <a:endParaRPr/>
          </a:p>
        </p:txBody>
      </p:sp>
      <p:sp>
        <p:nvSpPr>
          <p:cNvPr id="204" name="Google Shape;204;p2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def mult_item_zero_by_four(my_list):</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	my_list[0] = my_list[0] * 4</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	return my_list</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def main():</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	lovely_nums = [3, 4, 5]</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	lovely_nums_dup = lovely_nums</a:t>
            </a:r>
            <a:r>
              <a:rPr b="1" lang="en-US" sz="800">
                <a:latin typeface="Roboto Mono"/>
                <a:ea typeface="Roboto Mono"/>
                <a:cs typeface="Roboto Mono"/>
                <a:sym typeface="Roboto Mono"/>
              </a:rPr>
              <a:t>.copy()</a:t>
            </a:r>
            <a:endParaRPr b="1" sz="8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	lovely_nums = mult_item_zero_by_four(lovely_nums</a:t>
            </a:r>
            <a:r>
              <a:rPr b="1" lang="en-US" sz="800">
                <a:latin typeface="Roboto Mono"/>
                <a:ea typeface="Roboto Mono"/>
                <a:cs typeface="Roboto Mono"/>
                <a:sym typeface="Roboto Mono"/>
              </a:rPr>
              <a:t>.copy()</a:t>
            </a:r>
            <a:r>
              <a:rPr lang="en-US" sz="800">
                <a:latin typeface="Roboto Mono Light"/>
                <a:ea typeface="Roboto Mono Light"/>
                <a:cs typeface="Roboto Mono Light"/>
                <a:sym typeface="Roboto Mono Light"/>
              </a:rPr>
              <a:t>)</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	print('lovely nums:', lovely_nums)</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	print('lovely nums dup:', lovely_nums_dup)</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main()</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&gt;&gt;&gt; lovely nums: [12, 4, 5]</a:t>
            </a:r>
            <a:endParaRPr sz="800">
              <a:latin typeface="Roboto Mono Light"/>
              <a:ea typeface="Roboto Mono Light"/>
              <a:cs typeface="Roboto Mono Light"/>
              <a:sym typeface="Roboto Mono Light"/>
            </a:endParaRPr>
          </a:p>
          <a:p>
            <a:pPr indent="0" lvl="0" marL="0" rtl="0" algn="l">
              <a:spcBef>
                <a:spcPts val="0"/>
              </a:spcBef>
              <a:spcAft>
                <a:spcPts val="0"/>
              </a:spcAft>
              <a:buNone/>
            </a:pPr>
            <a:r>
              <a:rPr lang="en-US" sz="800">
                <a:latin typeface="Roboto Mono Light"/>
                <a:ea typeface="Roboto Mono Light"/>
                <a:cs typeface="Roboto Mono Light"/>
                <a:sym typeface="Roboto Mono Light"/>
              </a:rPr>
              <a:t>&gt;&gt;&gt; lovely nums dup: [3, 4, 5]</a:t>
            </a:r>
            <a:endParaRPr sz="800">
              <a:latin typeface="Roboto Mono Light"/>
              <a:ea typeface="Roboto Mono Light"/>
              <a:cs typeface="Roboto Mono Light"/>
              <a:sym typeface="Roboto Mon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OUT: </a:t>
            </a:r>
            <a:r>
              <a:rPr lang="en-US"/>
              <a:t>Side effects aren't always bad</a:t>
            </a:r>
            <a:endParaRPr/>
          </a:p>
        </p:txBody>
      </p:sp>
      <p:sp>
        <p:nvSpPr>
          <p:cNvPr id="211" name="Google Shape;211;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12" name="Google Shape;212;p2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 example of a useful side effect can be found - once again - in the </a:t>
            </a:r>
            <a:r>
              <a:rPr b="1" lang="en-US">
                <a:latin typeface="Roboto Mono"/>
                <a:ea typeface="Roboto Mono"/>
                <a:cs typeface="Roboto Mono"/>
                <a:sym typeface="Roboto Mono"/>
              </a:rPr>
              <a:t>print()</a:t>
            </a:r>
            <a:r>
              <a:rPr lang="en-US"/>
              <a:t> function. It's </a:t>
            </a:r>
            <a:r>
              <a:rPr i="1" lang="en-US"/>
              <a:t>always</a:t>
            </a:r>
            <a:r>
              <a:rPr lang="en-US"/>
              <a:t> modifying something outside of its own scope: the console! So any time you're using </a:t>
            </a:r>
            <a:r>
              <a:rPr lang="en-US">
                <a:latin typeface="Roboto Mono Light"/>
                <a:ea typeface="Roboto Mono Light"/>
                <a:cs typeface="Roboto Mono Light"/>
                <a:sym typeface="Roboto Mono Light"/>
              </a:rPr>
              <a:t>print()</a:t>
            </a:r>
            <a:r>
              <a:rPr lang="en-US"/>
              <a:t>, you're creating a side effect. This one is a useful one, however, so you don't need to avoid it.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Functions and methods</a:t>
            </a:r>
            <a:endParaRPr/>
          </a:p>
        </p:txBody>
      </p:sp>
      <p:sp>
        <p:nvSpPr>
          <p:cNvPr id="219" name="Google Shape;219;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20" name="Google Shape;220;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You've probably heard the word method before. A </a:t>
            </a:r>
            <a:r>
              <a:rPr b="1" lang="en-US" sz="1300"/>
              <a:t>method</a:t>
            </a:r>
            <a:r>
              <a:rPr lang="en-US" sz="1300"/>
              <a:t> is a function that happens to be tied to a specific variable. For instance, here is a </a:t>
            </a:r>
            <a:r>
              <a:rPr lang="en-US" sz="1300">
                <a:latin typeface="Courier New"/>
                <a:ea typeface="Courier New"/>
                <a:cs typeface="Courier New"/>
                <a:sym typeface="Courier New"/>
              </a:rPr>
              <a:t>power()</a:t>
            </a:r>
            <a:r>
              <a:rPr lang="en-US" sz="1300"/>
              <a:t> function:</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def </a:t>
            </a:r>
            <a:r>
              <a:rPr b="1" lang="en-US" sz="1300">
                <a:latin typeface="Roboto Mono"/>
                <a:ea typeface="Roboto Mono"/>
                <a:cs typeface="Roboto Mono"/>
                <a:sym typeface="Roboto Mono"/>
              </a:rPr>
              <a:t>power</a:t>
            </a:r>
            <a:r>
              <a:rPr lang="en-US" sz="1300">
                <a:latin typeface="Roboto Mono Light"/>
                <a:ea typeface="Roboto Mono Light"/>
                <a:cs typeface="Roboto Mono Light"/>
                <a:sym typeface="Roboto Mono Light"/>
              </a:rPr>
              <a:t>(n, p):</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	return n**p</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x = </a:t>
            </a:r>
            <a:r>
              <a:rPr b="1" lang="en-US" sz="1300">
                <a:latin typeface="Roboto Mono"/>
                <a:ea typeface="Roboto Mono"/>
                <a:cs typeface="Roboto Mono"/>
                <a:sym typeface="Roboto Mono"/>
              </a:rPr>
              <a:t>power</a:t>
            </a:r>
            <a:r>
              <a:rPr lang="en-US" sz="1300">
                <a:latin typeface="Roboto Mono Light"/>
                <a:ea typeface="Roboto Mono Light"/>
                <a:cs typeface="Roboto Mono Light"/>
                <a:sym typeface="Roboto Mono Light"/>
              </a:rPr>
              <a:t>(2, 3)</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300">
                <a:latin typeface="Roboto Mono Light"/>
                <a:ea typeface="Roboto Mono Light"/>
                <a:cs typeface="Roboto Mono Light"/>
                <a:sym typeface="Roboto Mono Light"/>
              </a:rPr>
              <a:t>print(x)</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300">
                <a:latin typeface="Roboto Mono Light"/>
                <a:ea typeface="Roboto Mono Light"/>
                <a:cs typeface="Roboto Mono Light"/>
                <a:sym typeface="Roboto Mono Light"/>
              </a:rPr>
              <a:t>&gt;&gt;&gt; 8</a:t>
            </a:r>
            <a:endParaRPr sz="1300">
              <a:latin typeface="Roboto Mono Light"/>
              <a:ea typeface="Roboto Mono Light"/>
              <a:cs typeface="Roboto Mono Light"/>
              <a:sym typeface="Roboto Mono Light"/>
            </a:endParaRPr>
          </a:p>
        </p:txBody>
      </p:sp>
      <p:sp>
        <p:nvSpPr>
          <p:cNvPr id="221" name="Google Shape;221;p2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And here is the </a:t>
            </a:r>
            <a:r>
              <a:rPr lang="en-US" sz="1200">
                <a:latin typeface="Courier New"/>
                <a:ea typeface="Courier New"/>
                <a:cs typeface="Courier New"/>
                <a:sym typeface="Courier New"/>
              </a:rPr>
              <a:t>pow()</a:t>
            </a:r>
            <a:r>
              <a:rPr lang="en-US" sz="1200"/>
              <a:t> method, which is tied to the math object. To access it, use the </a:t>
            </a:r>
            <a:r>
              <a:rPr b="1" lang="en-US" sz="1200"/>
              <a:t>dot operator</a:t>
            </a:r>
            <a:r>
              <a:rPr lang="en-US" sz="1200"/>
              <a:t>.</a:t>
            </a:r>
            <a:endParaRPr sz="1200"/>
          </a:p>
          <a:p>
            <a:pPr indent="0" lvl="0" marL="0" rtl="0" algn="l">
              <a:spcBef>
                <a:spcPts val="0"/>
              </a:spcBef>
              <a:spcAft>
                <a:spcPts val="0"/>
              </a:spcAft>
              <a:buClr>
                <a:schemeClr val="dk1"/>
              </a:buClr>
              <a:buSzPts val="1100"/>
              <a:buFont typeface="Arial"/>
              <a:buNone/>
            </a:pPr>
            <a:r>
              <a:t/>
            </a:r>
            <a:endParaRPr sz="1200"/>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x = math.</a:t>
            </a:r>
            <a:r>
              <a:rPr b="1" lang="en-US" sz="1200">
                <a:latin typeface="Roboto Mono"/>
                <a:ea typeface="Roboto Mono"/>
                <a:cs typeface="Roboto Mono"/>
                <a:sym typeface="Roboto Mono"/>
              </a:rPr>
              <a:t>pow</a:t>
            </a:r>
            <a:r>
              <a:rPr lang="en-US" sz="1200">
                <a:latin typeface="Roboto Mono Light"/>
                <a:ea typeface="Roboto Mono Light"/>
                <a:cs typeface="Roboto Mono Light"/>
                <a:sym typeface="Roboto Mono Light"/>
              </a:rPr>
              <a:t>(2, 3)</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print(x)</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8</a:t>
            </a:r>
            <a:endParaRPr sz="1200">
              <a:latin typeface="Roboto Mono Light"/>
              <a:ea typeface="Roboto Mono Light"/>
              <a:cs typeface="Roboto Mono Light"/>
              <a:sym typeface="Roboto Mono Light"/>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You've also seen methods before! For example:</a:t>
            </a:r>
            <a:endParaRPr sz="1200"/>
          </a:p>
          <a:p>
            <a:pPr indent="0" lvl="0" marL="0" rtl="0" algn="l">
              <a:spcBef>
                <a:spcPts val="0"/>
              </a:spcBef>
              <a:spcAft>
                <a:spcPts val="0"/>
              </a:spcAft>
              <a:buNone/>
            </a:pPr>
            <a:r>
              <a:t/>
            </a:r>
            <a:endParaRPr sz="1200"/>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random.</a:t>
            </a:r>
            <a:r>
              <a:rPr b="1" lang="en-US" sz="1200">
                <a:latin typeface="Roboto Mono"/>
                <a:ea typeface="Roboto Mono"/>
                <a:cs typeface="Roboto Mono"/>
                <a:sym typeface="Roboto Mono"/>
              </a:rPr>
              <a:t>randint</a:t>
            </a:r>
            <a:r>
              <a:rPr lang="en-US" sz="1200">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mylist.</a:t>
            </a:r>
            <a:r>
              <a:rPr b="1" lang="en-US" sz="1200">
                <a:latin typeface="Roboto Mono"/>
                <a:ea typeface="Roboto Mono"/>
                <a:cs typeface="Roboto Mono"/>
                <a:sym typeface="Roboto Mono"/>
              </a:rPr>
              <a:t>append</a:t>
            </a:r>
            <a:r>
              <a:rPr lang="en-US" sz="1200">
                <a:latin typeface="Roboto Mono Light"/>
                <a:ea typeface="Roboto Mono Light"/>
                <a:cs typeface="Roboto Mono Light"/>
                <a:sym typeface="Roboto Mono Light"/>
              </a:rPr>
              <a:t>(4)</a:t>
            </a:r>
            <a:endParaRPr sz="1200">
              <a:latin typeface="Roboto Mono Light"/>
              <a:ea typeface="Roboto Mono Light"/>
              <a:cs typeface="Roboto Mono Light"/>
              <a:sym typeface="Roboto Mon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Functions: returning to return</a:t>
            </a:r>
            <a:endParaRPr/>
          </a:p>
        </p:txBody>
      </p:sp>
      <p:sp>
        <p:nvSpPr>
          <p:cNvPr id="228" name="Google Shape;228;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29" name="Google Shape;229;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rPr>
              <a:t>Functions can return multiple items by collecting them up into a tuple: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45720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def </a:t>
            </a:r>
            <a:r>
              <a:rPr lang="en-US" sz="1200">
                <a:solidFill>
                  <a:srgbClr val="FF9900"/>
                </a:solidFill>
                <a:latin typeface="Roboto Mono Light"/>
                <a:ea typeface="Roboto Mono Light"/>
                <a:cs typeface="Roboto Mono Light"/>
                <a:sym typeface="Roboto Mono Light"/>
              </a:rPr>
              <a:t>square_and_sqrt_list</a:t>
            </a:r>
            <a:r>
              <a:rPr lang="en-US" sz="1200">
                <a:solidFill>
                  <a:schemeClr val="dk1"/>
                </a:solidFill>
                <a:latin typeface="Roboto Mono Light"/>
                <a:ea typeface="Roboto Mono Light"/>
                <a:cs typeface="Roboto Mono Light"/>
                <a:sym typeface="Roboto Mono Light"/>
              </a:rPr>
              <a:t>(n):</a:t>
            </a:r>
            <a:endParaRPr sz="12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	return </a:t>
            </a:r>
            <a:r>
              <a:rPr b="1" lang="en-US" sz="1200">
                <a:solidFill>
                  <a:schemeClr val="dk1"/>
                </a:solidFill>
                <a:latin typeface="Roboto Mono"/>
                <a:ea typeface="Roboto Mono"/>
                <a:cs typeface="Roboto Mono"/>
                <a:sym typeface="Roboto Mono"/>
              </a:rPr>
              <a:t>(</a:t>
            </a:r>
            <a:r>
              <a:rPr b="1" lang="en-US" sz="1200">
                <a:solidFill>
                  <a:srgbClr val="FF0000"/>
                </a:solidFill>
                <a:latin typeface="Roboto Mono"/>
                <a:ea typeface="Roboto Mono"/>
                <a:cs typeface="Roboto Mono"/>
                <a:sym typeface="Roboto Mono"/>
              </a:rPr>
              <a:t>n*n</a:t>
            </a:r>
            <a:r>
              <a:rPr b="1" lang="en-US" sz="1200">
                <a:solidFill>
                  <a:schemeClr val="dk1"/>
                </a:solidFill>
                <a:latin typeface="Roboto Mono"/>
                <a:ea typeface="Roboto Mono"/>
                <a:cs typeface="Roboto Mono"/>
                <a:sym typeface="Roboto Mono"/>
              </a:rPr>
              <a:t>, </a:t>
            </a:r>
            <a:r>
              <a:rPr b="1" lang="en-US" sz="1200">
                <a:solidFill>
                  <a:srgbClr val="0070C0"/>
                </a:solidFill>
                <a:latin typeface="Roboto Mono"/>
                <a:ea typeface="Roboto Mono"/>
                <a:cs typeface="Roboto Mono"/>
                <a:sym typeface="Roboto Mono"/>
              </a:rPr>
              <a:t>math.sqrt(n</a:t>
            </a:r>
            <a:r>
              <a:rPr b="1" lang="en-US" sz="1200">
                <a:solidFill>
                  <a:srgbClr val="0070C0"/>
                </a:solidFill>
                <a:latin typeface="Roboto Mono"/>
                <a:ea typeface="Roboto Mono"/>
                <a:cs typeface="Roboto Mono"/>
                <a:sym typeface="Roboto Mono"/>
              </a:rPr>
              <a:t>)</a:t>
            </a:r>
            <a:r>
              <a:rPr b="1" lang="en-US" sz="1200">
                <a:solidFill>
                  <a:schemeClr val="dk1"/>
                </a:solidFill>
                <a:latin typeface="Roboto Mono"/>
                <a:ea typeface="Roboto Mono"/>
                <a:cs typeface="Roboto Mono"/>
                <a:sym typeface="Roboto Mono"/>
              </a:rPr>
              <a:t>)</a:t>
            </a:r>
            <a:endParaRPr b="1" sz="1200">
              <a:solidFill>
                <a:schemeClr val="dk1"/>
              </a:solidFill>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rPr>
              <a:t>It turns out that you can also write this without the parentheses but with the same results, to return a tuple: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45720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def square_and_sqrt_indiv(n):</a:t>
            </a:r>
            <a:endParaRPr sz="12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	return </a:t>
            </a:r>
            <a:r>
              <a:rPr b="1" lang="en-US" sz="1200">
                <a:solidFill>
                  <a:srgbClr val="FF0000"/>
                </a:solidFill>
                <a:latin typeface="Roboto Mono"/>
                <a:ea typeface="Roboto Mono"/>
                <a:cs typeface="Roboto Mono"/>
                <a:sym typeface="Roboto Mono"/>
              </a:rPr>
              <a:t>n*n</a:t>
            </a:r>
            <a:r>
              <a:rPr b="1" lang="en-US" sz="1200">
                <a:solidFill>
                  <a:schemeClr val="dk1"/>
                </a:solidFill>
                <a:latin typeface="Roboto Mono"/>
                <a:ea typeface="Roboto Mono"/>
                <a:cs typeface="Roboto Mono"/>
                <a:sym typeface="Roboto Mono"/>
              </a:rPr>
              <a:t>, </a:t>
            </a:r>
            <a:r>
              <a:rPr b="1" lang="en-US" sz="1200">
                <a:solidFill>
                  <a:srgbClr val="0070C0"/>
                </a:solidFill>
                <a:latin typeface="Roboto Mono"/>
                <a:ea typeface="Roboto Mono"/>
                <a:cs typeface="Roboto Mono"/>
                <a:sym typeface="Roboto Mono"/>
              </a:rPr>
              <a:t>math.sqrt(n)</a:t>
            </a:r>
            <a:endParaRPr b="1" sz="1200">
              <a:latin typeface="Roboto Mono"/>
              <a:ea typeface="Roboto Mono"/>
              <a:cs typeface="Roboto Mono"/>
              <a:sym typeface="Roboto Mono"/>
            </a:endParaRPr>
          </a:p>
        </p:txBody>
      </p:sp>
      <p:sp>
        <p:nvSpPr>
          <p:cNvPr id="230" name="Google Shape;230;p3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Once the item is returned, you need to unpack it. This can be done in several ways:</a:t>
            </a:r>
            <a:endParaRPr sz="1200"/>
          </a:p>
          <a:p>
            <a:pPr indent="0" lvl="0" marL="0" rtl="0" algn="l">
              <a:spcBef>
                <a:spcPts val="0"/>
              </a:spcBef>
              <a:spcAft>
                <a:spcPts val="0"/>
              </a:spcAft>
              <a:buClr>
                <a:schemeClr val="dk1"/>
              </a:buClr>
              <a:buSzPts val="1100"/>
              <a:buFont typeface="Arial"/>
              <a:buNone/>
            </a:pPr>
            <a:r>
              <a:t/>
            </a:r>
            <a:endParaRPr sz="1200"/>
          </a:p>
          <a:p>
            <a:pPr indent="0" lvl="0" marL="45720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results = </a:t>
            </a:r>
            <a:r>
              <a:rPr lang="en-US" sz="1200">
                <a:solidFill>
                  <a:srgbClr val="FF9900"/>
                </a:solidFill>
                <a:latin typeface="Roboto Mono Light"/>
                <a:ea typeface="Roboto Mono Light"/>
                <a:cs typeface="Roboto Mono Light"/>
                <a:sym typeface="Roboto Mono Light"/>
              </a:rPr>
              <a:t>square_and_sqrt_list</a:t>
            </a:r>
            <a:r>
              <a:rPr lang="en-US" sz="1200">
                <a:solidFill>
                  <a:schemeClr val="dk1"/>
                </a:solidFill>
                <a:latin typeface="Roboto Mono Light"/>
                <a:ea typeface="Roboto Mono Light"/>
                <a:cs typeface="Roboto Mono Light"/>
                <a:sym typeface="Roboto Mono Light"/>
              </a:rPr>
              <a:t>(4)</a:t>
            </a:r>
            <a:endParaRPr sz="12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b="1" lang="en-US" sz="1200">
                <a:solidFill>
                  <a:srgbClr val="FF0000"/>
                </a:solidFill>
                <a:latin typeface="Roboto Mono"/>
                <a:ea typeface="Roboto Mono"/>
                <a:cs typeface="Roboto Mono"/>
                <a:sym typeface="Roboto Mono"/>
              </a:rPr>
              <a:t>square4</a:t>
            </a:r>
            <a:r>
              <a:rPr b="1" lang="en-US" sz="1200">
                <a:solidFill>
                  <a:schemeClr val="dk1"/>
                </a:solidFill>
                <a:latin typeface="Roboto Mono"/>
                <a:ea typeface="Roboto Mono"/>
                <a:cs typeface="Roboto Mono"/>
                <a:sym typeface="Roboto Mono"/>
              </a:rPr>
              <a:t> = </a:t>
            </a:r>
            <a:r>
              <a:rPr lang="en-US" sz="1200">
                <a:solidFill>
                  <a:schemeClr val="dk1"/>
                </a:solidFill>
                <a:latin typeface="Roboto Mono Light"/>
                <a:ea typeface="Roboto Mono Light"/>
                <a:cs typeface="Roboto Mono Light"/>
                <a:sym typeface="Roboto Mono Light"/>
              </a:rPr>
              <a:t>results[</a:t>
            </a:r>
            <a:r>
              <a:rPr lang="en-US" sz="1200">
                <a:solidFill>
                  <a:srgbClr val="FF0000"/>
                </a:solidFill>
                <a:latin typeface="Roboto Mono Light"/>
                <a:ea typeface="Roboto Mono Light"/>
                <a:cs typeface="Roboto Mono Light"/>
                <a:sym typeface="Roboto Mono Light"/>
              </a:rPr>
              <a:t>0</a:t>
            </a:r>
            <a:r>
              <a:rPr lang="en-US" sz="1200">
                <a:solidFill>
                  <a:schemeClr val="dk1"/>
                </a:solidFill>
                <a:latin typeface="Roboto Mono Light"/>
                <a:ea typeface="Roboto Mono Light"/>
                <a:cs typeface="Roboto Mono Light"/>
                <a:sym typeface="Roboto Mono Light"/>
              </a:rPr>
              <a:t>]</a:t>
            </a:r>
            <a:endParaRPr sz="12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b="1" lang="en-US" sz="1200">
                <a:solidFill>
                  <a:srgbClr val="0070C0"/>
                </a:solidFill>
                <a:latin typeface="Roboto Mono"/>
                <a:ea typeface="Roboto Mono"/>
                <a:cs typeface="Roboto Mono"/>
                <a:sym typeface="Roboto Mono"/>
              </a:rPr>
              <a:t>sqrt4</a:t>
            </a:r>
            <a:r>
              <a:rPr b="1" lang="en-US" sz="1200">
                <a:solidFill>
                  <a:schemeClr val="dk1"/>
                </a:solidFill>
                <a:latin typeface="Roboto Mono"/>
                <a:ea typeface="Roboto Mono"/>
                <a:cs typeface="Roboto Mono"/>
                <a:sym typeface="Roboto Mono"/>
              </a:rPr>
              <a:t> = </a:t>
            </a:r>
            <a:r>
              <a:rPr lang="en-US" sz="1200">
                <a:solidFill>
                  <a:schemeClr val="dk1"/>
                </a:solidFill>
                <a:latin typeface="Roboto Mono Light"/>
                <a:ea typeface="Roboto Mono Light"/>
                <a:cs typeface="Roboto Mono Light"/>
                <a:sym typeface="Roboto Mono Light"/>
              </a:rPr>
              <a:t>results[</a:t>
            </a:r>
            <a:r>
              <a:rPr lang="en-US" sz="1200">
                <a:solidFill>
                  <a:srgbClr val="0070C0"/>
                </a:solidFill>
                <a:latin typeface="Roboto Mono Light"/>
                <a:ea typeface="Roboto Mono Light"/>
                <a:cs typeface="Roboto Mono Light"/>
                <a:sym typeface="Roboto Mono Light"/>
              </a:rPr>
              <a:t>1</a:t>
            </a:r>
            <a:r>
              <a:rPr lang="en-US" sz="1200">
                <a:solidFill>
                  <a:schemeClr val="dk1"/>
                </a:solidFill>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US" sz="1200"/>
              <a:t>Or this new way which you may not have seen before:</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rPr b="1" lang="en-US" sz="1200">
                <a:solidFill>
                  <a:srgbClr val="FF0000"/>
                </a:solidFill>
                <a:latin typeface="Roboto Mono"/>
                <a:ea typeface="Roboto Mono"/>
                <a:cs typeface="Roboto Mono"/>
                <a:sym typeface="Roboto Mono"/>
              </a:rPr>
              <a:t>square4</a:t>
            </a:r>
            <a:r>
              <a:rPr b="1" lang="en-US" sz="1200">
                <a:solidFill>
                  <a:schemeClr val="dk1"/>
                </a:solidFill>
                <a:latin typeface="Roboto Mono"/>
                <a:ea typeface="Roboto Mono"/>
                <a:cs typeface="Roboto Mono"/>
                <a:sym typeface="Roboto Mono"/>
              </a:rPr>
              <a:t>, </a:t>
            </a:r>
            <a:r>
              <a:rPr b="1" lang="en-US" sz="1200">
                <a:solidFill>
                  <a:srgbClr val="0070C0"/>
                </a:solidFill>
                <a:latin typeface="Roboto Mono"/>
                <a:ea typeface="Roboto Mono"/>
                <a:cs typeface="Roboto Mono"/>
                <a:sym typeface="Roboto Mono"/>
              </a:rPr>
              <a:t>sqrt4</a:t>
            </a:r>
            <a:r>
              <a:rPr lang="en-US" sz="1200">
                <a:solidFill>
                  <a:schemeClr val="dk1"/>
                </a:solidFill>
                <a:latin typeface="Roboto Mono Light"/>
                <a:ea typeface="Roboto Mono Light"/>
                <a:cs typeface="Roboto Mono Light"/>
                <a:sym typeface="Roboto Mono Light"/>
              </a:rPr>
              <a:t> = square_and_sqrt_indiv(4)</a:t>
            </a:r>
            <a:endParaRPr sz="1200">
              <a:latin typeface="Roboto Mono Light"/>
              <a:ea typeface="Roboto Mono Light"/>
              <a:cs typeface="Roboto Mono Light"/>
              <a:sym typeface="Roboto Mono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Functions: comments</a:t>
            </a:r>
            <a:endParaRPr/>
          </a:p>
        </p:txBody>
      </p:sp>
      <p:sp>
        <p:nvSpPr>
          <p:cNvPr id="237" name="Google Shape;237;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38" name="Google Shape;238;p3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You should always add comments to the top of your functions to help describe to those looking at your code what it actually does. Remember that you've got to include the following information for each function:</a:t>
            </a:r>
            <a:endParaRPr sz="1300"/>
          </a:p>
          <a:p>
            <a:pPr indent="-311150" lvl="0" marL="457200" rtl="0" algn="l">
              <a:spcBef>
                <a:spcPts val="0"/>
              </a:spcBef>
              <a:spcAft>
                <a:spcPts val="0"/>
              </a:spcAft>
              <a:buSzPts val="1300"/>
              <a:buChar char="•"/>
            </a:pPr>
            <a:r>
              <a:rPr lang="en-US" sz="1300"/>
              <a:t>description</a:t>
            </a:r>
            <a:endParaRPr sz="1300"/>
          </a:p>
          <a:p>
            <a:pPr indent="-311150" lvl="0" marL="457200" rtl="0" algn="l">
              <a:spcBef>
                <a:spcPts val="0"/>
              </a:spcBef>
              <a:spcAft>
                <a:spcPts val="0"/>
              </a:spcAft>
              <a:buSzPts val="1300"/>
              <a:buChar char="•"/>
            </a:pPr>
            <a:r>
              <a:rPr lang="en-US" sz="1300"/>
              <a:t>inputs and outputs (if any)</a:t>
            </a:r>
            <a:endParaRPr sz="1300"/>
          </a:p>
          <a:p>
            <a:pPr indent="-311150" lvl="0" marL="457200" rtl="0" algn="l">
              <a:spcBef>
                <a:spcPts val="0"/>
              </a:spcBef>
              <a:spcAft>
                <a:spcPts val="0"/>
              </a:spcAft>
              <a:buSzPts val="1300"/>
              <a:buChar char="•"/>
            </a:pPr>
            <a:r>
              <a:rPr lang="en-US" sz="1300"/>
              <a:t>whether the function has side effects</a:t>
            </a:r>
            <a:endParaRPr sz="1300"/>
          </a:p>
          <a:p>
            <a:pPr indent="0" lvl="0" marL="0" rtl="0" algn="l">
              <a:spcBef>
                <a:spcPts val="0"/>
              </a:spcBef>
              <a:spcAft>
                <a:spcPts val="0"/>
              </a:spcAft>
              <a:buNone/>
            </a:pPr>
            <a:r>
              <a:t/>
            </a:r>
            <a:endParaRPr sz="1300"/>
          </a:p>
        </p:txBody>
      </p:sp>
      <p:sp>
        <p:nvSpPr>
          <p:cNvPr id="239" name="Google Shape;239;p3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def does_it_blend(item):</a:t>
            </a:r>
            <a:endParaRPr sz="11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b="1" lang="en-US" sz="1100">
                <a:solidFill>
                  <a:schemeClr val="dk1"/>
                </a:solidFill>
                <a:latin typeface="Roboto Mono"/>
                <a:ea typeface="Roboto Mono"/>
                <a:cs typeface="Roboto Mono"/>
                <a:sym typeface="Roboto Mono"/>
              </a:rPr>
              <a:t># Checks to see if a given food will blend</a:t>
            </a:r>
            <a:endParaRPr b="1" sz="1100">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b="1" lang="en-US" sz="1100">
                <a:solidFill>
                  <a:schemeClr val="dk1"/>
                </a:solidFill>
                <a:latin typeface="Roboto Mono"/>
                <a:ea typeface="Roboto Mono"/>
                <a:cs typeface="Roboto Mono"/>
                <a:sym typeface="Roboto Mono"/>
              </a:rPr>
              <a:t># params: food item</a:t>
            </a:r>
            <a:endParaRPr b="1" sz="1100">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b="1" lang="en-US" sz="1100">
                <a:solidFill>
                  <a:schemeClr val="dk1"/>
                </a:solidFill>
                <a:latin typeface="Roboto Mono"/>
                <a:ea typeface="Roboto Mono"/>
                <a:cs typeface="Roboto Mono"/>
                <a:sym typeface="Roboto Mono"/>
              </a:rPr>
              <a:t># returns: true if blends, false otherwise</a:t>
            </a:r>
            <a:endParaRPr b="1" sz="1100">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b="1" lang="en-US" sz="1100">
                <a:solidFill>
                  <a:schemeClr val="dk1"/>
                </a:solidFill>
                <a:latin typeface="Roboto Mono"/>
                <a:ea typeface="Roboto Mono"/>
                <a:cs typeface="Roboto Mono"/>
                <a:sym typeface="Roboto Mono"/>
              </a:rPr>
              <a:t># side effects: none</a:t>
            </a:r>
            <a:endParaRPr b="1" sz="1100">
              <a:latin typeface="Roboto Mono"/>
              <a:ea typeface="Roboto Mono"/>
              <a:cs typeface="Roboto Mono"/>
              <a:sym typeface="Roboto Mono"/>
            </a:endParaRPr>
          </a:p>
          <a:p>
            <a:pPr indent="457200" lvl="0" marL="0" rtl="0" algn="l">
              <a:spcBef>
                <a:spcPts val="0"/>
              </a:spcBef>
              <a:spcAft>
                <a:spcPts val="0"/>
              </a:spcAft>
              <a:buNone/>
            </a:pPr>
            <a:r>
              <a:rPr lang="en-US" sz="1100">
                <a:latin typeface="Roboto Mono Light"/>
                <a:ea typeface="Roboto Mono Light"/>
                <a:cs typeface="Roboto Mono Light"/>
                <a:sym typeface="Roboto Mono Light"/>
              </a:rPr>
              <a:t>if item.get_type() == 'food' and \</a:t>
            </a:r>
            <a:endParaRPr sz="11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item.get_state() == 'cooked':</a:t>
            </a:r>
            <a:endParaRPr sz="1100">
              <a:latin typeface="Roboto Mono Light"/>
              <a:ea typeface="Roboto Mono Light"/>
              <a:cs typeface="Roboto Mono Light"/>
              <a:sym typeface="Roboto Mono Light"/>
            </a:endParaRPr>
          </a:p>
          <a:p>
            <a:pPr indent="457200" lvl="0" marL="45720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return True</a:t>
            </a:r>
            <a:endParaRPr sz="1100">
              <a:latin typeface="Roboto Mono Light"/>
              <a:ea typeface="Roboto Mono Light"/>
              <a:cs typeface="Roboto Mono Light"/>
              <a:sym typeface="Roboto Mono Light"/>
            </a:endParaRPr>
          </a:p>
          <a:p>
            <a:pPr indent="457200" lvl="0" marL="0" rtl="0" algn="l">
              <a:spcBef>
                <a:spcPts val="0"/>
              </a:spcBef>
              <a:spcAft>
                <a:spcPts val="0"/>
              </a:spcAft>
              <a:buNone/>
            </a:pPr>
            <a:r>
              <a:rPr lang="en-US" sz="1100">
                <a:latin typeface="Roboto Mono Light"/>
                <a:ea typeface="Roboto Mono Light"/>
                <a:cs typeface="Roboto Mono Light"/>
                <a:sym typeface="Roboto Mono Light"/>
              </a:rPr>
              <a:t>return False</a:t>
            </a:r>
            <a:endParaRPr sz="1100">
              <a:latin typeface="Roboto Mono Light"/>
              <a:ea typeface="Roboto Mono Light"/>
              <a:cs typeface="Roboto Mono Light"/>
              <a:sym typeface="Roboto Mono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FILES</a:t>
            </a:r>
            <a:endParaRPr/>
          </a:p>
        </p:txBody>
      </p:sp>
      <p:sp>
        <p:nvSpPr>
          <p:cNvPr id="246" name="Google Shape;246;p3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247" name="Google Shape;247;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permanent data</a:t>
            </a:r>
            <a:endParaRPr/>
          </a:p>
        </p:txBody>
      </p:sp>
      <p:sp>
        <p:nvSpPr>
          <p:cNvPr id="254" name="Google Shape;254;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55" name="Google Shape;255;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Getting user input from the console is all well and good, but sometimes you'll want more data than they are able to provide. Similarly, you may want to hang onto some of the data that your code produces. This is all done with </a:t>
            </a:r>
            <a:r>
              <a:rPr b="1" lang="en-US"/>
              <a:t>files</a:t>
            </a:r>
            <a:r>
              <a:rPr lang="en-US"/>
              <a:t>.</a:t>
            </a:r>
            <a:endParaRPr/>
          </a:p>
        </p:txBody>
      </p:sp>
      <p:sp>
        <p:nvSpPr>
          <p:cNvPr id="256" name="Google Shape;256;p3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Generally, there are two 'types' of files that you'll be working with in this course:</a:t>
            </a:r>
            <a:endParaRPr/>
          </a:p>
          <a:p>
            <a:pPr indent="-330200" lvl="0" marL="457200" rtl="0" algn="l">
              <a:spcBef>
                <a:spcPts val="0"/>
              </a:spcBef>
              <a:spcAft>
                <a:spcPts val="0"/>
              </a:spcAft>
              <a:buSzPts val="1600"/>
              <a:buChar char="•"/>
            </a:pPr>
            <a:r>
              <a:rPr b="1" lang="en-US"/>
              <a:t>Text</a:t>
            </a:r>
            <a:r>
              <a:rPr lang="en-US"/>
              <a:t>: files that are interpreted as all characters. IDEs (and text editors) will be able to read these by default.</a:t>
            </a:r>
            <a:endParaRPr/>
          </a:p>
          <a:p>
            <a:pPr indent="-330200" lvl="0" marL="457200" rtl="0" algn="l">
              <a:spcBef>
                <a:spcPts val="0"/>
              </a:spcBef>
              <a:spcAft>
                <a:spcPts val="0"/>
              </a:spcAft>
              <a:buSzPts val="1600"/>
              <a:buChar char="•"/>
            </a:pPr>
            <a:r>
              <a:rPr b="1" lang="en-US"/>
              <a:t>Binary</a:t>
            </a:r>
            <a:r>
              <a:rPr lang="en-US"/>
              <a:t>: these are blobs of data that cannot by default be read by IDEs. Think images, audio files, et al.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modes</a:t>
            </a:r>
            <a:endParaRPr/>
          </a:p>
        </p:txBody>
      </p:sp>
      <p:sp>
        <p:nvSpPr>
          <p:cNvPr id="263" name="Google Shape;263;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64" name="Google Shape;264;p3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When dealing with a file (text or binary), you'll need to specify what </a:t>
            </a:r>
            <a:r>
              <a:rPr b="1" lang="en-US"/>
              <a:t>mode</a:t>
            </a:r>
            <a:r>
              <a:rPr lang="en-US"/>
              <a:t> you want to interact with it in. There are effectively three modes in Python.</a:t>
            </a:r>
            <a:endParaRPr/>
          </a:p>
        </p:txBody>
      </p:sp>
      <p:sp>
        <p:nvSpPr>
          <p:cNvPr id="265" name="Google Shape;265;p3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330200" lvl="0" marL="457200" rtl="0" algn="l">
              <a:spcBef>
                <a:spcPts val="0"/>
              </a:spcBef>
              <a:spcAft>
                <a:spcPts val="0"/>
              </a:spcAft>
              <a:buSzPts val="1600"/>
              <a:buAutoNum type="arabicPeriod"/>
            </a:pPr>
            <a:r>
              <a:rPr b="1" lang="en-US"/>
              <a:t>Read</a:t>
            </a:r>
            <a:r>
              <a:rPr lang="en-US"/>
              <a:t>: you only want to look at the data in this file, not change anything in it.</a:t>
            </a:r>
            <a:endParaRPr/>
          </a:p>
          <a:p>
            <a:pPr indent="-330200" lvl="0" marL="457200" rtl="0" algn="l">
              <a:spcBef>
                <a:spcPts val="0"/>
              </a:spcBef>
              <a:spcAft>
                <a:spcPts val="0"/>
              </a:spcAft>
              <a:buSzPts val="1600"/>
              <a:buAutoNum type="arabicPeriod"/>
            </a:pPr>
            <a:r>
              <a:rPr b="1" lang="en-US"/>
              <a:t>Write</a:t>
            </a:r>
            <a:r>
              <a:rPr lang="en-US"/>
              <a:t>: you want to open a file and write to it, </a:t>
            </a:r>
            <a:r>
              <a:rPr b="1" i="1" lang="en-US">
                <a:solidFill>
                  <a:srgbClr val="FF0000"/>
                </a:solidFill>
              </a:rPr>
              <a:t>overwriting</a:t>
            </a:r>
            <a:r>
              <a:rPr lang="en-US"/>
              <a:t> anything that may already be there.</a:t>
            </a:r>
            <a:endParaRPr/>
          </a:p>
          <a:p>
            <a:pPr indent="-330200" lvl="0" marL="457200" rtl="0" algn="l">
              <a:spcBef>
                <a:spcPts val="0"/>
              </a:spcBef>
              <a:spcAft>
                <a:spcPts val="0"/>
              </a:spcAft>
              <a:buSzPts val="1600"/>
              <a:buAutoNum type="arabicPeriod"/>
            </a:pPr>
            <a:r>
              <a:rPr b="1" lang="en-US"/>
              <a:t>Append</a:t>
            </a:r>
            <a:r>
              <a:rPr lang="en-US"/>
              <a:t>: you want to insert more information at the end of an existing file.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modes+</a:t>
            </a:r>
            <a:endParaRPr/>
          </a:p>
        </p:txBody>
      </p:sp>
      <p:sp>
        <p:nvSpPr>
          <p:cNvPr id="272" name="Google Shape;272;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73" name="Google Shape;273;p3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solidFill>
                  <a:schemeClr val="dk1"/>
                </a:solidFill>
              </a:rPr>
              <a:t>It turns out that these three modes have a few more companions. Laying out all the modes: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Read:</a:t>
            </a:r>
            <a:endParaRPr sz="1400">
              <a:solidFill>
                <a:schemeClr val="dk1"/>
              </a:solidFill>
            </a:endParaRPr>
          </a:p>
          <a:p>
            <a:pPr indent="-292100" lvl="1" marL="914400" rtl="0" algn="l">
              <a:spcBef>
                <a:spcPts val="0"/>
              </a:spcBef>
              <a:spcAft>
                <a:spcPts val="0"/>
              </a:spcAft>
              <a:buClr>
                <a:schemeClr val="dk1"/>
              </a:buClr>
              <a:buSzPts val="1000"/>
              <a:buAutoNum type="alphaLcPeriod"/>
            </a:pPr>
            <a:r>
              <a:rPr b="1" lang="en-US" sz="1000">
                <a:solidFill>
                  <a:schemeClr val="dk1"/>
                </a:solidFill>
                <a:latin typeface="Roboto Mono"/>
                <a:ea typeface="Roboto Mono"/>
                <a:cs typeface="Roboto Mono"/>
                <a:sym typeface="Roboto Mono"/>
              </a:rPr>
              <a:t>r</a:t>
            </a:r>
            <a:r>
              <a:rPr lang="en-US" sz="1000">
                <a:solidFill>
                  <a:schemeClr val="dk1"/>
                </a:solidFill>
              </a:rPr>
              <a:t>: Open for reading. When opened, cursor placed at beginning of file. (Error if the file doesn't exist.)</a:t>
            </a:r>
            <a:endParaRPr sz="1000">
              <a:solidFill>
                <a:schemeClr val="dk1"/>
              </a:solidFill>
            </a:endParaRPr>
          </a:p>
          <a:p>
            <a:pPr indent="-292100" lvl="1" marL="914400" rtl="0" algn="l">
              <a:spcBef>
                <a:spcPts val="0"/>
              </a:spcBef>
              <a:spcAft>
                <a:spcPts val="0"/>
              </a:spcAft>
              <a:buClr>
                <a:schemeClr val="dk1"/>
              </a:buClr>
              <a:buSzPts val="1000"/>
              <a:buAutoNum type="alphaLcPeriod"/>
            </a:pPr>
            <a:r>
              <a:rPr b="1" lang="en-US" sz="1000">
                <a:solidFill>
                  <a:schemeClr val="dk1"/>
                </a:solidFill>
                <a:latin typeface="Roboto Mono"/>
                <a:ea typeface="Roboto Mono"/>
                <a:cs typeface="Roboto Mono"/>
                <a:sym typeface="Roboto Mono"/>
              </a:rPr>
              <a:t>r+</a:t>
            </a:r>
            <a:r>
              <a:rPr lang="en-US" sz="1000">
                <a:solidFill>
                  <a:schemeClr val="dk1"/>
                </a:solidFill>
              </a:rPr>
              <a:t>: Open for reading and writing, overwriting as you do so. When opened, cursor placed at beginning of file. (Error if the file doesn't exist.)</a:t>
            </a:r>
            <a:endParaRPr sz="10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Write:</a:t>
            </a:r>
            <a:endParaRPr sz="1400">
              <a:solidFill>
                <a:schemeClr val="dk1"/>
              </a:solidFill>
            </a:endParaRPr>
          </a:p>
          <a:p>
            <a:pPr indent="-292100" lvl="1" marL="914400" rtl="0" algn="l">
              <a:spcBef>
                <a:spcPts val="0"/>
              </a:spcBef>
              <a:spcAft>
                <a:spcPts val="0"/>
              </a:spcAft>
              <a:buClr>
                <a:schemeClr val="dk1"/>
              </a:buClr>
              <a:buSzPts val="1000"/>
              <a:buAutoNum type="alphaLcPeriod"/>
            </a:pPr>
            <a:r>
              <a:rPr b="1" lang="en-US" sz="1000">
                <a:solidFill>
                  <a:schemeClr val="dk1"/>
                </a:solidFill>
                <a:latin typeface="Roboto Mono"/>
                <a:ea typeface="Roboto Mono"/>
                <a:cs typeface="Roboto Mono"/>
                <a:sym typeface="Roboto Mono"/>
              </a:rPr>
              <a:t>w</a:t>
            </a:r>
            <a:r>
              <a:rPr lang="en-US" sz="1000">
                <a:solidFill>
                  <a:schemeClr val="dk1"/>
                </a:solidFill>
              </a:rPr>
              <a:t>: Open for writing. Creates a new file for writing or overwrites anything in an existing file. Cursor placed at the beginning of the file.</a:t>
            </a:r>
            <a:endParaRPr sz="1000">
              <a:solidFill>
                <a:schemeClr val="dk1"/>
              </a:solidFill>
            </a:endParaRPr>
          </a:p>
          <a:p>
            <a:pPr indent="-292100" lvl="1" marL="914400" rtl="0" algn="l">
              <a:spcBef>
                <a:spcPts val="0"/>
              </a:spcBef>
              <a:spcAft>
                <a:spcPts val="0"/>
              </a:spcAft>
              <a:buClr>
                <a:schemeClr val="dk1"/>
              </a:buClr>
              <a:buSzPts val="1000"/>
              <a:buAutoNum type="alphaLcPeriod"/>
            </a:pPr>
            <a:r>
              <a:rPr b="1" lang="en-US" sz="1000">
                <a:solidFill>
                  <a:schemeClr val="dk1"/>
                </a:solidFill>
                <a:latin typeface="Roboto Mono"/>
                <a:ea typeface="Roboto Mono"/>
                <a:cs typeface="Roboto Mono"/>
                <a:sym typeface="Roboto Mono"/>
              </a:rPr>
              <a:t>w+</a:t>
            </a:r>
            <a:r>
              <a:rPr lang="en-US" sz="1000">
                <a:solidFill>
                  <a:schemeClr val="dk1"/>
                </a:solidFill>
              </a:rPr>
              <a:t>: Open for writing, then reading. Creates a new file for writing, or overwrites anything in an existing file. Cursor placed at the beginning of the file.</a:t>
            </a:r>
            <a:endParaRPr sz="10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Append:</a:t>
            </a:r>
            <a:endParaRPr sz="1400">
              <a:solidFill>
                <a:schemeClr val="dk1"/>
              </a:solidFill>
            </a:endParaRPr>
          </a:p>
          <a:p>
            <a:pPr indent="-292100" lvl="1" marL="914400" rtl="0" algn="l">
              <a:spcBef>
                <a:spcPts val="0"/>
              </a:spcBef>
              <a:spcAft>
                <a:spcPts val="0"/>
              </a:spcAft>
              <a:buClr>
                <a:schemeClr val="dk1"/>
              </a:buClr>
              <a:buSzPts val="1000"/>
              <a:buAutoNum type="alphaLcPeriod"/>
            </a:pPr>
            <a:r>
              <a:rPr b="1" lang="en-US" sz="1000">
                <a:solidFill>
                  <a:schemeClr val="dk1"/>
                </a:solidFill>
                <a:latin typeface="Roboto Mono"/>
                <a:ea typeface="Roboto Mono"/>
                <a:cs typeface="Roboto Mono"/>
                <a:sym typeface="Roboto Mono"/>
              </a:rPr>
              <a:t>a</a:t>
            </a:r>
            <a:r>
              <a:rPr lang="en-US" sz="1000">
                <a:solidFill>
                  <a:schemeClr val="dk1"/>
                </a:solidFill>
              </a:rPr>
              <a:t>: Write to an existing file. When opened, cursor placed at end of file. (Error if the file doesn't exist.)</a:t>
            </a:r>
            <a:endParaRPr sz="1000">
              <a:solidFill>
                <a:schemeClr val="dk1"/>
              </a:solidFill>
            </a:endParaRPr>
          </a:p>
          <a:p>
            <a:pPr indent="-292100" lvl="1" marL="914400" rtl="0" algn="l">
              <a:spcBef>
                <a:spcPts val="0"/>
              </a:spcBef>
              <a:spcAft>
                <a:spcPts val="0"/>
              </a:spcAft>
              <a:buClr>
                <a:schemeClr val="dk1"/>
              </a:buClr>
              <a:buSzPts val="1000"/>
              <a:buAutoNum type="alphaLcPeriod"/>
            </a:pPr>
            <a:r>
              <a:rPr b="1" lang="en-US" sz="1000">
                <a:solidFill>
                  <a:schemeClr val="dk1"/>
                </a:solidFill>
                <a:latin typeface="Roboto Mono"/>
                <a:ea typeface="Roboto Mono"/>
                <a:cs typeface="Roboto Mono"/>
                <a:sym typeface="Roboto Mono"/>
              </a:rPr>
              <a:t>a+</a:t>
            </a:r>
            <a:r>
              <a:rPr lang="en-US" sz="1000">
                <a:solidFill>
                  <a:schemeClr val="dk1"/>
                </a:solidFill>
              </a:rPr>
              <a:t>: Write to an existing file, then allow the user to read the file. When opened, cursor placed at end of file. (Error if the file doesn't exist.)</a:t>
            </a:r>
            <a:endParaRPr sz="1000">
              <a:solidFill>
                <a:schemeClr val="dk1"/>
              </a:solidFill>
            </a:endParaRPr>
          </a:p>
          <a:p>
            <a:pPr indent="0" lvl="0" marL="0" rtl="0" algn="l">
              <a:spcBef>
                <a:spcPts val="0"/>
              </a:spcBef>
              <a:spcAft>
                <a:spcPts val="0"/>
              </a:spcAft>
              <a:buNone/>
            </a:pPr>
            <a:r>
              <a:rPr lang="en-US" sz="800">
                <a:solidFill>
                  <a:schemeClr val="dk1"/>
                </a:solidFill>
              </a:rPr>
              <a:t>(* Note: when working with binary files, all these options need an additional 'b' to work, e.g. w+ → wb+)</a:t>
            </a:r>
            <a:endParaRPr sz="8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reading</a:t>
            </a:r>
            <a:endParaRPr/>
          </a:p>
        </p:txBody>
      </p:sp>
      <p:sp>
        <p:nvSpPr>
          <p:cNvPr id="280" name="Google Shape;280;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81" name="Google Shape;281;p3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Reading</a:t>
            </a:r>
            <a:r>
              <a:rPr lang="en-US"/>
              <a:t> from an existing file is easy peasy: it's only three steps!</a:t>
            </a:r>
            <a:endParaRPr/>
          </a:p>
          <a:p>
            <a:pPr indent="-330200" lvl="0" marL="457200" rtl="0" algn="l">
              <a:spcBef>
                <a:spcPts val="0"/>
              </a:spcBef>
              <a:spcAft>
                <a:spcPts val="0"/>
              </a:spcAft>
              <a:buSzPts val="1600"/>
              <a:buAutoNum type="arabicPeriod"/>
            </a:pPr>
            <a:r>
              <a:rPr lang="en-US"/>
              <a:t>Open the file for reading</a:t>
            </a:r>
            <a:endParaRPr/>
          </a:p>
          <a:p>
            <a:pPr indent="-330200" lvl="0" marL="457200" rtl="0" algn="l">
              <a:spcBef>
                <a:spcPts val="0"/>
              </a:spcBef>
              <a:spcAft>
                <a:spcPts val="0"/>
              </a:spcAft>
              <a:buSzPts val="1600"/>
              <a:buAutoNum type="arabicPeriod"/>
            </a:pPr>
            <a:r>
              <a:rPr lang="en-US"/>
              <a:t>Read from the file</a:t>
            </a:r>
            <a:endParaRPr/>
          </a:p>
          <a:p>
            <a:pPr indent="-330200" lvl="0" marL="457200" rtl="0" algn="l">
              <a:spcBef>
                <a:spcPts val="0"/>
              </a:spcBef>
              <a:spcAft>
                <a:spcPts val="0"/>
              </a:spcAft>
              <a:buSzPts val="1600"/>
              <a:buAutoNum type="arabicPeriod"/>
            </a:pPr>
            <a:r>
              <a:rPr lang="en-US"/>
              <a:t>Close the file</a:t>
            </a:r>
            <a:endParaRPr/>
          </a:p>
        </p:txBody>
      </p:sp>
      <p:sp>
        <p:nvSpPr>
          <p:cNvPr id="282" name="Google Shape;282;p3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file_name = 'role_models.txt'</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f_in = </a:t>
            </a:r>
            <a:r>
              <a:rPr b="1" lang="en-US" sz="1400">
                <a:latin typeface="Roboto Mono"/>
                <a:ea typeface="Roboto Mono"/>
                <a:cs typeface="Roboto Mono"/>
                <a:sym typeface="Roboto Mono"/>
              </a:rPr>
              <a:t>open(</a:t>
            </a:r>
            <a:r>
              <a:rPr lang="en-US" sz="1400">
                <a:latin typeface="Roboto Mono Light"/>
                <a:ea typeface="Roboto Mono Light"/>
                <a:cs typeface="Roboto Mono Light"/>
                <a:sym typeface="Roboto Mono Light"/>
              </a:rPr>
              <a:t>file_name, 'r'</a:t>
            </a:r>
            <a:r>
              <a:rPr b="1" lang="en-US" sz="1400">
                <a:latin typeface="Roboto Mono"/>
                <a:ea typeface="Roboto Mono"/>
                <a:cs typeface="Roboto Mono"/>
                <a:sym typeface="Roboto Mono"/>
              </a:rPr>
              <a:t>)</a:t>
            </a:r>
            <a:endParaRPr b="1" sz="14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contents = f_in</a:t>
            </a:r>
            <a:r>
              <a:rPr b="1" lang="en-US" sz="1400">
                <a:latin typeface="Roboto Mono"/>
                <a:ea typeface="Roboto Mono"/>
                <a:cs typeface="Roboto Mono"/>
                <a:sym typeface="Roboto Mono"/>
              </a:rPr>
              <a:t>.read()</a:t>
            </a:r>
            <a:endParaRPr b="1" sz="1400">
              <a:latin typeface="Roboto Mono"/>
              <a:ea typeface="Roboto Mono"/>
              <a:cs typeface="Roboto Mono"/>
              <a:sym typeface="Roboto Mono"/>
            </a:endParaRPr>
          </a:p>
          <a:p>
            <a:pPr indent="0" lvl="0" marL="0" rtl="0" algn="l">
              <a:spcBef>
                <a:spcPts val="0"/>
              </a:spcBef>
              <a:spcAft>
                <a:spcPts val="0"/>
              </a:spcAft>
              <a:buNone/>
            </a:pPr>
            <a:r>
              <a:rPr lang="en-US" sz="1400">
                <a:latin typeface="Roboto Mono Light"/>
                <a:ea typeface="Roboto Mono Light"/>
                <a:cs typeface="Roboto Mono Light"/>
                <a:sym typeface="Roboto Mono Light"/>
              </a:rPr>
              <a:t>f_in</a:t>
            </a:r>
            <a:r>
              <a:rPr b="1" lang="en-US" sz="1400">
                <a:latin typeface="Roboto Mono"/>
                <a:ea typeface="Roboto Mono"/>
                <a:cs typeface="Roboto Mono"/>
                <a:sym typeface="Roboto Mono"/>
              </a:rPr>
              <a:t>.close()</a:t>
            </a:r>
            <a:endParaRPr b="1" sz="1400">
              <a:latin typeface="Roboto Mono"/>
              <a:ea typeface="Roboto Mono"/>
              <a:cs typeface="Roboto Mono"/>
              <a:sym typeface="Roboto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line reading</a:t>
            </a:r>
            <a:endParaRPr/>
          </a:p>
        </p:txBody>
      </p:sp>
      <p:sp>
        <p:nvSpPr>
          <p:cNvPr id="289" name="Google Shape;289;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90" name="Google Shape;290;p3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When you read data from the file (step 2), this can be done in a number of different ways. The previous slide dumped the entire contents into a variable. You might only want the first line, however. This is done using the </a:t>
            </a:r>
            <a:r>
              <a:rPr lang="en-US">
                <a:latin typeface="Courier New"/>
                <a:ea typeface="Courier New"/>
                <a:cs typeface="Courier New"/>
                <a:sym typeface="Courier New"/>
              </a:rPr>
              <a:t>readline()</a:t>
            </a:r>
            <a:r>
              <a:rPr lang="en-US"/>
              <a:t> method.</a:t>
            </a:r>
            <a:endParaRPr/>
          </a:p>
        </p:txBody>
      </p:sp>
      <p:sp>
        <p:nvSpPr>
          <p:cNvPr id="291" name="Google Shape;291;p3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Courier New"/>
                <a:ea typeface="Courier New"/>
                <a:cs typeface="Courier New"/>
                <a:sym typeface="Courier New"/>
              </a:rPr>
              <a:t>file_name = 'role_models.txt'</a:t>
            </a:r>
            <a:endParaRPr sz="14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400">
                <a:latin typeface="Courier New"/>
                <a:ea typeface="Courier New"/>
                <a:cs typeface="Courier New"/>
                <a:sym typeface="Courier New"/>
              </a:rPr>
              <a:t>f_in = open(file_name, 'r')</a:t>
            </a:r>
            <a:endParaRPr sz="14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400">
                <a:latin typeface="Courier New"/>
                <a:ea typeface="Courier New"/>
                <a:cs typeface="Courier New"/>
                <a:sym typeface="Courier New"/>
              </a:rPr>
              <a:t>first_line = f_in.</a:t>
            </a:r>
            <a:r>
              <a:rPr b="1" lang="en-US" sz="1400">
                <a:latin typeface="Courier New"/>
                <a:ea typeface="Courier New"/>
                <a:cs typeface="Courier New"/>
                <a:sym typeface="Courier New"/>
              </a:rPr>
              <a:t>readline()</a:t>
            </a:r>
            <a:endParaRPr b="1" sz="1400">
              <a:latin typeface="Courier New"/>
              <a:ea typeface="Courier New"/>
              <a:cs typeface="Courier New"/>
              <a:sym typeface="Courier New"/>
            </a:endParaRPr>
          </a:p>
          <a:p>
            <a:pPr indent="0" lvl="0" marL="0" rtl="0" algn="l">
              <a:spcBef>
                <a:spcPts val="0"/>
              </a:spcBef>
              <a:spcAft>
                <a:spcPts val="0"/>
              </a:spcAft>
              <a:buNone/>
            </a:pPr>
            <a:r>
              <a:rPr lang="en-US" sz="1400">
                <a:latin typeface="Courier New"/>
                <a:ea typeface="Courier New"/>
                <a:cs typeface="Courier New"/>
                <a:sym typeface="Courier New"/>
              </a:rPr>
              <a:t>f_in.close()</a:t>
            </a:r>
            <a:endParaRPr sz="1400">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read iteration</a:t>
            </a:r>
            <a:endParaRPr/>
          </a:p>
        </p:txBody>
      </p:sp>
      <p:sp>
        <p:nvSpPr>
          <p:cNvPr id="298" name="Google Shape;298;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99" name="Google Shape;299;p3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You also might want the entire file read in, but with each line separated into its own item. It turns out that you can read the entire contents of the file in one line at time, because the file object is iterable!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Note that this algorithm has also been converted into a handy dandy function.</a:t>
            </a:r>
            <a:endParaRPr/>
          </a:p>
        </p:txBody>
      </p:sp>
      <p:sp>
        <p:nvSpPr>
          <p:cNvPr id="300" name="Google Shape;300;p3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def file_read(file_name):</a:t>
            </a:r>
            <a:endParaRPr sz="14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f_in = open(file_name, 'r')</a:t>
            </a:r>
            <a:endParaRPr sz="14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contents = []</a:t>
            </a:r>
            <a:endParaRPr sz="14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b="1" lang="en-US" sz="1400">
                <a:latin typeface="Roboto Mono"/>
                <a:ea typeface="Roboto Mono"/>
                <a:cs typeface="Roboto Mono"/>
                <a:sym typeface="Roboto Mono"/>
              </a:rPr>
              <a:t>for line in f_in:</a:t>
            </a:r>
            <a:endParaRPr b="1" sz="14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	contents.append(line)</a:t>
            </a:r>
            <a:endParaRPr sz="14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f_in.close()</a:t>
            </a:r>
            <a:endParaRPr sz="1400">
              <a:latin typeface="Roboto Mono Light"/>
              <a:ea typeface="Roboto Mono Light"/>
              <a:cs typeface="Roboto Mono Light"/>
              <a:sym typeface="Roboto Mono Light"/>
            </a:endParaRPr>
          </a:p>
          <a:p>
            <a:pPr indent="0" lvl="0" marL="457200" rtl="0" algn="l">
              <a:spcBef>
                <a:spcPts val="0"/>
              </a:spcBef>
              <a:spcAft>
                <a:spcPts val="0"/>
              </a:spcAft>
              <a:buNone/>
            </a:pPr>
            <a:r>
              <a:rPr lang="en-US" sz="1400">
                <a:latin typeface="Roboto Mono Light"/>
                <a:ea typeface="Roboto Mono Light"/>
                <a:cs typeface="Roboto Mono Light"/>
                <a:sym typeface="Roboto Mono Light"/>
              </a:rPr>
              <a:t>return contents</a:t>
            </a:r>
            <a:endParaRPr sz="1400">
              <a:latin typeface="Roboto Mono Light"/>
              <a:ea typeface="Roboto Mono Light"/>
              <a:cs typeface="Roboto Mono Light"/>
              <a:sym typeface="Roboto Mon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a:t>
            </a:r>
            <a:r>
              <a:rPr lang="en-US">
                <a:latin typeface="Roboto Mono"/>
                <a:ea typeface="Roboto Mono"/>
                <a:cs typeface="Roboto Mono"/>
                <a:sym typeface="Roboto Mono"/>
              </a:rPr>
              <a:t>with as</a:t>
            </a:r>
            <a:endParaRPr>
              <a:latin typeface="Roboto Mono"/>
              <a:ea typeface="Roboto Mono"/>
              <a:cs typeface="Roboto Mono"/>
              <a:sym typeface="Roboto Mono"/>
            </a:endParaRPr>
          </a:p>
        </p:txBody>
      </p:sp>
      <p:sp>
        <p:nvSpPr>
          <p:cNvPr id="307" name="Google Shape;307;p3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08" name="Google Shape;308;p3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There's a slightly different way to interact with files in Python: the construct is using </a:t>
            </a:r>
            <a:r>
              <a:rPr lang="en-US">
                <a:latin typeface="Roboto Mono Light"/>
                <a:ea typeface="Roboto Mono Light"/>
                <a:cs typeface="Roboto Mono Light"/>
                <a:sym typeface="Roboto Mono Light"/>
              </a:rPr>
              <a:t>with as</a:t>
            </a:r>
            <a:r>
              <a:rPr lang="en-US"/>
              <a:t>. It is designed to automatically 'clean up' things at the end of the block - which in this case means closing the file. This is an example of a </a:t>
            </a:r>
            <a:r>
              <a:rPr b="1" lang="en-US"/>
              <a:t>context manager</a:t>
            </a:r>
            <a:r>
              <a:rPr lang="en-US"/>
              <a:t> - a tool which will handle tasks for you depending on the context of the code.</a:t>
            </a:r>
            <a:endParaRPr/>
          </a:p>
        </p:txBody>
      </p:sp>
      <p:sp>
        <p:nvSpPr>
          <p:cNvPr id="309" name="Google Shape;309;p3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So you can replace your code that looks like this:</a:t>
            </a:r>
            <a:endParaRPr sz="1100"/>
          </a:p>
          <a:p>
            <a:pPr indent="0" lvl="0" marL="0" rtl="0" algn="l">
              <a:spcBef>
                <a:spcPts val="0"/>
              </a:spcBef>
              <a:spcAft>
                <a:spcPts val="0"/>
              </a:spcAft>
              <a:buClr>
                <a:schemeClr val="dk1"/>
              </a:buClr>
              <a:buSzPts val="1100"/>
              <a:buFont typeface="Arial"/>
              <a:buNone/>
            </a:pPr>
            <a:r>
              <a:t/>
            </a:r>
            <a:endParaRPr sz="1100"/>
          </a:p>
          <a:p>
            <a:pPr indent="0" lvl="0" marL="45720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file_name = 'role_models.txt'</a:t>
            </a:r>
            <a:endParaRPr sz="11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f_in = open(file_name, mode)</a:t>
            </a:r>
            <a:endParaRPr sz="11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do what you need to do</a:t>
            </a:r>
            <a:endParaRPr sz="11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f_in.close()</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US" sz="1100"/>
              <a:t>With this:</a:t>
            </a:r>
            <a:endParaRPr sz="1100"/>
          </a:p>
          <a:p>
            <a:pPr indent="0" lvl="0" marL="0" rtl="0" algn="l">
              <a:spcBef>
                <a:spcPts val="0"/>
              </a:spcBef>
              <a:spcAft>
                <a:spcPts val="0"/>
              </a:spcAft>
              <a:buClr>
                <a:schemeClr val="dk1"/>
              </a:buClr>
              <a:buSzPts val="1100"/>
              <a:buFont typeface="Arial"/>
              <a:buNone/>
            </a:pPr>
            <a:r>
              <a:t/>
            </a:r>
            <a:endParaRPr sz="1100"/>
          </a:p>
          <a:p>
            <a:pPr indent="0" lvl="0" marL="45720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file_name = 'role_models.txt'</a:t>
            </a:r>
            <a:endParaRPr sz="11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b="1" lang="en-US" sz="1100">
                <a:latin typeface="Roboto Mono"/>
                <a:ea typeface="Roboto Mono"/>
                <a:cs typeface="Roboto Mono"/>
                <a:sym typeface="Roboto Mono"/>
              </a:rPr>
              <a:t>with open(file_name, mode) as f_in:</a:t>
            </a:r>
            <a:endParaRPr b="1" sz="1100">
              <a:latin typeface="Roboto Mono"/>
              <a:ea typeface="Roboto Mono"/>
              <a:cs typeface="Roboto Mono"/>
              <a:sym typeface="Roboto Mono"/>
            </a:endParaRPr>
          </a:p>
          <a:p>
            <a:pPr indent="457200" lvl="0" marL="457200" rtl="0" algn="l">
              <a:spcBef>
                <a:spcPts val="0"/>
              </a:spcBef>
              <a:spcAft>
                <a:spcPts val="0"/>
              </a:spcAft>
              <a:buNone/>
            </a:pPr>
            <a:r>
              <a:rPr lang="en-US" sz="1100">
                <a:latin typeface="Roboto Mono Light"/>
                <a:ea typeface="Roboto Mono Light"/>
                <a:cs typeface="Roboto Mono Light"/>
                <a:sym typeface="Roboto Mono Light"/>
              </a:rPr>
              <a:t># do what you need to do</a:t>
            </a:r>
            <a:endParaRPr sz="1100">
              <a:latin typeface="Roboto Mono Light"/>
              <a:ea typeface="Roboto Mono Light"/>
              <a:cs typeface="Roboto Mono Light"/>
              <a:sym typeface="Roboto Mono Light"/>
            </a:endParaRPr>
          </a:p>
          <a:p>
            <a:pPr indent="0" lvl="0" marL="457200" rtl="0" algn="l">
              <a:spcBef>
                <a:spcPts val="0"/>
              </a:spcBef>
              <a:spcAft>
                <a:spcPts val="0"/>
              </a:spcAft>
              <a:buNone/>
            </a:pPr>
            <a:r>
              <a:rPr lang="en-US" sz="1100">
                <a:latin typeface="Roboto Mono Light"/>
                <a:ea typeface="Roboto Mono Light"/>
                <a:cs typeface="Roboto Mono Light"/>
                <a:sym typeface="Roboto Mono Light"/>
              </a:rPr>
              <a:t># file is now automatically closed for you</a:t>
            </a:r>
            <a:endParaRPr sz="1100">
              <a:latin typeface="Roboto Mono Light"/>
              <a:ea typeface="Roboto Mono Light"/>
              <a:cs typeface="Roboto Mono Light"/>
              <a:sym typeface="Roboto Mon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writing</a:t>
            </a:r>
            <a:endParaRPr/>
          </a:p>
        </p:txBody>
      </p:sp>
      <p:sp>
        <p:nvSpPr>
          <p:cNvPr id="316" name="Google Shape;316;p4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17" name="Google Shape;317;p4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Writing</a:t>
            </a:r>
            <a:r>
              <a:rPr lang="en-US"/>
              <a:t> to a file is also easy peasy: it's only three steps!</a:t>
            </a:r>
            <a:endParaRPr/>
          </a:p>
          <a:p>
            <a:pPr indent="-330200" lvl="0" marL="457200" rtl="0" algn="l">
              <a:spcBef>
                <a:spcPts val="0"/>
              </a:spcBef>
              <a:spcAft>
                <a:spcPts val="0"/>
              </a:spcAft>
              <a:buSzPts val="1600"/>
              <a:buAutoNum type="arabicPeriod"/>
            </a:pPr>
            <a:r>
              <a:rPr lang="en-US"/>
              <a:t>Open the file for writing</a:t>
            </a:r>
            <a:endParaRPr/>
          </a:p>
          <a:p>
            <a:pPr indent="-330200" lvl="0" marL="457200" rtl="0" algn="l">
              <a:spcBef>
                <a:spcPts val="0"/>
              </a:spcBef>
              <a:spcAft>
                <a:spcPts val="0"/>
              </a:spcAft>
              <a:buSzPts val="1600"/>
              <a:buAutoNum type="arabicPeriod"/>
            </a:pPr>
            <a:r>
              <a:rPr lang="en-US"/>
              <a:t>Write to the file</a:t>
            </a:r>
            <a:endParaRPr/>
          </a:p>
          <a:p>
            <a:pPr indent="-330200" lvl="0" marL="457200" rtl="0" algn="l">
              <a:spcBef>
                <a:spcPts val="0"/>
              </a:spcBef>
              <a:spcAft>
                <a:spcPts val="0"/>
              </a:spcAft>
              <a:buSzPts val="1600"/>
              <a:buAutoNum type="arabicPeriod"/>
            </a:pPr>
            <a:r>
              <a:rPr lang="en-US"/>
              <a:t>Close the file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You have probably seen step 2 done using </a:t>
            </a:r>
            <a:r>
              <a:rPr lang="en-US">
                <a:latin typeface="Roboto Mono Light"/>
                <a:ea typeface="Roboto Mono Light"/>
                <a:cs typeface="Roboto Mono Light"/>
                <a:sym typeface="Roboto Mono Light"/>
              </a:rPr>
              <a:t>print()</a:t>
            </a:r>
            <a:r>
              <a:rPr lang="en-US"/>
              <a:t>.</a:t>
            </a:r>
            <a:endParaRPr/>
          </a:p>
        </p:txBody>
      </p:sp>
      <p:sp>
        <p:nvSpPr>
          <p:cNvPr id="318" name="Google Shape;318;p4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file_name = 'role_models.txt'</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f_out = open(file_name, </a:t>
            </a:r>
            <a:r>
              <a:rPr b="1" lang="en-US" sz="1400">
                <a:latin typeface="Roboto Mono"/>
                <a:ea typeface="Roboto Mono"/>
                <a:cs typeface="Roboto Mono"/>
                <a:sym typeface="Roboto Mono"/>
              </a:rPr>
              <a:t>'w'</a:t>
            </a:r>
            <a:r>
              <a:rPr lang="en-US" sz="1400">
                <a:latin typeface="Roboto Mono Light"/>
                <a:ea typeface="Roboto Mono Light"/>
                <a:cs typeface="Roboto Mono Light"/>
                <a:sym typeface="Roboto Mono Light"/>
              </a:rPr>
              <a:t>)</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1400">
                <a:latin typeface="Roboto Mono"/>
                <a:ea typeface="Roboto Mono"/>
                <a:cs typeface="Roboto Mono"/>
                <a:sym typeface="Roboto Mono"/>
              </a:rPr>
              <a:t>print(</a:t>
            </a:r>
            <a:r>
              <a:rPr lang="en-US" sz="1400">
                <a:latin typeface="Roboto Mono Light"/>
                <a:ea typeface="Roboto Mono Light"/>
                <a:cs typeface="Roboto Mono Light"/>
                <a:sym typeface="Roboto Mono Light"/>
              </a:rPr>
              <a:t>'Laika', </a:t>
            </a:r>
            <a:r>
              <a:rPr b="1" lang="en-US" sz="1400">
                <a:latin typeface="Roboto Mono"/>
                <a:ea typeface="Roboto Mono"/>
                <a:cs typeface="Roboto Mono"/>
                <a:sym typeface="Roboto Mono"/>
              </a:rPr>
              <a:t>file=f_out)</a:t>
            </a:r>
            <a:endParaRPr b="1" sz="1400">
              <a:latin typeface="Roboto Mono"/>
              <a:ea typeface="Roboto Mono"/>
              <a:cs typeface="Roboto Mono"/>
              <a:sym typeface="Roboto Mono"/>
            </a:endParaRPr>
          </a:p>
          <a:p>
            <a:pPr indent="0" lvl="0" marL="0" rtl="0" algn="l">
              <a:spcBef>
                <a:spcPts val="0"/>
              </a:spcBef>
              <a:spcAft>
                <a:spcPts val="0"/>
              </a:spcAft>
              <a:buNone/>
            </a:pPr>
            <a:r>
              <a:rPr lang="en-US" sz="1400">
                <a:latin typeface="Roboto Mono Light"/>
                <a:ea typeface="Roboto Mono Light"/>
                <a:cs typeface="Roboto Mono Light"/>
                <a:sym typeface="Roboto Mono Light"/>
              </a:rPr>
              <a:t>f_out.close()</a:t>
            </a:r>
            <a:endParaRPr sz="1400">
              <a:latin typeface="Roboto Mono Light"/>
              <a:ea typeface="Roboto Mono Light"/>
              <a:cs typeface="Roboto Mono Light"/>
              <a:sym typeface="Roboto Mono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writing differently</a:t>
            </a:r>
            <a:endParaRPr/>
          </a:p>
        </p:txBody>
      </p:sp>
      <p:sp>
        <p:nvSpPr>
          <p:cNvPr id="325" name="Google Shape;325;p4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26" name="Google Shape;326;p4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Using </a:t>
            </a:r>
            <a:r>
              <a:rPr lang="en-US">
                <a:latin typeface="Roboto Mono Light"/>
                <a:ea typeface="Roboto Mono Light"/>
                <a:cs typeface="Roboto Mono Light"/>
                <a:sym typeface="Roboto Mono Light"/>
              </a:rPr>
              <a:t>print()</a:t>
            </a:r>
            <a:r>
              <a:rPr lang="en-US"/>
              <a:t> is one way of writing to a file. Another is using a file variable's built in </a:t>
            </a:r>
            <a:r>
              <a:rPr b="1" lang="en-US">
                <a:latin typeface="Roboto Mono"/>
                <a:ea typeface="Roboto Mono"/>
                <a:cs typeface="Roboto Mono"/>
                <a:sym typeface="Roboto Mono"/>
              </a:rPr>
              <a:t>.write()</a:t>
            </a:r>
            <a:r>
              <a:rPr lang="en-US"/>
              <a:t> method.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Note that </a:t>
            </a:r>
            <a:r>
              <a:rPr lang="en-US">
                <a:latin typeface="Roboto Mono Light"/>
                <a:ea typeface="Roboto Mono Light"/>
                <a:cs typeface="Roboto Mono Light"/>
                <a:sym typeface="Roboto Mono Light"/>
              </a:rPr>
              <a:t>print()</a:t>
            </a:r>
            <a:r>
              <a:rPr lang="en-US"/>
              <a:t> adds newline characters to the end of each call, but </a:t>
            </a:r>
            <a:r>
              <a:rPr lang="en-US">
                <a:latin typeface="Roboto Mono Light"/>
                <a:ea typeface="Roboto Mono Light"/>
                <a:cs typeface="Roboto Mono Light"/>
                <a:sym typeface="Roboto Mono Light"/>
              </a:rPr>
              <a:t>.write()</a:t>
            </a:r>
            <a:r>
              <a:rPr lang="en-US"/>
              <a:t> doesn't. So in this approach, you'll have to supply your own newline characters.</a:t>
            </a:r>
            <a:endParaRPr/>
          </a:p>
        </p:txBody>
      </p:sp>
      <p:sp>
        <p:nvSpPr>
          <p:cNvPr id="327" name="Google Shape;327;p4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file_name = 'role_models.txt'</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f_out = open(file_name, 'w')</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1400">
                <a:latin typeface="Roboto Mono"/>
                <a:ea typeface="Roboto Mono"/>
                <a:cs typeface="Roboto Mono"/>
                <a:sym typeface="Roboto Mono"/>
              </a:rPr>
              <a:t>f_out.write(</a:t>
            </a:r>
            <a:r>
              <a:rPr lang="en-US" sz="1400">
                <a:latin typeface="Roboto Mono Light"/>
                <a:ea typeface="Roboto Mono Light"/>
                <a:cs typeface="Roboto Mono Light"/>
                <a:sym typeface="Roboto Mono Light"/>
              </a:rPr>
              <a:t>'Laika\n'</a:t>
            </a:r>
            <a:r>
              <a:rPr b="1" lang="en-US" sz="1400">
                <a:latin typeface="Roboto Mono"/>
                <a:ea typeface="Roboto Mono"/>
                <a:cs typeface="Roboto Mono"/>
                <a:sym typeface="Roboto Mono"/>
              </a:rPr>
              <a:t>)</a:t>
            </a:r>
            <a:endParaRPr b="1" sz="1400">
              <a:latin typeface="Roboto Mono"/>
              <a:ea typeface="Roboto Mono"/>
              <a:cs typeface="Roboto Mono"/>
              <a:sym typeface="Roboto Mono"/>
            </a:endParaRPr>
          </a:p>
          <a:p>
            <a:pPr indent="0" lvl="0" marL="0" rtl="0" algn="l">
              <a:spcBef>
                <a:spcPts val="0"/>
              </a:spcBef>
              <a:spcAft>
                <a:spcPts val="0"/>
              </a:spcAft>
              <a:buNone/>
            </a:pPr>
            <a:r>
              <a:rPr lang="en-US" sz="1400">
                <a:latin typeface="Roboto Mono Light"/>
                <a:ea typeface="Roboto Mono Light"/>
                <a:cs typeface="Roboto Mono Light"/>
                <a:sym typeface="Roboto Mono Light"/>
              </a:rPr>
              <a:t>f_out.close()</a:t>
            </a:r>
            <a:endParaRPr sz="1400">
              <a:latin typeface="Roboto Mono Light"/>
              <a:ea typeface="Roboto Mono Light"/>
              <a:cs typeface="Roboto Mono Light"/>
              <a:sym typeface="Roboto Mono 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Files: appending</a:t>
            </a:r>
            <a:endParaRPr/>
          </a:p>
        </p:txBody>
      </p:sp>
      <p:sp>
        <p:nvSpPr>
          <p:cNvPr id="334" name="Google Shape;334;p4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35" name="Google Shape;335;p4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Appending</a:t>
            </a:r>
            <a:r>
              <a:rPr lang="en-US"/>
              <a:t> to an existing file is once again easy peasy: it's only three steps!</a:t>
            </a:r>
            <a:endParaRPr/>
          </a:p>
          <a:p>
            <a:pPr indent="-330200" lvl="0" marL="457200" rtl="0" algn="l">
              <a:spcBef>
                <a:spcPts val="0"/>
              </a:spcBef>
              <a:spcAft>
                <a:spcPts val="0"/>
              </a:spcAft>
              <a:buSzPts val="1600"/>
              <a:buAutoNum type="arabicPeriod"/>
            </a:pPr>
            <a:r>
              <a:rPr lang="en-US"/>
              <a:t>Open the file for appending</a:t>
            </a:r>
            <a:endParaRPr/>
          </a:p>
          <a:p>
            <a:pPr indent="-330200" lvl="0" marL="457200" rtl="0" algn="l">
              <a:spcBef>
                <a:spcPts val="0"/>
              </a:spcBef>
              <a:spcAft>
                <a:spcPts val="0"/>
              </a:spcAft>
              <a:buSzPts val="1600"/>
              <a:buAutoNum type="arabicPeriod"/>
            </a:pPr>
            <a:r>
              <a:rPr lang="en-US"/>
              <a:t>Append to the file</a:t>
            </a:r>
            <a:endParaRPr/>
          </a:p>
          <a:p>
            <a:pPr indent="-330200" lvl="0" marL="457200" rtl="0" algn="l">
              <a:spcBef>
                <a:spcPts val="0"/>
              </a:spcBef>
              <a:spcAft>
                <a:spcPts val="0"/>
              </a:spcAft>
              <a:buSzPts val="1600"/>
              <a:buAutoNum type="arabicPeriod"/>
            </a:pPr>
            <a:r>
              <a:rPr lang="en-US"/>
              <a:t>Close the file</a:t>
            </a:r>
            <a:endParaRPr/>
          </a:p>
        </p:txBody>
      </p:sp>
      <p:sp>
        <p:nvSpPr>
          <p:cNvPr id="336" name="Google Shape;336;p4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file_name = 'role_models.txt'</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f_out = open(file_name, </a:t>
            </a:r>
            <a:r>
              <a:rPr b="1" lang="en-US" sz="1400">
                <a:latin typeface="Roboto Mono"/>
                <a:ea typeface="Roboto Mono"/>
                <a:cs typeface="Roboto Mono"/>
                <a:sym typeface="Roboto Mono"/>
              </a:rPr>
              <a:t>'a'</a:t>
            </a:r>
            <a:r>
              <a:rPr lang="en-US" sz="1400">
                <a:latin typeface="Roboto Mono Light"/>
                <a:ea typeface="Roboto Mono Light"/>
                <a:cs typeface="Roboto Mono Light"/>
                <a:sym typeface="Roboto Mono Light"/>
              </a:rPr>
              <a:t>)</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f_out.write('Tsygan\n')</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f_out.write('Dezik\n')</a:t>
            </a:r>
            <a:endParaRPr sz="1400">
              <a:latin typeface="Roboto Mono Light"/>
              <a:ea typeface="Roboto Mono Light"/>
              <a:cs typeface="Roboto Mono Light"/>
              <a:sym typeface="Roboto Mono Light"/>
            </a:endParaRPr>
          </a:p>
          <a:p>
            <a:pPr indent="0" lvl="0" marL="0" rtl="0" algn="l">
              <a:spcBef>
                <a:spcPts val="0"/>
              </a:spcBef>
              <a:spcAft>
                <a:spcPts val="0"/>
              </a:spcAft>
              <a:buNone/>
            </a:pPr>
            <a:r>
              <a:rPr lang="en-US" sz="1400">
                <a:latin typeface="Roboto Mono Light"/>
                <a:ea typeface="Roboto Mono Light"/>
                <a:cs typeface="Roboto Mono Light"/>
                <a:sym typeface="Roboto Mono Light"/>
              </a:rPr>
              <a:t>f_out.close()</a:t>
            </a:r>
            <a:endParaRPr sz="1400">
              <a:latin typeface="Roboto Mono Light"/>
              <a:ea typeface="Roboto Mono Light"/>
              <a:cs typeface="Roboto Mono Light"/>
              <a:sym typeface="Roboto Mono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CSVs: the answer to table data</a:t>
            </a:r>
            <a:endParaRPr/>
          </a:p>
        </p:txBody>
      </p:sp>
      <p:sp>
        <p:nvSpPr>
          <p:cNvPr id="343" name="Google Shape;343;p4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44" name="Google Shape;344;p4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Occasionally, you'll want to be able to work with a full table of data. Excel files and the like can't be imported in Python (because they're binary). But there is another way: the csv file. A </a:t>
            </a:r>
            <a:r>
              <a:rPr b="1" lang="en-US">
                <a:solidFill>
                  <a:schemeClr val="dk1"/>
                </a:solidFill>
              </a:rPr>
              <a:t>Comma Separated Value (CSV)</a:t>
            </a:r>
            <a:r>
              <a:rPr lang="en-US">
                <a:solidFill>
                  <a:schemeClr val="dk1"/>
                </a:solidFill>
              </a:rPr>
              <a:t> file contains all the 2-dimensional data exported from a spreadsheet into a text file. All rows are new lines, and all data in columns is separated by commas.</a:t>
            </a:r>
            <a:endParaRPr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CSVs: importing</a:t>
            </a:r>
            <a:endParaRPr/>
          </a:p>
        </p:txBody>
      </p:sp>
      <p:sp>
        <p:nvSpPr>
          <p:cNvPr id="351" name="Google Shape;351;p4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52" name="Google Shape;352;p4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Your goal when working with a CSV file is to reconstitute the two-</a:t>
            </a:r>
            <a:r>
              <a:rPr lang="en-US" sz="1500"/>
              <a:t>dimensional</a:t>
            </a:r>
            <a:r>
              <a:rPr lang="en-US" sz="1500"/>
              <a:t> nature of the original table. So you'll need a structure in Python that can handle n-dimensional data. Lists can do that!</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What you'll need to do is parse through each line of the csv, splitting it up by commas (and adjusting the datatype appropriately) as you go.</a:t>
            </a:r>
            <a:endParaRPr sz="1500"/>
          </a:p>
        </p:txBody>
      </p:sp>
      <p:sp>
        <p:nvSpPr>
          <p:cNvPr id="353" name="Google Shape;353;p44"/>
          <p:cNvSpPr txBox="1"/>
          <p:nvPr>
            <p:ph idx="2" type="body"/>
          </p:nvPr>
        </p:nvSpPr>
        <p:spPr>
          <a:xfrm>
            <a:off x="4426125" y="84400"/>
            <a:ext cx="4680900" cy="4329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 File "grades.csv" contents:</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Name, Points, Percentage  # headers (column names)</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Frank , 234, 92.5</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Aleesha, 222 , 98.5</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 Code to recreate two-dimensional table:</a:t>
            </a:r>
            <a:endParaRPr sz="1000">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with open('grades.csv', 'r') as f_in:</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f_in.readline() # skip headers</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data = []</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for line in f_in:</a:t>
            </a:r>
            <a:endParaRPr sz="10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row = []</a:t>
            </a:r>
            <a:endParaRPr sz="10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line = line.strip()</a:t>
            </a:r>
            <a:endParaRPr sz="10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if line: # skip empty lines</a:t>
            </a:r>
            <a:endParaRPr sz="1000">
              <a:solidFill>
                <a:schemeClr val="dk1"/>
              </a:solidFill>
              <a:latin typeface="Roboto Mono Light"/>
              <a:ea typeface="Roboto Mono Light"/>
              <a:cs typeface="Roboto Mono Light"/>
              <a:sym typeface="Roboto Mono Light"/>
            </a:endParaRPr>
          </a:p>
          <a:p>
            <a:pPr indent="457200" lvl="0" marL="91440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line_list = line</a:t>
            </a:r>
            <a:r>
              <a:rPr b="1" lang="en-US" sz="1000">
                <a:solidFill>
                  <a:schemeClr val="dk1"/>
                </a:solidFill>
                <a:latin typeface="Roboto Mono"/>
                <a:ea typeface="Roboto Mono"/>
                <a:cs typeface="Roboto Mono"/>
                <a:sym typeface="Roboto Mono"/>
              </a:rPr>
              <a:t>.split(',')</a:t>
            </a:r>
            <a:endParaRPr b="1" sz="1000">
              <a:solidFill>
                <a:schemeClr val="dk1"/>
              </a:solidFill>
              <a:latin typeface="Roboto Mono"/>
              <a:ea typeface="Roboto Mono"/>
              <a:cs typeface="Roboto Mono"/>
              <a:sym typeface="Roboto Mono"/>
            </a:endParaRPr>
          </a:p>
          <a:p>
            <a:pPr indent="457200" lvl="0" marL="91440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row.append(line_list[0]</a:t>
            </a:r>
            <a:r>
              <a:rPr b="1" lang="en-US" sz="1000">
                <a:solidFill>
                  <a:schemeClr val="dk1"/>
                </a:solidFill>
                <a:latin typeface="Roboto Mono"/>
                <a:ea typeface="Roboto Mono"/>
                <a:cs typeface="Roboto Mono"/>
                <a:sym typeface="Roboto Mono"/>
              </a:rPr>
              <a:t>.strip()</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457200" lvl="0" marL="91440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row.append(int(line_list[1]</a:t>
            </a:r>
            <a:r>
              <a:rPr b="1" lang="en-US" sz="1000">
                <a:solidFill>
                  <a:schemeClr val="dk1"/>
                </a:solidFill>
                <a:latin typeface="Roboto Mono"/>
                <a:ea typeface="Roboto Mono"/>
                <a:cs typeface="Roboto Mono"/>
                <a:sym typeface="Roboto Mono"/>
              </a:rPr>
              <a:t>.strip()</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457200" lvl="0" marL="91440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row.append(float(line_list[2]</a:t>
            </a:r>
            <a:r>
              <a:rPr b="1" lang="en-US" sz="1000">
                <a:solidFill>
                  <a:schemeClr val="dk1"/>
                </a:solidFill>
                <a:latin typeface="Roboto Mono"/>
                <a:ea typeface="Roboto Mono"/>
                <a:cs typeface="Roboto Mono"/>
                <a:sym typeface="Roboto Mono"/>
              </a:rPr>
              <a:t>.strip()</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457200" lvl="0" marL="91440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data.append(row)</a:t>
            </a:r>
            <a:endParaRPr sz="1000">
              <a:latin typeface="Roboto Mono Light"/>
              <a:ea typeface="Roboto Mono Light"/>
              <a:cs typeface="Roboto Mono Light"/>
              <a:sym typeface="Roboto Mono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360" name="Google Shape;360;p4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Terminology:</a:t>
            </a:r>
            <a:endParaRPr sz="1200"/>
          </a:p>
          <a:p>
            <a:pPr indent="-304800" lvl="0" marL="457200" rtl="0" algn="l">
              <a:spcBef>
                <a:spcPts val="0"/>
              </a:spcBef>
              <a:spcAft>
                <a:spcPts val="0"/>
              </a:spcAft>
              <a:buSzPts val="1200"/>
              <a:buChar char="•"/>
            </a:pPr>
            <a:r>
              <a:rPr lang="en-US" sz="1200"/>
              <a:t>Function</a:t>
            </a:r>
            <a:endParaRPr sz="1200"/>
          </a:p>
          <a:p>
            <a:pPr indent="-304800" lvl="0" marL="457200" rtl="0" algn="l">
              <a:spcBef>
                <a:spcPts val="0"/>
              </a:spcBef>
              <a:spcAft>
                <a:spcPts val="0"/>
              </a:spcAft>
              <a:buSzPts val="1200"/>
              <a:buChar char="•"/>
            </a:pPr>
            <a:r>
              <a:rPr lang="en-US" sz="1200"/>
              <a:t>Method</a:t>
            </a:r>
            <a:endParaRPr sz="1200"/>
          </a:p>
          <a:p>
            <a:pPr indent="-304800" lvl="0" marL="457200" rtl="0" algn="l">
              <a:spcBef>
                <a:spcPts val="0"/>
              </a:spcBef>
              <a:spcAft>
                <a:spcPts val="0"/>
              </a:spcAft>
              <a:buSzPts val="1200"/>
              <a:buChar char="•"/>
            </a:pPr>
            <a:r>
              <a:rPr lang="en-US" sz="1200"/>
              <a:t>Parameter</a:t>
            </a:r>
            <a:endParaRPr sz="1200"/>
          </a:p>
          <a:p>
            <a:pPr indent="-304800" lvl="0" marL="457200" rtl="0" algn="l">
              <a:spcBef>
                <a:spcPts val="0"/>
              </a:spcBef>
              <a:spcAft>
                <a:spcPts val="0"/>
              </a:spcAft>
              <a:buSzPts val="1200"/>
              <a:buChar char="•"/>
            </a:pPr>
            <a:r>
              <a:rPr lang="en-US" sz="1200"/>
              <a:t>Argument</a:t>
            </a:r>
            <a:endParaRPr sz="1200"/>
          </a:p>
          <a:p>
            <a:pPr indent="-304800" lvl="0" marL="457200" rtl="0" algn="l">
              <a:spcBef>
                <a:spcPts val="0"/>
              </a:spcBef>
              <a:spcAft>
                <a:spcPts val="0"/>
              </a:spcAft>
              <a:buSzPts val="1200"/>
              <a:buChar char="•"/>
            </a:pPr>
            <a:r>
              <a:rPr lang="en-US" sz="1200"/>
              <a:t>Dot operator</a:t>
            </a:r>
            <a:endParaRPr sz="1200"/>
          </a:p>
          <a:p>
            <a:pPr indent="-304800" lvl="0" marL="457200" rtl="0" algn="l">
              <a:spcBef>
                <a:spcPts val="0"/>
              </a:spcBef>
              <a:spcAft>
                <a:spcPts val="0"/>
              </a:spcAft>
              <a:buSzPts val="1200"/>
              <a:buChar char="•"/>
            </a:pPr>
            <a:r>
              <a:rPr lang="en-US" sz="1200"/>
              <a:t>Read, write, and append</a:t>
            </a:r>
            <a:endParaRPr sz="1200"/>
          </a:p>
        </p:txBody>
      </p:sp>
      <p:sp>
        <p:nvSpPr>
          <p:cNvPr id="361" name="Google Shape;361;p4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Specific vocab/syntax:</a:t>
            </a:r>
            <a:endParaRPr sz="1200"/>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def</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return</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open()</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file.read(), file.readline(), file.write(), and file.close()</a:t>
            </a:r>
            <a:endParaRPr sz="1200">
              <a:latin typeface="Roboto Mono Light"/>
              <a:ea typeface="Roboto Mono Light"/>
              <a:cs typeface="Roboto Mono Light"/>
              <a:sym typeface="Roboto Mono Light"/>
            </a:endParaRPr>
          </a:p>
          <a:p>
            <a:pPr indent="0" lvl="0" marL="457200" rtl="0" algn="l">
              <a:spcBef>
                <a:spcPts val="0"/>
              </a:spcBef>
              <a:spcAft>
                <a:spcPts val="0"/>
              </a:spcAft>
              <a:buNone/>
            </a:pPr>
            <a:r>
              <a:t/>
            </a:r>
            <a:endParaRPr sz="1200">
              <a:latin typeface="Courier New"/>
              <a:ea typeface="Courier New"/>
              <a:cs typeface="Courier New"/>
              <a:sym typeface="Courier New"/>
            </a:endParaRPr>
          </a:p>
        </p:txBody>
      </p:sp>
      <p:sp>
        <p:nvSpPr>
          <p:cNvPr id="362" name="Google Shape;362;p4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