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7315200" cy="9601200"/>
  <p:embeddedFontLst>
    <p:embeddedFont>
      <p:font typeface="Proxima Nova"/>
      <p:regular r:id="rId39"/>
      <p:bold r:id="rId40"/>
      <p:italic r:id="rId41"/>
      <p:boldItalic r:id="rId42"/>
    </p:embeddedFont>
    <p:embeddedFont>
      <p:font typeface="Roboto Mono Light"/>
      <p:regular r:id="rId43"/>
      <p:bold r:id="rId44"/>
      <p:italic r:id="rId45"/>
      <p:boldItalic r:id="rId46"/>
    </p:embeddedFont>
    <p:embeddedFont>
      <p:font typeface="Roboto Mono"/>
      <p:regular r:id="rId47"/>
      <p:bold r:id="rId48"/>
      <p:italic r:id="rId49"/>
      <p:boldItalic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bold.fntdata"/><Relationship Id="rId42" Type="http://schemas.openxmlformats.org/officeDocument/2006/relationships/font" Target="fonts/ProximaNova-boldItalic.fntdata"/><Relationship Id="rId41" Type="http://schemas.openxmlformats.org/officeDocument/2006/relationships/font" Target="fonts/ProximaNova-italic.fntdata"/><Relationship Id="rId44" Type="http://schemas.openxmlformats.org/officeDocument/2006/relationships/font" Target="fonts/RobotoMonoLight-bold.fntdata"/><Relationship Id="rId43" Type="http://schemas.openxmlformats.org/officeDocument/2006/relationships/font" Target="fonts/RobotoMonoLight-regular.fntdata"/><Relationship Id="rId46" Type="http://schemas.openxmlformats.org/officeDocument/2006/relationships/font" Target="fonts/RobotoMonoLight-boldItalic.fntdata"/><Relationship Id="rId45" Type="http://schemas.openxmlformats.org/officeDocument/2006/relationships/font" Target="fonts/RobotoMonoLigh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bold.fntdata"/><Relationship Id="rId47" Type="http://schemas.openxmlformats.org/officeDocument/2006/relationships/font" Target="fonts/RobotoMono-regular.fntdata"/><Relationship Id="rId49"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ProximaNova-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regular.fntdata"/><Relationship Id="rId50" Type="http://schemas.openxmlformats.org/officeDocument/2006/relationships/font" Target="fonts/RobotoMono-boldItalic.fntdata"/><Relationship Id="rId53" Type="http://schemas.openxmlformats.org/officeDocument/2006/relationships/font" Target="fonts/OpenSans-italic.fntdata"/><Relationship Id="rId52" Type="http://schemas.openxmlformats.org/officeDocument/2006/relationships/font" Target="fonts/OpenSans-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Open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79ba316319_1_5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51" name="Google Shape;51;g79ba316319_1_5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2" name="Google Shape;52;g79ba316319_1_5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79ba316319_1_5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60" name="Google Shape;60;g79ba316319_1_5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1" name="Google Shape;61;g79ba316319_1_5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79ba316319_1_6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69" name="Google Shape;69;g79ba316319_1_6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 name="Google Shape;70;g79ba316319_1_6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79ba316319_1_8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77" name="Google Shape;77;g79ba316319_1_8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8" name="Google Shape;78;g79ba316319_1_8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79ba316319_1_9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85" name="Google Shape;85;g79ba316319_1_9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6" name="Google Shape;86;g79ba316319_1_9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79ba316319_1_11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93" name="Google Shape;93;g79ba316319_1_11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4" name="Google Shape;94;g79ba316319_1_11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79ba316319_1_10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79ba316319_1_10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 name="Google Shape;102;g79ba316319_1_10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79ba316319_1_7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79ba316319_1_7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1" name="Google Shape;111;g79ba316319_1_7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79ba316319_1_117: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79ba316319_1_117: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0" name="Google Shape;120;g79ba316319_1_117: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79ba316319_1_12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79ba316319_1_12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9" name="Google Shape;129;g79ba316319_1_12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79ba316319_1_56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79ba316319_1_56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8" name="Google Shape;138;g79ba316319_1_56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79ba316319_1_59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79ba316319_1_59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6" name="Google Shape;146;g79ba316319_1_59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79ba316319_1_45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79ba316319_1_45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4" name="Google Shape;154;g79ba316319_1_45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79ba316319_1_59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79ba316319_1_59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3" name="Google Shape;163;g79ba316319_1_59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79ba316319_1_60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79ba316319_1_60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1" name="Google Shape;171;g79ba316319_1_60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79ba316319_1_46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79ba316319_1_46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9" name="Google Shape;179;g79ba316319_1_46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79ba316319_1_47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79ba316319_1_47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8" name="Google Shape;188;g79ba316319_1_47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79ba316319_1_61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79ba316319_1_61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 name="Google Shape;197;g79ba316319_1_61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79ba316319_1_48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79ba316319_1_48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5" name="Google Shape;205;g79ba316319_1_48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79ba316319_1_504: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79ba316319_1_504: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4" name="Google Shape;214;g79ba316319_1_504: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79ba316319_1_512: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79ba316319_1_512: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3" name="Google Shape;223;g79ba316319_1_512: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79ba316319_1_52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79ba316319_1_52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2" name="Google Shape;232;g79ba316319_1_52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79ba316319_1_52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79ba316319_1_52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1" name="Google Shape;241;g79ba316319_1_52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79ba316319_1_53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79ba316319_1_53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0" name="Google Shape;250;g79ba316319_1_53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c0f91c1649_0_25: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c0f91c1649_0_25: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9" name="Google Shape;259;gc0f91c1649_0_25: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c0f91c1649_0_4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c0f91c1649_0_4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7" name="Google Shape;267;gc0f91c1649_0_4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79ba316319_1_48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79ba316319_1_48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5" name="Google Shape;275;g79ba316319_1_48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79ba316319_1_496: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79ba316319_1_496: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4" name="Google Shape;284;g79ba316319_1_496: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c0f91c1649_0_33: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c0f91c1649_0_33: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3" name="Google Shape;293;gc0f91c1649_0_33: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c0f91c1649_0_48: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c0f91c1649_0_48: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1" name="Google Shape;301;gc0f91c1649_0_48: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79ba316319_1_619: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79ba316319_1_619: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9" name="Google Shape;309;g79ba316319_1_619: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8f2c771740_4_0: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8f2c771740_4_0: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7" name="Google Shape;317;g38f2c771740_4_0: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79ba316319_1_351:notes"/>
          <p:cNvSpPr/>
          <p:nvPr>
            <p:ph idx="2" type="sldImg"/>
          </p:nvPr>
        </p:nvSpPr>
        <p:spPr>
          <a:xfrm>
            <a:off x="457200" y="720725"/>
            <a:ext cx="6400800" cy="36006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79ba316319_1_351:notes"/>
          <p:cNvSpPr txBox="1"/>
          <p:nvPr>
            <p:ph idx="1" type="body"/>
          </p:nvPr>
        </p:nvSpPr>
        <p:spPr>
          <a:xfrm>
            <a:off x="731838" y="4560888"/>
            <a:ext cx="5851500" cy="4319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5" name="Google Shape;325;g79ba316319_1_351:notes"/>
          <p:cNvSpPr txBox="1"/>
          <p:nvPr>
            <p:ph idx="12" type="sldNum"/>
          </p:nvPr>
        </p:nvSpPr>
        <p:spPr>
          <a:xfrm>
            <a:off x="4143375" y="9120188"/>
            <a:ext cx="3170100" cy="479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1104900"/>
            <a:ext cx="7772400" cy="2136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990000"/>
              </a:buClr>
              <a:buSzPts val="4400"/>
              <a:buFont typeface="Proxima Nova"/>
              <a:buNone/>
              <a:defRPr sz="4400">
                <a:solidFill>
                  <a:srgbClr val="990000"/>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 type="subTitle"/>
          </p:nvPr>
        </p:nvSpPr>
        <p:spPr>
          <a:xfrm>
            <a:off x="1371600" y="3240900"/>
            <a:ext cx="6400800" cy="10455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700"/>
              </a:spcBef>
              <a:spcAft>
                <a:spcPts val="0"/>
              </a:spcAft>
              <a:buClr>
                <a:srgbClr val="990000"/>
              </a:buClr>
              <a:buSzPts val="3200"/>
              <a:buFont typeface="Calibri"/>
              <a:buNone/>
              <a:defRPr>
                <a:solidFill>
                  <a:srgbClr val="990000"/>
                </a:solidFill>
                <a:latin typeface="Calibri"/>
                <a:ea typeface="Calibri"/>
                <a:cs typeface="Calibri"/>
                <a:sym typeface="Calibri"/>
              </a:defRPr>
            </a:lvl1pPr>
            <a:lvl2pPr lvl="1" algn="ctr">
              <a:lnSpc>
                <a:spcPct val="100000"/>
              </a:lnSpc>
              <a:spcBef>
                <a:spcPts val="500"/>
              </a:spcBef>
              <a:spcAft>
                <a:spcPts val="0"/>
              </a:spcAft>
              <a:buClr>
                <a:srgbClr val="888888"/>
              </a:buClr>
              <a:buSzPts val="2800"/>
              <a:buNone/>
              <a:defRPr>
                <a:solidFill>
                  <a:srgbClr val="888888"/>
                </a:solidFill>
              </a:defRPr>
            </a:lvl2pPr>
            <a:lvl3pPr lvl="2" algn="ctr">
              <a:lnSpc>
                <a:spcPct val="100000"/>
              </a:lnSpc>
              <a:spcBef>
                <a:spcPts val="50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1" name="Google Shape;21;p2"/>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lvl1pPr indent="-304800" lvl="0" marL="457200" algn="r">
              <a:spcBef>
                <a:spcPts val="0"/>
              </a:spcBef>
              <a:spcAft>
                <a:spcPts val="0"/>
              </a:spcAft>
              <a:buClr>
                <a:srgbClr val="990000"/>
              </a:buClr>
              <a:buSzPts val="1200"/>
              <a:buChar char="•"/>
              <a:defRPr sz="1200">
                <a:solidFill>
                  <a:srgbClr val="990000"/>
                </a:solidFill>
              </a:defRPr>
            </a:lvl1pPr>
            <a:lvl2pPr indent="-234950" lvl="1" marL="914400" algn="r">
              <a:spcBef>
                <a:spcPts val="0"/>
              </a:spcBef>
              <a:spcAft>
                <a:spcPts val="0"/>
              </a:spcAft>
              <a:buClr>
                <a:srgbClr val="990000"/>
              </a:buClr>
              <a:buSzPts val="100"/>
              <a:buChar char="–"/>
              <a:defRPr sz="100">
                <a:solidFill>
                  <a:srgbClr val="990000"/>
                </a:solidFill>
              </a:defRPr>
            </a:lvl2pPr>
            <a:lvl3pPr indent="-234950" lvl="2" marL="1371600" algn="r">
              <a:spcBef>
                <a:spcPts val="0"/>
              </a:spcBef>
              <a:spcAft>
                <a:spcPts val="0"/>
              </a:spcAft>
              <a:buClr>
                <a:srgbClr val="990000"/>
              </a:buClr>
              <a:buSzPts val="100"/>
              <a:buChar char="•"/>
              <a:defRPr sz="100">
                <a:solidFill>
                  <a:srgbClr val="990000"/>
                </a:solidFill>
              </a:defRPr>
            </a:lvl3pPr>
            <a:lvl4pPr indent="-234950" lvl="3" marL="1828800" algn="r">
              <a:spcBef>
                <a:spcPts val="0"/>
              </a:spcBef>
              <a:spcAft>
                <a:spcPts val="0"/>
              </a:spcAft>
              <a:buClr>
                <a:srgbClr val="990000"/>
              </a:buClr>
              <a:buSzPts val="100"/>
              <a:buChar char="–"/>
              <a:defRPr sz="100">
                <a:solidFill>
                  <a:srgbClr val="990000"/>
                </a:solidFill>
              </a:defRPr>
            </a:lvl4pPr>
            <a:lvl5pPr indent="-234950" lvl="4" marL="2286000" algn="r">
              <a:spcBef>
                <a:spcPts val="0"/>
              </a:spcBef>
              <a:spcAft>
                <a:spcPts val="0"/>
              </a:spcAft>
              <a:buClr>
                <a:srgbClr val="990000"/>
              </a:buClr>
              <a:buSzPts val="100"/>
              <a:buChar char="»"/>
              <a:defRPr sz="100">
                <a:solidFill>
                  <a:srgbClr val="990000"/>
                </a:solidFill>
              </a:defRPr>
            </a:lvl5pPr>
            <a:lvl6pPr indent="-234950" lvl="5" marL="2743200" algn="r">
              <a:spcBef>
                <a:spcPts val="0"/>
              </a:spcBef>
              <a:spcAft>
                <a:spcPts val="0"/>
              </a:spcAft>
              <a:buClr>
                <a:srgbClr val="990000"/>
              </a:buClr>
              <a:buSzPts val="100"/>
              <a:buChar char="•"/>
              <a:defRPr sz="100">
                <a:solidFill>
                  <a:srgbClr val="990000"/>
                </a:solidFill>
              </a:defRPr>
            </a:lvl6pPr>
            <a:lvl7pPr indent="-234950" lvl="6" marL="3200400" algn="r">
              <a:spcBef>
                <a:spcPts val="0"/>
              </a:spcBef>
              <a:spcAft>
                <a:spcPts val="0"/>
              </a:spcAft>
              <a:buClr>
                <a:srgbClr val="990000"/>
              </a:buClr>
              <a:buSzPts val="100"/>
              <a:buChar char="•"/>
              <a:defRPr sz="100">
                <a:solidFill>
                  <a:srgbClr val="990000"/>
                </a:solidFill>
              </a:defRPr>
            </a:lvl7pPr>
            <a:lvl8pPr indent="-234950" lvl="7" marL="3657600" algn="r">
              <a:spcBef>
                <a:spcPts val="0"/>
              </a:spcBef>
              <a:spcAft>
                <a:spcPts val="0"/>
              </a:spcAft>
              <a:buClr>
                <a:srgbClr val="990000"/>
              </a:buClr>
              <a:buSzPts val="100"/>
              <a:buChar char="•"/>
              <a:defRPr sz="100">
                <a:solidFill>
                  <a:srgbClr val="990000"/>
                </a:solidFill>
              </a:defRPr>
            </a:lvl8pPr>
            <a:lvl9pPr indent="-234950" lvl="8" marL="4114800" algn="r">
              <a:spcBef>
                <a:spcPts val="0"/>
              </a:spcBef>
              <a:spcAft>
                <a:spcPts val="0"/>
              </a:spcAft>
              <a:buClr>
                <a:srgbClr val="990000"/>
              </a:buClr>
              <a:buSzPts val="100"/>
              <a:buChar char="•"/>
              <a:defRPr sz="100">
                <a:solidFill>
                  <a:srgbClr val="990000"/>
                </a:solidFill>
              </a:defRPr>
            </a:lvl9pPr>
          </a:lstStyle>
          <a:p/>
        </p:txBody>
      </p:sp>
      <p:sp>
        <p:nvSpPr>
          <p:cNvPr id="22" name="Google Shape;22;p2"/>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lvl1pPr lvl="0" algn="r">
              <a:buNone/>
              <a:defRPr sz="1300">
                <a:solidFill>
                  <a:srgbClr val="990000"/>
                </a:solidFill>
              </a:defRPr>
            </a:lvl1pPr>
            <a:lvl2pPr lvl="1" algn="r">
              <a:buNone/>
              <a:defRPr sz="1300">
                <a:solidFill>
                  <a:srgbClr val="990000"/>
                </a:solidFill>
              </a:defRPr>
            </a:lvl2pPr>
            <a:lvl3pPr lvl="2" algn="r">
              <a:buNone/>
              <a:defRPr sz="1300">
                <a:solidFill>
                  <a:srgbClr val="990000"/>
                </a:solidFill>
              </a:defRPr>
            </a:lvl3pPr>
            <a:lvl4pPr lvl="3" algn="r">
              <a:buNone/>
              <a:defRPr sz="1300">
                <a:solidFill>
                  <a:srgbClr val="990000"/>
                </a:solidFill>
              </a:defRPr>
            </a:lvl4pPr>
            <a:lvl5pPr lvl="4" algn="r">
              <a:buNone/>
              <a:defRPr sz="1300">
                <a:solidFill>
                  <a:srgbClr val="990000"/>
                </a:solidFill>
              </a:defRPr>
            </a:lvl5pPr>
            <a:lvl6pPr lvl="5" algn="r">
              <a:buNone/>
              <a:defRPr sz="1300">
                <a:solidFill>
                  <a:srgbClr val="990000"/>
                </a:solidFill>
              </a:defRPr>
            </a:lvl6pPr>
            <a:lvl7pPr lvl="6" algn="r">
              <a:buNone/>
              <a:defRPr sz="1300">
                <a:solidFill>
                  <a:srgbClr val="990000"/>
                </a:solidFill>
              </a:defRPr>
            </a:lvl7pPr>
            <a:lvl8pPr lvl="7" algn="r">
              <a:buNone/>
              <a:defRPr sz="1300">
                <a:solidFill>
                  <a:srgbClr val="990000"/>
                </a:solidFill>
              </a:defRPr>
            </a:lvl8pPr>
            <a:lvl9pPr lvl="8" algn="r">
              <a:buNone/>
              <a:defRPr sz="1300">
                <a:solidFill>
                  <a:srgbClr val="99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990000"/>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1600"/>
              <a:buNone/>
              <a:defRPr sz="1600">
                <a:solidFill>
                  <a:srgbClr val="888888"/>
                </a:solidFill>
              </a:defRPr>
            </a:lvl1pPr>
            <a:lvl2pPr indent="-228600" lvl="1" marL="914400" algn="l">
              <a:lnSpc>
                <a:spcPct val="100000"/>
              </a:lnSpc>
              <a:spcBef>
                <a:spcPts val="4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400"/>
              <a:buNone/>
              <a:defRPr sz="1400">
                <a:solidFill>
                  <a:srgbClr val="888888"/>
                </a:solidFill>
              </a:defRPr>
            </a:lvl3pPr>
            <a:lvl4pPr indent="-228600" lvl="3" marL="1828800" algn="l">
              <a:lnSpc>
                <a:spcPct val="100000"/>
              </a:lnSpc>
              <a:spcBef>
                <a:spcPts val="300"/>
              </a:spcBef>
              <a:spcAft>
                <a:spcPts val="0"/>
              </a:spcAft>
              <a:buClr>
                <a:srgbClr val="888888"/>
              </a:buClr>
              <a:buSzPts val="1300"/>
              <a:buNone/>
              <a:defRPr sz="1300">
                <a:solidFill>
                  <a:srgbClr val="888888"/>
                </a:solidFill>
              </a:defRPr>
            </a:lvl4pPr>
            <a:lvl5pPr indent="-228600" lvl="4" marL="2286000" algn="l">
              <a:lnSpc>
                <a:spcPct val="100000"/>
              </a:lnSpc>
              <a:spcBef>
                <a:spcPts val="300"/>
              </a:spcBef>
              <a:spcAft>
                <a:spcPts val="0"/>
              </a:spcAft>
              <a:buClr>
                <a:srgbClr val="888888"/>
              </a:buClr>
              <a:buSzPts val="1200"/>
              <a:buNone/>
              <a:defRPr sz="1200">
                <a:solidFill>
                  <a:srgbClr val="888888"/>
                </a:solidFill>
              </a:defRPr>
            </a:lvl5pPr>
            <a:lvl6pPr indent="-228600" lvl="5" marL="2743200" algn="l">
              <a:lnSpc>
                <a:spcPct val="100000"/>
              </a:lnSpc>
              <a:spcBef>
                <a:spcPts val="300"/>
              </a:spcBef>
              <a:spcAft>
                <a:spcPts val="0"/>
              </a:spcAft>
              <a:buClr>
                <a:srgbClr val="888888"/>
              </a:buClr>
              <a:buSzPts val="1100"/>
              <a:buNone/>
              <a:defRPr sz="1100">
                <a:solidFill>
                  <a:srgbClr val="888888"/>
                </a:solidFill>
              </a:defRPr>
            </a:lvl6pPr>
            <a:lvl7pPr indent="-228600" lvl="6" marL="3200400" algn="l">
              <a:lnSpc>
                <a:spcPct val="100000"/>
              </a:lnSpc>
              <a:spcBef>
                <a:spcPts val="300"/>
              </a:spcBef>
              <a:spcAft>
                <a:spcPts val="0"/>
              </a:spcAft>
              <a:buClr>
                <a:srgbClr val="888888"/>
              </a:buClr>
              <a:buSzPts val="1000"/>
              <a:buNone/>
              <a:defRPr sz="1000">
                <a:solidFill>
                  <a:srgbClr val="888888"/>
                </a:solidFill>
              </a:defRPr>
            </a:lvl7pPr>
            <a:lvl8pPr indent="-228600" lvl="7" marL="3657600" algn="l">
              <a:lnSpc>
                <a:spcPct val="100000"/>
              </a:lnSpc>
              <a:spcBef>
                <a:spcPts val="300"/>
              </a:spcBef>
              <a:spcAft>
                <a:spcPts val="0"/>
              </a:spcAft>
              <a:buClr>
                <a:srgbClr val="888888"/>
              </a:buClr>
              <a:buSzPts val="900"/>
              <a:buNone/>
              <a:defRPr sz="900">
                <a:solidFill>
                  <a:srgbClr val="888888"/>
                </a:solidFill>
              </a:defRPr>
            </a:lvl8pPr>
            <a:lvl9pPr indent="-228600" lvl="8" marL="4114800" algn="l">
              <a:lnSpc>
                <a:spcPct val="100000"/>
              </a:lnSpc>
              <a:spcBef>
                <a:spcPts val="300"/>
              </a:spcBef>
              <a:spcAft>
                <a:spcPts val="0"/>
              </a:spcAft>
              <a:buClr>
                <a:srgbClr val="888888"/>
              </a:buClr>
              <a:buSzPts val="800"/>
              <a:buNone/>
              <a:defRPr sz="800">
                <a:solidFill>
                  <a:srgbClr val="888888"/>
                </a:solidFill>
              </a:defRPr>
            </a:lvl9pPr>
          </a:lstStyle>
          <a:p/>
        </p:txBody>
      </p:sp>
      <p:sp>
        <p:nvSpPr>
          <p:cNvPr id="26" name="Google Shape;26;p3"/>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One Wide)" type="obj">
  <p:cSld name="OBJECT">
    <p:spTree>
      <p:nvGrpSpPr>
        <p:cNvPr id="27" name="Shape 27"/>
        <p:cNvGrpSpPr/>
        <p:nvPr/>
      </p:nvGrpSpPr>
      <p:grpSpPr>
        <a:xfrm>
          <a:off x="0" y="0"/>
          <a:ext cx="0" cy="0"/>
          <a:chOff x="0" y="0"/>
          <a:chExt cx="0" cy="0"/>
        </a:xfrm>
      </p:grpSpPr>
      <p:sp>
        <p:nvSpPr>
          <p:cNvPr id="28" name="Google Shape;28;p4"/>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9" name="Google Shape;29;p4"/>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0" name="Google Shape;30;p4"/>
          <p:cNvSpPr txBox="1"/>
          <p:nvPr>
            <p:ph idx="1" type="body"/>
          </p:nvPr>
        </p:nvSpPr>
        <p:spPr>
          <a:xfrm>
            <a:off x="40106" y="998794"/>
            <a:ext cx="90669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sz="1600"/>
            </a:lvl1pPr>
            <a:lvl2pPr indent="-323850" lvl="1" marL="914400" rtl="0" algn="l">
              <a:lnSpc>
                <a:spcPct val="150000"/>
              </a:lnSpc>
              <a:spcBef>
                <a:spcPts val="0"/>
              </a:spcBef>
              <a:spcAft>
                <a:spcPts val="0"/>
              </a:spcAft>
              <a:buClr>
                <a:srgbClr val="000000"/>
              </a:buClr>
              <a:buSzPts val="1500"/>
              <a:buChar char="–"/>
              <a:defRPr sz="1500"/>
            </a:lvl2pPr>
            <a:lvl3pPr indent="-317500" lvl="2" marL="1371600" rtl="0" algn="l">
              <a:lnSpc>
                <a:spcPct val="150000"/>
              </a:lnSpc>
              <a:spcBef>
                <a:spcPts val="0"/>
              </a:spcBef>
              <a:spcAft>
                <a:spcPts val="0"/>
              </a:spcAft>
              <a:buClr>
                <a:srgbClr val="000000"/>
              </a:buClr>
              <a:buSzPts val="1400"/>
              <a:buChar char="•"/>
              <a:defRPr sz="1400"/>
            </a:lvl3pPr>
            <a:lvl4pPr indent="-311150" lvl="3" marL="1828800" rtl="0" algn="l">
              <a:lnSpc>
                <a:spcPct val="150000"/>
              </a:lnSpc>
              <a:spcBef>
                <a:spcPts val="0"/>
              </a:spcBef>
              <a:spcAft>
                <a:spcPts val="0"/>
              </a:spcAft>
              <a:buClr>
                <a:srgbClr val="000000"/>
              </a:buClr>
              <a:buSzPts val="1300"/>
              <a:buChar char="–"/>
              <a:defRPr sz="1300"/>
            </a:lvl4pPr>
            <a:lvl5pPr indent="-304800" lvl="4" marL="2286000" rtl="0" algn="l">
              <a:lnSpc>
                <a:spcPct val="150000"/>
              </a:lnSpc>
              <a:spcBef>
                <a:spcPts val="0"/>
              </a:spcBef>
              <a:spcAft>
                <a:spcPts val="0"/>
              </a:spcAft>
              <a:buClr>
                <a:srgbClr val="000000"/>
              </a:buClr>
              <a:buSzPts val="1200"/>
              <a:buChar char="»"/>
              <a:defRPr sz="1200"/>
            </a:lvl5pPr>
            <a:lvl6pPr indent="-292100" lvl="5" marL="2743200" rtl="0" algn="l">
              <a:lnSpc>
                <a:spcPct val="150000"/>
              </a:lnSpc>
              <a:spcBef>
                <a:spcPts val="0"/>
              </a:spcBef>
              <a:spcAft>
                <a:spcPts val="0"/>
              </a:spcAft>
              <a:buClr>
                <a:schemeClr val="dk1"/>
              </a:buClr>
              <a:buSzPts val="1000"/>
              <a:buChar char="•"/>
              <a:defRPr sz="1100"/>
            </a:lvl6pPr>
            <a:lvl7pPr indent="-285750" lvl="6" marL="3200400" rtl="0" algn="l">
              <a:lnSpc>
                <a:spcPct val="150000"/>
              </a:lnSpc>
              <a:spcBef>
                <a:spcPts val="0"/>
              </a:spcBef>
              <a:spcAft>
                <a:spcPts val="0"/>
              </a:spcAft>
              <a:buClr>
                <a:schemeClr val="dk1"/>
              </a:buClr>
              <a:buSzPts val="900"/>
              <a:buChar char="•"/>
              <a:defRPr sz="1000"/>
            </a:lvl7pPr>
            <a:lvl8pPr indent="-279400" lvl="7" marL="3657600" rtl="0" algn="l">
              <a:lnSpc>
                <a:spcPct val="150000"/>
              </a:lnSpc>
              <a:spcBef>
                <a:spcPts val="0"/>
              </a:spcBef>
              <a:spcAft>
                <a:spcPts val="0"/>
              </a:spcAft>
              <a:buClr>
                <a:schemeClr val="dk1"/>
              </a:buClr>
              <a:buSzPts val="800"/>
              <a:buChar char="•"/>
              <a:defRPr sz="900"/>
            </a:lvl8pPr>
            <a:lvl9pPr indent="-273050" lvl="8" marL="4114800" rtl="0" algn="l">
              <a:lnSpc>
                <a:spcPct val="150000"/>
              </a:lnSpc>
              <a:spcBef>
                <a:spcPts val="0"/>
              </a:spcBef>
              <a:spcAft>
                <a:spcPts val="0"/>
              </a:spcAft>
              <a:buClr>
                <a:schemeClr val="dk1"/>
              </a:buClr>
              <a:buSzPts val="700"/>
              <a:buChar char="•"/>
              <a:defRPr sz="800"/>
            </a:lvl9pPr>
          </a:lstStyle>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Lef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990000"/>
              </a:buClr>
              <a:buSzPts val="4400"/>
              <a:buFont typeface="Arial"/>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 name="Google Shape;33;p5"/>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4" name="Google Shape;34;p5"/>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Two">
  <p:cSld name="TWO_OBJECTS_1">
    <p:spTree>
      <p:nvGrpSpPr>
        <p:cNvPr id="35" name="Shape 35"/>
        <p:cNvGrpSpPr/>
        <p:nvPr/>
      </p:nvGrpSpPr>
      <p:grpSpPr>
        <a:xfrm>
          <a:off x="0" y="0"/>
          <a:ext cx="0" cy="0"/>
          <a:chOff x="0" y="0"/>
          <a:chExt cx="0" cy="0"/>
        </a:xfrm>
      </p:grpSpPr>
      <p:sp>
        <p:nvSpPr>
          <p:cNvPr id="36" name="Google Shape;36;p6"/>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7" name="Google Shape;37;p6"/>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38" name="Google Shape;38;p6"/>
          <p:cNvSpPr txBox="1"/>
          <p:nvPr>
            <p:ph idx="1" type="body"/>
          </p:nvPr>
        </p:nvSpPr>
        <p:spPr>
          <a:xfrm>
            <a:off x="40100"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
        <p:nvSpPr>
          <p:cNvPr id="39" name="Google Shape;39;p6"/>
          <p:cNvSpPr txBox="1"/>
          <p:nvPr>
            <p:ph idx="2"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One Right">
  <p:cSld name="TWO_OBJECTS_1_1">
    <p:spTree>
      <p:nvGrpSpPr>
        <p:cNvPr id="40" name="Shape 40"/>
        <p:cNvGrpSpPr/>
        <p:nvPr/>
      </p:nvGrpSpPr>
      <p:grpSpPr>
        <a:xfrm>
          <a:off x="0" y="0"/>
          <a:ext cx="0" cy="0"/>
          <a:chOff x="0" y="0"/>
          <a:chExt cx="0" cy="0"/>
        </a:xfrm>
      </p:grpSpPr>
      <p:sp>
        <p:nvSpPr>
          <p:cNvPr id="41" name="Google Shape;41;p7"/>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2" name="Google Shape;42;p7"/>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
        <p:nvSpPr>
          <p:cNvPr id="43" name="Google Shape;43;p7"/>
          <p:cNvSpPr txBox="1"/>
          <p:nvPr>
            <p:ph idx="1" type="body"/>
          </p:nvPr>
        </p:nvSpPr>
        <p:spPr>
          <a:xfrm>
            <a:off x="4650575" y="998800"/>
            <a:ext cx="4456500" cy="3414600"/>
          </a:xfrm>
          <a:prstGeom prst="rect">
            <a:avLst/>
          </a:prstGeom>
          <a:noFill/>
          <a:ln>
            <a:noFill/>
          </a:ln>
        </p:spPr>
        <p:txBody>
          <a:bodyPr anchorCtr="0" anchor="t" bIns="45700" lIns="91425" spcFirstLastPara="1" rIns="91425" wrap="square" tIns="45700">
            <a:noAutofit/>
          </a:bodyPr>
          <a:lstStyle>
            <a:lvl1pPr indent="-330200" lvl="0" marL="457200" rtl="0" algn="l">
              <a:lnSpc>
                <a:spcPct val="150000"/>
              </a:lnSpc>
              <a:spcBef>
                <a:spcPts val="0"/>
              </a:spcBef>
              <a:spcAft>
                <a:spcPts val="0"/>
              </a:spcAft>
              <a:buClr>
                <a:srgbClr val="000000"/>
              </a:buClr>
              <a:buSzPts val="1600"/>
              <a:buChar char="•"/>
              <a:defRPr/>
            </a:lvl1pPr>
            <a:lvl2pPr indent="-323850" lvl="1" marL="914400" rtl="0" algn="l">
              <a:lnSpc>
                <a:spcPct val="150000"/>
              </a:lnSpc>
              <a:spcBef>
                <a:spcPts val="0"/>
              </a:spcBef>
              <a:spcAft>
                <a:spcPts val="0"/>
              </a:spcAft>
              <a:buClr>
                <a:srgbClr val="000000"/>
              </a:buClr>
              <a:buSzPts val="1500"/>
              <a:buChar char="–"/>
              <a:defRPr/>
            </a:lvl2pPr>
            <a:lvl3pPr indent="-317500" lvl="2" marL="1371600" rtl="0" algn="l">
              <a:lnSpc>
                <a:spcPct val="150000"/>
              </a:lnSpc>
              <a:spcBef>
                <a:spcPts val="0"/>
              </a:spcBef>
              <a:spcAft>
                <a:spcPts val="0"/>
              </a:spcAft>
              <a:buClr>
                <a:srgbClr val="000000"/>
              </a:buClr>
              <a:buSzPts val="1400"/>
              <a:buChar char="•"/>
              <a:defRPr/>
            </a:lvl3pPr>
            <a:lvl4pPr indent="-311150" lvl="3" marL="1828800" rtl="0" algn="l">
              <a:lnSpc>
                <a:spcPct val="150000"/>
              </a:lnSpc>
              <a:spcBef>
                <a:spcPts val="0"/>
              </a:spcBef>
              <a:spcAft>
                <a:spcPts val="0"/>
              </a:spcAft>
              <a:buClr>
                <a:srgbClr val="000000"/>
              </a:buClr>
              <a:buSzPts val="1300"/>
              <a:buChar char="–"/>
              <a:defRPr/>
            </a:lvl4pPr>
            <a:lvl5pPr indent="-304800" lvl="4" marL="2286000" rtl="0" algn="l">
              <a:lnSpc>
                <a:spcPct val="150000"/>
              </a:lnSpc>
              <a:spcBef>
                <a:spcPts val="0"/>
              </a:spcBef>
              <a:spcAft>
                <a:spcPts val="0"/>
              </a:spcAft>
              <a:buClr>
                <a:srgbClr val="000000"/>
              </a:buClr>
              <a:buSzPts val="1200"/>
              <a:buChar char="»"/>
              <a:defRPr/>
            </a:lvl5pPr>
            <a:lvl6pPr indent="-292100" lvl="5" marL="2743200" rtl="0" algn="l">
              <a:lnSpc>
                <a:spcPct val="150000"/>
              </a:lnSpc>
              <a:spcBef>
                <a:spcPts val="0"/>
              </a:spcBef>
              <a:spcAft>
                <a:spcPts val="0"/>
              </a:spcAft>
              <a:buClr>
                <a:schemeClr val="dk1"/>
              </a:buClr>
              <a:buSzPts val="1000"/>
              <a:buChar char="•"/>
              <a:defRPr/>
            </a:lvl6pPr>
            <a:lvl7pPr indent="-285750" lvl="6" marL="3200400" rtl="0" algn="l">
              <a:lnSpc>
                <a:spcPct val="150000"/>
              </a:lnSpc>
              <a:spcBef>
                <a:spcPts val="0"/>
              </a:spcBef>
              <a:spcAft>
                <a:spcPts val="0"/>
              </a:spcAft>
              <a:buClr>
                <a:schemeClr val="dk1"/>
              </a:buClr>
              <a:buSzPts val="900"/>
              <a:buChar char="•"/>
              <a:defRPr/>
            </a:lvl7pPr>
            <a:lvl8pPr indent="-279400" lvl="7" marL="3657600" rtl="0" algn="l">
              <a:lnSpc>
                <a:spcPct val="150000"/>
              </a:lnSpc>
              <a:spcBef>
                <a:spcPts val="0"/>
              </a:spcBef>
              <a:spcAft>
                <a:spcPts val="0"/>
              </a:spcAft>
              <a:buClr>
                <a:schemeClr val="dk1"/>
              </a:buClr>
              <a:buSzPts val="800"/>
              <a:buChar char="•"/>
              <a:defRPr/>
            </a:lvl8pPr>
            <a:lvl9pPr indent="-273050" lvl="8" marL="4114800" rtl="0" algn="l">
              <a:lnSpc>
                <a:spcPct val="150000"/>
              </a:lnSpc>
              <a:spcBef>
                <a:spcPts val="0"/>
              </a:spcBef>
              <a:spcAft>
                <a:spcPts val="0"/>
              </a:spcAft>
              <a:buClr>
                <a:schemeClr val="dk1"/>
              </a:buClr>
              <a:buSzPts val="700"/>
              <a:buChar char="•"/>
              <a:defRPr/>
            </a:lvl9pPr>
          </a:lstStyle>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8"/>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1pPr>
            <a:lvl2pPr indent="0" lvl="1"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2pPr>
            <a:lvl3pPr indent="0" lvl="2"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3pPr>
            <a:lvl4pPr indent="0" lvl="3"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4pPr>
            <a:lvl5pPr indent="0" lvl="4"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5pPr>
            <a:lvl6pPr indent="0" lvl="5"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6pPr>
            <a:lvl7pPr indent="0" lvl="6"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7pPr>
            <a:lvl8pPr indent="0" lvl="7"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8pPr>
            <a:lvl9pPr indent="0" lvl="8" marL="0" marR="0" algn="ctr">
              <a:lnSpc>
                <a:spcPct val="100000"/>
              </a:lnSpc>
              <a:spcBef>
                <a:spcPts val="0"/>
              </a:spcBef>
              <a:spcAft>
                <a:spcPts val="0"/>
              </a:spcAft>
              <a:buClr>
                <a:srgbClr val="000000"/>
              </a:buClr>
              <a:buSzPts val="1200"/>
              <a:buFont typeface="Arial"/>
              <a:buNone/>
              <a:defRPr i="0" sz="1200" u="none" cap="none" strike="noStrike">
                <a:solidFill>
                  <a:schemeClr val="lt1"/>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othing">
  <p:cSld name="Custom Layout_1">
    <p:spTree>
      <p:nvGrpSpPr>
        <p:cNvPr id="46" name="Shape 46"/>
        <p:cNvGrpSpPr/>
        <p:nvPr/>
      </p:nvGrpSpPr>
      <p:grpSpPr>
        <a:xfrm>
          <a:off x="0" y="0"/>
          <a:ext cx="0" cy="0"/>
          <a:chOff x="0" y="0"/>
          <a:chExt cx="0" cy="0"/>
        </a:xfrm>
      </p:grpSpPr>
      <p:sp>
        <p:nvSpPr>
          <p:cNvPr id="47" name="Google Shape;47;p9"/>
          <p:cNvSpPr txBox="1"/>
          <p:nvPr>
            <p:ph type="title"/>
          </p:nvPr>
        </p:nvSpPr>
        <p:spPr>
          <a:xfrm>
            <a:off x="0" y="84394"/>
            <a:ext cx="9144000" cy="8574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Clr>
                <a:srgbClr val="990000"/>
              </a:buClr>
              <a:buSzPts val="4400"/>
              <a:buFont typeface="Arial"/>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8" name="Google Shape;48;p9"/>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1.xml"/><Relationship Id="rId11" Type="http://schemas.openxmlformats.org/officeDocument/2006/relationships/slideLayout" Target="../slideLayouts/slideLayout8.xml"/><Relationship Id="rId10" Type="http://schemas.openxmlformats.org/officeDocument/2006/relationships/slideLayout" Target="../slideLayouts/slideLayout7.xml"/><Relationship Id="rId12" Type="http://schemas.openxmlformats.org/officeDocument/2006/relationships/theme" Target="../theme/theme2.xml"/><Relationship Id="rId9" Type="http://schemas.openxmlformats.org/officeDocument/2006/relationships/slideLayout" Target="../slideLayouts/slideLayout6.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4508839"/>
            <a:ext cx="9144000" cy="633600"/>
          </a:xfrm>
          <a:prstGeom prst="rect">
            <a:avLst/>
          </a:prstGeom>
          <a:solidFill>
            <a:schemeClr val="dk2"/>
          </a:solidFill>
          <a:ln>
            <a:noFill/>
          </a:ln>
          <a:effectLst>
            <a:outerShdw blurRad="40000" rotWithShape="0" dir="5400000" dist="23000">
              <a:srgbClr val="000000">
                <a:alpha val="3372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11" name="Google Shape;11;p1"/>
          <p:cNvSpPr txBox="1"/>
          <p:nvPr>
            <p:ph type="title"/>
          </p:nvPr>
        </p:nvSpPr>
        <p:spPr>
          <a:xfrm>
            <a:off x="107950" y="84389"/>
            <a:ext cx="8928000" cy="857400"/>
          </a:xfrm>
          <a:prstGeom prst="rect">
            <a:avLst/>
          </a:prstGeom>
          <a:noFill/>
          <a:ln>
            <a:noFill/>
          </a:ln>
        </p:spPr>
        <p:txBody>
          <a:bodyPr anchorCtr="0" anchor="ctr" bIns="45700" lIns="91425" spcFirstLastPara="1" rIns="91425" wrap="square" tIns="45700">
            <a:noAutofit/>
          </a:bodyPr>
          <a:lstStyle>
            <a:lvl1pPr lvl="0" marR="0" rtl="0">
              <a:lnSpc>
                <a:spcPct val="100000"/>
              </a:lnSpc>
              <a:spcBef>
                <a:spcPts val="0"/>
              </a:spcBef>
              <a:spcAft>
                <a:spcPts val="0"/>
              </a:spcAft>
              <a:buClr>
                <a:srgbClr val="990000"/>
              </a:buClr>
              <a:buSzPts val="4400"/>
              <a:buFont typeface="Proxima Nova"/>
              <a:buNone/>
              <a:defRPr b="1" i="0" sz="4400" u="none" cap="none" strike="noStrike">
                <a:solidFill>
                  <a:srgbClr val="990000"/>
                </a:solidFill>
                <a:latin typeface="Proxima Nova"/>
                <a:ea typeface="Proxima Nova"/>
                <a:cs typeface="Proxima Nova"/>
                <a:sym typeface="Proxima Nova"/>
              </a:defRPr>
            </a:lvl1pPr>
            <a:lvl2pPr lvl="1"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2pPr>
            <a:lvl3pPr lvl="2"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3pPr>
            <a:lvl4pPr lvl="3"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4pPr>
            <a:lvl5pPr lvl="4"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5pPr>
            <a:lvl6pPr lvl="5"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6pPr>
            <a:lvl7pPr lvl="6"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7pPr>
            <a:lvl8pPr lvl="7"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8pPr>
            <a:lvl9pPr lvl="8" marR="0" rtl="0">
              <a:lnSpc>
                <a:spcPct val="100000"/>
              </a:lnSpc>
              <a:spcBef>
                <a:spcPts val="0"/>
              </a:spcBef>
              <a:spcAft>
                <a:spcPts val="0"/>
              </a:spcAft>
              <a:buClr>
                <a:srgbClr val="000000"/>
              </a:buClr>
              <a:buSzPts val="1400"/>
              <a:buFont typeface="Proxima Nova"/>
              <a:buNone/>
              <a:defRPr i="0" sz="1800" u="none" cap="none" strike="noStrike">
                <a:solidFill>
                  <a:srgbClr val="000000"/>
                </a:solidFill>
                <a:latin typeface="Proxima Nova"/>
                <a:ea typeface="Proxima Nova"/>
                <a:cs typeface="Proxima Nova"/>
                <a:sym typeface="Proxima Nova"/>
              </a:defRPr>
            </a:lvl9pPr>
          </a:lstStyle>
          <a:p/>
        </p:txBody>
      </p:sp>
      <p:sp>
        <p:nvSpPr>
          <p:cNvPr id="12" name="Google Shape;12;p1"/>
          <p:cNvSpPr txBox="1"/>
          <p:nvPr>
            <p:ph idx="1" type="body"/>
          </p:nvPr>
        </p:nvSpPr>
        <p:spPr>
          <a:xfrm>
            <a:off x="107950" y="941638"/>
            <a:ext cx="8928000" cy="350610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150000"/>
              </a:lnSpc>
              <a:spcBef>
                <a:spcPts val="0"/>
              </a:spcBef>
              <a:spcAft>
                <a:spcPts val="0"/>
              </a:spcAft>
              <a:buClr>
                <a:srgbClr val="000000"/>
              </a:buClr>
              <a:buSzPts val="1600"/>
              <a:buFont typeface="Proxima Nova"/>
              <a:buChar char="•"/>
              <a:defRPr i="0" sz="1600" u="none" cap="none" strike="noStrike">
                <a:solidFill>
                  <a:srgbClr val="000000"/>
                </a:solidFill>
                <a:latin typeface="Proxima Nova"/>
                <a:ea typeface="Proxima Nova"/>
                <a:cs typeface="Proxima Nova"/>
                <a:sym typeface="Proxima Nova"/>
              </a:defRPr>
            </a:lvl1pPr>
            <a:lvl2pPr indent="-323850" lvl="1" marL="914400" marR="0" rtl="0" algn="l">
              <a:lnSpc>
                <a:spcPct val="150000"/>
              </a:lnSpc>
              <a:spcBef>
                <a:spcPts val="0"/>
              </a:spcBef>
              <a:spcAft>
                <a:spcPts val="0"/>
              </a:spcAft>
              <a:buClr>
                <a:srgbClr val="000000"/>
              </a:buClr>
              <a:buSzPts val="1500"/>
              <a:buFont typeface="Proxima Nova"/>
              <a:buChar char="–"/>
              <a:defRPr i="0" sz="1500" u="none" cap="none" strike="noStrike">
                <a:solidFill>
                  <a:srgbClr val="000000"/>
                </a:solidFill>
                <a:latin typeface="Proxima Nova"/>
                <a:ea typeface="Proxima Nova"/>
                <a:cs typeface="Proxima Nova"/>
                <a:sym typeface="Proxima Nova"/>
              </a:defRPr>
            </a:lvl2pPr>
            <a:lvl3pPr indent="-317500" lvl="2" marL="1371600" marR="0" rtl="0" algn="l">
              <a:lnSpc>
                <a:spcPct val="150000"/>
              </a:lnSpc>
              <a:spcBef>
                <a:spcPts val="0"/>
              </a:spcBef>
              <a:spcAft>
                <a:spcPts val="0"/>
              </a:spcAft>
              <a:buClr>
                <a:srgbClr val="000000"/>
              </a:buClr>
              <a:buSzPts val="1400"/>
              <a:buFont typeface="Proxima Nova"/>
              <a:buChar char="•"/>
              <a:defRPr i="0" u="none" cap="none" strike="noStrike">
                <a:solidFill>
                  <a:srgbClr val="000000"/>
                </a:solidFill>
                <a:latin typeface="Proxima Nova"/>
                <a:ea typeface="Proxima Nova"/>
                <a:cs typeface="Proxima Nova"/>
                <a:sym typeface="Proxima Nova"/>
              </a:defRPr>
            </a:lvl3pPr>
            <a:lvl4pPr indent="-311150" lvl="3" marL="1828800" marR="0" rtl="0" algn="l">
              <a:lnSpc>
                <a:spcPct val="150000"/>
              </a:lnSpc>
              <a:spcBef>
                <a:spcPts val="0"/>
              </a:spcBef>
              <a:spcAft>
                <a:spcPts val="0"/>
              </a:spcAft>
              <a:buClr>
                <a:srgbClr val="000000"/>
              </a:buClr>
              <a:buSzPts val="1300"/>
              <a:buFont typeface="Proxima Nova"/>
              <a:buChar char="–"/>
              <a:defRPr i="0" sz="1300" u="none" cap="none" strike="noStrike">
                <a:solidFill>
                  <a:srgbClr val="000000"/>
                </a:solidFill>
                <a:latin typeface="Proxima Nova"/>
                <a:ea typeface="Proxima Nova"/>
                <a:cs typeface="Proxima Nova"/>
                <a:sym typeface="Proxima Nova"/>
              </a:defRPr>
            </a:lvl4pPr>
            <a:lvl5pPr indent="-304800" lvl="4" marL="2286000" marR="0" rtl="0" algn="l">
              <a:lnSpc>
                <a:spcPct val="150000"/>
              </a:lnSpc>
              <a:spcBef>
                <a:spcPts val="0"/>
              </a:spcBef>
              <a:spcAft>
                <a:spcPts val="0"/>
              </a:spcAft>
              <a:buClr>
                <a:srgbClr val="000000"/>
              </a:buClr>
              <a:buSzPts val="1200"/>
              <a:buFont typeface="Proxima Nova"/>
              <a:buChar char="»"/>
              <a:defRPr i="0" sz="1200" u="none" cap="none" strike="noStrike">
                <a:solidFill>
                  <a:srgbClr val="000000"/>
                </a:solidFill>
                <a:latin typeface="Proxima Nova"/>
                <a:ea typeface="Proxima Nova"/>
                <a:cs typeface="Proxima Nova"/>
                <a:sym typeface="Proxima Nova"/>
              </a:defRPr>
            </a:lvl5pPr>
            <a:lvl6pPr indent="-298450" lvl="5" marL="2743200" marR="0" rtl="0" algn="l">
              <a:lnSpc>
                <a:spcPct val="150000"/>
              </a:lnSpc>
              <a:spcBef>
                <a:spcPts val="0"/>
              </a:spcBef>
              <a:spcAft>
                <a:spcPts val="0"/>
              </a:spcAft>
              <a:buClr>
                <a:schemeClr val="dk1"/>
              </a:buClr>
              <a:buSzPts val="1100"/>
              <a:buFont typeface="Proxima Nova"/>
              <a:buChar char="•"/>
              <a:defRPr i="0" sz="1100" u="none" cap="none" strike="noStrike">
                <a:solidFill>
                  <a:schemeClr val="dk1"/>
                </a:solidFill>
                <a:latin typeface="Proxima Nova"/>
                <a:ea typeface="Proxima Nova"/>
                <a:cs typeface="Proxima Nova"/>
                <a:sym typeface="Proxima Nova"/>
              </a:defRPr>
            </a:lvl6pPr>
            <a:lvl7pPr indent="-292100" lvl="6" marL="3200400" marR="0" rtl="0" algn="l">
              <a:lnSpc>
                <a:spcPct val="150000"/>
              </a:lnSpc>
              <a:spcBef>
                <a:spcPts val="0"/>
              </a:spcBef>
              <a:spcAft>
                <a:spcPts val="0"/>
              </a:spcAft>
              <a:buClr>
                <a:schemeClr val="dk1"/>
              </a:buClr>
              <a:buSzPts val="1000"/>
              <a:buFont typeface="Proxima Nova"/>
              <a:buChar char="•"/>
              <a:defRPr i="0" sz="1000" u="none" cap="none" strike="noStrike">
                <a:solidFill>
                  <a:schemeClr val="dk1"/>
                </a:solidFill>
                <a:latin typeface="Proxima Nova"/>
                <a:ea typeface="Proxima Nova"/>
                <a:cs typeface="Proxima Nova"/>
                <a:sym typeface="Proxima Nova"/>
              </a:defRPr>
            </a:lvl7pPr>
            <a:lvl8pPr indent="-285750" lvl="7" marL="3657600" marR="0" rtl="0" algn="l">
              <a:lnSpc>
                <a:spcPct val="150000"/>
              </a:lnSpc>
              <a:spcBef>
                <a:spcPts val="0"/>
              </a:spcBef>
              <a:spcAft>
                <a:spcPts val="0"/>
              </a:spcAft>
              <a:buClr>
                <a:schemeClr val="dk1"/>
              </a:buClr>
              <a:buSzPts val="900"/>
              <a:buFont typeface="Proxima Nova"/>
              <a:buChar char="•"/>
              <a:defRPr i="0" sz="900" u="none" cap="none" strike="noStrike">
                <a:solidFill>
                  <a:schemeClr val="dk1"/>
                </a:solidFill>
                <a:latin typeface="Proxima Nova"/>
                <a:ea typeface="Proxima Nova"/>
                <a:cs typeface="Proxima Nova"/>
                <a:sym typeface="Proxima Nova"/>
              </a:defRPr>
            </a:lvl8pPr>
            <a:lvl9pPr indent="-279400" lvl="8" marL="4114800" marR="0" rtl="0" algn="l">
              <a:lnSpc>
                <a:spcPct val="150000"/>
              </a:lnSpc>
              <a:spcBef>
                <a:spcPts val="0"/>
              </a:spcBef>
              <a:spcAft>
                <a:spcPts val="0"/>
              </a:spcAft>
              <a:buClr>
                <a:schemeClr val="dk1"/>
              </a:buClr>
              <a:buSzPts val="800"/>
              <a:buFont typeface="Proxima Nova"/>
              <a:buChar char="•"/>
              <a:defRPr i="0" sz="800" u="none" cap="none" strike="noStrike">
                <a:solidFill>
                  <a:schemeClr val="dk1"/>
                </a:solidFill>
                <a:latin typeface="Proxima Nova"/>
                <a:ea typeface="Proxima Nova"/>
                <a:cs typeface="Proxima Nova"/>
                <a:sym typeface="Proxima Nova"/>
              </a:defRPr>
            </a:lvl9pPr>
          </a:lstStyle>
          <a:p/>
        </p:txBody>
      </p:sp>
      <p:sp>
        <p:nvSpPr>
          <p:cNvPr id="13" name="Google Shape;13;p1"/>
          <p:cNvSpPr txBox="1"/>
          <p:nvPr>
            <p:ph idx="12" type="sldNum"/>
          </p:nvPr>
        </p:nvSpPr>
        <p:spPr>
          <a:xfrm>
            <a:off x="3506788" y="4856113"/>
            <a:ext cx="2133600" cy="273900"/>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1pPr>
            <a:lvl2pPr indent="0" lvl="1"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2pPr>
            <a:lvl3pPr indent="0" lvl="2"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3pPr>
            <a:lvl4pPr indent="0" lvl="3"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4pPr>
            <a:lvl5pPr indent="0" lvl="4"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5pPr>
            <a:lvl6pPr indent="0" lvl="5"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6pPr>
            <a:lvl7pPr indent="0" lvl="6"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7pPr>
            <a:lvl8pPr indent="0" lvl="7"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8pPr>
            <a:lvl9pPr indent="0" lvl="8" marL="0" marR="0" rtl="0" algn="ctr">
              <a:lnSpc>
                <a:spcPct val="100000"/>
              </a:lnSpc>
              <a:spcBef>
                <a:spcPts val="0"/>
              </a:spcBef>
              <a:spcAft>
                <a:spcPts val="0"/>
              </a:spcAft>
              <a:buClr>
                <a:srgbClr val="000000"/>
              </a:buClr>
              <a:buSzPts val="1200"/>
              <a:buFont typeface="Arial"/>
              <a:buNone/>
              <a:defRPr i="0" sz="1200" u="none" cap="none" strike="noStrike">
                <a:solidFill>
                  <a:schemeClr val="lt1"/>
                </a:solidFill>
                <a:latin typeface="Proxima Nova"/>
                <a:ea typeface="Proxima Nova"/>
                <a:cs typeface="Proxima Nova"/>
                <a:sym typeface="Proxima Nova"/>
              </a:defRPr>
            </a:lvl9pPr>
          </a:lstStyle>
          <a:p>
            <a:pPr indent="0" lvl="0" marL="0" rtl="0" algn="ctr">
              <a:spcBef>
                <a:spcPts val="0"/>
              </a:spcBef>
              <a:spcAft>
                <a:spcPts val="0"/>
              </a:spcAft>
              <a:buNone/>
            </a:pPr>
            <a:fld id="{00000000-1234-1234-1234-123412341234}" type="slidenum">
              <a:rPr lang="en-US"/>
              <a:t>‹#›</a:t>
            </a:fld>
            <a:endParaRPr/>
          </a:p>
        </p:txBody>
      </p:sp>
      <p:pic>
        <p:nvPicPr>
          <p:cNvPr descr="1-lineWordmark_GoldOnCard_NoBG.eps" id="14" name="Google Shape;14;p1"/>
          <p:cNvPicPr preferRelativeResize="0"/>
          <p:nvPr/>
        </p:nvPicPr>
        <p:blipFill rotWithShape="1">
          <a:blip r:embed="rId1">
            <a:alphaModFix/>
          </a:blip>
          <a:srcRect b="0" l="0" r="0" t="0"/>
          <a:stretch/>
        </p:blipFill>
        <p:spPr>
          <a:xfrm>
            <a:off x="6997700" y="4846522"/>
            <a:ext cx="1366594" cy="116116"/>
          </a:xfrm>
          <a:prstGeom prst="rect">
            <a:avLst/>
          </a:prstGeom>
          <a:noFill/>
          <a:ln>
            <a:noFill/>
          </a:ln>
        </p:spPr>
      </p:pic>
      <p:pic>
        <p:nvPicPr>
          <p:cNvPr descr="Formal_Viterbi_GoldOnCard_NoBG.eps" id="15" name="Google Shape;15;p1"/>
          <p:cNvPicPr preferRelativeResize="0"/>
          <p:nvPr/>
        </p:nvPicPr>
        <p:blipFill rotWithShape="1">
          <a:blip r:embed="rId2">
            <a:alphaModFix/>
          </a:blip>
          <a:srcRect b="0" l="0" r="0" t="0"/>
          <a:stretch/>
        </p:blipFill>
        <p:spPr>
          <a:xfrm>
            <a:off x="292102" y="4603732"/>
            <a:ext cx="1306267" cy="352557"/>
          </a:xfrm>
          <a:prstGeom prst="rect">
            <a:avLst/>
          </a:prstGeom>
          <a:noFill/>
          <a:ln>
            <a:noFill/>
          </a:ln>
        </p:spPr>
      </p:pic>
      <p:sp>
        <p:nvSpPr>
          <p:cNvPr id="16" name="Google Shape;16;p1"/>
          <p:cNvSpPr/>
          <p:nvPr/>
        </p:nvSpPr>
        <p:spPr>
          <a:xfrm flipH="1" rot="10800000">
            <a:off x="0" y="4470738"/>
            <a:ext cx="9144000" cy="38100"/>
          </a:xfrm>
          <a:prstGeom prst="rect">
            <a:avLst/>
          </a:prstGeom>
          <a:solidFill>
            <a:srgbClr val="FFCC00"/>
          </a:solidFill>
          <a:ln>
            <a:noFill/>
          </a:ln>
          <a:effectLst>
            <a:outerShdw blurRad="40000" rotWithShape="0" dir="5400000" dist="20000">
              <a:srgbClr val="000000">
                <a:alpha val="3647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 name="Google Shape;17;p1"/>
          <p:cNvPicPr preferRelativeResize="0"/>
          <p:nvPr/>
        </p:nvPicPr>
        <p:blipFill rotWithShape="1">
          <a:blip r:embed="rId3">
            <a:alphaModFix/>
          </a:blip>
          <a:srcRect b="0" l="0" r="57269" t="0"/>
          <a:stretch/>
        </p:blipFill>
        <p:spPr>
          <a:xfrm>
            <a:off x="107950" y="57150"/>
            <a:ext cx="285751" cy="19764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ocs.google.com/presentation/d/1j1VM1RZYYAR8hQb1VDtLriWTFRjLYavFGDGyDYi4Qzo/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s://stackoverflow.com/questions/7942346/how-does-python-compare-function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0"/>
          <p:cNvSpPr txBox="1"/>
          <p:nvPr>
            <p:ph type="ctrTitle"/>
          </p:nvPr>
        </p:nvSpPr>
        <p:spPr>
          <a:xfrm>
            <a:off x="685800" y="1104900"/>
            <a:ext cx="7772400" cy="2136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i="1" lang="en-US"/>
              <a:t>Pythonic</a:t>
            </a:r>
            <a:r>
              <a:rPr lang="en-US"/>
              <a:t> Part 2</a:t>
            </a:r>
            <a:r>
              <a:rPr lang="en-US">
                <a:solidFill>
                  <a:schemeClr val="hlink"/>
                </a:solidFill>
              </a:rPr>
              <a:t>: first-class objects and functional programming</a:t>
            </a:r>
            <a:endParaRPr/>
          </a:p>
        </p:txBody>
      </p:sp>
      <p:sp>
        <p:nvSpPr>
          <p:cNvPr id="55" name="Google Shape;55;p10"/>
          <p:cNvSpPr txBox="1"/>
          <p:nvPr>
            <p:ph idx="1" type="subTitle"/>
          </p:nvPr>
        </p:nvSpPr>
        <p:spPr>
          <a:xfrm>
            <a:off x="1371600" y="3240900"/>
            <a:ext cx="6400800" cy="1045500"/>
          </a:xfrm>
          <a:prstGeom prst="rect">
            <a:avLst/>
          </a:prstGeom>
        </p:spPr>
        <p:txBody>
          <a:bodyPr anchorCtr="0" anchor="ctr" bIns="45700" lIns="91425" spcFirstLastPara="1" rIns="91425" wrap="square" tIns="45700">
            <a:noAutofit/>
          </a:bodyPr>
          <a:lstStyle/>
          <a:p>
            <a:pPr indent="0" lvl="0" marL="0" rtl="0" algn="ctr">
              <a:spcBef>
                <a:spcPts val="700"/>
              </a:spcBef>
              <a:spcAft>
                <a:spcPts val="0"/>
              </a:spcAft>
              <a:buNone/>
            </a:pPr>
            <a:r>
              <a:rPr lang="en-US"/>
              <a:t>Applied Python</a:t>
            </a:r>
            <a:endParaRPr/>
          </a:p>
        </p:txBody>
      </p:sp>
      <p:sp>
        <p:nvSpPr>
          <p:cNvPr id="56" name="Google Shape;56;p10"/>
          <p:cNvSpPr txBox="1"/>
          <p:nvPr>
            <p:ph idx="2" type="body"/>
          </p:nvPr>
        </p:nvSpPr>
        <p:spPr>
          <a:xfrm>
            <a:off x="7365900" y="0"/>
            <a:ext cx="1778100" cy="3327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u="sng">
                <a:solidFill>
                  <a:schemeClr val="hlink"/>
                </a:solidFill>
                <a:hlinkClick r:id="rId3"/>
              </a:rPr>
              <a:t>Link to this document</a:t>
            </a:r>
            <a:endParaRPr/>
          </a:p>
        </p:txBody>
      </p:sp>
      <p:sp>
        <p:nvSpPr>
          <p:cNvPr id="57" name="Google Shape;57;p10"/>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CC00"/>
        </a:solidFill>
      </p:bgPr>
    </p:bg>
    <p:spTree>
      <p:nvGrpSpPr>
        <p:cNvPr id="62" name="Shape 62"/>
        <p:cNvGrpSpPr/>
        <p:nvPr/>
      </p:nvGrpSpPr>
      <p:grpSpPr>
        <a:xfrm>
          <a:off x="0" y="0"/>
          <a:ext cx="0" cy="0"/>
          <a:chOff x="0" y="0"/>
          <a:chExt cx="0" cy="0"/>
        </a:xfrm>
      </p:grpSpPr>
      <p:sp>
        <p:nvSpPr>
          <p:cNvPr id="63" name="Google Shape;63;p1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What are we doing?</a:t>
            </a:r>
            <a:endParaRPr/>
          </a:p>
        </p:txBody>
      </p:sp>
      <p:sp>
        <p:nvSpPr>
          <p:cNvPr id="64" name="Google Shape;64;p1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Learning Objectives</a:t>
            </a:r>
            <a:endParaRPr b="1"/>
          </a:p>
          <a:p>
            <a:pPr indent="0" lvl="0" marL="0" rtl="0" algn="l">
              <a:spcBef>
                <a:spcPts val="0"/>
              </a:spcBef>
              <a:spcAft>
                <a:spcPts val="0"/>
              </a:spcAft>
              <a:buClr>
                <a:schemeClr val="dk1"/>
              </a:buClr>
              <a:buSzPts val="1100"/>
              <a:buFont typeface="Arial"/>
              <a:buNone/>
            </a:pPr>
            <a:r>
              <a:rPr lang="en-US"/>
              <a:t>By the end of this week, you should:</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Char char="•"/>
            </a:pPr>
            <a:r>
              <a:rPr lang="en-US"/>
              <a:t>understand</a:t>
            </a:r>
            <a:r>
              <a:rPr lang="en-US"/>
              <a:t> why functions are first-class objects</a:t>
            </a:r>
            <a:endParaRPr/>
          </a:p>
          <a:p>
            <a:pPr indent="-330200" lvl="0" marL="457200" rtl="0" algn="l">
              <a:spcBef>
                <a:spcPts val="0"/>
              </a:spcBef>
              <a:spcAft>
                <a:spcPts val="0"/>
              </a:spcAft>
              <a:buSzPts val="1600"/>
              <a:buChar char="•"/>
            </a:pPr>
            <a:r>
              <a:rPr lang="en-US"/>
              <a:t>identify</a:t>
            </a:r>
            <a:r>
              <a:rPr lang="en-US"/>
              <a:t> two ways of decorating a function</a:t>
            </a:r>
            <a:endParaRPr/>
          </a:p>
          <a:p>
            <a:pPr indent="-330200" lvl="0" marL="457200" rtl="0" algn="l">
              <a:spcBef>
                <a:spcPts val="0"/>
              </a:spcBef>
              <a:spcAft>
                <a:spcPts val="0"/>
              </a:spcAft>
              <a:buSzPts val="1600"/>
              <a:buChar char="•"/>
            </a:pPr>
            <a:r>
              <a:rPr lang="en-US"/>
              <a:t>know</a:t>
            </a:r>
            <a:r>
              <a:rPr lang="en-US"/>
              <a:t> how to write a lambda</a:t>
            </a:r>
            <a:endParaRPr/>
          </a:p>
        </p:txBody>
      </p:sp>
      <p:sp>
        <p:nvSpPr>
          <p:cNvPr id="65" name="Google Shape;65;p1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t>Measurable Outcomes</a:t>
            </a:r>
            <a:endParaRPr b="1"/>
          </a:p>
          <a:p>
            <a:pPr indent="0" lvl="0" marL="0" rtl="0" algn="l">
              <a:spcBef>
                <a:spcPts val="0"/>
              </a:spcBef>
              <a:spcAft>
                <a:spcPts val="0"/>
              </a:spcAft>
              <a:buClr>
                <a:schemeClr val="dk1"/>
              </a:buClr>
              <a:buSzPts val="1100"/>
              <a:buFont typeface="Arial"/>
              <a:buNone/>
            </a:pPr>
            <a:r>
              <a:rPr lang="en-US"/>
              <a:t>By the end of this week, you should be able to:</a:t>
            </a:r>
            <a:endParaRPr/>
          </a:p>
          <a:p>
            <a:pPr indent="0" lvl="0" marL="0" rtl="0" algn="l">
              <a:spcBef>
                <a:spcPts val="0"/>
              </a:spcBef>
              <a:spcAft>
                <a:spcPts val="0"/>
              </a:spcAft>
              <a:buClr>
                <a:schemeClr val="dk1"/>
              </a:buClr>
              <a:buSzPts val="1100"/>
              <a:buFont typeface="Arial"/>
              <a:buNone/>
            </a:pPr>
            <a:r>
              <a:t/>
            </a:r>
            <a:endParaRPr/>
          </a:p>
          <a:p>
            <a:pPr indent="-330200" lvl="0" marL="457200" rtl="0" algn="l">
              <a:spcBef>
                <a:spcPts val="0"/>
              </a:spcBef>
              <a:spcAft>
                <a:spcPts val="0"/>
              </a:spcAft>
              <a:buSzPts val="1600"/>
              <a:buChar char="•"/>
            </a:pPr>
            <a:r>
              <a:rPr lang="en-US"/>
              <a:t>write and implement a decorator function</a:t>
            </a:r>
            <a:endParaRPr/>
          </a:p>
          <a:p>
            <a:pPr indent="-330200" lvl="0" marL="457200" rtl="0" algn="l">
              <a:spcBef>
                <a:spcPts val="0"/>
              </a:spcBef>
              <a:spcAft>
                <a:spcPts val="0"/>
              </a:spcAft>
              <a:buSzPts val="1600"/>
              <a:buChar char="•"/>
            </a:pPr>
            <a:r>
              <a:rPr lang="en-US"/>
              <a:t>explain the difference between </a:t>
            </a:r>
            <a:r>
              <a:rPr lang="en-US">
                <a:latin typeface="Roboto Mono Light"/>
                <a:ea typeface="Roboto Mono Light"/>
                <a:cs typeface="Roboto Mono Light"/>
                <a:sym typeface="Roboto Mono Light"/>
              </a:rPr>
              <a:t>*args</a:t>
            </a:r>
            <a:r>
              <a:rPr lang="en-US"/>
              <a:t> and </a:t>
            </a:r>
            <a:r>
              <a:rPr lang="en-US">
                <a:latin typeface="Roboto Mono Light"/>
                <a:ea typeface="Roboto Mono Light"/>
                <a:cs typeface="Roboto Mono Light"/>
                <a:sym typeface="Roboto Mono Light"/>
              </a:rPr>
              <a:t>**kwargs</a:t>
            </a:r>
            <a:endParaRPr>
              <a:latin typeface="Courier New"/>
              <a:ea typeface="Courier New"/>
              <a:cs typeface="Courier New"/>
              <a:sym typeface="Courier New"/>
            </a:endParaRPr>
          </a:p>
          <a:p>
            <a:pPr indent="-330200" lvl="0" marL="457200" rtl="0" algn="l">
              <a:spcBef>
                <a:spcPts val="0"/>
              </a:spcBef>
              <a:spcAft>
                <a:spcPts val="0"/>
              </a:spcAft>
              <a:buSzPts val="1600"/>
              <a:buChar char="•"/>
            </a:pPr>
            <a:r>
              <a:rPr lang="en-US"/>
              <a:t>describe the properties of higher-order functions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66" name="Google Shape;66;p1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2"/>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EVERYTHING IS AN OBJECT</a:t>
            </a:r>
            <a:endParaRPr/>
          </a:p>
        </p:txBody>
      </p:sp>
      <p:sp>
        <p:nvSpPr>
          <p:cNvPr id="73" name="Google Shape;73;p12"/>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74" name="Google Shape;74;p1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First: first-class objects</a:t>
            </a:r>
            <a:endParaRPr/>
          </a:p>
        </p:txBody>
      </p:sp>
      <p:sp>
        <p:nvSpPr>
          <p:cNvPr id="81" name="Google Shape;81;p1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82" name="Google Shape;82;p1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Here's a statement that might come as a surprise: </a:t>
            </a:r>
            <a:r>
              <a:rPr b="1" lang="en-US"/>
              <a:t>everything in Python is an object - </a:t>
            </a:r>
            <a:r>
              <a:rPr b="1" i="1" lang="en-US"/>
              <a:t>which includes functions</a:t>
            </a:r>
            <a:r>
              <a:rPr b="1" lang="en-US"/>
              <a:t>.</a:t>
            </a:r>
            <a:r>
              <a:rPr lang="en-US"/>
              <a:t> This is a potentially strange concept. But </a:t>
            </a:r>
            <a:r>
              <a:rPr b="1" i="1" lang="en-US"/>
              <a:t>Python defines an object as a chunk of data with potentially some associated functionality</a:t>
            </a:r>
            <a:r>
              <a:rPr lang="en-US"/>
              <a:t>. Functions certainly fit within that definition. So this then begs the question: to what extent are functions objects? In other words: are there things you can't do with functions which you can with other objects?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First: first-class objects</a:t>
            </a:r>
            <a:endParaRPr/>
          </a:p>
        </p:txBody>
      </p:sp>
      <p:sp>
        <p:nvSpPr>
          <p:cNvPr id="89" name="Google Shape;89;p1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90" name="Google Shape;90;p1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It turns out, the answer is: nope! </a:t>
            </a:r>
            <a:r>
              <a:rPr b="1" i="1" lang="en-US"/>
              <a:t>All objects - including functions - are first class objects in Python</a:t>
            </a:r>
            <a:r>
              <a:rPr lang="en-US"/>
              <a:t>.</a:t>
            </a:r>
            <a:r>
              <a:rPr lang="en-US"/>
              <a:t> A </a:t>
            </a:r>
            <a:r>
              <a:rPr b="1" lang="en-US"/>
              <a:t>first-class object</a:t>
            </a:r>
            <a:r>
              <a:rPr lang="en-US"/>
              <a:t> is a type of object which possess the following four characteristics, which will be explored individually:</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AutoNum type="arabicPeriod"/>
            </a:pPr>
            <a:r>
              <a:rPr lang="en-US"/>
              <a:t>It can be the actual parameter of a function.</a:t>
            </a:r>
            <a:endParaRPr/>
          </a:p>
          <a:p>
            <a:pPr indent="-330200" lvl="0" marL="457200" rtl="0" algn="l">
              <a:spcBef>
                <a:spcPts val="0"/>
              </a:spcBef>
              <a:spcAft>
                <a:spcPts val="0"/>
              </a:spcAft>
              <a:buSzPts val="1600"/>
              <a:buAutoNum type="arabicPeriod"/>
            </a:pPr>
            <a:r>
              <a:rPr lang="en-US"/>
              <a:t>It can be returned as a result of a function.</a:t>
            </a:r>
            <a:endParaRPr/>
          </a:p>
          <a:p>
            <a:pPr indent="-330200" lvl="0" marL="457200" rtl="0" algn="l">
              <a:spcBef>
                <a:spcPts val="0"/>
              </a:spcBef>
              <a:spcAft>
                <a:spcPts val="0"/>
              </a:spcAft>
              <a:buSzPts val="1600"/>
              <a:buAutoNum type="arabicPeriod"/>
            </a:pPr>
            <a:r>
              <a:rPr lang="en-US"/>
              <a:t>It can be the subject of an assignment statement.</a:t>
            </a:r>
            <a:endParaRPr/>
          </a:p>
          <a:p>
            <a:pPr indent="-330200" lvl="0" marL="457200" rtl="0" algn="l">
              <a:spcBef>
                <a:spcPts val="0"/>
              </a:spcBef>
              <a:spcAft>
                <a:spcPts val="0"/>
              </a:spcAft>
              <a:buSzPts val="1600"/>
              <a:buAutoNum type="arabicPeriod"/>
            </a:pPr>
            <a:r>
              <a:rPr lang="en-US"/>
              <a:t>It can be tested for equality.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First-class objects: a note</a:t>
            </a:r>
            <a:endParaRPr/>
          </a:p>
        </p:txBody>
      </p:sp>
      <p:sp>
        <p:nvSpPr>
          <p:cNvPr id="97" name="Google Shape;97;p1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98" name="Google Shape;98;p1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a:t>As each of the properties of first-class objects is covered, note that </a:t>
            </a:r>
            <a:r>
              <a:rPr b="1" i="1" lang="en-US" sz="1800"/>
              <a:t>they apply to every object in Python</a:t>
            </a:r>
            <a:r>
              <a:rPr lang="en-US" sz="1800"/>
              <a:t>. The examples are simply meant to prove to you that functions are indeed objects.</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First-class objects: returning</a:t>
            </a:r>
            <a:endParaRPr/>
          </a:p>
        </p:txBody>
      </p:sp>
      <p:sp>
        <p:nvSpPr>
          <p:cNvPr id="105" name="Google Shape;105;p1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06" name="Google Shape;106;p1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100"/>
              <a:t>Property number two: objects can be returned as the result of a function.</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solidFill>
                  <a:schemeClr val="dk1"/>
                </a:solidFill>
              </a:rPr>
              <a:t>You already know that </a:t>
            </a:r>
            <a:r>
              <a:rPr i="1" lang="en-US" sz="1100">
                <a:solidFill>
                  <a:schemeClr val="dk1"/>
                </a:solidFill>
              </a:rPr>
              <a:t>any variable you've created (which is an object) can be returned from a function</a:t>
            </a:r>
            <a:r>
              <a:rPr lang="en-US" sz="1100">
                <a:solidFill>
                  <a:schemeClr val="dk1"/>
                </a:solidFill>
              </a:rPr>
              <a:t>. Now </a:t>
            </a:r>
            <a:r>
              <a:rPr lang="en-US" sz="1100"/>
              <a:t>c</a:t>
            </a:r>
            <a:r>
              <a:rPr lang="en-US" sz="1100"/>
              <a:t>onsider the code to the right: the </a:t>
            </a:r>
            <a:r>
              <a:rPr lang="en-US" sz="1100">
                <a:latin typeface="Roboto Mono Light"/>
                <a:ea typeface="Roboto Mono Light"/>
                <a:cs typeface="Roboto Mono Light"/>
                <a:sym typeface="Roboto Mono Light"/>
              </a:rPr>
              <a:t>outer()</a:t>
            </a:r>
            <a:r>
              <a:rPr lang="en-US" sz="1100"/>
              <a:t> function will return one of the </a:t>
            </a:r>
            <a:r>
              <a:rPr lang="en-US" sz="1100">
                <a:latin typeface="Roboto Mono Light"/>
                <a:ea typeface="Roboto Mono Light"/>
                <a:cs typeface="Roboto Mono Light"/>
                <a:sym typeface="Roboto Mono Light"/>
              </a:rPr>
              <a:t>inner</a:t>
            </a:r>
            <a:r>
              <a:rPr lang="en-US" sz="1100"/>
              <a:t> functions - not a value from one of those functions, but the function itself!</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(As a side note: there are functions inside of another function here. The inners ones are legitimately called </a:t>
            </a:r>
            <a:r>
              <a:rPr b="1" lang="en-US" sz="1100"/>
              <a:t>inner functions</a:t>
            </a:r>
            <a:r>
              <a:rPr lang="en-US" sz="1100"/>
              <a: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107" name="Google Shape;107;p1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def outer(n):</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def inner_one():</a:t>
            </a:r>
            <a:endParaRPr sz="8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return 'I\'m number one'</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def inner_two():</a:t>
            </a:r>
            <a:endParaRPr sz="8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return 'I\'m number two'</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if n == 1:</a:t>
            </a:r>
            <a:endParaRPr sz="8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b="1" lang="en-US" sz="800">
                <a:solidFill>
                  <a:schemeClr val="dk1"/>
                </a:solidFill>
                <a:latin typeface="Roboto Mono"/>
                <a:ea typeface="Roboto Mono"/>
                <a:cs typeface="Roboto Mono"/>
                <a:sym typeface="Roboto Mono"/>
              </a:rPr>
              <a:t>return inner_one</a:t>
            </a:r>
            <a:endParaRPr b="1" sz="8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elif n == 2:</a:t>
            </a:r>
            <a:endParaRPr sz="8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b="1" lang="en-US" sz="800">
                <a:solidFill>
                  <a:schemeClr val="dk1"/>
                </a:solidFill>
                <a:latin typeface="Roboto Mono"/>
                <a:ea typeface="Roboto Mono"/>
                <a:cs typeface="Roboto Mono"/>
                <a:sym typeface="Roboto Mono"/>
              </a:rPr>
              <a:t>return inner_two</a:t>
            </a:r>
            <a:endParaRPr b="1" sz="8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def main():</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first = outer(1)</a:t>
            </a:r>
            <a:endParaRPr sz="8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second = outer(2)</a:t>
            </a:r>
            <a:endParaRPr sz="8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print(first())</a:t>
            </a:r>
            <a:endParaRPr sz="8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print(second())</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if __name__ == '__main__':</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main()</a:t>
            </a:r>
            <a:endParaRPr sz="8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First-class objects: parameters</a:t>
            </a:r>
            <a:endParaRPr/>
          </a:p>
        </p:txBody>
      </p:sp>
      <p:sp>
        <p:nvSpPr>
          <p:cNvPr id="114" name="Google Shape;114;p1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115" name="Google Shape;115;p1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t>Property number one: objects can be the actual parameter of a function.</a:t>
            </a:r>
            <a:endParaRPr b="1"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None/>
            </a:pPr>
            <a:r>
              <a:rPr lang="en-US" sz="1100"/>
              <a:t>You already know that </a:t>
            </a:r>
            <a:r>
              <a:rPr i="1" lang="en-US" sz="1100"/>
              <a:t>any variable you've created (which is an object) can be passed as an argument to a function</a:t>
            </a:r>
            <a:r>
              <a:rPr lang="en-US" sz="1100"/>
              <a:t>. Now c</a:t>
            </a:r>
            <a:r>
              <a:rPr lang="en-US" sz="1100"/>
              <a:t>onsider the code to the right: the </a:t>
            </a:r>
            <a:r>
              <a:rPr lang="en-US" sz="1100">
                <a:latin typeface="Roboto Mono Light"/>
                <a:ea typeface="Roboto Mono Light"/>
                <a:cs typeface="Roboto Mono Light"/>
                <a:sym typeface="Roboto Mono Light"/>
              </a:rPr>
              <a:t>greet_neighbor()</a:t>
            </a:r>
            <a:r>
              <a:rPr lang="en-US" sz="1100"/>
              <a:t> function has for its parameter </a:t>
            </a:r>
            <a:r>
              <a:rPr lang="en-US" sz="1100">
                <a:latin typeface="Roboto Mono Light"/>
                <a:ea typeface="Roboto Mono Light"/>
                <a:cs typeface="Roboto Mono Light"/>
                <a:sym typeface="Roboto Mono Light"/>
              </a:rPr>
              <a:t>greeter_function</a:t>
            </a:r>
            <a:r>
              <a:rPr lang="en-US" sz="1100"/>
              <a:t> which gets used </a:t>
            </a:r>
            <a:r>
              <a:rPr i="1" lang="en-US" sz="1100"/>
              <a:t>as a function</a:t>
            </a:r>
            <a:r>
              <a:rPr lang="en-US" sz="1100"/>
              <a:t> inside of the called function. Notice that the parameter name isn't followed by parentheses. That's because it's a </a:t>
            </a:r>
            <a:r>
              <a:rPr b="1" lang="en-US" sz="1100"/>
              <a:t>reference</a:t>
            </a:r>
            <a:r>
              <a:rPr lang="en-US" sz="1100"/>
              <a:t> to the function. You could think of it sort of like a file shortcut. If you included the parentheses, the interpreter would execute the function instead, which is not yet what you want!</a:t>
            </a:r>
            <a:endParaRPr sz="1100"/>
          </a:p>
        </p:txBody>
      </p:sp>
      <p:sp>
        <p:nvSpPr>
          <p:cNvPr id="116" name="Google Shape;116;p1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def greet_neighbor(</a:t>
            </a:r>
            <a:r>
              <a:rPr b="1" lang="en-US" sz="1000">
                <a:solidFill>
                  <a:schemeClr val="dk1"/>
                </a:solidFill>
                <a:latin typeface="Roboto Mono"/>
                <a:ea typeface="Roboto Mono"/>
                <a:cs typeface="Roboto Mono"/>
                <a:sym typeface="Roboto Mono"/>
              </a:rPr>
              <a:t>greeter_function</a:t>
            </a:r>
            <a:r>
              <a:rPr lang="en-US" sz="1000">
                <a:solidFill>
                  <a:schemeClr val="dk1"/>
                </a:solidFill>
                <a:latin typeface="Roboto Mono Light"/>
                <a:ea typeface="Roboto Mono Light"/>
                <a:cs typeface="Roboto Mono Light"/>
                <a:sym typeface="Roboto Mono Light"/>
              </a:rPr>
              <a:t>):</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	return greeter_function('Cassandra')</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def inside_voice(name):</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	return 'Hi, ' + name +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def shout(name):</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	return 'HI, ' + name.upper() +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def main():</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	print(greet_neighbor(</a:t>
            </a:r>
            <a:r>
              <a:rPr b="1" lang="en-US" sz="1000">
                <a:solidFill>
                  <a:schemeClr val="dk1"/>
                </a:solidFill>
                <a:latin typeface="Roboto Mono"/>
                <a:ea typeface="Roboto Mono"/>
                <a:cs typeface="Roboto Mono"/>
                <a:sym typeface="Roboto Mono"/>
              </a:rPr>
              <a:t>inside_voice</a:t>
            </a:r>
            <a:r>
              <a:rPr lang="en-US" sz="1000">
                <a:solidFill>
                  <a:schemeClr val="dk1"/>
                </a:solidFill>
                <a:latin typeface="Roboto Mono Light"/>
                <a:ea typeface="Roboto Mono Light"/>
                <a:cs typeface="Roboto Mono Light"/>
                <a:sym typeface="Roboto Mono Light"/>
              </a:rPr>
              <a:t>))</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000">
                <a:solidFill>
                  <a:schemeClr val="dk1"/>
                </a:solidFill>
                <a:latin typeface="Roboto Mono Light"/>
                <a:ea typeface="Roboto Mono Light"/>
                <a:cs typeface="Roboto Mono Light"/>
                <a:sym typeface="Roboto Mono Light"/>
              </a:rPr>
              <a:t>	print(greet_neighbor(</a:t>
            </a:r>
            <a:r>
              <a:rPr b="1" lang="en-US" sz="1000">
                <a:solidFill>
                  <a:schemeClr val="dk1"/>
                </a:solidFill>
                <a:latin typeface="Roboto Mono"/>
                <a:ea typeface="Roboto Mono"/>
                <a:cs typeface="Roboto Mono"/>
                <a:sym typeface="Roboto Mono"/>
              </a:rPr>
              <a:t>shout</a:t>
            </a:r>
            <a:r>
              <a:rPr lang="en-US" sz="1000">
                <a:solidFill>
                  <a:schemeClr val="dk1"/>
                </a:solidFill>
                <a:latin typeface="Roboto Mono Light"/>
                <a:ea typeface="Roboto Mono Light"/>
                <a:cs typeface="Roboto Mono Light"/>
                <a:sym typeface="Roboto Mono Light"/>
              </a:rPr>
              <a:t>))</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if __name__ == '__main__':</a:t>
            </a:r>
            <a:endParaRPr sz="10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main()</a:t>
            </a:r>
            <a:endParaRPr sz="10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First-class objects: assigning</a:t>
            </a:r>
            <a:endParaRPr/>
          </a:p>
        </p:txBody>
      </p:sp>
      <p:sp>
        <p:nvSpPr>
          <p:cNvPr id="123" name="Google Shape;123;p1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24" name="Google Shape;124;p1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100"/>
              <a:t>Property number three: objects can be the subject of an assignment statement.</a:t>
            </a:r>
            <a:endParaRPr b="1" sz="1100"/>
          </a:p>
          <a:p>
            <a:pPr indent="0" lvl="0" marL="0" rtl="0" algn="l">
              <a:spcBef>
                <a:spcPts val="0"/>
              </a:spcBef>
              <a:spcAft>
                <a:spcPts val="0"/>
              </a:spcAft>
              <a:buNone/>
            </a:pPr>
            <a:r>
              <a:t/>
            </a:r>
            <a:endParaRPr b="1" sz="1100"/>
          </a:p>
          <a:p>
            <a:pPr indent="0" lvl="0" marL="0" rtl="0" algn="l">
              <a:spcBef>
                <a:spcPts val="0"/>
              </a:spcBef>
              <a:spcAft>
                <a:spcPts val="0"/>
              </a:spcAft>
              <a:buNone/>
            </a:pPr>
            <a:r>
              <a:rPr lang="en-US" sz="1100">
                <a:solidFill>
                  <a:schemeClr val="dk1"/>
                </a:solidFill>
              </a:rPr>
              <a:t>You already know that </a:t>
            </a:r>
            <a:r>
              <a:rPr i="1" lang="en-US" sz="1100">
                <a:solidFill>
                  <a:schemeClr val="dk1"/>
                </a:solidFill>
              </a:rPr>
              <a:t>any variable you've created (which is an object) can be assigned a value</a:t>
            </a:r>
            <a:r>
              <a:rPr lang="en-US" sz="1100">
                <a:solidFill>
                  <a:schemeClr val="dk1"/>
                </a:solidFill>
              </a:rPr>
              <a:t>. Now c</a:t>
            </a:r>
            <a:r>
              <a:rPr lang="en-US" sz="1100"/>
              <a:t>onsider the (same) code to the right: the variables </a:t>
            </a:r>
            <a:r>
              <a:rPr lang="en-US" sz="1100">
                <a:latin typeface="Roboto Mono Light"/>
                <a:ea typeface="Roboto Mono Light"/>
                <a:cs typeface="Roboto Mono Light"/>
                <a:sym typeface="Roboto Mono Light"/>
              </a:rPr>
              <a:t>first</a:t>
            </a:r>
            <a:r>
              <a:rPr lang="en-US" sz="1100"/>
              <a:t> and </a:t>
            </a:r>
            <a:r>
              <a:rPr lang="en-US" sz="1100">
                <a:latin typeface="Roboto Mono Light"/>
                <a:ea typeface="Roboto Mono Light"/>
                <a:cs typeface="Roboto Mono Light"/>
                <a:sym typeface="Roboto Mono Light"/>
              </a:rPr>
              <a:t>second</a:t>
            </a:r>
            <a:r>
              <a:rPr lang="en-US" sz="1100"/>
              <a:t> are actually being assigned </a:t>
            </a:r>
            <a:r>
              <a:rPr b="1" lang="en-US" sz="1100"/>
              <a:t>new copies of the </a:t>
            </a:r>
            <a:r>
              <a:rPr b="1" lang="en-US" sz="1100">
                <a:latin typeface="Courier New"/>
                <a:ea typeface="Courier New"/>
                <a:cs typeface="Courier New"/>
                <a:sym typeface="Courier New"/>
              </a:rPr>
              <a:t>inner</a:t>
            </a:r>
            <a:r>
              <a:rPr b="1" lang="en-US" sz="1100"/>
              <a:t> functions</a:t>
            </a:r>
            <a:r>
              <a:rPr lang="en-US" sz="1100"/>
              <a:t>!</a:t>
            </a:r>
            <a:endParaRPr sz="1100"/>
          </a:p>
          <a:p>
            <a:pPr indent="0" lvl="0" marL="0" rtl="0" algn="l">
              <a:spcBef>
                <a:spcPts val="0"/>
              </a:spcBef>
              <a:spcAft>
                <a:spcPts val="0"/>
              </a:spcAft>
              <a:buNone/>
            </a:pPr>
            <a:r>
              <a:t/>
            </a:r>
            <a:endParaRPr sz="1100"/>
          </a:p>
        </p:txBody>
      </p:sp>
      <p:sp>
        <p:nvSpPr>
          <p:cNvPr id="125" name="Google Shape;125;p1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def outer(n):</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def inner_one():</a:t>
            </a:r>
            <a:endParaRPr sz="8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return 'I\'m number one'</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def inner_two():</a:t>
            </a:r>
            <a:endParaRPr sz="8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return 'I\'m number two'</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if n == 1:</a:t>
            </a:r>
            <a:endParaRPr sz="8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return inner_one</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elif n == 2:</a:t>
            </a:r>
            <a:endParaRPr sz="800">
              <a:solidFill>
                <a:schemeClr val="dk1"/>
              </a:solidFill>
              <a:latin typeface="Roboto Mono Light"/>
              <a:ea typeface="Roboto Mono Light"/>
              <a:cs typeface="Roboto Mono Light"/>
              <a:sym typeface="Roboto Mono Light"/>
            </a:endParaRPr>
          </a:p>
          <a:p>
            <a:pPr indent="45720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return inner_two</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def main():</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b="1" lang="en-US" sz="800">
                <a:solidFill>
                  <a:schemeClr val="dk1"/>
                </a:solidFill>
                <a:latin typeface="Roboto Mono"/>
                <a:ea typeface="Roboto Mono"/>
                <a:cs typeface="Roboto Mono"/>
                <a:sym typeface="Roboto Mono"/>
              </a:rPr>
              <a:t>first = outer(1)</a:t>
            </a:r>
            <a:r>
              <a:rPr lang="en-US" sz="800">
                <a:solidFill>
                  <a:schemeClr val="dk1"/>
                </a:solidFill>
                <a:latin typeface="Roboto Mono Light"/>
                <a:ea typeface="Roboto Mono Light"/>
                <a:cs typeface="Roboto Mono Light"/>
                <a:sym typeface="Roboto Mono Light"/>
              </a:rPr>
              <a:t>  # first = inner_one (function reference)</a:t>
            </a:r>
            <a:endParaRPr sz="8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b="1" lang="en-US" sz="800">
                <a:solidFill>
                  <a:schemeClr val="dk1"/>
                </a:solidFill>
                <a:latin typeface="Roboto Mono"/>
                <a:ea typeface="Roboto Mono"/>
                <a:cs typeface="Roboto Mono"/>
                <a:sym typeface="Roboto Mono"/>
              </a:rPr>
              <a:t>second = outer(2)</a:t>
            </a:r>
            <a:r>
              <a:rPr lang="en-US" sz="800">
                <a:solidFill>
                  <a:schemeClr val="dk1"/>
                </a:solidFill>
                <a:latin typeface="Roboto Mono Light"/>
                <a:ea typeface="Roboto Mono Light"/>
                <a:cs typeface="Roboto Mono Light"/>
                <a:sym typeface="Roboto Mono Light"/>
              </a:rPr>
              <a:t> # second = inner_two (function reference)</a:t>
            </a:r>
            <a:endParaRPr sz="8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print(first())    </a:t>
            </a:r>
            <a:r>
              <a:rPr lang="en-US" sz="800">
                <a:solidFill>
                  <a:schemeClr val="dk1"/>
                </a:solidFill>
                <a:latin typeface="Roboto Mono Light"/>
                <a:ea typeface="Roboto Mono Light"/>
                <a:cs typeface="Roboto Mono Light"/>
                <a:sym typeface="Roboto Mono Light"/>
              </a:rPr>
              <a:t># calls first, which points to inner_one</a:t>
            </a:r>
            <a:endParaRPr sz="800">
              <a:solidFill>
                <a:schemeClr val="dk1"/>
              </a:solidFill>
              <a:latin typeface="Roboto Mono Light"/>
              <a:ea typeface="Roboto Mono Light"/>
              <a:cs typeface="Roboto Mono Light"/>
              <a:sym typeface="Roboto Mono Light"/>
            </a:endParaRPr>
          </a:p>
          <a:p>
            <a:pPr indent="0" lvl="0" marL="457200" rtl="0" algn="l">
              <a:spcBef>
                <a:spcPts val="0"/>
              </a:spcBef>
              <a:spcAft>
                <a:spcPts val="0"/>
              </a:spcAft>
              <a:buNone/>
            </a:pPr>
            <a:r>
              <a:rPr lang="en-US" sz="800">
                <a:solidFill>
                  <a:schemeClr val="dk1"/>
                </a:solidFill>
                <a:latin typeface="Roboto Mono Light"/>
                <a:ea typeface="Roboto Mono Light"/>
                <a:cs typeface="Roboto Mono Light"/>
                <a:sym typeface="Roboto Mono Light"/>
              </a:rPr>
              <a:t>print(second())</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8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if __name__ == '__main__':</a:t>
            </a:r>
            <a:endParaRPr sz="8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800">
                <a:solidFill>
                  <a:schemeClr val="dk1"/>
                </a:solidFill>
                <a:latin typeface="Roboto Mono Light"/>
                <a:ea typeface="Roboto Mono Light"/>
                <a:cs typeface="Roboto Mono Light"/>
                <a:sym typeface="Roboto Mono Light"/>
              </a:rPr>
              <a:t>main()</a:t>
            </a:r>
            <a:endParaRPr sz="8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First-class objects: equality</a:t>
            </a:r>
            <a:endParaRPr/>
          </a:p>
        </p:txBody>
      </p:sp>
      <p:sp>
        <p:nvSpPr>
          <p:cNvPr id="132" name="Google Shape;132;p1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33" name="Google Shape;133;p1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100">
                <a:solidFill>
                  <a:schemeClr val="dk1"/>
                </a:solidFill>
              </a:rPr>
              <a:t>Property number four: objects can be tested for equality.</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solidFill>
                  <a:schemeClr val="dk1"/>
                </a:solidFill>
              </a:rPr>
              <a:t>You already know that </a:t>
            </a:r>
            <a:r>
              <a:rPr i="1" lang="en-US" sz="1100">
                <a:solidFill>
                  <a:schemeClr val="dk1"/>
                </a:solidFill>
              </a:rPr>
              <a:t>any variable you've created (which is an object) can be tested for equality</a:t>
            </a:r>
            <a:r>
              <a:rPr lang="en-US" sz="1100">
                <a:solidFill>
                  <a:schemeClr val="dk1"/>
                </a:solidFill>
              </a:rPr>
              <a:t>. Now </a:t>
            </a:r>
            <a:r>
              <a:rPr lang="en-US" sz="1100"/>
              <a:t>c</a:t>
            </a:r>
            <a:r>
              <a:rPr lang="en-US" sz="1100"/>
              <a:t>onsider the code to the right: the contents of the </a:t>
            </a:r>
            <a:r>
              <a:rPr lang="en-US" sz="1100">
                <a:latin typeface="Roboto Mono Light"/>
                <a:ea typeface="Roboto Mono Light"/>
                <a:cs typeface="Roboto Mono Light"/>
                <a:sym typeface="Roboto Mono Light"/>
              </a:rPr>
              <a:t>print()</a:t>
            </a:r>
            <a:r>
              <a:rPr lang="en-US" sz="1100"/>
              <a:t> statements are conditions to evaluate against.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(Note: using the </a:t>
            </a:r>
            <a:r>
              <a:rPr lang="en-US" sz="1100">
                <a:latin typeface="Roboto Mono Light"/>
                <a:ea typeface="Roboto Mono Light"/>
                <a:cs typeface="Roboto Mono Light"/>
                <a:sym typeface="Roboto Mono Light"/>
              </a:rPr>
              <a:t>==</a:t>
            </a:r>
            <a:r>
              <a:rPr lang="en-US" sz="1100"/>
              <a:t> operator, functions are effectively compared using their </a:t>
            </a:r>
            <a:r>
              <a:rPr lang="en-US" sz="1100" u="sng">
                <a:solidFill>
                  <a:schemeClr val="hlink"/>
                </a:solidFill>
                <a:hlinkClick r:id="rId3"/>
              </a:rPr>
              <a:t>unique id</a:t>
            </a:r>
            <a:r>
              <a:rPr lang="en-US" sz="1100"/>
              <a: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134" name="Google Shape;134;p1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 </a:t>
            </a:r>
            <a:r>
              <a:rPr lang="en-US" sz="1000">
                <a:solidFill>
                  <a:schemeClr val="dk1"/>
                </a:solidFill>
                <a:latin typeface="Roboto Mono Light"/>
                <a:ea typeface="Roboto Mono Light"/>
                <a:cs typeface="Roboto Mono Light"/>
                <a:sym typeface="Roboto Mono Light"/>
              </a:rPr>
              <a:t>...</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def main():</a:t>
            </a:r>
            <a:endParaRPr sz="10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first = outer(1)</a:t>
            </a:r>
            <a:endParaRPr sz="10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second = outer(2)</a:t>
            </a:r>
            <a:endParaRPr sz="10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b="1" lang="en-US" sz="1000">
                <a:solidFill>
                  <a:schemeClr val="dk1"/>
                </a:solidFill>
                <a:latin typeface="Roboto Mono"/>
                <a:ea typeface="Roboto Mono"/>
                <a:cs typeface="Roboto Mono"/>
                <a:sym typeface="Roboto Mono"/>
              </a:rPr>
              <a:t>print(first == first)</a:t>
            </a:r>
            <a:endParaRPr b="1" sz="1000">
              <a:solidFill>
                <a:schemeClr val="dk1"/>
              </a:solidFill>
              <a:latin typeface="Roboto Mono"/>
              <a:ea typeface="Roboto Mono"/>
              <a:cs typeface="Roboto Mono"/>
              <a:sym typeface="Roboto Mono"/>
            </a:endParaRPr>
          </a:p>
          <a:p>
            <a:pPr indent="457200" lvl="0" marL="0" rtl="0" algn="l">
              <a:spcBef>
                <a:spcPts val="0"/>
              </a:spcBef>
              <a:spcAft>
                <a:spcPts val="0"/>
              </a:spcAft>
              <a:buNone/>
            </a:pPr>
            <a:r>
              <a:rPr b="1" lang="en-US" sz="1000">
                <a:solidFill>
                  <a:schemeClr val="dk1"/>
                </a:solidFill>
                <a:latin typeface="Roboto Mono"/>
                <a:ea typeface="Roboto Mono"/>
                <a:cs typeface="Roboto Mono"/>
                <a:sym typeface="Roboto Mono"/>
              </a:rPr>
              <a:t>print(first == second)</a:t>
            </a:r>
            <a:endParaRPr b="1" sz="1000">
              <a:solidFill>
                <a:schemeClr val="dk1"/>
              </a:solidFill>
              <a:latin typeface="Roboto Mono"/>
              <a:ea typeface="Roboto Mono"/>
              <a:cs typeface="Roboto Mono"/>
              <a:sym typeface="Roboto Mono"/>
            </a:endParaRPr>
          </a:p>
          <a:p>
            <a:pPr indent="0" lvl="0" marL="0" rtl="0" algn="l">
              <a:spcBef>
                <a:spcPts val="0"/>
              </a:spcBef>
              <a:spcAft>
                <a:spcPts val="0"/>
              </a:spcAft>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if __name__ == '__main__':</a:t>
            </a:r>
            <a:endParaRPr sz="1000">
              <a:solidFill>
                <a:schemeClr val="dk1"/>
              </a:solidFill>
              <a:latin typeface="Roboto Mono Light"/>
              <a:ea typeface="Roboto Mono Light"/>
              <a:cs typeface="Roboto Mono Light"/>
              <a:sym typeface="Roboto Mono Light"/>
            </a:endParaRPr>
          </a:p>
          <a:p>
            <a:pPr indent="45720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main()</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&gt;&gt;&gt; True</a:t>
            </a:r>
            <a:endParaRPr sz="1000">
              <a:solidFill>
                <a:schemeClr val="dk1"/>
              </a:solidFill>
              <a:latin typeface="Roboto Mono Light"/>
              <a:ea typeface="Roboto Mono Light"/>
              <a:cs typeface="Roboto Mono Light"/>
              <a:sym typeface="Roboto Mono Light"/>
            </a:endParaRPr>
          </a:p>
          <a:p>
            <a:pPr indent="0" lvl="0" marL="0" rtl="0" algn="l">
              <a:spcBef>
                <a:spcPts val="0"/>
              </a:spcBef>
              <a:spcAft>
                <a:spcPts val="0"/>
              </a:spcAft>
              <a:buNone/>
            </a:pPr>
            <a:r>
              <a:rPr lang="en-US" sz="1000">
                <a:solidFill>
                  <a:schemeClr val="dk1"/>
                </a:solidFill>
                <a:latin typeface="Roboto Mono Light"/>
                <a:ea typeface="Roboto Mono Light"/>
                <a:cs typeface="Roboto Mono Light"/>
                <a:sym typeface="Roboto Mono Light"/>
              </a:rPr>
              <a:t>&gt;&gt;&gt; False</a:t>
            </a:r>
            <a:endParaRPr sz="1000">
              <a:solidFill>
                <a:schemeClr val="dk1"/>
              </a:solidFill>
              <a:latin typeface="Roboto Mono Light"/>
              <a:ea typeface="Roboto Mono Light"/>
              <a:cs typeface="Roboto Mono Light"/>
              <a:sym typeface="Roboto Mon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ph type="title"/>
          </p:nvPr>
        </p:nvSpPr>
        <p:spPr>
          <a:xfrm>
            <a:off x="722313" y="3305175"/>
            <a:ext cx="7772400" cy="102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FUNCTIONAL PROGRAMMING</a:t>
            </a:r>
            <a:endParaRPr/>
          </a:p>
        </p:txBody>
      </p:sp>
      <p:sp>
        <p:nvSpPr>
          <p:cNvPr id="141" name="Google Shape;141;p20"/>
          <p:cNvSpPr txBox="1"/>
          <p:nvPr>
            <p:ph idx="1" type="body"/>
          </p:nvPr>
        </p:nvSpPr>
        <p:spPr>
          <a:xfrm>
            <a:off x="722313" y="2180035"/>
            <a:ext cx="7772400" cy="11250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t/>
            </a:r>
            <a:endParaRPr/>
          </a:p>
        </p:txBody>
      </p:sp>
      <p:sp>
        <p:nvSpPr>
          <p:cNvPr id="142" name="Google Shape;142;p2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Imperative and declarative</a:t>
            </a:r>
            <a:endParaRPr/>
          </a:p>
        </p:txBody>
      </p:sp>
      <p:sp>
        <p:nvSpPr>
          <p:cNvPr id="149" name="Google Shape;149;p2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50" name="Google Shape;150;p21"/>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So far in your programming journey, you've been working in the domain of </a:t>
            </a:r>
            <a:r>
              <a:rPr b="1" lang="en-US"/>
              <a:t>imperative programming</a:t>
            </a:r>
            <a:r>
              <a:rPr lang="en-US"/>
              <a:t> - an approach to programming where you tell the code what steps to take to get the result you want. You could summarize this approach as focusing on </a:t>
            </a:r>
            <a:r>
              <a:rPr i="1" lang="en-US"/>
              <a:t>how to solve</a:t>
            </a:r>
            <a:r>
              <a:rPr lang="en-US"/>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There is another paradigm: </a:t>
            </a:r>
            <a:r>
              <a:rPr b="1" lang="en-US"/>
              <a:t>declarative programming</a:t>
            </a:r>
            <a:r>
              <a:rPr lang="en-US"/>
              <a:t>, an approach where you tell the computer what you want, rather than how to get there. This may seem counterintuitive at first, but with some practice, it will become familiar - and perhaps even comfortable! You could summarize this approach as focusing on </a:t>
            </a:r>
            <a:r>
              <a:rPr i="1" lang="en-US"/>
              <a:t>what to solve</a:t>
            </a:r>
            <a:r>
              <a:rPr lang="en-US"/>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Functional programming</a:t>
            </a:r>
            <a:endParaRPr/>
          </a:p>
        </p:txBody>
      </p:sp>
      <p:sp>
        <p:nvSpPr>
          <p:cNvPr id="157" name="Google Shape;157;p2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58" name="Google Shape;158;p2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Functional programming</a:t>
            </a:r>
            <a:r>
              <a:rPr lang="en-US"/>
              <a:t> is a particular type of </a:t>
            </a:r>
            <a:r>
              <a:rPr i="1" lang="en-US"/>
              <a:t>declarative programming</a:t>
            </a:r>
            <a:r>
              <a:rPr lang="en-US"/>
              <a:t> in which a program is created by writing and applying functions. It evolved from lambda calculus, so you'll see some connections to it later on. Python is not primarily a functional programming language, but it does have several built-in features which allows you to use it as one.</a:t>
            </a:r>
            <a:endParaRPr/>
          </a:p>
        </p:txBody>
      </p:sp>
      <p:sp>
        <p:nvSpPr>
          <p:cNvPr id="159" name="Google Shape;159;p2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500"/>
              <a:t>But wait! Why in the world would you learn another programming paradigm? Several benefits include:</a:t>
            </a:r>
            <a:endParaRPr sz="1500"/>
          </a:p>
          <a:p>
            <a:pPr indent="-323850" lvl="0" marL="457200" rtl="0" algn="l">
              <a:spcBef>
                <a:spcPts val="0"/>
              </a:spcBef>
              <a:spcAft>
                <a:spcPts val="0"/>
              </a:spcAft>
              <a:buSzPts val="1500"/>
              <a:buChar char="•"/>
            </a:pPr>
            <a:r>
              <a:rPr lang="en-US" sz="1500"/>
              <a:t>Functions become easier to understand about because they are </a:t>
            </a:r>
            <a:r>
              <a:rPr i="1" lang="en-US" sz="1500"/>
              <a:t>pure</a:t>
            </a:r>
            <a:endParaRPr i="1" sz="1500"/>
          </a:p>
          <a:p>
            <a:pPr indent="-323850" lvl="0" marL="457200" rtl="0" algn="l">
              <a:spcBef>
                <a:spcPts val="0"/>
              </a:spcBef>
              <a:spcAft>
                <a:spcPts val="0"/>
              </a:spcAft>
              <a:buSzPts val="1500"/>
              <a:buChar char="•"/>
            </a:pPr>
            <a:r>
              <a:rPr lang="en-US" sz="1500"/>
              <a:t>Testing and debugging is easier because </a:t>
            </a:r>
            <a:r>
              <a:rPr i="1" lang="en-US" sz="1500"/>
              <a:t>functions do not change state of anything outside of them</a:t>
            </a:r>
            <a:endParaRPr i="1" sz="1500"/>
          </a:p>
          <a:p>
            <a:pPr indent="-323850" lvl="0" marL="457200" rtl="0" algn="l">
              <a:spcBef>
                <a:spcPts val="0"/>
              </a:spcBef>
              <a:spcAft>
                <a:spcPts val="0"/>
              </a:spcAft>
              <a:buSzPts val="1500"/>
              <a:buChar char="•"/>
            </a:pPr>
            <a:r>
              <a:rPr lang="en-US" sz="1500"/>
              <a:t>Parallel/concurrent processing becomes easier because no data is shared between threads.</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FP: concepts</a:t>
            </a:r>
            <a:endParaRPr/>
          </a:p>
        </p:txBody>
      </p:sp>
      <p:sp>
        <p:nvSpPr>
          <p:cNvPr id="166" name="Google Shape;166;p2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67" name="Google Shape;167;p23"/>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800"/>
              <a:t>Concepts from functional programming which you may or may not already recognize include:</a:t>
            </a:r>
            <a:endParaRPr sz="1800"/>
          </a:p>
          <a:p>
            <a:pPr indent="-342900" lvl="0" marL="457200" rtl="0" algn="l">
              <a:spcBef>
                <a:spcPts val="0"/>
              </a:spcBef>
              <a:spcAft>
                <a:spcPts val="0"/>
              </a:spcAft>
              <a:buSzPts val="1800"/>
              <a:buChar char="•"/>
            </a:pPr>
            <a:r>
              <a:rPr lang="en-US" sz="1800"/>
              <a:t>Pure functions</a:t>
            </a:r>
            <a:endParaRPr sz="1800"/>
          </a:p>
          <a:p>
            <a:pPr indent="-342900" lvl="0" marL="457200" rtl="0" algn="l">
              <a:spcBef>
                <a:spcPts val="0"/>
              </a:spcBef>
              <a:spcAft>
                <a:spcPts val="0"/>
              </a:spcAft>
              <a:buSzPts val="1800"/>
              <a:buChar char="•"/>
            </a:pPr>
            <a:r>
              <a:rPr lang="en-US" sz="1800"/>
              <a:t>Immutability of data</a:t>
            </a:r>
            <a:endParaRPr sz="1800"/>
          </a:p>
          <a:p>
            <a:pPr indent="-342900" lvl="0" marL="457200" rtl="0" algn="l">
              <a:spcBef>
                <a:spcPts val="0"/>
              </a:spcBef>
              <a:spcAft>
                <a:spcPts val="0"/>
              </a:spcAft>
              <a:buSzPts val="1800"/>
              <a:buChar char="•"/>
            </a:pPr>
            <a:r>
              <a:rPr lang="en-US" sz="1800"/>
              <a:t>Higher-order functions</a:t>
            </a:r>
            <a:endParaRPr sz="1800"/>
          </a:p>
          <a:p>
            <a:pPr indent="0" lvl="0" marL="0" rtl="0" algn="l">
              <a:spcBef>
                <a:spcPts val="0"/>
              </a:spcBef>
              <a:spcAft>
                <a:spcPts val="0"/>
              </a:spcAft>
              <a:buClr>
                <a:schemeClr val="dk1"/>
              </a:buClr>
              <a:buSzPts val="1100"/>
              <a:buFont typeface="Arial"/>
              <a:buNone/>
            </a:pPr>
            <a:r>
              <a:t/>
            </a:r>
            <a:endParaRPr sz="1800"/>
          </a:p>
          <a:p>
            <a:pPr indent="0" lvl="0" marL="0" rtl="0" algn="l">
              <a:spcBef>
                <a:spcPts val="0"/>
              </a:spcBef>
              <a:spcAft>
                <a:spcPts val="0"/>
              </a:spcAft>
              <a:buNone/>
            </a:pPr>
            <a:r>
              <a:rPr lang="en-US" sz="1800"/>
              <a:t>Let's address each one in turn.</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FP: pure functions</a:t>
            </a:r>
            <a:endParaRPr/>
          </a:p>
        </p:txBody>
      </p:sp>
      <p:sp>
        <p:nvSpPr>
          <p:cNvPr id="174" name="Google Shape;174;p2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75" name="Google Shape;175;p2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t>Functional programming seeks to provide a framework where a particular input always results in the same output, and there are no side-effects of any actions taken. In order to accomplish this, functional programming dictates that all functions are pure. A </a:t>
            </a:r>
            <a:r>
              <a:rPr b="1" lang="en-US" sz="1400"/>
              <a:t>pure function</a:t>
            </a:r>
            <a:r>
              <a:rPr lang="en-US" sz="1400"/>
              <a:t> is a function which has those two aforementioned properties:</a:t>
            </a:r>
            <a:endParaRPr sz="1400"/>
          </a:p>
          <a:p>
            <a:pPr indent="-317500" lvl="0" marL="457200" rtl="0" algn="l">
              <a:spcBef>
                <a:spcPts val="0"/>
              </a:spcBef>
              <a:spcAft>
                <a:spcPts val="0"/>
              </a:spcAft>
              <a:buSzPts val="1400"/>
              <a:buAutoNum type="arabicPeriod"/>
            </a:pPr>
            <a:r>
              <a:rPr lang="en-US" sz="1400"/>
              <a:t>Its return value is the same for the same arguments. In other words, </a:t>
            </a:r>
            <a:r>
              <a:rPr b="1" i="1" lang="en-US" sz="1400"/>
              <a:t>given an identical input, it will always produce the same output</a:t>
            </a:r>
            <a:r>
              <a:rPr lang="en-US" sz="1400"/>
              <a:t>. Its functionality is independent of local and nonlocal variables, I/O streams, et al.</a:t>
            </a:r>
            <a:endParaRPr sz="1400"/>
          </a:p>
          <a:p>
            <a:pPr indent="-317500" lvl="0" marL="457200" rtl="0" algn="l">
              <a:spcBef>
                <a:spcPts val="0"/>
              </a:spcBef>
              <a:spcAft>
                <a:spcPts val="0"/>
              </a:spcAft>
              <a:buSzPts val="1400"/>
              <a:buAutoNum type="arabicPeriod"/>
            </a:pPr>
            <a:r>
              <a:rPr lang="en-US" sz="1400"/>
              <a:t>Its evaluation has no </a:t>
            </a:r>
            <a:r>
              <a:rPr b="1" lang="en-US" sz="1400"/>
              <a:t>side effects</a:t>
            </a:r>
            <a:r>
              <a:rPr lang="en-US" sz="1400"/>
              <a:t> - in other words, it does not change anything outside of its local scope, e.g. local or nonlocal variables, I/O streams, et al.</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rPr b="1" lang="en-US" sz="1400"/>
              <a:t>Impure functions</a:t>
            </a:r>
            <a:r>
              <a:rPr lang="en-US" sz="1400"/>
              <a:t> lack one or both of these properties.</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Pure functions: example</a:t>
            </a:r>
            <a:endParaRPr/>
          </a:p>
        </p:txBody>
      </p:sp>
      <p:sp>
        <p:nvSpPr>
          <p:cNvPr id="182" name="Google Shape;182;p2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83" name="Google Shape;183;p25"/>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300">
                <a:latin typeface="Roboto Mono"/>
                <a:ea typeface="Roboto Mono"/>
                <a:cs typeface="Roboto Mono"/>
                <a:sym typeface="Roboto Mono"/>
              </a:rPr>
              <a:t>def square_it(in_list):</a:t>
            </a:r>
            <a:endParaRPr b="1"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b="1" lang="en-US" sz="1300">
                <a:latin typeface="Roboto Mono"/>
                <a:ea typeface="Roboto Mono"/>
                <a:cs typeface="Roboto Mono"/>
                <a:sym typeface="Roboto Mono"/>
              </a:rPr>
              <a:t>new_list = []</a:t>
            </a:r>
            <a:endParaRPr b="1" sz="1300">
              <a:latin typeface="Roboto Mono"/>
              <a:ea typeface="Roboto Mono"/>
              <a:cs typeface="Roboto Mono"/>
              <a:sym typeface="Roboto Mono"/>
            </a:endParaRPr>
          </a:p>
          <a:p>
            <a:pPr indent="0" lvl="0" marL="457200" rtl="0" algn="l">
              <a:spcBef>
                <a:spcPts val="0"/>
              </a:spcBef>
              <a:spcAft>
                <a:spcPts val="0"/>
              </a:spcAft>
              <a:buClr>
                <a:schemeClr val="dk1"/>
              </a:buClr>
              <a:buSzPts val="1100"/>
              <a:buFont typeface="Arial"/>
              <a:buNone/>
            </a:pPr>
            <a:r>
              <a:rPr b="1" lang="en-US" sz="1300">
                <a:latin typeface="Roboto Mono"/>
                <a:ea typeface="Roboto Mono"/>
                <a:cs typeface="Roboto Mono"/>
                <a:sym typeface="Roboto Mono"/>
              </a:rPr>
              <a:t>for i in in_list:</a:t>
            </a:r>
            <a:endParaRPr b="1" sz="1300">
              <a:latin typeface="Roboto Mono"/>
              <a:ea typeface="Roboto Mono"/>
              <a:cs typeface="Roboto Mono"/>
              <a:sym typeface="Roboto Mono"/>
            </a:endParaRPr>
          </a:p>
          <a:p>
            <a:pPr indent="0" lvl="0" marL="914400" rtl="0" algn="l">
              <a:spcBef>
                <a:spcPts val="0"/>
              </a:spcBef>
              <a:spcAft>
                <a:spcPts val="0"/>
              </a:spcAft>
              <a:buClr>
                <a:schemeClr val="dk1"/>
              </a:buClr>
              <a:buSzPts val="1100"/>
              <a:buFont typeface="Arial"/>
              <a:buNone/>
            </a:pPr>
            <a:r>
              <a:rPr b="1" lang="en-US" sz="1300">
                <a:latin typeface="Roboto Mono"/>
                <a:ea typeface="Roboto Mono"/>
                <a:cs typeface="Roboto Mono"/>
                <a:sym typeface="Roboto Mono"/>
              </a:rPr>
              <a:t>new_list.append(i*i)</a:t>
            </a:r>
            <a:endParaRPr b="1" sz="1300">
              <a:latin typeface="Roboto Mono"/>
              <a:ea typeface="Roboto Mono"/>
              <a:cs typeface="Roboto Mono"/>
              <a:sym typeface="Roboto Mono"/>
            </a:endParaRPr>
          </a:p>
          <a:p>
            <a:pPr indent="457200" lvl="0" marL="0" rtl="0" algn="l">
              <a:spcBef>
                <a:spcPts val="0"/>
              </a:spcBef>
              <a:spcAft>
                <a:spcPts val="0"/>
              </a:spcAft>
              <a:buClr>
                <a:schemeClr val="dk1"/>
              </a:buClr>
              <a:buSzPts val="1100"/>
              <a:buFont typeface="Arial"/>
              <a:buNone/>
            </a:pPr>
            <a:r>
              <a:rPr b="1" lang="en-US" sz="1300">
                <a:latin typeface="Roboto Mono"/>
                <a:ea typeface="Roboto Mono"/>
                <a:cs typeface="Roboto Mono"/>
                <a:sym typeface="Roboto Mono"/>
              </a:rPr>
              <a:t>return new_list</a:t>
            </a:r>
            <a:endParaRPr b="1" sz="13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orig_list = [1, 2, 3, 4]</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squared_list = square_it(orig_list)</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print('original list:', orig_list)</a:t>
            </a:r>
            <a:endParaRPr sz="1300">
              <a:latin typeface="Roboto Mono Light"/>
              <a:ea typeface="Roboto Mono Light"/>
              <a:cs typeface="Roboto Mono Light"/>
              <a:sym typeface="Roboto Mono Light"/>
            </a:endParaRPr>
          </a:p>
          <a:p>
            <a:pPr indent="0" lvl="0" marL="0" rtl="0" algn="l">
              <a:spcBef>
                <a:spcPts val="0"/>
              </a:spcBef>
              <a:spcAft>
                <a:spcPts val="0"/>
              </a:spcAft>
              <a:buNone/>
            </a:pPr>
            <a:r>
              <a:rPr lang="en-US" sz="1300">
                <a:latin typeface="Roboto Mono Light"/>
                <a:ea typeface="Roboto Mono Light"/>
                <a:cs typeface="Roboto Mono Light"/>
                <a:sym typeface="Roboto Mono Light"/>
              </a:rPr>
              <a:t>print('squared list:', squared_list)</a:t>
            </a:r>
            <a:endParaRPr sz="1300">
              <a:latin typeface="Roboto Mono Light"/>
              <a:ea typeface="Roboto Mono Light"/>
              <a:cs typeface="Roboto Mono Light"/>
              <a:sym typeface="Roboto Mono Light"/>
            </a:endParaRPr>
          </a:p>
        </p:txBody>
      </p:sp>
      <p:sp>
        <p:nvSpPr>
          <p:cNvPr id="184" name="Google Shape;184;p25"/>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&gt;&gt;&gt; [1, 2, 3, 4]</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&gt;&gt;&gt; [1, 4, 9, 16]</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US" sz="1400"/>
              <a:t>The </a:t>
            </a:r>
            <a:r>
              <a:rPr lang="en-US" sz="1400">
                <a:latin typeface="Roboto Mono Light"/>
                <a:ea typeface="Roboto Mono Light"/>
                <a:cs typeface="Roboto Mono Light"/>
                <a:sym typeface="Roboto Mono Light"/>
              </a:rPr>
              <a:t>square_it()</a:t>
            </a:r>
            <a:r>
              <a:rPr lang="en-US" sz="1400"/>
              <a:t> function is pure because:</a:t>
            </a:r>
            <a:endParaRPr sz="1400"/>
          </a:p>
          <a:p>
            <a:pPr indent="-317500" lvl="0" marL="457200" rtl="0" algn="l">
              <a:spcBef>
                <a:spcPts val="0"/>
              </a:spcBef>
              <a:spcAft>
                <a:spcPts val="0"/>
              </a:spcAft>
              <a:buSzPts val="1400"/>
              <a:buAutoNum type="arabicPeriod"/>
            </a:pPr>
            <a:r>
              <a:rPr lang="en-US" sz="1400"/>
              <a:t>given the same input list, it will always return the same output list, and</a:t>
            </a:r>
            <a:endParaRPr sz="1400"/>
          </a:p>
          <a:p>
            <a:pPr indent="-317500" lvl="0" marL="457200" rtl="0" algn="l">
              <a:spcBef>
                <a:spcPts val="0"/>
              </a:spcBef>
              <a:spcAft>
                <a:spcPts val="0"/>
              </a:spcAft>
              <a:buSzPts val="1400"/>
              <a:buAutoNum type="arabicPeriod"/>
            </a:pPr>
            <a:r>
              <a:rPr lang="en-US" sz="1400"/>
              <a:t>it does not change any data outside of its scope, nor change the I/O stream.</a:t>
            </a:r>
            <a:endParaRPr sz="1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FP: immutability</a:t>
            </a:r>
            <a:endParaRPr/>
          </a:p>
        </p:txBody>
      </p:sp>
      <p:sp>
        <p:nvSpPr>
          <p:cNvPr id="191" name="Google Shape;191;p2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92" name="Google Shape;192;p2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500"/>
              <a:t>An object is </a:t>
            </a:r>
            <a:r>
              <a:rPr b="1" lang="en-US" sz="1500"/>
              <a:t>immutable</a:t>
            </a:r>
            <a:r>
              <a:rPr lang="en-US" sz="1500"/>
              <a:t> if it cannot be changed after it is created. You've encountered immutability before.</a:t>
            </a:r>
            <a:endParaRPr sz="15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rPr lang="en-US" sz="1500"/>
              <a:t>Within a functional programming language, the </a:t>
            </a:r>
            <a:r>
              <a:rPr b="1" i="1" lang="en-US" sz="1500"/>
              <a:t>data in functions are immutable</a:t>
            </a:r>
            <a:r>
              <a:rPr lang="en-US" sz="1500"/>
              <a:t>. Functions will typically </a:t>
            </a:r>
            <a:r>
              <a:rPr b="1" i="1" lang="en-US" sz="1500"/>
              <a:t>generate and return a new set of data</a:t>
            </a:r>
            <a:r>
              <a:rPr lang="en-US" sz="1500"/>
              <a:t> based on any data in arguments.</a:t>
            </a:r>
            <a:endParaRPr sz="1500"/>
          </a:p>
        </p:txBody>
      </p:sp>
      <p:sp>
        <p:nvSpPr>
          <p:cNvPr id="193" name="Google Shape;193;p2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500"/>
              <a:t>Examples of immutable data in Python include but are not limited to:</a:t>
            </a:r>
            <a:endParaRPr sz="1500"/>
          </a:p>
          <a:p>
            <a:pPr indent="-323850" lvl="0" marL="457200" rtl="0" algn="l">
              <a:spcBef>
                <a:spcPts val="0"/>
              </a:spcBef>
              <a:spcAft>
                <a:spcPts val="0"/>
              </a:spcAft>
              <a:buSzPts val="1500"/>
              <a:buChar char="•"/>
            </a:pPr>
            <a:r>
              <a:rPr lang="en-US" sz="1500"/>
              <a:t>Booleans, Ints, and Floats</a:t>
            </a:r>
            <a:endParaRPr sz="1500"/>
          </a:p>
          <a:p>
            <a:pPr indent="-323850" lvl="0" marL="457200" rtl="0" algn="l">
              <a:spcBef>
                <a:spcPts val="0"/>
              </a:spcBef>
              <a:spcAft>
                <a:spcPts val="0"/>
              </a:spcAft>
              <a:buSzPts val="1500"/>
              <a:buChar char="•"/>
            </a:pPr>
            <a:r>
              <a:rPr lang="en-US" sz="1500"/>
              <a:t>Strings</a:t>
            </a:r>
            <a:endParaRPr sz="1500"/>
          </a:p>
          <a:p>
            <a:pPr indent="-323850" lvl="0" marL="457200" rtl="0" algn="l">
              <a:spcBef>
                <a:spcPts val="0"/>
              </a:spcBef>
              <a:spcAft>
                <a:spcPts val="0"/>
              </a:spcAft>
              <a:buSzPts val="1500"/>
              <a:buChar char="•"/>
            </a:pPr>
            <a:r>
              <a:rPr lang="en-US" sz="1500"/>
              <a:t>Tuples</a:t>
            </a:r>
            <a:endParaRPr sz="15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rPr lang="en-US" sz="1500"/>
              <a:t>Most data in Python are mutable, however, so it's up to the pure functions to make sure new data is created based on the parameterized data, rather than changing existing.</a:t>
            </a:r>
            <a:endParaRPr sz="1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FP: higher-order functions</a:t>
            </a:r>
            <a:endParaRPr/>
          </a:p>
        </p:txBody>
      </p:sp>
      <p:sp>
        <p:nvSpPr>
          <p:cNvPr id="200" name="Google Shape;200;p2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01" name="Google Shape;201;p27"/>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You already know that because everything in Python is an object, and all objects are first class, functions have some unique properties. Functions can be:</a:t>
            </a:r>
            <a:endParaRPr/>
          </a:p>
          <a:p>
            <a:pPr indent="-330200" lvl="0" marL="457200" rtl="0" algn="l">
              <a:spcBef>
                <a:spcPts val="0"/>
              </a:spcBef>
              <a:spcAft>
                <a:spcPts val="0"/>
              </a:spcAft>
              <a:buSzPts val="1600"/>
              <a:buAutoNum type="arabicPeriod"/>
            </a:pPr>
            <a:r>
              <a:rPr lang="en-US"/>
              <a:t>the parameters of a function</a:t>
            </a:r>
            <a:endParaRPr/>
          </a:p>
          <a:p>
            <a:pPr indent="-330200" lvl="0" marL="457200" rtl="0" algn="l">
              <a:spcBef>
                <a:spcPts val="0"/>
              </a:spcBef>
              <a:spcAft>
                <a:spcPts val="0"/>
              </a:spcAft>
              <a:buSzPts val="1600"/>
              <a:buAutoNum type="arabicPeriod"/>
            </a:pPr>
            <a:r>
              <a:rPr lang="en-US"/>
              <a:t>sent back from a function</a:t>
            </a:r>
            <a:endParaRPr/>
          </a:p>
          <a:p>
            <a:pPr indent="-330200" lvl="0" marL="457200" rtl="0" algn="l">
              <a:spcBef>
                <a:spcPts val="0"/>
              </a:spcBef>
              <a:spcAft>
                <a:spcPts val="0"/>
              </a:spcAft>
              <a:buSzPts val="1600"/>
              <a:buAutoNum type="arabicPeriod"/>
            </a:pPr>
            <a:r>
              <a:rPr lang="en-US"/>
              <a:t>the subject of assignment statements</a:t>
            </a:r>
            <a:endParaRPr/>
          </a:p>
          <a:p>
            <a:pPr indent="-330200" lvl="0" marL="457200" rtl="0" algn="l">
              <a:spcBef>
                <a:spcPts val="0"/>
              </a:spcBef>
              <a:spcAft>
                <a:spcPts val="0"/>
              </a:spcAft>
              <a:buSzPts val="1600"/>
              <a:buAutoNum type="arabicPeriod"/>
            </a:pPr>
            <a:r>
              <a:rPr lang="en-US"/>
              <a:t>tested for equality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 </a:t>
            </a:r>
            <a:r>
              <a:rPr b="1" lang="en-US"/>
              <a:t>higher order function</a:t>
            </a:r>
            <a:r>
              <a:rPr lang="en-US"/>
              <a:t> takes a function as an argument and/or returns a new function. It's a specific implementation of functions' status as first-class objects!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Higher-order functions: example</a:t>
            </a:r>
            <a:endParaRPr/>
          </a:p>
        </p:txBody>
      </p:sp>
      <p:sp>
        <p:nvSpPr>
          <p:cNvPr id="208" name="Google Shape;208;p2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09" name="Google Shape;209;p28"/>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From a previous example: the </a:t>
            </a:r>
            <a:r>
              <a:rPr lang="en-US" sz="1200">
                <a:latin typeface="Roboto Mono Light"/>
                <a:ea typeface="Roboto Mono Light"/>
                <a:cs typeface="Roboto Mono Light"/>
                <a:sym typeface="Roboto Mono Light"/>
              </a:rPr>
              <a:t>greet_neighbor()</a:t>
            </a:r>
            <a:r>
              <a:rPr lang="en-US" sz="1200"/>
              <a:t> function is a </a:t>
            </a:r>
            <a:r>
              <a:rPr b="1" lang="en-US" sz="1200"/>
              <a:t>higher-order function</a:t>
            </a:r>
            <a:r>
              <a:rPr lang="en-US" sz="1200"/>
              <a:t> because it takes a function as an argument.</a:t>
            </a:r>
            <a:endParaRPr sz="1200"/>
          </a:p>
          <a:p>
            <a:pPr indent="0" lvl="0" marL="0" rtl="0" algn="l">
              <a:spcBef>
                <a:spcPts val="0"/>
              </a:spcBef>
              <a:spcAft>
                <a:spcPts val="0"/>
              </a:spcAft>
              <a:buClr>
                <a:schemeClr val="dk1"/>
              </a:buClr>
              <a:buSzPts val="1100"/>
              <a:buFont typeface="Arial"/>
              <a:buNone/>
            </a:pPr>
            <a:r>
              <a:t/>
            </a:r>
            <a:endParaRPr sz="1200"/>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a:t>
            </a:r>
            <a:r>
              <a:rPr b="1" lang="en-US" sz="1200">
                <a:latin typeface="Roboto Mono"/>
                <a:ea typeface="Roboto Mono"/>
                <a:cs typeface="Roboto Mono"/>
                <a:sym typeface="Roboto Mono"/>
              </a:rPr>
              <a:t>greet_neighbor(greeter_function)</a:t>
            </a:r>
            <a:r>
              <a:rPr lang="en-US" sz="1200">
                <a:latin typeface="Roboto Mono Light"/>
                <a:ea typeface="Roboto Mono Light"/>
                <a:cs typeface="Roboto Mono Light"/>
                <a:sym typeface="Roboto Mono Light"/>
              </a:rPr>
              <a:t>:</a:t>
            </a:r>
            <a:endParaRPr sz="1200">
              <a:latin typeface="Roboto Mono Light"/>
              <a:ea typeface="Roboto Mono Light"/>
              <a:cs typeface="Roboto Mono Light"/>
              <a:sym typeface="Roboto Mono Light"/>
            </a:endParaRPr>
          </a:p>
          <a:p>
            <a:pPr indent="45720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return greeter_function('Cassandra')</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shout(name):</a:t>
            </a:r>
            <a:endParaRPr sz="1200">
              <a:latin typeface="Roboto Mono Light"/>
              <a:ea typeface="Roboto Mono Light"/>
              <a:cs typeface="Roboto Mono Light"/>
              <a:sym typeface="Roboto Mono Light"/>
            </a:endParaRPr>
          </a:p>
          <a:p>
            <a:pPr indent="45720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return 'HI, ' + name.upper() + '!'</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inside_voice(name):</a:t>
            </a:r>
            <a:endParaRPr sz="1200">
              <a:latin typeface="Roboto Mono Light"/>
              <a:ea typeface="Roboto Mono Light"/>
              <a:cs typeface="Roboto Mono Light"/>
              <a:sym typeface="Roboto Mono Light"/>
            </a:endParaRPr>
          </a:p>
          <a:p>
            <a:pPr indent="457200" lvl="0" marL="457200" rtl="0" algn="l">
              <a:spcBef>
                <a:spcPts val="0"/>
              </a:spcBef>
              <a:spcAft>
                <a:spcPts val="0"/>
              </a:spcAft>
              <a:buNone/>
            </a:pPr>
            <a:r>
              <a:rPr lang="en-US" sz="1200">
                <a:latin typeface="Roboto Mono Light"/>
                <a:ea typeface="Roboto Mono Light"/>
                <a:cs typeface="Roboto Mono Light"/>
                <a:sym typeface="Roboto Mono Light"/>
              </a:rPr>
              <a:t>return 'Hi, ' + name + '.'</a:t>
            </a:r>
            <a:endParaRPr sz="1200">
              <a:latin typeface="Roboto Mono Light"/>
              <a:ea typeface="Roboto Mono Light"/>
              <a:cs typeface="Roboto Mono Light"/>
              <a:sym typeface="Roboto Mono Light"/>
            </a:endParaRPr>
          </a:p>
        </p:txBody>
      </p:sp>
      <p:sp>
        <p:nvSpPr>
          <p:cNvPr id="210" name="Google Shape;210;p28"/>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From another previous example: the </a:t>
            </a:r>
            <a:r>
              <a:rPr lang="en-US" sz="1200">
                <a:latin typeface="Roboto Mono Light"/>
                <a:ea typeface="Roboto Mono Light"/>
                <a:cs typeface="Roboto Mono Light"/>
                <a:sym typeface="Roboto Mono Light"/>
              </a:rPr>
              <a:t>outer()</a:t>
            </a:r>
            <a:r>
              <a:rPr lang="en-US" sz="1200"/>
              <a:t> function is a higher-order function because it sends back a function.</a:t>
            </a:r>
            <a:endParaRPr sz="1200"/>
          </a:p>
          <a:p>
            <a:pPr indent="0" lvl="0" marL="0" rtl="0" algn="l">
              <a:spcBef>
                <a:spcPts val="0"/>
              </a:spcBef>
              <a:spcAft>
                <a:spcPts val="0"/>
              </a:spcAft>
              <a:buClr>
                <a:schemeClr val="dk1"/>
              </a:buClr>
              <a:buSzPts val="1100"/>
              <a:buFont typeface="Arial"/>
              <a:buNone/>
            </a:pPr>
            <a:r>
              <a:t/>
            </a:r>
            <a:endParaRPr sz="1200"/>
          </a:p>
          <a:p>
            <a:pPr indent="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a:t>
            </a:r>
            <a:r>
              <a:rPr b="1" lang="en-US" sz="1200">
                <a:latin typeface="Roboto Mono"/>
                <a:ea typeface="Roboto Mono"/>
                <a:cs typeface="Roboto Mono"/>
                <a:sym typeface="Roboto Mono"/>
              </a:rPr>
              <a:t>outer(n)</a:t>
            </a:r>
            <a:r>
              <a:rPr lang="en-US" sz="1200">
                <a:latin typeface="Roboto Mono Light"/>
                <a:ea typeface="Roboto Mono Light"/>
                <a:cs typeface="Roboto Mono Light"/>
                <a:sym typeface="Roboto Mono Light"/>
              </a:rPr>
              <a:t>:</a:t>
            </a:r>
            <a:endParaRPr sz="1200">
              <a:latin typeface="Roboto Mono Light"/>
              <a:ea typeface="Roboto Mono Light"/>
              <a:cs typeface="Roboto Mono Light"/>
              <a:sym typeface="Roboto Mono Light"/>
            </a:endParaRPr>
          </a:p>
          <a:p>
            <a:pPr indent="45720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inner_one():</a:t>
            </a:r>
            <a:endParaRPr sz="1200">
              <a:latin typeface="Roboto Mono Light"/>
              <a:ea typeface="Roboto Mono Light"/>
              <a:cs typeface="Roboto Mono Light"/>
              <a:sym typeface="Roboto Mono Light"/>
            </a:endParaRPr>
          </a:p>
          <a:p>
            <a:pPr indent="457200" lvl="0" marL="9144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return 'I'm number one'</a:t>
            </a:r>
            <a:endParaRPr sz="1200">
              <a:latin typeface="Roboto Mono Light"/>
              <a:ea typeface="Roboto Mono Light"/>
              <a:cs typeface="Roboto Mono Light"/>
              <a:sym typeface="Roboto Mono Light"/>
            </a:endParaRPr>
          </a:p>
          <a:p>
            <a:pPr indent="457200" lvl="0" marL="4572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inner_two():</a:t>
            </a:r>
            <a:endParaRPr sz="1200">
              <a:latin typeface="Roboto Mono Light"/>
              <a:ea typeface="Roboto Mono Light"/>
              <a:cs typeface="Roboto Mono Light"/>
              <a:sym typeface="Roboto Mono Light"/>
            </a:endParaRPr>
          </a:p>
          <a:p>
            <a:pPr indent="457200" lvl="0" marL="9144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return 'I'm number two'</a:t>
            </a:r>
            <a:endParaRPr sz="1200">
              <a:latin typeface="Roboto Mono Light"/>
              <a:ea typeface="Roboto Mono Light"/>
              <a:cs typeface="Roboto Mono Light"/>
              <a:sym typeface="Roboto Mono Light"/>
            </a:endParaRPr>
          </a:p>
          <a:p>
            <a:pPr indent="0" lvl="0" marL="9144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if n == 1:</a:t>
            </a:r>
            <a:endParaRPr sz="1200">
              <a:latin typeface="Roboto Mono Light"/>
              <a:ea typeface="Roboto Mono Light"/>
              <a:cs typeface="Roboto Mono Light"/>
              <a:sym typeface="Roboto Mono Light"/>
            </a:endParaRPr>
          </a:p>
          <a:p>
            <a:pPr indent="457200" lvl="0" marL="9144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return </a:t>
            </a:r>
            <a:r>
              <a:rPr b="1" lang="en-US" sz="1200">
                <a:latin typeface="Roboto Mono"/>
                <a:ea typeface="Roboto Mono"/>
                <a:cs typeface="Roboto Mono"/>
                <a:sym typeface="Roboto Mono"/>
              </a:rPr>
              <a:t>inner_one</a:t>
            </a:r>
            <a:endParaRPr b="1" sz="1200">
              <a:latin typeface="Roboto Mono"/>
              <a:ea typeface="Roboto Mono"/>
              <a:cs typeface="Roboto Mono"/>
              <a:sym typeface="Roboto Mono"/>
            </a:endParaRPr>
          </a:p>
          <a:p>
            <a:pPr indent="0" lvl="0" marL="91440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elif n == 2:</a:t>
            </a:r>
            <a:endParaRPr sz="1200">
              <a:latin typeface="Roboto Mono Light"/>
              <a:ea typeface="Roboto Mono Light"/>
              <a:cs typeface="Roboto Mono Light"/>
              <a:sym typeface="Roboto Mono Light"/>
            </a:endParaRPr>
          </a:p>
          <a:p>
            <a:pPr indent="457200" lvl="0" marL="914400" rtl="0" algn="l">
              <a:spcBef>
                <a:spcPts val="0"/>
              </a:spcBef>
              <a:spcAft>
                <a:spcPts val="0"/>
              </a:spcAft>
              <a:buNone/>
            </a:pPr>
            <a:r>
              <a:rPr lang="en-US" sz="1200">
                <a:latin typeface="Roboto Mono Light"/>
                <a:ea typeface="Roboto Mono Light"/>
                <a:cs typeface="Roboto Mono Light"/>
                <a:sym typeface="Roboto Mono Light"/>
              </a:rPr>
              <a:t>return </a:t>
            </a:r>
            <a:r>
              <a:rPr b="1" lang="en-US" sz="1200">
                <a:latin typeface="Roboto Mono"/>
                <a:ea typeface="Roboto Mono"/>
                <a:cs typeface="Roboto Mono"/>
                <a:sym typeface="Roboto Mono"/>
              </a:rPr>
              <a:t>inner_two</a:t>
            </a:r>
            <a:endParaRPr b="1" sz="1200">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Higher-order functions: built in</a:t>
            </a:r>
            <a:endParaRPr/>
          </a:p>
        </p:txBody>
      </p:sp>
      <p:sp>
        <p:nvSpPr>
          <p:cNvPr id="217" name="Google Shape;217;p2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18" name="Google Shape;218;p29"/>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Using Python's built-in higher-order function </a:t>
            </a:r>
            <a:r>
              <a:rPr lang="en-US" sz="1400">
                <a:latin typeface="Roboto Mono Light"/>
                <a:ea typeface="Roboto Mono Light"/>
                <a:cs typeface="Roboto Mono Light"/>
                <a:sym typeface="Roboto Mono Light"/>
              </a:rPr>
              <a:t>sorted()</a:t>
            </a:r>
            <a:r>
              <a:rPr lang="en-US" sz="1400"/>
              <a:t>, you can sort a collection using a function as the sorting criterion. The function name is the value of the keyword argument </a:t>
            </a:r>
            <a:r>
              <a:rPr lang="en-US" sz="1400">
                <a:latin typeface="Roboto Mono Light"/>
                <a:ea typeface="Roboto Mono Light"/>
                <a:cs typeface="Roboto Mono Light"/>
                <a:sym typeface="Roboto Mono Light"/>
              </a:rPr>
              <a:t>key</a:t>
            </a:r>
            <a:r>
              <a:rPr lang="en-US" sz="1400"/>
              <a: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solidFill>
                  <a:schemeClr val="dk1"/>
                </a:solidFill>
              </a:rPr>
              <a:t>Here's an example of using the function </a:t>
            </a:r>
            <a:r>
              <a:rPr lang="en-US" sz="1400">
                <a:latin typeface="Roboto Mono Light"/>
                <a:ea typeface="Roboto Mono Light"/>
                <a:cs typeface="Roboto Mono Light"/>
                <a:sym typeface="Roboto Mono Light"/>
              </a:rPr>
              <a:t>len()</a:t>
            </a:r>
            <a:r>
              <a:rPr lang="en-US" sz="1400">
                <a:solidFill>
                  <a:schemeClr val="dk1"/>
                </a:solidFill>
              </a:rPr>
              <a:t> to sort a list of fruit names by length.</a:t>
            </a:r>
            <a:endParaRPr sz="1400"/>
          </a:p>
        </p:txBody>
      </p:sp>
      <p:sp>
        <p:nvSpPr>
          <p:cNvPr id="219" name="Google Shape;219;p29"/>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fruits = ['strawberry', 'fig', 'apple', 'cherry', 'raspberry', 'banana']</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organized = </a:t>
            </a:r>
            <a:r>
              <a:rPr b="1" lang="en-US" sz="1400">
                <a:latin typeface="Roboto Mono"/>
                <a:ea typeface="Roboto Mono"/>
                <a:cs typeface="Roboto Mono"/>
                <a:sym typeface="Roboto Mono"/>
              </a:rPr>
              <a:t>sorted(</a:t>
            </a:r>
            <a:r>
              <a:rPr lang="en-US" sz="1400">
                <a:latin typeface="Roboto Mono Light"/>
                <a:ea typeface="Roboto Mono Light"/>
                <a:cs typeface="Roboto Mono Light"/>
                <a:sym typeface="Roboto Mono Light"/>
              </a:rPr>
              <a:t>fruits, key=len</a:t>
            </a:r>
            <a:r>
              <a:rPr b="1" lang="en-US" sz="1400">
                <a:latin typeface="Roboto Mono"/>
                <a:ea typeface="Roboto Mono"/>
                <a:cs typeface="Roboto Mono"/>
                <a:sym typeface="Roboto Mono"/>
              </a:rPr>
              <a:t>)</a:t>
            </a:r>
            <a:endParaRPr b="1" sz="14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print(organized)</a:t>
            </a:r>
            <a:endParaRPr sz="1400">
              <a:latin typeface="Roboto Mono Light"/>
              <a:ea typeface="Roboto Mono Light"/>
              <a:cs typeface="Roboto Mono Light"/>
              <a:sym typeface="Roboto Mono Light"/>
            </a:endParaRPr>
          </a:p>
          <a:p>
            <a:pPr indent="0" lvl="0" marL="0" rtl="0" algn="l">
              <a:spcBef>
                <a:spcPts val="0"/>
              </a:spcBef>
              <a:spcAft>
                <a:spcPts val="0"/>
              </a:spcAft>
              <a:buNone/>
            </a:pPr>
            <a:r>
              <a:t/>
            </a:r>
            <a:endParaRPr sz="1400">
              <a:latin typeface="Roboto Mono Light"/>
              <a:ea typeface="Roboto Mono Light"/>
              <a:cs typeface="Roboto Mono Light"/>
              <a:sym typeface="Roboto Mono Light"/>
            </a:endParaRPr>
          </a:p>
          <a:p>
            <a:pPr indent="0" lvl="0" marL="0" rtl="0" algn="l">
              <a:spcBef>
                <a:spcPts val="0"/>
              </a:spcBef>
              <a:spcAft>
                <a:spcPts val="0"/>
              </a:spcAft>
              <a:buNone/>
            </a:pPr>
            <a:r>
              <a:rPr lang="en-US" sz="1400">
                <a:latin typeface="Roboto Mono Light"/>
                <a:ea typeface="Roboto Mono Light"/>
                <a:cs typeface="Roboto Mono Light"/>
                <a:sym typeface="Roboto Mono Light"/>
              </a:rPr>
              <a:t>&gt;&gt;&gt; ['fig', 'apple', 'cherry', 'banana', 'raspberry', 'strawberry']</a:t>
            </a:r>
            <a:endParaRPr sz="1400">
              <a:latin typeface="Roboto Mono Light"/>
              <a:ea typeface="Roboto Mono Light"/>
              <a:cs typeface="Roboto Mono Light"/>
              <a:sym typeface="Roboto Mono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Built-in: </a:t>
            </a:r>
            <a:r>
              <a:rPr lang="en-US">
                <a:latin typeface="Roboto Mono"/>
                <a:ea typeface="Roboto Mono"/>
                <a:cs typeface="Roboto Mono"/>
                <a:sym typeface="Roboto Mono"/>
              </a:rPr>
              <a:t>filter()</a:t>
            </a:r>
            <a:endParaRPr>
              <a:latin typeface="Roboto Mono"/>
              <a:ea typeface="Roboto Mono"/>
              <a:cs typeface="Roboto Mono"/>
              <a:sym typeface="Roboto Mono"/>
            </a:endParaRPr>
          </a:p>
        </p:txBody>
      </p:sp>
      <p:sp>
        <p:nvSpPr>
          <p:cNvPr id="226" name="Google Shape;226;p3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27" name="Google Shape;227;p30"/>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t>Three of the most ubiquitous higher order functions that you will encounter in most programming languages include </a:t>
            </a:r>
            <a:r>
              <a:rPr b="1" lang="en-US" sz="1200">
                <a:latin typeface="Roboto Mono"/>
                <a:ea typeface="Roboto Mono"/>
                <a:cs typeface="Roboto Mono"/>
                <a:sym typeface="Roboto Mono"/>
              </a:rPr>
              <a:t>filter()</a:t>
            </a:r>
            <a:r>
              <a:rPr lang="en-US" sz="1200"/>
              <a:t>, </a:t>
            </a:r>
            <a:r>
              <a:rPr b="1" lang="en-US" sz="1200">
                <a:latin typeface="Roboto Mono"/>
                <a:ea typeface="Roboto Mono"/>
                <a:cs typeface="Roboto Mono"/>
                <a:sym typeface="Roboto Mono"/>
              </a:rPr>
              <a:t>map()</a:t>
            </a:r>
            <a:r>
              <a:rPr lang="en-US" sz="1200"/>
              <a:t>, and </a:t>
            </a:r>
            <a:r>
              <a:rPr b="1" lang="en-US" sz="1200">
                <a:latin typeface="Roboto Mono"/>
                <a:ea typeface="Roboto Mono"/>
                <a:cs typeface="Roboto Mono"/>
                <a:sym typeface="Roboto Mono"/>
              </a:rPr>
              <a:t>reduce()</a:t>
            </a:r>
            <a:r>
              <a:rPr lang="en-US" sz="1200"/>
              <a:t>.</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b="1" lang="en-US" sz="1200">
                <a:latin typeface="Roboto Mono"/>
                <a:ea typeface="Roboto Mono"/>
                <a:cs typeface="Roboto Mono"/>
                <a:sym typeface="Roboto Mono"/>
              </a:rPr>
              <a:t>filter()</a:t>
            </a:r>
            <a:r>
              <a:rPr lang="en-US" sz="1200"/>
              <a:t> transforms elements of a collection to another collection with filtering supplied by a function. The args are:</a:t>
            </a:r>
            <a:endParaRPr sz="1200"/>
          </a:p>
          <a:p>
            <a:pPr indent="-304800" lvl="0" marL="457200" rtl="0" algn="l">
              <a:spcBef>
                <a:spcPts val="0"/>
              </a:spcBef>
              <a:spcAft>
                <a:spcPts val="0"/>
              </a:spcAft>
              <a:buSzPts val="1200"/>
              <a:buAutoNum type="arabicPeriod"/>
            </a:pPr>
            <a:r>
              <a:rPr lang="en-US" sz="1200"/>
              <a:t>how am I filtering</a:t>
            </a:r>
            <a:endParaRPr sz="1200"/>
          </a:p>
          <a:p>
            <a:pPr indent="-304800" lvl="0" marL="457200" rtl="0" algn="l">
              <a:spcBef>
                <a:spcPts val="0"/>
              </a:spcBef>
              <a:spcAft>
                <a:spcPts val="0"/>
              </a:spcAft>
              <a:buSzPts val="1200"/>
              <a:buAutoNum type="arabicPeriod"/>
            </a:pPr>
            <a:r>
              <a:rPr lang="en-US" sz="1200"/>
              <a:t>what am I filtering</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rPr lang="en-US" sz="1200"/>
              <a:t>(This will return a </a:t>
            </a:r>
            <a:r>
              <a:rPr lang="en-US" sz="1200">
                <a:latin typeface="Roboto Mono Light"/>
                <a:ea typeface="Roboto Mono Light"/>
                <a:cs typeface="Roboto Mono Light"/>
                <a:sym typeface="Roboto Mono Light"/>
              </a:rPr>
              <a:t>filter</a:t>
            </a:r>
            <a:r>
              <a:rPr lang="en-US" sz="1200"/>
              <a:t> object - which is iterable [via a </a:t>
            </a:r>
            <a:r>
              <a:rPr lang="en-US" sz="1200">
                <a:latin typeface="Roboto Mono Light"/>
                <a:ea typeface="Roboto Mono Light"/>
                <a:cs typeface="Roboto Mono Light"/>
                <a:sym typeface="Roboto Mono Light"/>
              </a:rPr>
              <a:t>for</a:t>
            </a:r>
            <a:r>
              <a:rPr lang="en-US" sz="1200"/>
              <a:t>, for instance]) - but if you'd prefer a list, convert it in place as shown to the right.)</a:t>
            </a:r>
            <a:endParaRPr sz="1200"/>
          </a:p>
        </p:txBody>
      </p:sp>
      <p:sp>
        <p:nvSpPr>
          <p:cNvPr id="228" name="Google Shape;228;p30"/>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def check_even(n):</a:t>
            </a:r>
            <a:endParaRPr sz="13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return n % 2 == 0</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nums = [7, 23, 4, 12, 45, 6]</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print('nums:', nums)</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filtered = list(</a:t>
            </a:r>
            <a:r>
              <a:rPr b="1" lang="en-US" sz="1300">
                <a:latin typeface="Roboto Mono"/>
                <a:ea typeface="Roboto Mono"/>
                <a:cs typeface="Roboto Mono"/>
                <a:sym typeface="Roboto Mono"/>
              </a:rPr>
              <a:t>filter(</a:t>
            </a:r>
            <a:r>
              <a:rPr lang="en-US" sz="1300">
                <a:latin typeface="Roboto Mono Light"/>
                <a:ea typeface="Roboto Mono Light"/>
                <a:cs typeface="Roboto Mono Light"/>
                <a:sym typeface="Roboto Mono Light"/>
              </a:rPr>
              <a:t>check_even, nums</a:t>
            </a:r>
            <a:r>
              <a:rPr b="1" lang="en-US" sz="1300">
                <a:latin typeface="Roboto Mono"/>
                <a:ea typeface="Roboto Mono"/>
                <a:cs typeface="Roboto Mono"/>
                <a:sym typeface="Roboto Mono"/>
              </a:rPr>
              <a:t>)</a:t>
            </a:r>
            <a:r>
              <a:rPr lang="en-US" sz="1300">
                <a:latin typeface="Roboto Mono Light"/>
                <a:ea typeface="Roboto Mono Light"/>
                <a:cs typeface="Roboto Mono Light"/>
                <a:sym typeface="Roboto Mono Light"/>
              </a:rPr>
              <a:t>)</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print('filtered:', filtered)</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300">
                <a:latin typeface="Roboto Mono Light"/>
                <a:ea typeface="Roboto Mono Light"/>
                <a:cs typeface="Roboto Mono Light"/>
                <a:sym typeface="Roboto Mono Light"/>
              </a:rPr>
              <a:t>&gt;&gt;&gt; nums: [7, 23, 4, 12, 45, 6]</a:t>
            </a:r>
            <a:endParaRPr sz="1300">
              <a:latin typeface="Roboto Mono Light"/>
              <a:ea typeface="Roboto Mono Light"/>
              <a:cs typeface="Roboto Mono Light"/>
              <a:sym typeface="Roboto Mono Light"/>
            </a:endParaRPr>
          </a:p>
          <a:p>
            <a:pPr indent="0" lvl="0" marL="0" rtl="0" algn="l">
              <a:spcBef>
                <a:spcPts val="0"/>
              </a:spcBef>
              <a:spcAft>
                <a:spcPts val="0"/>
              </a:spcAft>
              <a:buNone/>
            </a:pPr>
            <a:r>
              <a:rPr lang="en-US" sz="1300">
                <a:latin typeface="Roboto Mono Light"/>
                <a:ea typeface="Roboto Mono Light"/>
                <a:cs typeface="Roboto Mono Light"/>
                <a:sym typeface="Roboto Mono Light"/>
              </a:rPr>
              <a:t>&gt;&gt;&gt; filtered: [4, 12, 6]</a:t>
            </a:r>
            <a:endParaRPr sz="1300">
              <a:latin typeface="Roboto Mono Light"/>
              <a:ea typeface="Roboto Mono Light"/>
              <a:cs typeface="Roboto Mono Light"/>
              <a:sym typeface="Roboto Mono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Built-in: </a:t>
            </a:r>
            <a:r>
              <a:rPr lang="en-US">
                <a:latin typeface="Roboto Mono"/>
                <a:ea typeface="Roboto Mono"/>
                <a:cs typeface="Roboto Mono"/>
                <a:sym typeface="Roboto Mono"/>
              </a:rPr>
              <a:t>map()</a:t>
            </a:r>
            <a:endParaRPr>
              <a:latin typeface="Roboto Mono"/>
              <a:ea typeface="Roboto Mono"/>
              <a:cs typeface="Roboto Mono"/>
              <a:sym typeface="Roboto Mono"/>
            </a:endParaRPr>
          </a:p>
        </p:txBody>
      </p:sp>
      <p:sp>
        <p:nvSpPr>
          <p:cNvPr id="235" name="Google Shape;235;p3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36" name="Google Shape;236;p31"/>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400">
                <a:latin typeface="Roboto Mono"/>
                <a:ea typeface="Roboto Mono"/>
                <a:cs typeface="Roboto Mono"/>
                <a:sym typeface="Roboto Mono"/>
              </a:rPr>
              <a:t>map()</a:t>
            </a:r>
            <a:r>
              <a:rPr lang="en-US" sz="1400"/>
              <a:t> transforms elements of a collection to another collection with a transform criterion supplied by a function. It calls the supplied function on every element in the supplied iterable.</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US" sz="1400"/>
              <a:t>(It will return a </a:t>
            </a:r>
            <a:r>
              <a:rPr lang="en-US" sz="1400">
                <a:latin typeface="Roboto Mono Light"/>
                <a:ea typeface="Roboto Mono Light"/>
                <a:cs typeface="Roboto Mono Light"/>
                <a:sym typeface="Roboto Mono Light"/>
              </a:rPr>
              <a:t>map</a:t>
            </a:r>
            <a:r>
              <a:rPr lang="en-US" sz="1400"/>
              <a:t> object - which is iterable [via a </a:t>
            </a:r>
            <a:r>
              <a:rPr lang="en-US" sz="1400">
                <a:latin typeface="Roboto Mono Light"/>
                <a:ea typeface="Roboto Mono Light"/>
                <a:cs typeface="Roboto Mono Light"/>
                <a:sym typeface="Roboto Mono Light"/>
              </a:rPr>
              <a:t>for</a:t>
            </a:r>
            <a:r>
              <a:rPr lang="en-US" sz="1400"/>
              <a:t>, for instance]) - but if you'd prefer it as a list, you can convert it in place as shown to the right.)</a:t>
            </a:r>
            <a:endParaRPr sz="1400"/>
          </a:p>
        </p:txBody>
      </p:sp>
      <p:sp>
        <p:nvSpPr>
          <p:cNvPr id="237" name="Google Shape;237;p31"/>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def sub_one(n):</a:t>
            </a:r>
            <a:endParaRPr sz="14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return n-1</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nums = [7, 23, 4, 12, 45, 6]</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print('nums:', nums)</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mapped = list(</a:t>
            </a:r>
            <a:r>
              <a:rPr b="1" lang="en-US" sz="1400">
                <a:latin typeface="Roboto Mono"/>
                <a:ea typeface="Roboto Mono"/>
                <a:cs typeface="Roboto Mono"/>
                <a:sym typeface="Roboto Mono"/>
              </a:rPr>
              <a:t>map(</a:t>
            </a:r>
            <a:r>
              <a:rPr lang="en-US" sz="1400">
                <a:latin typeface="Roboto Mono Light"/>
                <a:ea typeface="Roboto Mono Light"/>
                <a:cs typeface="Roboto Mono Light"/>
                <a:sym typeface="Roboto Mono Light"/>
              </a:rPr>
              <a:t>sub_one, nums</a:t>
            </a:r>
            <a:r>
              <a:rPr b="1" lang="en-US" sz="1400">
                <a:latin typeface="Roboto Mono"/>
                <a:ea typeface="Roboto Mono"/>
                <a:cs typeface="Roboto Mono"/>
                <a:sym typeface="Roboto Mono"/>
              </a:rPr>
              <a:t>)</a:t>
            </a:r>
            <a:r>
              <a:rPr lang="en-US" sz="1400">
                <a:latin typeface="Roboto Mono Light"/>
                <a:ea typeface="Roboto Mono Light"/>
                <a:cs typeface="Roboto Mono Light"/>
                <a:sym typeface="Roboto Mono Light"/>
              </a:rPr>
              <a:t>)</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print('mapped:', mapped)</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&gt;&gt;&gt; nums: [7, 23, 4, 12, 45, 6]</a:t>
            </a:r>
            <a:endParaRPr sz="1400">
              <a:latin typeface="Roboto Mono Light"/>
              <a:ea typeface="Roboto Mono Light"/>
              <a:cs typeface="Roboto Mono Light"/>
              <a:sym typeface="Roboto Mono Light"/>
            </a:endParaRPr>
          </a:p>
          <a:p>
            <a:pPr indent="0" lvl="0" marL="0" rtl="0" algn="l">
              <a:spcBef>
                <a:spcPts val="0"/>
              </a:spcBef>
              <a:spcAft>
                <a:spcPts val="0"/>
              </a:spcAft>
              <a:buNone/>
            </a:pPr>
            <a:r>
              <a:rPr lang="en-US" sz="1400">
                <a:latin typeface="Roboto Mono Light"/>
                <a:ea typeface="Roboto Mono Light"/>
                <a:cs typeface="Roboto Mono Light"/>
                <a:sym typeface="Roboto Mono Light"/>
              </a:rPr>
              <a:t>&gt;&gt;&gt; mapped: [6, 22, 3, 11, 44, 5]</a:t>
            </a:r>
            <a:endParaRPr sz="1400">
              <a:latin typeface="Roboto Mono Light"/>
              <a:ea typeface="Roboto Mono Light"/>
              <a:cs typeface="Roboto Mono Light"/>
              <a:sym typeface="Roboto Mono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Built-in: </a:t>
            </a:r>
            <a:r>
              <a:rPr lang="en-US">
                <a:latin typeface="Roboto Mono"/>
                <a:ea typeface="Roboto Mono"/>
                <a:cs typeface="Roboto Mono"/>
                <a:sym typeface="Roboto Mono"/>
              </a:rPr>
              <a:t>reduce()</a:t>
            </a:r>
            <a:endParaRPr>
              <a:latin typeface="Roboto Mono"/>
              <a:ea typeface="Roboto Mono"/>
              <a:cs typeface="Roboto Mono"/>
              <a:sym typeface="Roboto Mono"/>
            </a:endParaRPr>
          </a:p>
        </p:txBody>
      </p:sp>
      <p:sp>
        <p:nvSpPr>
          <p:cNvPr id="244" name="Google Shape;244;p3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45" name="Google Shape;245;p3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latin typeface="Roboto Mono"/>
                <a:ea typeface="Roboto Mono"/>
                <a:cs typeface="Roboto Mono"/>
                <a:sym typeface="Roboto Mono"/>
              </a:rPr>
              <a:t>reduce()</a:t>
            </a:r>
            <a:r>
              <a:rPr lang="en-US"/>
              <a:t> folds a collection into one piece of data and returns it. In Python 3, it has been relegated into the </a:t>
            </a:r>
            <a:r>
              <a:rPr b="1" lang="en-US">
                <a:latin typeface="Roboto Mono"/>
                <a:ea typeface="Roboto Mono"/>
                <a:cs typeface="Roboto Mono"/>
                <a:sym typeface="Roboto Mono"/>
              </a:rPr>
              <a:t>functools</a:t>
            </a:r>
            <a:r>
              <a:rPr lang="en-US"/>
              <a:t> package, but it's still a very useful higher-order function found in many programming languages.</a:t>
            </a:r>
            <a:endParaRPr/>
          </a:p>
          <a:p>
            <a:pPr indent="0" lvl="0" marL="0" rtl="0" algn="l">
              <a:spcBef>
                <a:spcPts val="0"/>
              </a:spcBef>
              <a:spcAft>
                <a:spcPts val="0"/>
              </a:spcAft>
              <a:buNone/>
            </a:pPr>
            <a:r>
              <a:t/>
            </a:r>
            <a:endParaRPr/>
          </a:p>
        </p:txBody>
      </p:sp>
      <p:sp>
        <p:nvSpPr>
          <p:cNvPr id="246" name="Google Shape;246;p3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200">
                <a:latin typeface="Roboto Mono"/>
                <a:ea typeface="Roboto Mono"/>
                <a:cs typeface="Roboto Mono"/>
                <a:sym typeface="Roboto Mono"/>
              </a:rPr>
              <a:t>import functools</a:t>
            </a:r>
            <a:endParaRPr b="1"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def add_all(x, y):</a:t>
            </a:r>
            <a:endParaRPr sz="12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return x + y</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nums = [7, 23, 4, 12, 45, 6]</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print('nums:', nums)</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reduced = </a:t>
            </a:r>
            <a:r>
              <a:rPr b="1" lang="en-US" sz="1200">
                <a:latin typeface="Roboto Mono"/>
                <a:ea typeface="Roboto Mono"/>
                <a:cs typeface="Roboto Mono"/>
                <a:sym typeface="Roboto Mono"/>
              </a:rPr>
              <a:t>functools.reduce(</a:t>
            </a:r>
            <a:r>
              <a:rPr lang="en-US" sz="1200">
                <a:latin typeface="Roboto Mono Light"/>
                <a:ea typeface="Roboto Mono Light"/>
                <a:cs typeface="Roboto Mono Light"/>
                <a:sym typeface="Roboto Mono Light"/>
              </a:rPr>
              <a:t>add_all, nums</a:t>
            </a:r>
            <a:r>
              <a:rPr b="1" lang="en-US" sz="1200">
                <a:latin typeface="Roboto Mono"/>
                <a:ea typeface="Roboto Mono"/>
                <a:cs typeface="Roboto Mono"/>
                <a:sym typeface="Roboto Mono"/>
              </a:rPr>
              <a:t>)</a:t>
            </a:r>
            <a:endParaRPr b="1"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print('reduced:', reduced)</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2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1200">
                <a:latin typeface="Roboto Mono Light"/>
                <a:ea typeface="Roboto Mono Light"/>
                <a:cs typeface="Roboto Mono Light"/>
                <a:sym typeface="Roboto Mono Light"/>
              </a:rPr>
              <a:t>&gt;&gt;&gt; nums: [7, 23, 4, 12, 45, 6]</a:t>
            </a:r>
            <a:endParaRPr sz="1200">
              <a:latin typeface="Roboto Mono Light"/>
              <a:ea typeface="Roboto Mono Light"/>
              <a:cs typeface="Roboto Mono Light"/>
              <a:sym typeface="Roboto Mono Light"/>
            </a:endParaRPr>
          </a:p>
          <a:p>
            <a:pPr indent="0" lvl="0" marL="0" rtl="0" algn="l">
              <a:spcBef>
                <a:spcPts val="0"/>
              </a:spcBef>
              <a:spcAft>
                <a:spcPts val="0"/>
              </a:spcAft>
              <a:buNone/>
            </a:pPr>
            <a:r>
              <a:rPr lang="en-US" sz="1200">
                <a:latin typeface="Roboto Mono Light"/>
                <a:ea typeface="Roboto Mono Light"/>
                <a:cs typeface="Roboto Mono Light"/>
                <a:sym typeface="Roboto Mono Light"/>
              </a:rPr>
              <a:t>&gt;&gt;&gt; reduced: 97</a:t>
            </a:r>
            <a:endParaRPr sz="1200">
              <a:latin typeface="Roboto Mono Light"/>
              <a:ea typeface="Roboto Mono Light"/>
              <a:cs typeface="Roboto Mono Light"/>
              <a:sym typeface="Roboto Mono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Built-in: combining them</a:t>
            </a:r>
            <a:endParaRPr/>
          </a:p>
        </p:txBody>
      </p:sp>
      <p:sp>
        <p:nvSpPr>
          <p:cNvPr id="253" name="Google Shape;253;p33"/>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54" name="Google Shape;254;p33"/>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800">
                <a:latin typeface="Roboto Mono"/>
                <a:ea typeface="Roboto Mono"/>
                <a:cs typeface="Roboto Mono"/>
                <a:sym typeface="Roboto Mono"/>
              </a:rPr>
              <a:t>import functools</a:t>
            </a:r>
            <a:endParaRPr b="1" sz="8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def make_odd(n):</a:t>
            </a:r>
            <a:endParaRPr sz="8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return n-1</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def check_even(n):</a:t>
            </a:r>
            <a:endParaRPr sz="8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return n % 2 == 0</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def add_all(x, y):</a:t>
            </a:r>
            <a:endParaRPr sz="800">
              <a:latin typeface="Roboto Mono Light"/>
              <a:ea typeface="Roboto Mono Light"/>
              <a:cs typeface="Roboto Mono Light"/>
              <a:sym typeface="Roboto Mono Light"/>
            </a:endParaRPr>
          </a:p>
          <a:p>
            <a:pPr indent="45720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return x + y</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nums = [7, 23, 4, 12, 45, 6]</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print('nums:', nums)</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filtered = list(</a:t>
            </a:r>
            <a:r>
              <a:rPr b="1" lang="en-US" sz="800">
                <a:latin typeface="Roboto Mono"/>
                <a:ea typeface="Roboto Mono"/>
                <a:cs typeface="Roboto Mono"/>
                <a:sym typeface="Roboto Mono"/>
              </a:rPr>
              <a:t>filter(</a:t>
            </a:r>
            <a:r>
              <a:rPr lang="en-US" sz="800">
                <a:latin typeface="Roboto Mono Light"/>
                <a:ea typeface="Roboto Mono Light"/>
                <a:cs typeface="Roboto Mono Light"/>
                <a:sym typeface="Roboto Mono Light"/>
              </a:rPr>
              <a:t>check_even, nums</a:t>
            </a:r>
            <a:r>
              <a:rPr b="1" lang="en-US" sz="800">
                <a:latin typeface="Roboto Mono"/>
                <a:ea typeface="Roboto Mono"/>
                <a:cs typeface="Roboto Mono"/>
                <a:sym typeface="Roboto Mono"/>
              </a:rPr>
              <a:t>)</a:t>
            </a:r>
            <a:r>
              <a:rPr lang="en-US" sz="800">
                <a:latin typeface="Roboto Mono Light"/>
                <a:ea typeface="Roboto Mono Light"/>
                <a:cs typeface="Roboto Mono Light"/>
                <a:sym typeface="Roboto Mono Light"/>
              </a:rPr>
              <a:t>)</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print('filtered:', filtered)</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mapped = list(</a:t>
            </a:r>
            <a:r>
              <a:rPr b="1" lang="en-US" sz="800">
                <a:latin typeface="Roboto Mono"/>
                <a:ea typeface="Roboto Mono"/>
                <a:cs typeface="Roboto Mono"/>
                <a:sym typeface="Roboto Mono"/>
              </a:rPr>
              <a:t>map(</a:t>
            </a:r>
            <a:r>
              <a:rPr lang="en-US" sz="800">
                <a:latin typeface="Roboto Mono Light"/>
                <a:ea typeface="Roboto Mono Light"/>
                <a:cs typeface="Roboto Mono Light"/>
                <a:sym typeface="Roboto Mono Light"/>
              </a:rPr>
              <a:t>make_odd, filtered</a:t>
            </a:r>
            <a:r>
              <a:rPr b="1" lang="en-US" sz="800">
                <a:latin typeface="Roboto Mono"/>
                <a:ea typeface="Roboto Mono"/>
                <a:cs typeface="Roboto Mono"/>
                <a:sym typeface="Roboto Mono"/>
              </a:rPr>
              <a:t>)</a:t>
            </a:r>
            <a:r>
              <a:rPr lang="en-US" sz="800">
                <a:latin typeface="Roboto Mono Light"/>
                <a:ea typeface="Roboto Mono Light"/>
                <a:cs typeface="Roboto Mono Light"/>
                <a:sym typeface="Roboto Mono Light"/>
              </a:rPr>
              <a:t>)</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print('mapped:', mapped)</a:t>
            </a:r>
            <a:endParaRPr sz="8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rPr lang="en-US" sz="800">
                <a:latin typeface="Roboto Mono Light"/>
                <a:ea typeface="Roboto Mono Light"/>
                <a:cs typeface="Roboto Mono Light"/>
                <a:sym typeface="Roboto Mono Light"/>
              </a:rPr>
              <a:t>reduced = </a:t>
            </a:r>
            <a:r>
              <a:rPr b="1" lang="en-US" sz="800">
                <a:latin typeface="Roboto Mono"/>
                <a:ea typeface="Roboto Mono"/>
                <a:cs typeface="Roboto Mono"/>
                <a:sym typeface="Roboto Mono"/>
              </a:rPr>
              <a:t>functools.reduce(</a:t>
            </a:r>
            <a:r>
              <a:rPr lang="en-US" sz="800">
                <a:latin typeface="Roboto Mono Light"/>
                <a:ea typeface="Roboto Mono Light"/>
                <a:cs typeface="Roboto Mono Light"/>
                <a:sym typeface="Roboto Mono Light"/>
              </a:rPr>
              <a:t>add_all, mapped</a:t>
            </a:r>
            <a:r>
              <a:rPr b="1" lang="en-US" sz="800">
                <a:latin typeface="Roboto Mono"/>
                <a:ea typeface="Roboto Mono"/>
                <a:cs typeface="Roboto Mono"/>
                <a:sym typeface="Roboto Mono"/>
              </a:rPr>
              <a:t>)</a:t>
            </a:r>
            <a:endParaRPr b="1" sz="800">
              <a:latin typeface="Roboto Mono"/>
              <a:ea typeface="Roboto Mono"/>
              <a:cs typeface="Roboto Mono"/>
              <a:sym typeface="Roboto Mono"/>
            </a:endParaRPr>
          </a:p>
          <a:p>
            <a:pPr indent="0" lvl="0" marL="0" rtl="0" algn="l">
              <a:spcBef>
                <a:spcPts val="0"/>
              </a:spcBef>
              <a:spcAft>
                <a:spcPts val="0"/>
              </a:spcAft>
              <a:buNone/>
            </a:pPr>
            <a:r>
              <a:rPr lang="en-US" sz="800">
                <a:latin typeface="Roboto Mono Light"/>
                <a:ea typeface="Roboto Mono Light"/>
                <a:cs typeface="Roboto Mono Light"/>
                <a:sym typeface="Roboto Mono Light"/>
              </a:rPr>
              <a:t>print('reduced:', reduced)</a:t>
            </a:r>
            <a:endParaRPr sz="800">
              <a:latin typeface="Roboto Mono Light"/>
              <a:ea typeface="Roboto Mono Light"/>
              <a:cs typeface="Roboto Mono Light"/>
              <a:sym typeface="Roboto Mono Light"/>
            </a:endParaRPr>
          </a:p>
        </p:txBody>
      </p:sp>
      <p:sp>
        <p:nvSpPr>
          <p:cNvPr id="255" name="Google Shape;255;p33"/>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t>This code will manipulate a list such that all even numbers are decremented and then summed together. The output is as follows:</a:t>
            </a:r>
            <a:endParaRPr sz="1400"/>
          </a:p>
          <a:p>
            <a:pPr indent="0" lvl="0" marL="0" rtl="0" algn="l">
              <a:spcBef>
                <a:spcPts val="0"/>
              </a:spcBef>
              <a:spcAft>
                <a:spcPts val="0"/>
              </a:spcAft>
              <a:buClr>
                <a:schemeClr val="dk1"/>
              </a:buClr>
              <a:buSzPts val="1100"/>
              <a:buFont typeface="Arial"/>
              <a:buNone/>
            </a:pPr>
            <a:r>
              <a:t/>
            </a:r>
            <a:endParaRPr sz="1400"/>
          </a:p>
          <a:p>
            <a:pPr indent="0" lvl="0" marL="45720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&gt;&gt;&gt; nums: [7, 23, 4, 12, 45, 6]</a:t>
            </a:r>
            <a:endParaRPr sz="14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&gt;&gt;&gt; filtered: [4, 12, 6]</a:t>
            </a:r>
            <a:endParaRPr sz="1400">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&gt;&gt;&gt; mapped: [3, 11, 5]</a:t>
            </a:r>
            <a:endParaRPr sz="1400">
              <a:latin typeface="Roboto Mono Light"/>
              <a:ea typeface="Roboto Mono Light"/>
              <a:cs typeface="Roboto Mono Light"/>
              <a:sym typeface="Roboto Mono Light"/>
            </a:endParaRPr>
          </a:p>
          <a:p>
            <a:pPr indent="0" lvl="0" marL="457200" rtl="0" algn="l">
              <a:spcBef>
                <a:spcPts val="0"/>
              </a:spcBef>
              <a:spcAft>
                <a:spcPts val="0"/>
              </a:spcAft>
              <a:buNone/>
            </a:pPr>
            <a:r>
              <a:rPr lang="en-US" sz="1400">
                <a:latin typeface="Roboto Mono Light"/>
                <a:ea typeface="Roboto Mono Light"/>
                <a:cs typeface="Roboto Mono Light"/>
                <a:sym typeface="Roboto Mono Light"/>
              </a:rPr>
              <a:t>&gt;&gt;&gt; reduced: 19</a:t>
            </a:r>
            <a:endParaRPr sz="1400">
              <a:latin typeface="Roboto Mono Light"/>
              <a:ea typeface="Roboto Mono Light"/>
              <a:cs typeface="Roboto Mono Light"/>
              <a:sym typeface="Roboto Mon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4"/>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Challenge: higher-order</a:t>
            </a:r>
            <a:endParaRPr/>
          </a:p>
        </p:txBody>
      </p:sp>
      <p:sp>
        <p:nvSpPr>
          <p:cNvPr id="262" name="Google Shape;262;p34"/>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263" name="Google Shape;263;p34"/>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500"/>
              <a:t>Challenge # 1: write a program in functional- programming style which will, given a list of fruits, select only the ones starting with B, and add an exclamation point to the end of each. So for instance:</a:t>
            </a:r>
            <a:endParaRPr sz="1500"/>
          </a:p>
          <a:p>
            <a:pPr indent="0" lvl="0" marL="0" rtl="0" algn="l">
              <a:spcBef>
                <a:spcPts val="0"/>
              </a:spcBef>
              <a:spcAft>
                <a:spcPts val="0"/>
              </a:spcAft>
              <a:buClr>
                <a:schemeClr val="dk1"/>
              </a:buClr>
              <a:buSzPts val="1100"/>
              <a:buFont typeface="Arial"/>
              <a:buNone/>
            </a:pPr>
            <a:r>
              <a:t/>
            </a:r>
            <a:endParaRPr sz="1500"/>
          </a:p>
          <a:p>
            <a:pPr indent="0" lvl="0" marL="457200" rtl="0" algn="l">
              <a:spcBef>
                <a:spcPts val="0"/>
              </a:spcBef>
              <a:spcAft>
                <a:spcPts val="0"/>
              </a:spcAft>
              <a:buClr>
                <a:schemeClr val="dk1"/>
              </a:buClr>
              <a:buSzPts val="1100"/>
              <a:buFont typeface="Arial"/>
              <a:buNone/>
            </a:pPr>
            <a:r>
              <a:rPr lang="en-US" sz="1500">
                <a:latin typeface="Roboto Mono Light"/>
                <a:ea typeface="Roboto Mono Light"/>
                <a:cs typeface="Roboto Mono Light"/>
                <a:sym typeface="Roboto Mono Light"/>
              </a:rPr>
              <a:t>&gt;&gt;&gt; </a:t>
            </a:r>
            <a:r>
              <a:rPr lang="en-US" sz="1500">
                <a:solidFill>
                  <a:schemeClr val="dk1"/>
                </a:solidFill>
                <a:latin typeface="Roboto Mono Light"/>
                <a:ea typeface="Roboto Mono Light"/>
                <a:cs typeface="Roboto Mono Light"/>
                <a:sym typeface="Roboto Mono Light"/>
              </a:rPr>
              <a:t>['blueberry', 'pear', 'grape', 'apricot', 'durian', 'banana', 'blackberry']</a:t>
            </a:r>
            <a:endParaRPr sz="15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Clr>
                <a:schemeClr val="dk1"/>
              </a:buClr>
              <a:buSzPts val="1100"/>
              <a:buFont typeface="Arial"/>
              <a:buNone/>
            </a:pPr>
            <a:r>
              <a:rPr lang="en-US" sz="1500"/>
              <a:t>becomes:</a:t>
            </a:r>
            <a:endParaRPr sz="1500"/>
          </a:p>
          <a:p>
            <a:pPr indent="0" lvl="0" marL="0" rtl="0" algn="l">
              <a:spcBef>
                <a:spcPts val="0"/>
              </a:spcBef>
              <a:spcAft>
                <a:spcPts val="0"/>
              </a:spcAft>
              <a:buClr>
                <a:schemeClr val="dk1"/>
              </a:buClr>
              <a:buSzPts val="1100"/>
              <a:buFont typeface="Arial"/>
              <a:buNone/>
            </a:pPr>
            <a:r>
              <a:t/>
            </a:r>
            <a:endParaRPr sz="1500"/>
          </a:p>
          <a:p>
            <a:pPr indent="0" lvl="0" marL="457200" rtl="0" algn="l">
              <a:spcBef>
                <a:spcPts val="0"/>
              </a:spcBef>
              <a:spcAft>
                <a:spcPts val="0"/>
              </a:spcAft>
              <a:buNone/>
            </a:pPr>
            <a:r>
              <a:rPr lang="en-US" sz="1500">
                <a:latin typeface="Roboto Mono Light"/>
                <a:ea typeface="Roboto Mono Light"/>
                <a:cs typeface="Roboto Mono Light"/>
                <a:sym typeface="Roboto Mono Light"/>
              </a:rPr>
              <a:t>&gt;&gt;&gt; ['blueberry!', 'banana!', 'blackberry!']</a:t>
            </a:r>
            <a:endParaRPr sz="1500">
              <a:latin typeface="Roboto Mono Light"/>
              <a:ea typeface="Roboto Mono Light"/>
              <a:cs typeface="Roboto Mono Light"/>
              <a:sym typeface="Roboto Mono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5"/>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Challenge: higher-order solution</a:t>
            </a:r>
            <a:endParaRPr/>
          </a:p>
        </p:txBody>
      </p:sp>
      <p:sp>
        <p:nvSpPr>
          <p:cNvPr id="270" name="Google Shape;270;p35"/>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71" name="Google Shape;271;p35"/>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300">
                <a:latin typeface="Roboto Mono Light"/>
                <a:ea typeface="Roboto Mono Light"/>
                <a:cs typeface="Roboto Mono Light"/>
                <a:sym typeface="Roboto Mono Light"/>
              </a:rPr>
              <a:t>def starts_with_b(f):</a:t>
            </a:r>
            <a:endParaRPr sz="1300">
              <a:latin typeface="Roboto Mono Light"/>
              <a:ea typeface="Roboto Mono Light"/>
              <a:cs typeface="Roboto Mono Light"/>
              <a:sym typeface="Roboto Mono Light"/>
            </a:endParaRPr>
          </a:p>
          <a:p>
            <a:pPr indent="457200" lvl="0" marL="0" rtl="0" algn="l">
              <a:spcBef>
                <a:spcPts val="0"/>
              </a:spcBef>
              <a:spcAft>
                <a:spcPts val="0"/>
              </a:spcAft>
              <a:buNone/>
            </a:pPr>
            <a:r>
              <a:rPr lang="en-US" sz="1300">
                <a:latin typeface="Roboto Mono Light"/>
                <a:ea typeface="Roboto Mono Light"/>
                <a:cs typeface="Roboto Mono Light"/>
                <a:sym typeface="Roboto Mono Light"/>
              </a:rPr>
              <a:t>return f[0].lower() == 'b'</a:t>
            </a:r>
            <a:endParaRPr sz="1300">
              <a:latin typeface="Roboto Mono Light"/>
              <a:ea typeface="Roboto Mono Light"/>
              <a:cs typeface="Roboto Mono Light"/>
              <a:sym typeface="Roboto Mono Light"/>
            </a:endParaRPr>
          </a:p>
          <a:p>
            <a:pPr indent="0" lvl="0" marL="0" rtl="0" algn="l">
              <a:spcBef>
                <a:spcPts val="0"/>
              </a:spcBef>
              <a:spcAft>
                <a:spcPts val="0"/>
              </a:spcAft>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None/>
            </a:pPr>
            <a:r>
              <a:rPr lang="en-US" sz="1300">
                <a:latin typeface="Roboto Mono Light"/>
                <a:ea typeface="Roboto Mono Light"/>
                <a:cs typeface="Roboto Mono Light"/>
                <a:sym typeface="Roboto Mono Light"/>
              </a:rPr>
              <a:t>def exclaim_end(f):</a:t>
            </a:r>
            <a:endParaRPr sz="1300">
              <a:latin typeface="Roboto Mono Light"/>
              <a:ea typeface="Roboto Mono Light"/>
              <a:cs typeface="Roboto Mono Light"/>
              <a:sym typeface="Roboto Mono Light"/>
            </a:endParaRPr>
          </a:p>
          <a:p>
            <a:pPr indent="457200" lvl="0" marL="0" rtl="0" algn="l">
              <a:spcBef>
                <a:spcPts val="0"/>
              </a:spcBef>
              <a:spcAft>
                <a:spcPts val="0"/>
              </a:spcAft>
              <a:buNone/>
            </a:pPr>
            <a:r>
              <a:rPr lang="en-US" sz="1300">
                <a:latin typeface="Roboto Mono Light"/>
                <a:ea typeface="Roboto Mono Light"/>
                <a:cs typeface="Roboto Mono Light"/>
                <a:sym typeface="Roboto Mono Light"/>
              </a:rPr>
              <a:t>return f + '!'</a:t>
            </a:r>
            <a:endParaRPr sz="1300">
              <a:latin typeface="Roboto Mono Light"/>
              <a:ea typeface="Roboto Mono Light"/>
              <a:cs typeface="Roboto Mono Light"/>
              <a:sym typeface="Roboto Mono Light"/>
            </a:endParaRPr>
          </a:p>
          <a:p>
            <a:pPr indent="0" lvl="0" marL="0" rtl="0" algn="l">
              <a:spcBef>
                <a:spcPts val="0"/>
              </a:spcBef>
              <a:spcAft>
                <a:spcPts val="0"/>
              </a:spcAft>
              <a:buNone/>
            </a:pPr>
            <a:r>
              <a:t/>
            </a:r>
            <a:endParaRPr sz="1300">
              <a:latin typeface="Roboto Mono Light"/>
              <a:ea typeface="Roboto Mono Light"/>
              <a:cs typeface="Roboto Mono Light"/>
              <a:sym typeface="Roboto Mono Light"/>
            </a:endParaRPr>
          </a:p>
          <a:p>
            <a:pPr indent="0" lvl="0" marL="0" rtl="0" algn="l">
              <a:spcBef>
                <a:spcPts val="0"/>
              </a:spcBef>
              <a:spcAft>
                <a:spcPts val="0"/>
              </a:spcAft>
              <a:buNone/>
            </a:pPr>
            <a:r>
              <a:rPr lang="en-US" sz="1300">
                <a:latin typeface="Roboto Mono Light"/>
                <a:ea typeface="Roboto Mono Light"/>
                <a:cs typeface="Roboto Mono Light"/>
                <a:sym typeface="Roboto Mono Light"/>
              </a:rPr>
              <a:t>def main():</a:t>
            </a:r>
            <a:endParaRPr sz="1300">
              <a:latin typeface="Roboto Mono Light"/>
              <a:ea typeface="Roboto Mono Light"/>
              <a:cs typeface="Roboto Mono Light"/>
              <a:sym typeface="Roboto Mono Light"/>
            </a:endParaRPr>
          </a:p>
          <a:p>
            <a:pPr indent="0" lvl="0" marL="457200" rtl="0" algn="l">
              <a:spcBef>
                <a:spcPts val="0"/>
              </a:spcBef>
              <a:spcAft>
                <a:spcPts val="0"/>
              </a:spcAft>
              <a:buNone/>
            </a:pPr>
            <a:r>
              <a:rPr lang="en-US" sz="1300">
                <a:latin typeface="Roboto Mono Light"/>
                <a:ea typeface="Roboto Mono Light"/>
                <a:cs typeface="Roboto Mono Light"/>
                <a:sym typeface="Roboto Mono Light"/>
              </a:rPr>
              <a:t>fruits = ['blueberry', 'pear', 'grape', 'apricot', 'durian', 'banana', 'blackberry']</a:t>
            </a:r>
            <a:endParaRPr sz="1300">
              <a:latin typeface="Roboto Mono Light"/>
              <a:ea typeface="Roboto Mono Light"/>
              <a:cs typeface="Roboto Mono Light"/>
              <a:sym typeface="Roboto Mono Light"/>
            </a:endParaRPr>
          </a:p>
          <a:p>
            <a:pPr indent="0" lvl="0" marL="457200" rtl="0" algn="l">
              <a:spcBef>
                <a:spcPts val="0"/>
              </a:spcBef>
              <a:spcAft>
                <a:spcPts val="0"/>
              </a:spcAft>
              <a:buNone/>
            </a:pPr>
            <a:r>
              <a:rPr lang="en-US" sz="1300">
                <a:latin typeface="Roboto Mono Light"/>
                <a:ea typeface="Roboto Mono Light"/>
                <a:cs typeface="Roboto Mono Light"/>
                <a:sym typeface="Roboto Mono Light"/>
              </a:rPr>
              <a:t>only_b = </a:t>
            </a:r>
            <a:r>
              <a:rPr b="1" lang="en-US" sz="1300">
                <a:latin typeface="Roboto Mono"/>
                <a:ea typeface="Roboto Mono"/>
                <a:cs typeface="Roboto Mono"/>
                <a:sym typeface="Roboto Mono"/>
              </a:rPr>
              <a:t>filter(</a:t>
            </a:r>
            <a:r>
              <a:rPr lang="en-US" sz="1300">
                <a:latin typeface="Roboto Mono Light"/>
                <a:ea typeface="Roboto Mono Light"/>
                <a:cs typeface="Roboto Mono Light"/>
                <a:sym typeface="Roboto Mono Light"/>
              </a:rPr>
              <a:t>starts_with_b, fruits</a:t>
            </a:r>
            <a:r>
              <a:rPr b="1" lang="en-US" sz="1300">
                <a:latin typeface="Roboto Mono"/>
                <a:ea typeface="Roboto Mono"/>
                <a:cs typeface="Roboto Mono"/>
                <a:sym typeface="Roboto Mono"/>
              </a:rPr>
              <a:t>)</a:t>
            </a:r>
            <a:endParaRPr b="1" sz="1300">
              <a:latin typeface="Roboto Mono"/>
              <a:ea typeface="Roboto Mono"/>
              <a:cs typeface="Roboto Mono"/>
              <a:sym typeface="Roboto Mono"/>
            </a:endParaRPr>
          </a:p>
          <a:p>
            <a:pPr indent="0" lvl="0" marL="457200" rtl="0" algn="l">
              <a:spcBef>
                <a:spcPts val="0"/>
              </a:spcBef>
              <a:spcAft>
                <a:spcPts val="0"/>
              </a:spcAft>
              <a:buNone/>
            </a:pPr>
            <a:r>
              <a:rPr lang="en-US" sz="1300">
                <a:latin typeface="Roboto Mono Light"/>
                <a:ea typeface="Roboto Mono Light"/>
                <a:cs typeface="Roboto Mono Light"/>
                <a:sym typeface="Roboto Mono Light"/>
              </a:rPr>
              <a:t>yay_fruit = </a:t>
            </a:r>
            <a:r>
              <a:rPr b="1" lang="en-US" sz="1300">
                <a:latin typeface="Roboto Mono"/>
                <a:ea typeface="Roboto Mono"/>
                <a:cs typeface="Roboto Mono"/>
                <a:sym typeface="Roboto Mono"/>
              </a:rPr>
              <a:t>map(</a:t>
            </a:r>
            <a:r>
              <a:rPr lang="en-US" sz="1300">
                <a:latin typeface="Roboto Mono Light"/>
                <a:ea typeface="Roboto Mono Light"/>
                <a:cs typeface="Roboto Mono Light"/>
                <a:sym typeface="Roboto Mono Light"/>
              </a:rPr>
              <a:t>exclaim_end, only_b</a:t>
            </a:r>
            <a:r>
              <a:rPr b="1" lang="en-US" sz="1300">
                <a:latin typeface="Roboto Mono"/>
                <a:ea typeface="Roboto Mono"/>
                <a:cs typeface="Roboto Mono"/>
                <a:sym typeface="Roboto Mono"/>
              </a:rPr>
              <a:t>)</a:t>
            </a:r>
            <a:endParaRPr b="1" sz="1300">
              <a:latin typeface="Roboto Mono"/>
              <a:ea typeface="Roboto Mono"/>
              <a:cs typeface="Roboto Mono"/>
              <a:sym typeface="Roboto Mono"/>
            </a:endParaRPr>
          </a:p>
          <a:p>
            <a:pPr indent="0" lvl="0" marL="457200" rtl="0" algn="l">
              <a:spcBef>
                <a:spcPts val="0"/>
              </a:spcBef>
              <a:spcAft>
                <a:spcPts val="0"/>
              </a:spcAft>
              <a:buNone/>
            </a:pPr>
            <a:r>
              <a:rPr lang="en-US" sz="1300">
                <a:latin typeface="Roboto Mono Light"/>
                <a:ea typeface="Roboto Mono Light"/>
                <a:cs typeface="Roboto Mono Light"/>
                <a:sym typeface="Roboto Mono Light"/>
              </a:rPr>
              <a:t>print(list(yay_fruit))</a:t>
            </a:r>
            <a:endParaRPr sz="1300">
              <a:latin typeface="Roboto Mono Light"/>
              <a:ea typeface="Roboto Mono Light"/>
              <a:cs typeface="Roboto Mono Light"/>
              <a:sym typeface="Roboto Mono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6"/>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Lambdas: who are you?</a:t>
            </a:r>
            <a:endParaRPr/>
          </a:p>
        </p:txBody>
      </p:sp>
      <p:sp>
        <p:nvSpPr>
          <p:cNvPr id="278" name="Google Shape;278;p36"/>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79" name="Google Shape;279;p36"/>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While writing functional programs, you will likely end up writing many small functions to use as building blocks for larger functions. As such, many of them aren't really even going to warrant needing a name. There are constructs in many languages which allow you to write </a:t>
            </a:r>
            <a:r>
              <a:rPr b="1" lang="en-US" sz="1500"/>
              <a:t>anonymous functions</a:t>
            </a:r>
            <a:r>
              <a:rPr lang="en-US" sz="1500"/>
              <a:t> - functions with no name. In Python, the </a:t>
            </a:r>
            <a:r>
              <a:rPr b="1" lang="en-US" sz="1500"/>
              <a:t>lambda</a:t>
            </a:r>
            <a:r>
              <a:rPr lang="en-US" sz="1500"/>
              <a:t> is an anonymous function which allows you to write in functional-style quickly and efficiently.</a:t>
            </a:r>
            <a:endParaRPr sz="1500"/>
          </a:p>
        </p:txBody>
      </p:sp>
      <p:sp>
        <p:nvSpPr>
          <p:cNvPr id="280" name="Google Shape;280;p36"/>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300"/>
              <a:t>Lambdas are just shorter forms of functions which contain one-line expressions. You don't use </a:t>
            </a:r>
            <a:r>
              <a:rPr lang="en-US" sz="1300">
                <a:latin typeface="Roboto Mono Light"/>
                <a:ea typeface="Roboto Mono Light"/>
                <a:cs typeface="Roboto Mono Light"/>
                <a:sym typeface="Roboto Mono Light"/>
              </a:rPr>
              <a:t>def</a:t>
            </a:r>
            <a:r>
              <a:rPr lang="en-US" sz="1300"/>
              <a:t> or </a:t>
            </a:r>
            <a:r>
              <a:rPr lang="en-US" sz="1300">
                <a:latin typeface="Roboto Mono Light"/>
                <a:ea typeface="Roboto Mono Light"/>
                <a:cs typeface="Roboto Mono Light"/>
                <a:sym typeface="Roboto Mono Light"/>
              </a:rPr>
              <a:t>return</a:t>
            </a:r>
            <a:r>
              <a:rPr lang="en-US" sz="1300"/>
              <a:t> (or </a:t>
            </a:r>
            <a:r>
              <a:rPr lang="en-US" sz="1300">
                <a:latin typeface="Roboto Mono Light"/>
                <a:ea typeface="Roboto Mono Light"/>
                <a:cs typeface="Roboto Mono Light"/>
                <a:sym typeface="Roboto Mono Light"/>
              </a:rPr>
              <a:t>yield</a:t>
            </a:r>
            <a:r>
              <a:rPr lang="en-US" sz="1300"/>
              <a:t>, for that matter). The one line expression is the return value of the lambda. You must remember that </a:t>
            </a:r>
            <a:r>
              <a:rPr b="1" lang="en-US" sz="1300"/>
              <a:t>the lambda can have any number of arguments, but </a:t>
            </a:r>
            <a:r>
              <a:rPr b="1" i="1" lang="en-US" sz="1300"/>
              <a:t>only one</a:t>
            </a:r>
            <a:r>
              <a:rPr b="1" lang="en-US" sz="1300"/>
              <a:t> expression, which is evaluated and returned.</a:t>
            </a:r>
            <a:endParaRPr b="1"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None/>
            </a:pPr>
            <a:r>
              <a:rPr lang="en-US" sz="1300"/>
              <a:t>Usually, lambdas are higher-order functions, and they are handy for quickly creating building blocks for functional programming codebases.</a:t>
            </a:r>
            <a:endParaRPr sz="13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7"/>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Lambdas: syntax and examples</a:t>
            </a:r>
            <a:endParaRPr/>
          </a:p>
        </p:txBody>
      </p:sp>
      <p:sp>
        <p:nvSpPr>
          <p:cNvPr id="287" name="Google Shape;287;p37"/>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88" name="Google Shape;288;p37"/>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400"/>
              <a:t>Syntax for a lambda is very simple:</a:t>
            </a:r>
            <a:endParaRPr sz="1400"/>
          </a:p>
          <a:p>
            <a:pPr indent="0" lvl="0" marL="0" rtl="0" algn="l">
              <a:spcBef>
                <a:spcPts val="0"/>
              </a:spcBef>
              <a:spcAft>
                <a:spcPts val="0"/>
              </a:spcAft>
              <a:buClr>
                <a:schemeClr val="dk1"/>
              </a:buClr>
              <a:buSzPts val="1100"/>
              <a:buFont typeface="Arial"/>
              <a:buNone/>
            </a:pPr>
            <a:r>
              <a:t/>
            </a:r>
            <a:endParaRPr sz="1400"/>
          </a:p>
          <a:p>
            <a:pPr indent="0" lvl="0" marL="457200" rtl="0" algn="l">
              <a:spcBef>
                <a:spcPts val="0"/>
              </a:spcBef>
              <a:spcAft>
                <a:spcPts val="0"/>
              </a:spcAft>
              <a:buClr>
                <a:schemeClr val="dk1"/>
              </a:buClr>
              <a:buSzPts val="1100"/>
              <a:buFont typeface="Arial"/>
              <a:buNone/>
            </a:pPr>
            <a:r>
              <a:rPr b="1" lang="en-US" sz="1400">
                <a:latin typeface="Roboto Mono"/>
                <a:ea typeface="Roboto Mono"/>
                <a:cs typeface="Roboto Mono"/>
                <a:sym typeface="Roboto Mono"/>
              </a:rPr>
              <a:t>lambda</a:t>
            </a:r>
            <a:r>
              <a:rPr lang="en-US" sz="1400">
                <a:latin typeface="Roboto Mono Light"/>
                <a:ea typeface="Roboto Mono Light"/>
                <a:cs typeface="Roboto Mono Light"/>
                <a:sym typeface="Roboto Mono Light"/>
              </a:rPr>
              <a:t> parameters: expression</a:t>
            </a:r>
            <a:endParaRPr sz="1400">
              <a:latin typeface="Roboto Mono Light"/>
              <a:ea typeface="Roboto Mono Light"/>
              <a:cs typeface="Roboto Mono Light"/>
              <a:sym typeface="Roboto Mono Light"/>
            </a:endParaRPr>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lang="en-US" sz="1400"/>
              <a:t>So for example:</a:t>
            </a:r>
            <a:endParaRPr sz="1400"/>
          </a:p>
          <a:p>
            <a:pPr indent="0" lvl="0" marL="0" rtl="0" algn="l">
              <a:spcBef>
                <a:spcPts val="0"/>
              </a:spcBef>
              <a:spcAft>
                <a:spcPts val="0"/>
              </a:spcAft>
              <a:buClr>
                <a:schemeClr val="dk1"/>
              </a:buClr>
              <a:buSzPts val="1100"/>
              <a:buFont typeface="Arial"/>
              <a:buNone/>
            </a:pPr>
            <a:r>
              <a:t/>
            </a:r>
            <a:endParaRPr sz="1400"/>
          </a:p>
          <a:p>
            <a:pPr indent="0" lvl="0" marL="457200" marR="0" rtl="0" algn="l">
              <a:lnSpc>
                <a:spcPct val="150000"/>
              </a:lnSpc>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first_lambda = </a:t>
            </a:r>
            <a:r>
              <a:rPr b="1" lang="en-US" sz="1400">
                <a:latin typeface="Roboto Mono"/>
                <a:ea typeface="Roboto Mono"/>
                <a:cs typeface="Roboto Mono"/>
                <a:sym typeface="Roboto Mono"/>
              </a:rPr>
              <a:t>lambda x: x + 5</a:t>
            </a:r>
            <a:endParaRPr b="1" sz="1400">
              <a:latin typeface="Roboto Mono"/>
              <a:ea typeface="Roboto Mono"/>
              <a:cs typeface="Roboto Mono"/>
              <a:sym typeface="Roboto Mono"/>
            </a:endParaRPr>
          </a:p>
          <a:p>
            <a:pPr indent="0" lvl="0" marL="457200" marR="0" rtl="0" algn="l">
              <a:lnSpc>
                <a:spcPct val="150000"/>
              </a:lnSpc>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print(first_lambda(5))</a:t>
            </a:r>
            <a:endParaRPr sz="14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t/>
            </a:r>
            <a:endParaRPr sz="14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&gt;&gt;&gt; 10</a:t>
            </a:r>
            <a:endParaRPr sz="1400">
              <a:latin typeface="Roboto Mono Light"/>
              <a:ea typeface="Roboto Mono Light"/>
              <a:cs typeface="Roboto Mono Light"/>
              <a:sym typeface="Roboto Mono Light"/>
            </a:endParaRPr>
          </a:p>
          <a:p>
            <a:pPr indent="0" lvl="0" marL="457200" rtl="0" algn="l">
              <a:spcBef>
                <a:spcPts val="0"/>
              </a:spcBef>
              <a:spcAft>
                <a:spcPts val="0"/>
              </a:spcAft>
              <a:buNone/>
            </a:pPr>
            <a:r>
              <a:t/>
            </a:r>
            <a:endParaRPr sz="1400"/>
          </a:p>
        </p:txBody>
      </p:sp>
      <p:sp>
        <p:nvSpPr>
          <p:cNvPr id="289" name="Google Shape;289;p37"/>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The lambda on the left is equivalent to:</a:t>
            </a:r>
            <a:endParaRPr sz="1400"/>
          </a:p>
          <a:p>
            <a:pPr indent="0" lvl="0" marL="0" rtl="0" algn="l">
              <a:spcBef>
                <a:spcPts val="0"/>
              </a:spcBef>
              <a:spcAft>
                <a:spcPts val="0"/>
              </a:spcAft>
              <a:buNone/>
            </a:pPr>
            <a:r>
              <a:t/>
            </a:r>
            <a:endParaRPr sz="1400"/>
          </a:p>
          <a:p>
            <a:pPr indent="0" lvl="0" marL="457200" marR="0" rtl="0" algn="l">
              <a:lnSpc>
                <a:spcPct val="150000"/>
              </a:lnSpc>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def plus_five(x):</a:t>
            </a:r>
            <a:endParaRPr sz="1400">
              <a:latin typeface="Roboto Mono Light"/>
              <a:ea typeface="Roboto Mono Light"/>
              <a:cs typeface="Roboto Mono Light"/>
              <a:sym typeface="Roboto Mono Light"/>
            </a:endParaRPr>
          </a:p>
          <a:p>
            <a:pPr indent="457200" lvl="0" marL="457200" marR="0" rtl="0" algn="l">
              <a:lnSpc>
                <a:spcPct val="150000"/>
              </a:lnSpc>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return x + 5</a:t>
            </a:r>
            <a:endParaRPr sz="1400">
              <a:latin typeface="Roboto Mono Light"/>
              <a:ea typeface="Roboto Mono Light"/>
              <a:cs typeface="Roboto Mono Light"/>
              <a:sym typeface="Roboto Mono Light"/>
            </a:endParaRPr>
          </a:p>
          <a:p>
            <a:pPr indent="0" lvl="0" marL="457200" marR="0" rtl="0" algn="l">
              <a:lnSpc>
                <a:spcPct val="150000"/>
              </a:lnSpc>
              <a:spcBef>
                <a:spcPts val="0"/>
              </a:spcBef>
              <a:spcAft>
                <a:spcPts val="0"/>
              </a:spcAft>
              <a:buClr>
                <a:schemeClr val="dk1"/>
              </a:buClr>
              <a:buSzPts val="1100"/>
              <a:buFont typeface="Arial"/>
              <a:buNone/>
            </a:pPr>
            <a:r>
              <a:rPr lang="en-US" sz="1400">
                <a:latin typeface="Roboto Mono Light"/>
                <a:ea typeface="Roboto Mono Light"/>
                <a:cs typeface="Roboto Mono Light"/>
                <a:sym typeface="Roboto Mono Light"/>
              </a:rPr>
              <a:t>print(plus_five(5))</a:t>
            </a:r>
            <a:endParaRPr sz="1400">
              <a:latin typeface="Courier New"/>
              <a:ea typeface="Courier New"/>
              <a:cs typeface="Courier New"/>
              <a:sym typeface="Courier New"/>
            </a:endParaRPr>
          </a:p>
          <a:p>
            <a:pPr indent="0" lvl="0" marL="0" rtl="0" algn="l">
              <a:spcBef>
                <a:spcPts val="0"/>
              </a:spcBef>
              <a:spcAft>
                <a:spcPts val="0"/>
              </a:spcAft>
              <a:buNone/>
            </a:pPr>
            <a:r>
              <a:t/>
            </a:r>
            <a:endParaRPr sz="1400"/>
          </a:p>
          <a:p>
            <a:pPr indent="0" lvl="0" marL="0" rtl="0" algn="l">
              <a:spcBef>
                <a:spcPts val="0"/>
              </a:spcBef>
              <a:spcAft>
                <a:spcPts val="0"/>
              </a:spcAft>
              <a:buNone/>
            </a:pPr>
            <a:r>
              <a:rPr lang="en-US" sz="1400"/>
              <a:t>But with the benefit of not needing to worry about defining a function.</a:t>
            </a:r>
            <a:endParaRPr sz="14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8"/>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Challenge: anonymous</a:t>
            </a:r>
            <a:endParaRPr/>
          </a:p>
        </p:txBody>
      </p:sp>
      <p:sp>
        <p:nvSpPr>
          <p:cNvPr id="296" name="Google Shape;296;p38"/>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97" name="Google Shape;297;p38"/>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800"/>
              <a:t>Modify the previous program so that both criterion functions are anonymous; in other words, update your code to move it toward a functional programming style.</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Challenge: anonymous solution</a:t>
            </a:r>
            <a:endParaRPr/>
          </a:p>
        </p:txBody>
      </p:sp>
      <p:sp>
        <p:nvSpPr>
          <p:cNvPr id="304" name="Google Shape;304;p39"/>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05" name="Google Shape;305;p39"/>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Roboto Mono Light"/>
                <a:ea typeface="Roboto Mono Light"/>
                <a:cs typeface="Roboto Mono Light"/>
                <a:sym typeface="Roboto Mono Light"/>
              </a:rPr>
              <a:t>def main():</a:t>
            </a:r>
            <a:endParaRPr>
              <a:latin typeface="Roboto Mono Light"/>
              <a:ea typeface="Roboto Mono Light"/>
              <a:cs typeface="Roboto Mono Light"/>
              <a:sym typeface="Roboto Mono Light"/>
            </a:endParaRPr>
          </a:p>
          <a:p>
            <a:pPr indent="0" lvl="0" marL="457200" rtl="0" algn="l">
              <a:spcBef>
                <a:spcPts val="0"/>
              </a:spcBef>
              <a:spcAft>
                <a:spcPts val="0"/>
              </a:spcAft>
              <a:buNone/>
            </a:pPr>
            <a:r>
              <a:rPr lang="en-US">
                <a:solidFill>
                  <a:schemeClr val="dk1"/>
                </a:solidFill>
                <a:latin typeface="Roboto Mono Light"/>
                <a:ea typeface="Roboto Mono Light"/>
                <a:cs typeface="Roboto Mono Light"/>
                <a:sym typeface="Roboto Mono Light"/>
              </a:rPr>
              <a:t>fruits = ['blueberry', 'pear', 'grape', 'apricot', 'durian', 'banana', 'blackberry']</a:t>
            </a:r>
            <a:endParaRPr>
              <a:latin typeface="Roboto Mono Light"/>
              <a:ea typeface="Roboto Mono Light"/>
              <a:cs typeface="Roboto Mono Light"/>
              <a:sym typeface="Roboto Mono Light"/>
            </a:endParaRPr>
          </a:p>
          <a:p>
            <a:pPr indent="0" lvl="0" marL="457200" rtl="0" algn="l">
              <a:spcBef>
                <a:spcPts val="0"/>
              </a:spcBef>
              <a:spcAft>
                <a:spcPts val="0"/>
              </a:spcAft>
              <a:buNone/>
            </a:pPr>
            <a:r>
              <a:rPr lang="en-US">
                <a:latin typeface="Roboto Mono Light"/>
                <a:ea typeface="Roboto Mono Light"/>
                <a:cs typeface="Roboto Mono Light"/>
                <a:sym typeface="Roboto Mono Light"/>
              </a:rPr>
              <a:t>only_b = </a:t>
            </a:r>
            <a:r>
              <a:rPr b="1" lang="en-US">
                <a:latin typeface="Roboto Mono"/>
                <a:ea typeface="Roboto Mono"/>
                <a:cs typeface="Roboto Mono"/>
                <a:sym typeface="Roboto Mono"/>
              </a:rPr>
              <a:t>filter((lambda f: f[0].lower() == 'b')</a:t>
            </a:r>
            <a:r>
              <a:rPr lang="en-US">
                <a:latin typeface="Roboto Mono Light"/>
                <a:ea typeface="Roboto Mono Light"/>
                <a:cs typeface="Roboto Mono Light"/>
                <a:sym typeface="Roboto Mono Light"/>
              </a:rPr>
              <a:t>, fruits)</a:t>
            </a:r>
            <a:endParaRPr>
              <a:latin typeface="Roboto Mono Light"/>
              <a:ea typeface="Roboto Mono Light"/>
              <a:cs typeface="Roboto Mono Light"/>
              <a:sym typeface="Roboto Mono Light"/>
            </a:endParaRPr>
          </a:p>
          <a:p>
            <a:pPr indent="0" lvl="0" marL="457200" rtl="0" algn="l">
              <a:spcBef>
                <a:spcPts val="0"/>
              </a:spcBef>
              <a:spcAft>
                <a:spcPts val="0"/>
              </a:spcAft>
              <a:buNone/>
            </a:pPr>
            <a:r>
              <a:rPr lang="en-US">
                <a:latin typeface="Roboto Mono Light"/>
                <a:ea typeface="Roboto Mono Light"/>
                <a:cs typeface="Roboto Mono Light"/>
                <a:sym typeface="Roboto Mono Light"/>
              </a:rPr>
              <a:t>yay_fruit = </a:t>
            </a:r>
            <a:r>
              <a:rPr b="1" lang="en-US">
                <a:latin typeface="Roboto Mono"/>
                <a:ea typeface="Roboto Mono"/>
                <a:cs typeface="Roboto Mono"/>
                <a:sym typeface="Roboto Mono"/>
              </a:rPr>
              <a:t>map((lambda f: f + '!')</a:t>
            </a:r>
            <a:r>
              <a:rPr lang="en-US">
                <a:latin typeface="Roboto Mono Light"/>
                <a:ea typeface="Roboto Mono Light"/>
                <a:cs typeface="Roboto Mono Light"/>
                <a:sym typeface="Roboto Mono Light"/>
              </a:rPr>
              <a:t>, only_b)</a:t>
            </a:r>
            <a:endParaRPr>
              <a:latin typeface="Roboto Mono Light"/>
              <a:ea typeface="Roboto Mono Light"/>
              <a:cs typeface="Roboto Mono Light"/>
              <a:sym typeface="Roboto Mono Light"/>
            </a:endParaRPr>
          </a:p>
          <a:p>
            <a:pPr indent="0" lvl="0" marL="457200" rtl="0" algn="l">
              <a:spcBef>
                <a:spcPts val="0"/>
              </a:spcBef>
              <a:spcAft>
                <a:spcPts val="0"/>
              </a:spcAft>
              <a:buNone/>
            </a:pPr>
            <a:r>
              <a:rPr lang="en-US">
                <a:latin typeface="Roboto Mono Light"/>
                <a:ea typeface="Roboto Mono Light"/>
                <a:cs typeface="Roboto Mono Light"/>
                <a:sym typeface="Roboto Mono Light"/>
              </a:rPr>
              <a:t>print(list(yay_fruit))</a:t>
            </a:r>
            <a:endParaRPr>
              <a:latin typeface="Roboto Mono Light"/>
              <a:ea typeface="Roboto Mono Light"/>
              <a:cs typeface="Roboto Mono Light"/>
              <a:sym typeface="Roboto Mono Light"/>
            </a:endParaRPr>
          </a:p>
          <a:p>
            <a:pPr indent="0" lvl="0" marL="0" rtl="0" algn="l">
              <a:spcBef>
                <a:spcPts val="0"/>
              </a:spcBef>
              <a:spcAft>
                <a:spcPts val="0"/>
              </a:spcAft>
              <a:buNone/>
            </a:pPr>
            <a:r>
              <a:t/>
            </a:r>
            <a:endParaRPr>
              <a:latin typeface="Roboto Mono Light"/>
              <a:ea typeface="Roboto Mono Light"/>
              <a:cs typeface="Roboto Mono Light"/>
              <a:sym typeface="Roboto Mon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0"/>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Mapping and filtering and reducing</a:t>
            </a:r>
            <a:endParaRPr/>
          </a:p>
        </p:txBody>
      </p:sp>
      <p:sp>
        <p:nvSpPr>
          <p:cNvPr id="312" name="Google Shape;312;p40"/>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13" name="Google Shape;313;p40"/>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Geewhiz, the functionality of these higher-order functions sure does look familiar! Where have you seen them before?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t>Within </a:t>
            </a:r>
            <a:r>
              <a:rPr b="1" lang="en-US"/>
              <a:t>comprehensions</a:t>
            </a:r>
            <a:r>
              <a:rPr lang="en-US"/>
              <a:t> and </a:t>
            </a:r>
            <a:r>
              <a:rPr b="1" lang="en-US"/>
              <a:t>generator expressions</a:t>
            </a:r>
            <a:r>
              <a:rPr lang="en-US"/>
              <a:t>, of course! Due to the powerful nature of comprehensions/expressions allowing for boolean logic and other transformative properties, they completely override and replace the use of the </a:t>
            </a:r>
            <a:r>
              <a:rPr b="1" lang="en-US">
                <a:latin typeface="Roboto Mono"/>
                <a:ea typeface="Roboto Mono"/>
                <a:cs typeface="Roboto Mono"/>
                <a:sym typeface="Roboto Mono"/>
              </a:rPr>
              <a:t>filter()</a:t>
            </a:r>
            <a:r>
              <a:rPr lang="en-US"/>
              <a:t>, </a:t>
            </a:r>
            <a:r>
              <a:rPr b="1" lang="en-US">
                <a:latin typeface="Roboto Mono"/>
                <a:ea typeface="Roboto Mono"/>
                <a:cs typeface="Roboto Mono"/>
                <a:sym typeface="Roboto Mono"/>
              </a:rPr>
              <a:t>map()</a:t>
            </a:r>
            <a:r>
              <a:rPr lang="en-US"/>
              <a:t>, </a:t>
            </a:r>
            <a:r>
              <a:rPr b="1" lang="en-US">
                <a:latin typeface="Roboto Mono"/>
                <a:ea typeface="Roboto Mono"/>
                <a:cs typeface="Roboto Mono"/>
                <a:sym typeface="Roboto Mono"/>
              </a:rPr>
              <a:t>reduce()</a:t>
            </a:r>
            <a:r>
              <a:rPr lang="en-US"/>
              <a:t>, and some other higher order functions.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1"/>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Challenge: anonymous solution</a:t>
            </a:r>
            <a:endParaRPr/>
          </a:p>
        </p:txBody>
      </p:sp>
      <p:sp>
        <p:nvSpPr>
          <p:cNvPr id="320" name="Google Shape;320;p41"/>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21" name="Google Shape;321;p41"/>
          <p:cNvSpPr txBox="1"/>
          <p:nvPr>
            <p:ph idx="1" type="body"/>
          </p:nvPr>
        </p:nvSpPr>
        <p:spPr>
          <a:xfrm>
            <a:off x="40106" y="998794"/>
            <a:ext cx="90669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Roboto Mono Light"/>
                <a:ea typeface="Roboto Mono Light"/>
                <a:cs typeface="Roboto Mono Light"/>
                <a:sym typeface="Roboto Mono Light"/>
              </a:rPr>
              <a:t>def main():</a:t>
            </a:r>
            <a:endParaRPr>
              <a:latin typeface="Roboto Mono Light"/>
              <a:ea typeface="Roboto Mono Light"/>
              <a:cs typeface="Roboto Mono Light"/>
              <a:sym typeface="Roboto Mono Light"/>
            </a:endParaRPr>
          </a:p>
          <a:p>
            <a:pPr indent="0" lvl="0" marL="457200" rtl="0" algn="l">
              <a:spcBef>
                <a:spcPts val="0"/>
              </a:spcBef>
              <a:spcAft>
                <a:spcPts val="0"/>
              </a:spcAft>
              <a:buNone/>
            </a:pPr>
            <a:r>
              <a:rPr lang="en-US">
                <a:solidFill>
                  <a:schemeClr val="dk1"/>
                </a:solidFill>
                <a:latin typeface="Roboto Mono Light"/>
                <a:ea typeface="Roboto Mono Light"/>
                <a:cs typeface="Roboto Mono Light"/>
                <a:sym typeface="Roboto Mono Light"/>
              </a:rPr>
              <a:t>fruits = ['blueberry', 'pear', 'grape', 'apricot', 'durian', 'banana', 'blackberry']</a:t>
            </a:r>
            <a:endParaRPr>
              <a:latin typeface="Roboto Mono Light"/>
              <a:ea typeface="Roboto Mono Light"/>
              <a:cs typeface="Roboto Mono Light"/>
              <a:sym typeface="Roboto Mono Light"/>
            </a:endParaRPr>
          </a:p>
          <a:p>
            <a:pPr indent="0" lvl="0" marL="457200" rtl="0" algn="l">
              <a:spcBef>
                <a:spcPts val="0"/>
              </a:spcBef>
              <a:spcAft>
                <a:spcPts val="0"/>
              </a:spcAft>
              <a:buNone/>
            </a:pPr>
            <a:r>
              <a:rPr lang="en-US">
                <a:latin typeface="Roboto Mono Light"/>
                <a:ea typeface="Roboto Mono Light"/>
                <a:cs typeface="Roboto Mono Light"/>
                <a:sym typeface="Roboto Mono Light"/>
              </a:rPr>
              <a:t>only_b = </a:t>
            </a:r>
            <a:r>
              <a:rPr b="1" lang="en-US">
                <a:latin typeface="Roboto Mono"/>
                <a:ea typeface="Roboto Mono"/>
                <a:cs typeface="Roboto Mono"/>
                <a:sym typeface="Roboto Mono"/>
              </a:rPr>
              <a:t>filter((lambda f: f[0].lower() == 'b')</a:t>
            </a:r>
            <a:r>
              <a:rPr lang="en-US">
                <a:latin typeface="Roboto Mono Light"/>
                <a:ea typeface="Roboto Mono Light"/>
                <a:cs typeface="Roboto Mono Light"/>
                <a:sym typeface="Roboto Mono Light"/>
              </a:rPr>
              <a:t>, fruits)</a:t>
            </a:r>
            <a:endParaRPr>
              <a:latin typeface="Roboto Mono Light"/>
              <a:ea typeface="Roboto Mono Light"/>
              <a:cs typeface="Roboto Mono Light"/>
              <a:sym typeface="Roboto Mono Light"/>
            </a:endParaRPr>
          </a:p>
          <a:p>
            <a:pPr indent="0" lvl="0" marL="457200" rtl="0" algn="l">
              <a:spcBef>
                <a:spcPts val="0"/>
              </a:spcBef>
              <a:spcAft>
                <a:spcPts val="0"/>
              </a:spcAft>
              <a:buNone/>
            </a:pPr>
            <a:r>
              <a:rPr lang="en-US">
                <a:latin typeface="Roboto Mono Light"/>
                <a:ea typeface="Roboto Mono Light"/>
                <a:cs typeface="Roboto Mono Light"/>
                <a:sym typeface="Roboto Mono Light"/>
              </a:rPr>
              <a:t>yay_fruit = </a:t>
            </a:r>
            <a:r>
              <a:rPr b="1" lang="en-US">
                <a:latin typeface="Roboto Mono"/>
                <a:ea typeface="Roboto Mono"/>
                <a:cs typeface="Roboto Mono"/>
                <a:sym typeface="Roboto Mono"/>
              </a:rPr>
              <a:t>map((lambda f: f + '!')</a:t>
            </a:r>
            <a:r>
              <a:rPr lang="en-US">
                <a:latin typeface="Roboto Mono Light"/>
                <a:ea typeface="Roboto Mono Light"/>
                <a:cs typeface="Roboto Mono Light"/>
                <a:sym typeface="Roboto Mono Light"/>
              </a:rPr>
              <a:t>, only_b)</a:t>
            </a:r>
            <a:endParaRPr>
              <a:latin typeface="Roboto Mono Light"/>
              <a:ea typeface="Roboto Mono Light"/>
              <a:cs typeface="Roboto Mono Light"/>
              <a:sym typeface="Roboto Mono Light"/>
            </a:endParaRPr>
          </a:p>
          <a:p>
            <a:pPr indent="0" lvl="0" marL="457200" rtl="0" algn="l">
              <a:spcBef>
                <a:spcPts val="0"/>
              </a:spcBef>
              <a:spcAft>
                <a:spcPts val="0"/>
              </a:spcAft>
              <a:buNone/>
            </a:pPr>
            <a:r>
              <a:rPr lang="en-US">
                <a:latin typeface="Roboto Mono Light"/>
                <a:ea typeface="Roboto Mono Light"/>
                <a:cs typeface="Roboto Mono Light"/>
                <a:sym typeface="Roboto Mono Light"/>
              </a:rPr>
              <a:t>print(list(yay_fruit))</a:t>
            </a:r>
            <a:endParaRPr>
              <a:latin typeface="Roboto Mono Light"/>
              <a:ea typeface="Roboto Mono Light"/>
              <a:cs typeface="Roboto Mono Light"/>
              <a:sym typeface="Roboto Mono Light"/>
            </a:endParaRPr>
          </a:p>
          <a:p>
            <a:pPr indent="0" lvl="0" marL="457200" rtl="0" algn="l">
              <a:spcBef>
                <a:spcPts val="0"/>
              </a:spcBef>
              <a:spcAft>
                <a:spcPts val="0"/>
              </a:spcAft>
              <a:buNone/>
            </a:pPr>
            <a:r>
              <a:t/>
            </a:r>
            <a:endParaRPr>
              <a:latin typeface="Roboto Mono Light"/>
              <a:ea typeface="Roboto Mono Light"/>
              <a:cs typeface="Roboto Mono Light"/>
              <a:sym typeface="Roboto Mono Light"/>
            </a:endParaRPr>
          </a:p>
          <a:p>
            <a:pPr indent="0" lvl="0" marL="457200" rtl="0" algn="l">
              <a:spcBef>
                <a:spcPts val="0"/>
              </a:spcBef>
              <a:spcAft>
                <a:spcPts val="0"/>
              </a:spcAft>
              <a:buClr>
                <a:schemeClr val="dk1"/>
              </a:buClr>
              <a:buSzPts val="1100"/>
              <a:buFont typeface="Arial"/>
              <a:buNone/>
            </a:pPr>
            <a:r>
              <a:rPr lang="en-US">
                <a:latin typeface="Roboto Mono Light"/>
                <a:ea typeface="Roboto Mono Light"/>
                <a:cs typeface="Roboto Mono Light"/>
                <a:sym typeface="Roboto Mono Light"/>
              </a:rPr>
              <a:t># or simply</a:t>
            </a:r>
            <a:endParaRPr>
              <a:latin typeface="Roboto Mono Light"/>
              <a:ea typeface="Roboto Mono Light"/>
              <a:cs typeface="Roboto Mono Light"/>
              <a:sym typeface="Roboto Mono Light"/>
            </a:endParaRPr>
          </a:p>
          <a:p>
            <a:pPr indent="0" lvl="0" marL="457200" rtl="0" algn="l">
              <a:spcBef>
                <a:spcPts val="0"/>
              </a:spcBef>
              <a:spcAft>
                <a:spcPts val="0"/>
              </a:spcAft>
              <a:buNone/>
            </a:pPr>
            <a:r>
              <a:rPr lang="en-US">
                <a:latin typeface="Roboto Mono Light"/>
                <a:ea typeface="Roboto Mono Light"/>
                <a:cs typeface="Roboto Mono Light"/>
                <a:sym typeface="Roboto Mono Light"/>
              </a:rPr>
              <a:t>yay_fruit = [f + '!' for f in fruits if f[0].lower() == ‘b’]</a:t>
            </a:r>
            <a:endParaRPr>
              <a:latin typeface="Roboto Mono Light"/>
              <a:ea typeface="Roboto Mono Light"/>
              <a:cs typeface="Roboto Mono Light"/>
              <a:sym typeface="Roboto Mono 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2"/>
          <p:cNvSpPr txBox="1"/>
          <p:nvPr>
            <p:ph type="title"/>
          </p:nvPr>
        </p:nvSpPr>
        <p:spPr>
          <a:xfrm>
            <a:off x="0" y="84394"/>
            <a:ext cx="9144000" cy="857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Summary of terms</a:t>
            </a:r>
            <a:endParaRPr/>
          </a:p>
        </p:txBody>
      </p:sp>
      <p:sp>
        <p:nvSpPr>
          <p:cNvPr id="328" name="Google Shape;328;p42"/>
          <p:cNvSpPr txBox="1"/>
          <p:nvPr>
            <p:ph idx="12" type="sldNum"/>
          </p:nvPr>
        </p:nvSpPr>
        <p:spPr>
          <a:xfrm>
            <a:off x="3506788" y="4856113"/>
            <a:ext cx="2133600" cy="273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1200"/>
              <a:buFont typeface="Arial"/>
              <a:buNone/>
            </a:pPr>
            <a:fld id="{00000000-1234-1234-1234-123412341234}" type="slidenum">
              <a:rPr lang="en-US"/>
              <a:t>‹#›</a:t>
            </a:fld>
            <a:endParaRPr/>
          </a:p>
        </p:txBody>
      </p:sp>
      <p:sp>
        <p:nvSpPr>
          <p:cNvPr id="329" name="Google Shape;329;p42"/>
          <p:cNvSpPr txBox="1"/>
          <p:nvPr>
            <p:ph idx="1" type="body"/>
          </p:nvPr>
        </p:nvSpPr>
        <p:spPr>
          <a:xfrm>
            <a:off x="40100"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Terminology:</a:t>
            </a:r>
            <a:endParaRPr sz="1100"/>
          </a:p>
          <a:p>
            <a:pPr indent="-298450" lvl="0" marL="457200" rtl="0" algn="l">
              <a:spcBef>
                <a:spcPts val="0"/>
              </a:spcBef>
              <a:spcAft>
                <a:spcPts val="0"/>
              </a:spcAft>
              <a:buSzPts val="1100"/>
              <a:buChar char="•"/>
            </a:pPr>
            <a:r>
              <a:rPr lang="en-US" sz="1100"/>
              <a:t>First-class object</a:t>
            </a:r>
            <a:endParaRPr sz="1100"/>
          </a:p>
          <a:p>
            <a:pPr indent="-298450" lvl="0" marL="457200" rtl="0" algn="l">
              <a:spcBef>
                <a:spcPts val="0"/>
              </a:spcBef>
              <a:spcAft>
                <a:spcPts val="0"/>
              </a:spcAft>
              <a:buSzPts val="1100"/>
              <a:buChar char="•"/>
            </a:pPr>
            <a:r>
              <a:rPr lang="en-US" sz="1100"/>
              <a:t>Reference</a:t>
            </a:r>
            <a:endParaRPr sz="1100"/>
          </a:p>
          <a:p>
            <a:pPr indent="-298450" lvl="0" marL="457200" rtl="0" algn="l">
              <a:spcBef>
                <a:spcPts val="0"/>
              </a:spcBef>
              <a:spcAft>
                <a:spcPts val="0"/>
              </a:spcAft>
              <a:buSzPts val="1100"/>
              <a:buChar char="•"/>
            </a:pPr>
            <a:r>
              <a:rPr lang="en-US" sz="1100"/>
              <a:t>Inner function</a:t>
            </a:r>
            <a:endParaRPr sz="1100"/>
          </a:p>
          <a:p>
            <a:pPr indent="-298450" lvl="0" marL="457200" rtl="0" algn="l">
              <a:spcBef>
                <a:spcPts val="0"/>
              </a:spcBef>
              <a:spcAft>
                <a:spcPts val="0"/>
              </a:spcAft>
              <a:buSzPts val="1100"/>
              <a:buChar char="•"/>
            </a:pPr>
            <a:r>
              <a:rPr lang="en-US" sz="1100">
                <a:solidFill>
                  <a:schemeClr val="dk1"/>
                </a:solidFill>
              </a:rPr>
              <a:t>Decorator</a:t>
            </a:r>
            <a:endParaRPr sz="1100"/>
          </a:p>
          <a:p>
            <a:pPr indent="-298450" lvl="0" marL="457200" rtl="0" algn="l">
              <a:spcBef>
                <a:spcPts val="0"/>
              </a:spcBef>
              <a:spcAft>
                <a:spcPts val="0"/>
              </a:spcAft>
              <a:buSzPts val="1100"/>
              <a:buChar char="•"/>
            </a:pPr>
            <a:r>
              <a:rPr lang="en-US" sz="1100"/>
              <a:t>Imperative programming</a:t>
            </a:r>
            <a:endParaRPr sz="1100"/>
          </a:p>
          <a:p>
            <a:pPr indent="-298450" lvl="0" marL="457200" rtl="0" algn="l">
              <a:spcBef>
                <a:spcPts val="0"/>
              </a:spcBef>
              <a:spcAft>
                <a:spcPts val="0"/>
              </a:spcAft>
              <a:buSzPts val="1100"/>
              <a:buChar char="•"/>
            </a:pPr>
            <a:r>
              <a:rPr lang="en-US" sz="1100"/>
              <a:t>Declarative programming</a:t>
            </a:r>
            <a:endParaRPr sz="1100"/>
          </a:p>
          <a:p>
            <a:pPr indent="-298450" lvl="0" marL="457200" rtl="0" algn="l">
              <a:spcBef>
                <a:spcPts val="0"/>
              </a:spcBef>
              <a:spcAft>
                <a:spcPts val="0"/>
              </a:spcAft>
              <a:buSzPts val="1100"/>
              <a:buChar char="•"/>
            </a:pPr>
            <a:r>
              <a:rPr lang="en-US" sz="1100"/>
              <a:t>Functional programming</a:t>
            </a:r>
            <a:endParaRPr sz="1100"/>
          </a:p>
          <a:p>
            <a:pPr indent="-298450" lvl="0" marL="457200" rtl="0" algn="l">
              <a:spcBef>
                <a:spcPts val="0"/>
              </a:spcBef>
              <a:spcAft>
                <a:spcPts val="0"/>
              </a:spcAft>
              <a:buSzPts val="1100"/>
              <a:buChar char="•"/>
            </a:pPr>
            <a:r>
              <a:rPr lang="en-US" sz="1100"/>
              <a:t>Pure function</a:t>
            </a:r>
            <a:endParaRPr sz="1100"/>
          </a:p>
          <a:p>
            <a:pPr indent="-298450" lvl="0" marL="457200" rtl="0" algn="l">
              <a:spcBef>
                <a:spcPts val="0"/>
              </a:spcBef>
              <a:spcAft>
                <a:spcPts val="0"/>
              </a:spcAft>
              <a:buSzPts val="1100"/>
              <a:buChar char="•"/>
            </a:pPr>
            <a:r>
              <a:rPr lang="en-US" sz="1100"/>
              <a:t>Impure function</a:t>
            </a:r>
            <a:endParaRPr sz="1100"/>
          </a:p>
          <a:p>
            <a:pPr indent="-298450" lvl="0" marL="457200" rtl="0" algn="l">
              <a:spcBef>
                <a:spcPts val="0"/>
              </a:spcBef>
              <a:spcAft>
                <a:spcPts val="0"/>
              </a:spcAft>
              <a:buSzPts val="1100"/>
              <a:buChar char="•"/>
            </a:pPr>
            <a:r>
              <a:rPr lang="en-US" sz="1100"/>
              <a:t>Higher-order function</a:t>
            </a:r>
            <a:endParaRPr sz="1100"/>
          </a:p>
          <a:p>
            <a:pPr indent="-298450" lvl="0" marL="457200" rtl="0" algn="l">
              <a:spcBef>
                <a:spcPts val="0"/>
              </a:spcBef>
              <a:spcAft>
                <a:spcPts val="0"/>
              </a:spcAft>
              <a:buSzPts val="1100"/>
              <a:buChar char="•"/>
            </a:pPr>
            <a:r>
              <a:rPr lang="en-US" sz="1100"/>
              <a:t>Side effect</a:t>
            </a:r>
            <a:endParaRPr sz="1100"/>
          </a:p>
          <a:p>
            <a:pPr indent="-298450" lvl="0" marL="457200" rtl="0" algn="l">
              <a:spcBef>
                <a:spcPts val="0"/>
              </a:spcBef>
              <a:spcAft>
                <a:spcPts val="0"/>
              </a:spcAft>
              <a:buSzPts val="1100"/>
              <a:buChar char="•"/>
            </a:pPr>
            <a:r>
              <a:rPr lang="en-US" sz="1100"/>
              <a:t>Lambdas</a:t>
            </a:r>
            <a:endParaRPr sz="1100"/>
          </a:p>
        </p:txBody>
      </p:sp>
      <p:sp>
        <p:nvSpPr>
          <p:cNvPr id="330" name="Google Shape;330;p42"/>
          <p:cNvSpPr txBox="1"/>
          <p:nvPr>
            <p:ph idx="2" type="body"/>
          </p:nvPr>
        </p:nvSpPr>
        <p:spPr>
          <a:xfrm>
            <a:off x="4650575" y="998800"/>
            <a:ext cx="4456500" cy="3414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t>Python-specific vocab/syntax:</a:t>
            </a:r>
            <a:endParaRPr sz="1100"/>
          </a:p>
          <a:p>
            <a:pPr indent="-298450" lvl="0" marL="457200" rtl="0" algn="l">
              <a:spcBef>
                <a:spcPts val="0"/>
              </a:spcBef>
              <a:spcAft>
                <a:spcPts val="0"/>
              </a:spcAft>
              <a:buSzPts val="1100"/>
              <a:buFont typeface="Roboto Mono Light"/>
              <a:buChar char="•"/>
            </a:pPr>
            <a:r>
              <a:rPr lang="en-US" sz="1100">
                <a:latin typeface="Roboto Mono Light"/>
                <a:ea typeface="Roboto Mono Light"/>
                <a:cs typeface="Roboto Mono Light"/>
                <a:sym typeface="Roboto Mono Light"/>
              </a:rPr>
              <a:t>*args</a:t>
            </a:r>
            <a:endParaRPr sz="1100">
              <a:latin typeface="Roboto Mono Light"/>
              <a:ea typeface="Roboto Mono Light"/>
              <a:cs typeface="Roboto Mono Light"/>
              <a:sym typeface="Roboto Mono Light"/>
            </a:endParaRPr>
          </a:p>
          <a:p>
            <a:pPr indent="-298450" lvl="0" marL="457200" rtl="0" algn="l">
              <a:spcBef>
                <a:spcPts val="0"/>
              </a:spcBef>
              <a:spcAft>
                <a:spcPts val="0"/>
              </a:spcAft>
              <a:buSzPts val="1100"/>
              <a:buFont typeface="Roboto Mono Light"/>
              <a:buChar char="•"/>
            </a:pPr>
            <a:r>
              <a:rPr lang="en-US" sz="1100">
                <a:latin typeface="Roboto Mono Light"/>
                <a:ea typeface="Roboto Mono Light"/>
                <a:cs typeface="Roboto Mono Light"/>
                <a:sym typeface="Roboto Mono Light"/>
              </a:rPr>
              <a:t>**kwargs</a:t>
            </a:r>
            <a:endParaRPr sz="1100">
              <a:latin typeface="Roboto Mono Light"/>
              <a:ea typeface="Roboto Mono Light"/>
              <a:cs typeface="Roboto Mono Light"/>
              <a:sym typeface="Roboto Mono Light"/>
            </a:endParaRPr>
          </a:p>
          <a:p>
            <a:pPr indent="-298450" lvl="0" marL="457200" rtl="0" algn="l">
              <a:spcBef>
                <a:spcPts val="0"/>
              </a:spcBef>
              <a:spcAft>
                <a:spcPts val="0"/>
              </a:spcAft>
              <a:buSzPts val="1100"/>
              <a:buFont typeface="Roboto Mono Light"/>
              <a:buChar char="•"/>
            </a:pPr>
            <a:r>
              <a:rPr lang="en-US" sz="1100">
                <a:latin typeface="Roboto Mono Light"/>
                <a:ea typeface="Roboto Mono Light"/>
                <a:cs typeface="Roboto Mono Light"/>
                <a:sym typeface="Roboto Mono Light"/>
              </a:rPr>
              <a:t>functools</a:t>
            </a:r>
            <a:endParaRPr sz="1100">
              <a:latin typeface="Roboto Mono Light"/>
              <a:ea typeface="Roboto Mono Light"/>
              <a:cs typeface="Roboto Mono Light"/>
              <a:sym typeface="Roboto Mono Light"/>
            </a:endParaRPr>
          </a:p>
          <a:p>
            <a:pPr indent="-298450" lvl="0" marL="457200" rtl="0" algn="l">
              <a:spcBef>
                <a:spcPts val="0"/>
              </a:spcBef>
              <a:spcAft>
                <a:spcPts val="0"/>
              </a:spcAft>
              <a:buSzPts val="1100"/>
              <a:buFont typeface="Roboto Mono Light"/>
              <a:buChar char="•"/>
            </a:pPr>
            <a:r>
              <a:rPr lang="en-US" sz="1100">
                <a:latin typeface="Roboto Mono Light"/>
                <a:ea typeface="Roboto Mono Light"/>
                <a:cs typeface="Roboto Mono Light"/>
                <a:sym typeface="Roboto Mono Light"/>
              </a:rPr>
              <a:t>lambda</a:t>
            </a:r>
            <a:endParaRPr sz="1100">
              <a:latin typeface="Roboto Mono Light"/>
              <a:ea typeface="Roboto Mono Light"/>
              <a:cs typeface="Roboto Mono Light"/>
              <a:sym typeface="Roboto Mono Light"/>
            </a:endParaRPr>
          </a:p>
          <a:p>
            <a:pPr indent="-298450" lvl="0" marL="457200" rtl="0" algn="l">
              <a:spcBef>
                <a:spcPts val="0"/>
              </a:spcBef>
              <a:spcAft>
                <a:spcPts val="0"/>
              </a:spcAft>
              <a:buSzPts val="1100"/>
              <a:buFont typeface="Roboto Mono Light"/>
              <a:buChar char="•"/>
            </a:pPr>
            <a:r>
              <a:rPr lang="en-US" sz="1100">
                <a:latin typeface="Roboto Mono Light"/>
                <a:ea typeface="Roboto Mono Light"/>
                <a:cs typeface="Roboto Mono Light"/>
                <a:sym typeface="Roboto Mono Light"/>
              </a:rPr>
              <a:t>filter()</a:t>
            </a:r>
            <a:endParaRPr sz="1100">
              <a:latin typeface="Roboto Mono Light"/>
              <a:ea typeface="Roboto Mono Light"/>
              <a:cs typeface="Roboto Mono Light"/>
              <a:sym typeface="Roboto Mono Light"/>
            </a:endParaRPr>
          </a:p>
          <a:p>
            <a:pPr indent="-298450" lvl="0" marL="457200" rtl="0" algn="l">
              <a:spcBef>
                <a:spcPts val="0"/>
              </a:spcBef>
              <a:spcAft>
                <a:spcPts val="0"/>
              </a:spcAft>
              <a:buSzPts val="1100"/>
              <a:buFont typeface="Roboto Mono Light"/>
              <a:buChar char="•"/>
            </a:pPr>
            <a:r>
              <a:rPr lang="en-US" sz="1100">
                <a:latin typeface="Roboto Mono Light"/>
                <a:ea typeface="Roboto Mono Light"/>
                <a:cs typeface="Roboto Mono Light"/>
                <a:sym typeface="Roboto Mono Light"/>
              </a:rPr>
              <a:t>map()</a:t>
            </a:r>
            <a:endParaRPr sz="1100">
              <a:latin typeface="Roboto Mono Light"/>
              <a:ea typeface="Roboto Mono Light"/>
              <a:cs typeface="Roboto Mono Light"/>
              <a:sym typeface="Roboto Mono Light"/>
            </a:endParaRPr>
          </a:p>
          <a:p>
            <a:pPr indent="-298450" lvl="0" marL="457200" rtl="0" algn="l">
              <a:spcBef>
                <a:spcPts val="0"/>
              </a:spcBef>
              <a:spcAft>
                <a:spcPts val="0"/>
              </a:spcAft>
              <a:buSzPts val="1100"/>
              <a:buFont typeface="Roboto Mono Light"/>
              <a:buChar char="•"/>
            </a:pPr>
            <a:r>
              <a:rPr lang="en-US" sz="1100">
                <a:latin typeface="Roboto Mono Light"/>
                <a:ea typeface="Roboto Mono Light"/>
                <a:cs typeface="Roboto Mono Light"/>
                <a:sym typeface="Roboto Mono Light"/>
              </a:rPr>
              <a:t>functools.reduce()</a:t>
            </a:r>
            <a:endParaRPr sz="1100">
              <a:latin typeface="Roboto Mono Light"/>
              <a:ea typeface="Roboto Mono Light"/>
              <a:cs typeface="Roboto Mono Light"/>
              <a:sym typeface="Roboto Mono Light"/>
            </a:endParaRPr>
          </a:p>
          <a:p>
            <a:pPr indent="-298450" lvl="0" marL="457200" rtl="0" algn="l">
              <a:spcBef>
                <a:spcPts val="0"/>
              </a:spcBef>
              <a:spcAft>
                <a:spcPts val="0"/>
              </a:spcAft>
              <a:buSzPts val="1100"/>
              <a:buFont typeface="Roboto Mono Light"/>
              <a:buChar char="•"/>
            </a:pPr>
            <a:r>
              <a:rPr lang="en-US" sz="1100">
                <a:latin typeface="Roboto Mono Light"/>
                <a:ea typeface="Roboto Mono Light"/>
                <a:cs typeface="Roboto Mono Light"/>
                <a:sym typeface="Roboto Mono Light"/>
              </a:rPr>
              <a:t>sorted()</a:t>
            </a:r>
            <a:endParaRPr sz="1100">
              <a:latin typeface="Roboto Mono Light"/>
              <a:ea typeface="Roboto Mono Light"/>
              <a:cs typeface="Roboto Mono Light"/>
              <a:sym typeface="Roboto Mono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SC Viterbi Theme Aldenderfer">
  <a:themeElements>
    <a:clrScheme name="Custom 1">
      <a:dk1>
        <a:srgbClr val="000000"/>
      </a:dk1>
      <a:lt1>
        <a:srgbClr val="FFFFFF"/>
      </a:lt1>
      <a:dk2>
        <a:srgbClr val="830000"/>
      </a:dk2>
      <a:lt2>
        <a:srgbClr val="999999"/>
      </a:lt2>
      <a:accent1>
        <a:srgbClr val="CCCCCC"/>
      </a:accent1>
      <a:accent2>
        <a:srgbClr val="FFCC00"/>
      </a:accent2>
      <a:accent3>
        <a:srgbClr val="FFFFFF"/>
      </a:accent3>
      <a:accent4>
        <a:srgbClr val="000000"/>
      </a:accent4>
      <a:accent5>
        <a:srgbClr val="D9D9D9"/>
      </a:accent5>
      <a:accent6>
        <a:srgbClr val="FFCC00"/>
      </a:accent6>
      <a:hlink>
        <a:srgbClr val="990000"/>
      </a:hlink>
      <a:folHlink>
        <a:srgbClr val="99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