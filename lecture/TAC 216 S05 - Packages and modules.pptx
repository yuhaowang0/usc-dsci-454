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y="5143500" cx="9144000"/>
  <p:notesSz cx="7315200" cy="9601200"/>
  <p:embeddedFontLst>
    <p:embeddedFont>
      <p:font typeface="Proxima Nova"/>
      <p:regular r:id="rId48"/>
      <p:bold r:id="rId49"/>
      <p:italic r:id="rId50"/>
      <p:boldItalic r:id="rId51"/>
    </p:embeddedFont>
    <p:embeddedFont>
      <p:font typeface="Roboto Mono Light"/>
      <p:regular r:id="rId52"/>
      <p:bold r:id="rId53"/>
      <p:italic r:id="rId54"/>
      <p:boldItalic r:id="rId55"/>
    </p:embeddedFont>
    <p:embeddedFont>
      <p:font typeface="Roboto Mono"/>
      <p:regular r:id="rId56"/>
      <p:bold r:id="rId57"/>
      <p:italic r:id="rId58"/>
      <p:boldItalic r:id="rId59"/>
    </p:embeddedFont>
    <p:embeddedFont>
      <p:font typeface="Open Sans"/>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08F7877-44E9-4A88-834E-D14FADAC9C64}">
  <a:tblStyle styleId="{D08F7877-44E9-4A88-834E-D14FADAC9C6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roximaNova-regular.fntdata"/><Relationship Id="rId47" Type="http://schemas.openxmlformats.org/officeDocument/2006/relationships/slide" Target="slides/slide41.xml"/><Relationship Id="rId49" Type="http://schemas.openxmlformats.org/officeDocument/2006/relationships/font" Target="fonts/ProximaNova-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OpenSans-italic.fntdata"/><Relationship Id="rId61" Type="http://schemas.openxmlformats.org/officeDocument/2006/relationships/font" Target="fonts/OpenSans-bold.fntdata"/><Relationship Id="rId20" Type="http://schemas.openxmlformats.org/officeDocument/2006/relationships/slide" Target="slides/slide14.xml"/><Relationship Id="rId63" Type="http://schemas.openxmlformats.org/officeDocument/2006/relationships/font" Target="fonts/OpenSans-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OpenSans-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ProximaNova-boldItalic.fntdata"/><Relationship Id="rId50" Type="http://schemas.openxmlformats.org/officeDocument/2006/relationships/font" Target="fonts/ProximaNova-italic.fntdata"/><Relationship Id="rId53" Type="http://schemas.openxmlformats.org/officeDocument/2006/relationships/font" Target="fonts/RobotoMonoLight-bold.fntdata"/><Relationship Id="rId52" Type="http://schemas.openxmlformats.org/officeDocument/2006/relationships/font" Target="fonts/RobotoMonoLight-regular.fntdata"/><Relationship Id="rId11" Type="http://schemas.openxmlformats.org/officeDocument/2006/relationships/slide" Target="slides/slide5.xml"/><Relationship Id="rId55" Type="http://schemas.openxmlformats.org/officeDocument/2006/relationships/font" Target="fonts/RobotoMonoLight-boldItalic.fntdata"/><Relationship Id="rId10" Type="http://schemas.openxmlformats.org/officeDocument/2006/relationships/slide" Target="slides/slide4.xml"/><Relationship Id="rId54" Type="http://schemas.openxmlformats.org/officeDocument/2006/relationships/font" Target="fonts/RobotoMonoLight-italic.fntdata"/><Relationship Id="rId13" Type="http://schemas.openxmlformats.org/officeDocument/2006/relationships/slide" Target="slides/slide7.xml"/><Relationship Id="rId57" Type="http://schemas.openxmlformats.org/officeDocument/2006/relationships/font" Target="fonts/RobotoMono-bold.fntdata"/><Relationship Id="rId12" Type="http://schemas.openxmlformats.org/officeDocument/2006/relationships/slide" Target="slides/slide6.xml"/><Relationship Id="rId56" Type="http://schemas.openxmlformats.org/officeDocument/2006/relationships/font" Target="fonts/RobotoMono-regular.fntdata"/><Relationship Id="rId15" Type="http://schemas.openxmlformats.org/officeDocument/2006/relationships/slide" Target="slides/slide9.xml"/><Relationship Id="rId59" Type="http://schemas.openxmlformats.org/officeDocument/2006/relationships/font" Target="fonts/RobotoMono-boldItalic.fntdata"/><Relationship Id="rId14" Type="http://schemas.openxmlformats.org/officeDocument/2006/relationships/slide" Target="slides/slide8.xml"/><Relationship Id="rId58" Type="http://schemas.openxmlformats.org/officeDocument/2006/relationships/font" Target="fonts/RobotoMono-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70238" cy="4794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143375" y="0"/>
            <a:ext cx="3170238" cy="47942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31838" y="4560888"/>
            <a:ext cx="5851525" cy="43195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20188"/>
            <a:ext cx="3170238" cy="4794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143375" y="9120188"/>
            <a:ext cx="3170238" cy="47942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bd62c0adcf_0_5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51" name="Google Shape;51;gbd62c0adcf_0_5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2" name="Google Shape;52;gbd62c0adcf_0_5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34e34899f6_0_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60" name="Google Shape;60;g334e34899f6_0_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1" name="Google Shape;61;g334e34899f6_0_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bd62c0adcf_0_13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69" name="Google Shape;69;gbd62c0adcf_0_13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0" name="Google Shape;70;gbd62c0adcf_0_13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bd62c0adcf_0_18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77" name="Google Shape;77;gbd62c0adcf_0_18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8" name="Google Shape;78;gbd62c0adcf_0_186: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bd62c0adcf_0_39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85" name="Google Shape;85;gbd62c0adcf_0_393: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6" name="Google Shape;86;gbd62c0adcf_0_393: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bd62c0adcf_0_40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93" name="Google Shape;93;gbd62c0adcf_0_40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4" name="Google Shape;94;gbd62c0adcf_0_40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bd62c0adcf_0_6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bd62c0adcf_0_64: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2" name="Google Shape;102;gbd62c0adcf_0_64: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bd62c0adcf_0_62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bd62c0adcf_0_62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0" name="Google Shape;110;gbd62c0adcf_0_621: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bd62c0adcf_0_41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bd62c0adcf_0_41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9" name="Google Shape;119;gbd62c0adcf_0_41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bd62c0adcf_0_65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bd62c0adcf_0_659: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8" name="Google Shape;128;gbd62c0adcf_0_659: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bd62c0adcf_0_68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bd62c0adcf_0_683: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7" name="Google Shape;137;gbd62c0adcf_0_683: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bd62c0adcf_0_69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bd62c0adcf_0_69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6" name="Google Shape;146;gbd62c0adcf_0_691: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2dfd2053b5_0_5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2dfd2053b5_0_5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5" name="Google Shape;155;g32dfd2053b5_0_5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bd62c0adcf_0_16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bd62c0adcf_0_16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4" name="Google Shape;164;gbd62c0adcf_0_16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bd62c0adcf_0_67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bd62c0adcf_0_67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2" name="Google Shape;172;gbd62c0adcf_0_67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bd62c0adcf_0_66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bd62c0adcf_0_66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1" name="Google Shape;181;gbd62c0adcf_0_66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bd62c0adcf_0_15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bd62c0adcf_0_15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0" name="Google Shape;190;gbd62c0adcf_0_158: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be4811dc0f_1_2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be4811dc0f_1_24: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8" name="Google Shape;198;gbe4811dc0f_1_24: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bd62c0adcf_0_40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bd62c0adcf_0_40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6" name="Google Shape;206;gbd62c0adcf_0_40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be4811dc0f_1_1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be4811dc0f_1_1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5" name="Google Shape;215;gbe4811dc0f_1_16: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be4811dc0f_1_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be4811dc0f_1_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4" name="Google Shape;224;gbe4811dc0f_1_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bd62c0adcf_0_17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bd62c0adcf_0_17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2" name="Google Shape;232;gbd62c0adcf_0_172: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be6cb62814_0_2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be6cb62814_0_23: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0" name="Google Shape;240;gbe6cb62814_0_23: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bd62c0adcf_0_8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bd62c0adcf_0_84: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8" name="Google Shape;248;gbd62c0adcf_0_84: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be6cb62814_0_3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be6cb62814_0_3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7" name="Google Shape;257;gbe6cb62814_0_3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be6cb62814_0_4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be6cb62814_0_44: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5" name="Google Shape;265;gbe6cb62814_0_44: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be6cb62814_0_3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be6cb62814_0_3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3" name="Google Shape;273;gbe6cb62814_0_3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be6cb62814_0_5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be6cb62814_0_5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1" name="Google Shape;281;gbe6cb62814_0_51: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be6cb62814_0_5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be6cb62814_0_5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9" name="Google Shape;289;gbe6cb62814_0_58: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bd62c0adcf_0_10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bd62c0adcf_0_10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7" name="Google Shape;297;gbd62c0adcf_0_102: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be6cb62814_0_7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be6cb62814_0_7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6" name="Google Shape;306;gbe6cb62814_0_7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be6cb62814_0_9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be6cb62814_0_9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5" name="Google Shape;315;gbe6cb62814_0_9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be6cb62814_0_8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be6cb62814_0_83: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3" name="Google Shape;323;gbe6cb62814_0_83: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be6cb62814_0_9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be6cb62814_0_9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1" name="Google Shape;331;gbe6cb62814_0_9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be6cb62814_0_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be6cb62814_0_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9" name="Google Shape;339;gbe6cb62814_0_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be6cb62814_0_12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be6cb62814_0_12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7" name="Google Shape;347;gbe6cb62814_0_12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2dfd2053b5_0_9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2dfd2053b5_0_94: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6" name="Google Shape;356;g32dfd2053b5_0_94: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2dfd2053b5_0_8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2dfd2053b5_0_83: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4" name="Google Shape;364;g32dfd2053b5_0_83: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be6cb62814_0_13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be6cb62814_0_13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4" name="Google Shape;374;gbe6cb62814_0_13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be6cb62814_0_14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be6cb62814_0_14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3" name="Google Shape;383;gbe6cb62814_0_14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34e34899f6_0_22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34e34899f6_0_229: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2" name="Google Shape;392;g334e34899f6_0_229: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
          <p:cNvSpPr txBox="1"/>
          <p:nvPr>
            <p:ph type="ctrTitle"/>
          </p:nvPr>
        </p:nvSpPr>
        <p:spPr>
          <a:xfrm>
            <a:off x="685800" y="1104900"/>
            <a:ext cx="7772400" cy="2136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990000"/>
              </a:buClr>
              <a:buSzPts val="4400"/>
              <a:buFont typeface="Proxima Nova"/>
              <a:buNone/>
              <a:defRPr sz="4400">
                <a:solidFill>
                  <a:srgbClr val="990000"/>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 type="subTitle"/>
          </p:nvPr>
        </p:nvSpPr>
        <p:spPr>
          <a:xfrm>
            <a:off x="1371600" y="3240900"/>
            <a:ext cx="6400800" cy="10455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700"/>
              </a:spcBef>
              <a:spcAft>
                <a:spcPts val="0"/>
              </a:spcAft>
              <a:buClr>
                <a:srgbClr val="990000"/>
              </a:buClr>
              <a:buSzPts val="3200"/>
              <a:buFont typeface="Calibri"/>
              <a:buNone/>
              <a:defRPr>
                <a:solidFill>
                  <a:srgbClr val="990000"/>
                </a:solidFill>
                <a:latin typeface="Calibri"/>
                <a:ea typeface="Calibri"/>
                <a:cs typeface="Calibri"/>
                <a:sym typeface="Calibri"/>
              </a:defRPr>
            </a:lvl1pPr>
            <a:lvl2pPr lvl="1" algn="ctr">
              <a:lnSpc>
                <a:spcPct val="100000"/>
              </a:lnSpc>
              <a:spcBef>
                <a:spcPts val="500"/>
              </a:spcBef>
              <a:spcAft>
                <a:spcPts val="0"/>
              </a:spcAft>
              <a:buClr>
                <a:srgbClr val="888888"/>
              </a:buClr>
              <a:buSzPts val="2800"/>
              <a:buNone/>
              <a:defRPr>
                <a:solidFill>
                  <a:srgbClr val="888888"/>
                </a:solidFill>
              </a:defRPr>
            </a:lvl2pPr>
            <a:lvl3pPr lvl="2" algn="ctr">
              <a:lnSpc>
                <a:spcPct val="100000"/>
              </a:lnSpc>
              <a:spcBef>
                <a:spcPts val="50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1" name="Google Shape;21;p2"/>
          <p:cNvSpPr txBox="1"/>
          <p:nvPr>
            <p:ph idx="2" type="body"/>
          </p:nvPr>
        </p:nvSpPr>
        <p:spPr>
          <a:xfrm>
            <a:off x="7365900" y="0"/>
            <a:ext cx="1778100" cy="332700"/>
          </a:xfrm>
          <a:prstGeom prst="rect">
            <a:avLst/>
          </a:prstGeom>
        </p:spPr>
        <p:txBody>
          <a:bodyPr anchorCtr="0" anchor="t" bIns="45700" lIns="91425" spcFirstLastPara="1" rIns="91425" wrap="square" tIns="45700">
            <a:noAutofit/>
          </a:bodyPr>
          <a:lstStyle>
            <a:lvl1pPr indent="-304800" lvl="0" marL="457200" algn="r">
              <a:spcBef>
                <a:spcPts val="0"/>
              </a:spcBef>
              <a:spcAft>
                <a:spcPts val="0"/>
              </a:spcAft>
              <a:buClr>
                <a:srgbClr val="990000"/>
              </a:buClr>
              <a:buSzPts val="1200"/>
              <a:buChar char="•"/>
              <a:defRPr sz="1200">
                <a:solidFill>
                  <a:srgbClr val="990000"/>
                </a:solidFill>
              </a:defRPr>
            </a:lvl1pPr>
            <a:lvl2pPr indent="-234950" lvl="1" marL="914400" algn="r">
              <a:spcBef>
                <a:spcPts val="0"/>
              </a:spcBef>
              <a:spcAft>
                <a:spcPts val="0"/>
              </a:spcAft>
              <a:buClr>
                <a:srgbClr val="990000"/>
              </a:buClr>
              <a:buSzPts val="100"/>
              <a:buChar char="–"/>
              <a:defRPr sz="100">
                <a:solidFill>
                  <a:srgbClr val="990000"/>
                </a:solidFill>
              </a:defRPr>
            </a:lvl2pPr>
            <a:lvl3pPr indent="-234950" lvl="2" marL="1371600" algn="r">
              <a:spcBef>
                <a:spcPts val="0"/>
              </a:spcBef>
              <a:spcAft>
                <a:spcPts val="0"/>
              </a:spcAft>
              <a:buClr>
                <a:srgbClr val="990000"/>
              </a:buClr>
              <a:buSzPts val="100"/>
              <a:buChar char="•"/>
              <a:defRPr sz="100">
                <a:solidFill>
                  <a:srgbClr val="990000"/>
                </a:solidFill>
              </a:defRPr>
            </a:lvl3pPr>
            <a:lvl4pPr indent="-234950" lvl="3" marL="1828800" algn="r">
              <a:spcBef>
                <a:spcPts val="0"/>
              </a:spcBef>
              <a:spcAft>
                <a:spcPts val="0"/>
              </a:spcAft>
              <a:buClr>
                <a:srgbClr val="990000"/>
              </a:buClr>
              <a:buSzPts val="100"/>
              <a:buChar char="–"/>
              <a:defRPr sz="100">
                <a:solidFill>
                  <a:srgbClr val="990000"/>
                </a:solidFill>
              </a:defRPr>
            </a:lvl4pPr>
            <a:lvl5pPr indent="-234950" lvl="4" marL="2286000" algn="r">
              <a:spcBef>
                <a:spcPts val="0"/>
              </a:spcBef>
              <a:spcAft>
                <a:spcPts val="0"/>
              </a:spcAft>
              <a:buClr>
                <a:srgbClr val="990000"/>
              </a:buClr>
              <a:buSzPts val="100"/>
              <a:buChar char="»"/>
              <a:defRPr sz="100">
                <a:solidFill>
                  <a:srgbClr val="990000"/>
                </a:solidFill>
              </a:defRPr>
            </a:lvl5pPr>
            <a:lvl6pPr indent="-234950" lvl="5" marL="2743200" algn="r">
              <a:spcBef>
                <a:spcPts val="0"/>
              </a:spcBef>
              <a:spcAft>
                <a:spcPts val="0"/>
              </a:spcAft>
              <a:buClr>
                <a:srgbClr val="990000"/>
              </a:buClr>
              <a:buSzPts val="100"/>
              <a:buChar char="•"/>
              <a:defRPr sz="100">
                <a:solidFill>
                  <a:srgbClr val="990000"/>
                </a:solidFill>
              </a:defRPr>
            </a:lvl6pPr>
            <a:lvl7pPr indent="-234950" lvl="6" marL="3200400" algn="r">
              <a:spcBef>
                <a:spcPts val="0"/>
              </a:spcBef>
              <a:spcAft>
                <a:spcPts val="0"/>
              </a:spcAft>
              <a:buClr>
                <a:srgbClr val="990000"/>
              </a:buClr>
              <a:buSzPts val="100"/>
              <a:buChar char="•"/>
              <a:defRPr sz="100">
                <a:solidFill>
                  <a:srgbClr val="990000"/>
                </a:solidFill>
              </a:defRPr>
            </a:lvl7pPr>
            <a:lvl8pPr indent="-234950" lvl="7" marL="3657600" algn="r">
              <a:spcBef>
                <a:spcPts val="0"/>
              </a:spcBef>
              <a:spcAft>
                <a:spcPts val="0"/>
              </a:spcAft>
              <a:buClr>
                <a:srgbClr val="990000"/>
              </a:buClr>
              <a:buSzPts val="100"/>
              <a:buChar char="•"/>
              <a:defRPr sz="100">
                <a:solidFill>
                  <a:srgbClr val="990000"/>
                </a:solidFill>
              </a:defRPr>
            </a:lvl8pPr>
            <a:lvl9pPr indent="-234950" lvl="8" marL="4114800" algn="r">
              <a:spcBef>
                <a:spcPts val="0"/>
              </a:spcBef>
              <a:spcAft>
                <a:spcPts val="0"/>
              </a:spcAft>
              <a:buClr>
                <a:srgbClr val="990000"/>
              </a:buClr>
              <a:buSzPts val="100"/>
              <a:buChar char="•"/>
              <a:defRPr sz="100">
                <a:solidFill>
                  <a:srgbClr val="990000"/>
                </a:solidFill>
              </a:defRPr>
            </a:lvl9pPr>
          </a:lstStyle>
          <a:p/>
        </p:txBody>
      </p:sp>
      <p:sp>
        <p:nvSpPr>
          <p:cNvPr id="22" name="Google Shape;22;p2"/>
          <p:cNvSpPr txBox="1"/>
          <p:nvPr>
            <p:ph idx="12" type="sldNum"/>
          </p:nvPr>
        </p:nvSpPr>
        <p:spPr>
          <a:xfrm>
            <a:off x="8556784" y="4749851"/>
            <a:ext cx="548700" cy="393600"/>
          </a:xfrm>
          <a:prstGeom prst="rect">
            <a:avLst/>
          </a:prstGeom>
        </p:spPr>
        <p:txBody>
          <a:bodyPr anchorCtr="0" anchor="t" bIns="45700" lIns="91425" spcFirstLastPara="1" rIns="91425" wrap="square" tIns="45700">
            <a:noAutofit/>
          </a:bodyPr>
          <a:lstStyle>
            <a:lvl1pPr lvl="0" algn="r">
              <a:buNone/>
              <a:defRPr sz="1300">
                <a:solidFill>
                  <a:srgbClr val="990000"/>
                </a:solidFill>
              </a:defRPr>
            </a:lvl1pPr>
            <a:lvl2pPr lvl="1" algn="r">
              <a:buNone/>
              <a:defRPr sz="1300">
                <a:solidFill>
                  <a:srgbClr val="990000"/>
                </a:solidFill>
              </a:defRPr>
            </a:lvl2pPr>
            <a:lvl3pPr lvl="2" algn="r">
              <a:buNone/>
              <a:defRPr sz="1300">
                <a:solidFill>
                  <a:srgbClr val="990000"/>
                </a:solidFill>
              </a:defRPr>
            </a:lvl3pPr>
            <a:lvl4pPr lvl="3" algn="r">
              <a:buNone/>
              <a:defRPr sz="1300">
                <a:solidFill>
                  <a:srgbClr val="990000"/>
                </a:solidFill>
              </a:defRPr>
            </a:lvl4pPr>
            <a:lvl5pPr lvl="4" algn="r">
              <a:buNone/>
              <a:defRPr sz="1300">
                <a:solidFill>
                  <a:srgbClr val="990000"/>
                </a:solidFill>
              </a:defRPr>
            </a:lvl5pPr>
            <a:lvl6pPr lvl="5" algn="r">
              <a:buNone/>
              <a:defRPr sz="1300">
                <a:solidFill>
                  <a:srgbClr val="990000"/>
                </a:solidFill>
              </a:defRPr>
            </a:lvl6pPr>
            <a:lvl7pPr lvl="6" algn="r">
              <a:buNone/>
              <a:defRPr sz="1300">
                <a:solidFill>
                  <a:srgbClr val="990000"/>
                </a:solidFill>
              </a:defRPr>
            </a:lvl7pPr>
            <a:lvl8pPr lvl="7" algn="r">
              <a:buNone/>
              <a:defRPr sz="1300">
                <a:solidFill>
                  <a:srgbClr val="990000"/>
                </a:solidFill>
              </a:defRPr>
            </a:lvl8pPr>
            <a:lvl9pPr lvl="8" algn="r">
              <a:buNone/>
              <a:defRPr sz="1300">
                <a:solidFill>
                  <a:srgbClr val="99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990000"/>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1600"/>
              <a:buNone/>
              <a:defRPr sz="1600">
                <a:solidFill>
                  <a:srgbClr val="888888"/>
                </a:solidFill>
              </a:defRPr>
            </a:lvl1pPr>
            <a:lvl2pPr indent="-228600" lvl="1" marL="914400" algn="l">
              <a:lnSpc>
                <a:spcPct val="100000"/>
              </a:lnSpc>
              <a:spcBef>
                <a:spcPts val="400"/>
              </a:spcBef>
              <a:spcAft>
                <a:spcPts val="0"/>
              </a:spcAft>
              <a:buClr>
                <a:srgbClr val="888888"/>
              </a:buClr>
              <a:buSzPts val="1500"/>
              <a:buNone/>
              <a:defRPr sz="1500">
                <a:solidFill>
                  <a:srgbClr val="888888"/>
                </a:solidFill>
              </a:defRPr>
            </a:lvl2pPr>
            <a:lvl3pPr indent="-228600" lvl="2" marL="1371600" algn="l">
              <a:lnSpc>
                <a:spcPct val="100000"/>
              </a:lnSpc>
              <a:spcBef>
                <a:spcPts val="300"/>
              </a:spcBef>
              <a:spcAft>
                <a:spcPts val="0"/>
              </a:spcAft>
              <a:buClr>
                <a:srgbClr val="888888"/>
              </a:buClr>
              <a:buSzPts val="1400"/>
              <a:buNone/>
              <a:defRPr sz="1400">
                <a:solidFill>
                  <a:srgbClr val="888888"/>
                </a:solidFill>
              </a:defRPr>
            </a:lvl3pPr>
            <a:lvl4pPr indent="-228600" lvl="3" marL="1828800" algn="l">
              <a:lnSpc>
                <a:spcPct val="100000"/>
              </a:lnSpc>
              <a:spcBef>
                <a:spcPts val="300"/>
              </a:spcBef>
              <a:spcAft>
                <a:spcPts val="0"/>
              </a:spcAft>
              <a:buClr>
                <a:srgbClr val="888888"/>
              </a:buClr>
              <a:buSzPts val="1300"/>
              <a:buNone/>
              <a:defRPr sz="1300">
                <a:solidFill>
                  <a:srgbClr val="888888"/>
                </a:solidFill>
              </a:defRPr>
            </a:lvl4pPr>
            <a:lvl5pPr indent="-228600" lvl="4" marL="2286000" algn="l">
              <a:lnSpc>
                <a:spcPct val="100000"/>
              </a:lnSpc>
              <a:spcBef>
                <a:spcPts val="300"/>
              </a:spcBef>
              <a:spcAft>
                <a:spcPts val="0"/>
              </a:spcAft>
              <a:buClr>
                <a:srgbClr val="888888"/>
              </a:buClr>
              <a:buSzPts val="1200"/>
              <a:buNone/>
              <a:defRPr sz="1200">
                <a:solidFill>
                  <a:srgbClr val="888888"/>
                </a:solidFill>
              </a:defRPr>
            </a:lvl5pPr>
            <a:lvl6pPr indent="-228600" lvl="5" marL="2743200" algn="l">
              <a:lnSpc>
                <a:spcPct val="100000"/>
              </a:lnSpc>
              <a:spcBef>
                <a:spcPts val="300"/>
              </a:spcBef>
              <a:spcAft>
                <a:spcPts val="0"/>
              </a:spcAft>
              <a:buClr>
                <a:srgbClr val="888888"/>
              </a:buClr>
              <a:buSzPts val="1100"/>
              <a:buNone/>
              <a:defRPr sz="1100">
                <a:solidFill>
                  <a:srgbClr val="888888"/>
                </a:solidFill>
              </a:defRPr>
            </a:lvl6pPr>
            <a:lvl7pPr indent="-228600" lvl="6" marL="3200400" algn="l">
              <a:lnSpc>
                <a:spcPct val="100000"/>
              </a:lnSpc>
              <a:spcBef>
                <a:spcPts val="300"/>
              </a:spcBef>
              <a:spcAft>
                <a:spcPts val="0"/>
              </a:spcAft>
              <a:buClr>
                <a:srgbClr val="888888"/>
              </a:buClr>
              <a:buSzPts val="1000"/>
              <a:buNone/>
              <a:defRPr sz="1000">
                <a:solidFill>
                  <a:srgbClr val="888888"/>
                </a:solidFill>
              </a:defRPr>
            </a:lvl7pPr>
            <a:lvl8pPr indent="-228600" lvl="7" marL="3657600" algn="l">
              <a:lnSpc>
                <a:spcPct val="100000"/>
              </a:lnSpc>
              <a:spcBef>
                <a:spcPts val="300"/>
              </a:spcBef>
              <a:spcAft>
                <a:spcPts val="0"/>
              </a:spcAft>
              <a:buClr>
                <a:srgbClr val="888888"/>
              </a:buClr>
              <a:buSzPts val="900"/>
              <a:buNone/>
              <a:defRPr sz="900">
                <a:solidFill>
                  <a:srgbClr val="888888"/>
                </a:solidFill>
              </a:defRPr>
            </a:lvl8pPr>
            <a:lvl9pPr indent="-228600" lvl="8" marL="4114800" algn="l">
              <a:lnSpc>
                <a:spcPct val="100000"/>
              </a:lnSpc>
              <a:spcBef>
                <a:spcPts val="300"/>
              </a:spcBef>
              <a:spcAft>
                <a:spcPts val="0"/>
              </a:spcAft>
              <a:buClr>
                <a:srgbClr val="888888"/>
              </a:buClr>
              <a:buSzPts val="800"/>
              <a:buNone/>
              <a:defRPr sz="800">
                <a:solidFill>
                  <a:srgbClr val="888888"/>
                </a:solidFill>
              </a:defRPr>
            </a:lvl9pPr>
          </a:lstStyle>
          <a:p/>
        </p:txBody>
      </p:sp>
      <p:sp>
        <p:nvSpPr>
          <p:cNvPr id="26" name="Google Shape;26;p3"/>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One Wide)" type="obj">
  <p:cSld name="OBJECT">
    <p:spTree>
      <p:nvGrpSpPr>
        <p:cNvPr id="27" name="Shape 27"/>
        <p:cNvGrpSpPr/>
        <p:nvPr/>
      </p:nvGrpSpPr>
      <p:grpSpPr>
        <a:xfrm>
          <a:off x="0" y="0"/>
          <a:ext cx="0" cy="0"/>
          <a:chOff x="0" y="0"/>
          <a:chExt cx="0" cy="0"/>
        </a:xfrm>
      </p:grpSpPr>
      <p:sp>
        <p:nvSpPr>
          <p:cNvPr id="28" name="Google Shape;28;p4"/>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990000"/>
              </a:buClr>
              <a:buSzPts val="4400"/>
              <a:buFont typeface="Arial"/>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9" name="Google Shape;29;p4"/>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0" name="Google Shape;30;p4"/>
          <p:cNvSpPr txBox="1"/>
          <p:nvPr>
            <p:ph idx="1" type="body"/>
          </p:nvPr>
        </p:nvSpPr>
        <p:spPr>
          <a:xfrm>
            <a:off x="40106" y="998794"/>
            <a:ext cx="90669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sz="1600"/>
            </a:lvl1pPr>
            <a:lvl2pPr indent="-323850" lvl="1" marL="914400" rtl="0" algn="l">
              <a:lnSpc>
                <a:spcPct val="150000"/>
              </a:lnSpc>
              <a:spcBef>
                <a:spcPts val="0"/>
              </a:spcBef>
              <a:spcAft>
                <a:spcPts val="0"/>
              </a:spcAft>
              <a:buClr>
                <a:srgbClr val="000000"/>
              </a:buClr>
              <a:buSzPts val="1500"/>
              <a:buChar char="–"/>
              <a:defRPr sz="1500"/>
            </a:lvl2pPr>
            <a:lvl3pPr indent="-317500" lvl="2" marL="1371600" rtl="0" algn="l">
              <a:lnSpc>
                <a:spcPct val="150000"/>
              </a:lnSpc>
              <a:spcBef>
                <a:spcPts val="0"/>
              </a:spcBef>
              <a:spcAft>
                <a:spcPts val="0"/>
              </a:spcAft>
              <a:buClr>
                <a:srgbClr val="000000"/>
              </a:buClr>
              <a:buSzPts val="1400"/>
              <a:buChar char="•"/>
              <a:defRPr sz="1400"/>
            </a:lvl3pPr>
            <a:lvl4pPr indent="-311150" lvl="3" marL="1828800" rtl="0" algn="l">
              <a:lnSpc>
                <a:spcPct val="150000"/>
              </a:lnSpc>
              <a:spcBef>
                <a:spcPts val="0"/>
              </a:spcBef>
              <a:spcAft>
                <a:spcPts val="0"/>
              </a:spcAft>
              <a:buClr>
                <a:srgbClr val="000000"/>
              </a:buClr>
              <a:buSzPts val="1300"/>
              <a:buChar char="–"/>
              <a:defRPr sz="1300"/>
            </a:lvl4pPr>
            <a:lvl5pPr indent="-304800" lvl="4" marL="2286000" rtl="0" algn="l">
              <a:lnSpc>
                <a:spcPct val="150000"/>
              </a:lnSpc>
              <a:spcBef>
                <a:spcPts val="0"/>
              </a:spcBef>
              <a:spcAft>
                <a:spcPts val="0"/>
              </a:spcAft>
              <a:buClr>
                <a:srgbClr val="000000"/>
              </a:buClr>
              <a:buSzPts val="1200"/>
              <a:buChar char="»"/>
              <a:defRPr sz="1200"/>
            </a:lvl5pPr>
            <a:lvl6pPr indent="-292100" lvl="5" marL="2743200" rtl="0" algn="l">
              <a:lnSpc>
                <a:spcPct val="150000"/>
              </a:lnSpc>
              <a:spcBef>
                <a:spcPts val="0"/>
              </a:spcBef>
              <a:spcAft>
                <a:spcPts val="0"/>
              </a:spcAft>
              <a:buClr>
                <a:schemeClr val="dk1"/>
              </a:buClr>
              <a:buSzPts val="1000"/>
              <a:buChar char="•"/>
              <a:defRPr sz="1100"/>
            </a:lvl6pPr>
            <a:lvl7pPr indent="-285750" lvl="6" marL="3200400" rtl="0" algn="l">
              <a:lnSpc>
                <a:spcPct val="150000"/>
              </a:lnSpc>
              <a:spcBef>
                <a:spcPts val="0"/>
              </a:spcBef>
              <a:spcAft>
                <a:spcPts val="0"/>
              </a:spcAft>
              <a:buClr>
                <a:schemeClr val="dk1"/>
              </a:buClr>
              <a:buSzPts val="900"/>
              <a:buChar char="•"/>
              <a:defRPr sz="1000"/>
            </a:lvl7pPr>
            <a:lvl8pPr indent="-279400" lvl="7" marL="3657600" rtl="0" algn="l">
              <a:lnSpc>
                <a:spcPct val="150000"/>
              </a:lnSpc>
              <a:spcBef>
                <a:spcPts val="0"/>
              </a:spcBef>
              <a:spcAft>
                <a:spcPts val="0"/>
              </a:spcAft>
              <a:buClr>
                <a:schemeClr val="dk1"/>
              </a:buClr>
              <a:buSzPts val="800"/>
              <a:buChar char="•"/>
              <a:defRPr sz="900"/>
            </a:lvl8pPr>
            <a:lvl9pPr indent="-273050" lvl="8" marL="4114800" rtl="0" algn="l">
              <a:lnSpc>
                <a:spcPct val="150000"/>
              </a:lnSpc>
              <a:spcBef>
                <a:spcPts val="0"/>
              </a:spcBef>
              <a:spcAft>
                <a:spcPts val="0"/>
              </a:spcAft>
              <a:buClr>
                <a:schemeClr val="dk1"/>
              </a:buClr>
              <a:buSzPts val="700"/>
              <a:buChar char="•"/>
              <a:defRPr sz="800"/>
            </a:lvl9pPr>
          </a:lstStyle>
          <a:p/>
        </p:txBody>
      </p:sp>
    </p:spTree>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One Left" type="twoObj">
  <p:cSld name="TWO_OBJECTS">
    <p:spTree>
      <p:nvGrpSpPr>
        <p:cNvPr id="31" name="Shape 31"/>
        <p:cNvGrpSpPr/>
        <p:nvPr/>
      </p:nvGrpSpPr>
      <p:grpSpPr>
        <a:xfrm>
          <a:off x="0" y="0"/>
          <a:ext cx="0" cy="0"/>
          <a:chOff x="0" y="0"/>
          <a:chExt cx="0" cy="0"/>
        </a:xfrm>
      </p:grpSpPr>
      <p:sp>
        <p:nvSpPr>
          <p:cNvPr id="32" name="Google Shape;32;p5"/>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990000"/>
              </a:buClr>
              <a:buSzPts val="4400"/>
              <a:buFont typeface="Arial"/>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3" name="Google Shape;33;p5"/>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4" name="Google Shape;34;p5"/>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Two">
  <p:cSld name="TWO_OBJECTS_1">
    <p:spTree>
      <p:nvGrpSpPr>
        <p:cNvPr id="35" name="Shape 35"/>
        <p:cNvGrpSpPr/>
        <p:nvPr/>
      </p:nvGrpSpPr>
      <p:grpSpPr>
        <a:xfrm>
          <a:off x="0" y="0"/>
          <a:ext cx="0" cy="0"/>
          <a:chOff x="0" y="0"/>
          <a:chExt cx="0" cy="0"/>
        </a:xfrm>
      </p:grpSpPr>
      <p:sp>
        <p:nvSpPr>
          <p:cNvPr id="36" name="Google Shape;36;p6"/>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7" name="Google Shape;37;p6"/>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8" name="Google Shape;38;p6"/>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
        <p:nvSpPr>
          <p:cNvPr id="39" name="Google Shape;39;p6"/>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One Right">
  <p:cSld name="TWO_OBJECTS_1_1">
    <p:spTree>
      <p:nvGrpSpPr>
        <p:cNvPr id="40" name="Shape 40"/>
        <p:cNvGrpSpPr/>
        <p:nvPr/>
      </p:nvGrpSpPr>
      <p:grpSpPr>
        <a:xfrm>
          <a:off x="0" y="0"/>
          <a:ext cx="0" cy="0"/>
          <a:chOff x="0" y="0"/>
          <a:chExt cx="0" cy="0"/>
        </a:xfrm>
      </p:grpSpPr>
      <p:sp>
        <p:nvSpPr>
          <p:cNvPr id="41" name="Google Shape;41;p7"/>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2" name="Google Shape;42;p7"/>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43" name="Google Shape;43;p7"/>
          <p:cNvSpPr txBox="1"/>
          <p:nvPr>
            <p:ph idx="1"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8"/>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othing">
  <p:cSld name="Custom Layout_1">
    <p:spTree>
      <p:nvGrpSpPr>
        <p:cNvPr id="46" name="Shape 46"/>
        <p:cNvGrpSpPr/>
        <p:nvPr/>
      </p:nvGrpSpPr>
      <p:grpSpPr>
        <a:xfrm>
          <a:off x="0" y="0"/>
          <a:ext cx="0" cy="0"/>
          <a:chOff x="0" y="0"/>
          <a:chExt cx="0" cy="0"/>
        </a:xfrm>
      </p:grpSpPr>
      <p:sp>
        <p:nvSpPr>
          <p:cNvPr id="47" name="Google Shape;47;p9"/>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8" name="Google Shape;48;p9"/>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slideLayout" Target="../slideLayouts/slideLayout1.xml"/><Relationship Id="rId11" Type="http://schemas.openxmlformats.org/officeDocument/2006/relationships/slideLayout" Target="../slideLayouts/slideLayout8.xml"/><Relationship Id="rId10" Type="http://schemas.openxmlformats.org/officeDocument/2006/relationships/slideLayout" Target="../slideLayouts/slideLayout7.xml"/><Relationship Id="rId12" Type="http://schemas.openxmlformats.org/officeDocument/2006/relationships/theme" Target="../theme/theme1.xml"/><Relationship Id="rId9" Type="http://schemas.openxmlformats.org/officeDocument/2006/relationships/slideLayout" Target="../slideLayouts/slideLayout6.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4508839"/>
            <a:ext cx="9144000" cy="633600"/>
          </a:xfrm>
          <a:prstGeom prst="rect">
            <a:avLst/>
          </a:prstGeom>
          <a:solidFill>
            <a:schemeClr val="dk2"/>
          </a:solidFill>
          <a:ln>
            <a:noFill/>
          </a:ln>
          <a:effectLst>
            <a:outerShdw blurRad="40000" rotWithShape="0" dir="5400000" dist="23000">
              <a:srgbClr val="000000">
                <a:alpha val="3372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11" name="Google Shape;11;p1"/>
          <p:cNvSpPr txBox="1"/>
          <p:nvPr>
            <p:ph type="title"/>
          </p:nvPr>
        </p:nvSpPr>
        <p:spPr>
          <a:xfrm>
            <a:off x="107950" y="84389"/>
            <a:ext cx="8928000" cy="857400"/>
          </a:xfrm>
          <a:prstGeom prst="rect">
            <a:avLst/>
          </a:prstGeom>
          <a:noFill/>
          <a:ln>
            <a:noFill/>
          </a:ln>
        </p:spPr>
        <p:txBody>
          <a:bodyPr anchorCtr="0" anchor="ctr" bIns="45700" lIns="91425" spcFirstLastPara="1" rIns="91425" wrap="square" tIns="45700">
            <a:noAutofit/>
          </a:bodyPr>
          <a:lstStyle>
            <a:lvl1pPr lvl="0" marR="0" rtl="0">
              <a:lnSpc>
                <a:spcPct val="100000"/>
              </a:lnSpc>
              <a:spcBef>
                <a:spcPts val="0"/>
              </a:spcBef>
              <a:spcAft>
                <a:spcPts val="0"/>
              </a:spcAft>
              <a:buClr>
                <a:srgbClr val="990000"/>
              </a:buClr>
              <a:buSzPts val="4400"/>
              <a:buFont typeface="Proxima Nova"/>
              <a:buNone/>
              <a:defRPr b="1" i="0" sz="4400" u="none" cap="none" strike="noStrike">
                <a:solidFill>
                  <a:srgbClr val="990000"/>
                </a:solidFill>
                <a:latin typeface="Proxima Nova"/>
                <a:ea typeface="Proxima Nova"/>
                <a:cs typeface="Proxima Nova"/>
                <a:sym typeface="Proxima Nova"/>
              </a:defRPr>
            </a:lvl1pPr>
            <a:lvl2pPr lvl="1"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2pPr>
            <a:lvl3pPr lvl="2"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3pPr>
            <a:lvl4pPr lvl="3"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4pPr>
            <a:lvl5pPr lvl="4"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5pPr>
            <a:lvl6pPr lvl="5"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6pPr>
            <a:lvl7pPr lvl="6"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7pPr>
            <a:lvl8pPr lvl="7"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8pPr>
            <a:lvl9pPr lvl="8"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9pPr>
          </a:lstStyle>
          <a:p/>
        </p:txBody>
      </p:sp>
      <p:sp>
        <p:nvSpPr>
          <p:cNvPr id="12" name="Google Shape;12;p1"/>
          <p:cNvSpPr txBox="1"/>
          <p:nvPr>
            <p:ph idx="1" type="body"/>
          </p:nvPr>
        </p:nvSpPr>
        <p:spPr>
          <a:xfrm>
            <a:off x="107950" y="941638"/>
            <a:ext cx="8928000" cy="3506100"/>
          </a:xfrm>
          <a:prstGeom prst="rect">
            <a:avLst/>
          </a:prstGeom>
          <a:noFill/>
          <a:ln>
            <a:noFill/>
          </a:ln>
        </p:spPr>
        <p:txBody>
          <a:bodyPr anchorCtr="0" anchor="t" bIns="45700" lIns="91425" spcFirstLastPara="1" rIns="91425" wrap="square" tIns="45700">
            <a:noAutofit/>
          </a:bodyPr>
          <a:lstStyle>
            <a:lvl1pPr indent="-330200" lvl="0" marL="457200" marR="0" rtl="0" algn="l">
              <a:lnSpc>
                <a:spcPct val="150000"/>
              </a:lnSpc>
              <a:spcBef>
                <a:spcPts val="0"/>
              </a:spcBef>
              <a:spcAft>
                <a:spcPts val="0"/>
              </a:spcAft>
              <a:buClr>
                <a:srgbClr val="000000"/>
              </a:buClr>
              <a:buSzPts val="1600"/>
              <a:buFont typeface="Proxima Nova"/>
              <a:buChar char="•"/>
              <a:defRPr i="0" sz="1600" u="none" cap="none" strike="noStrike">
                <a:solidFill>
                  <a:srgbClr val="000000"/>
                </a:solidFill>
                <a:latin typeface="Proxima Nova"/>
                <a:ea typeface="Proxima Nova"/>
                <a:cs typeface="Proxima Nova"/>
                <a:sym typeface="Proxima Nova"/>
              </a:defRPr>
            </a:lvl1pPr>
            <a:lvl2pPr indent="-323850" lvl="1" marL="914400" marR="0" rtl="0" algn="l">
              <a:lnSpc>
                <a:spcPct val="150000"/>
              </a:lnSpc>
              <a:spcBef>
                <a:spcPts val="0"/>
              </a:spcBef>
              <a:spcAft>
                <a:spcPts val="0"/>
              </a:spcAft>
              <a:buClr>
                <a:srgbClr val="000000"/>
              </a:buClr>
              <a:buSzPts val="1500"/>
              <a:buFont typeface="Proxima Nova"/>
              <a:buChar char="–"/>
              <a:defRPr i="0" sz="1500" u="none" cap="none" strike="noStrike">
                <a:solidFill>
                  <a:srgbClr val="000000"/>
                </a:solidFill>
                <a:latin typeface="Proxima Nova"/>
                <a:ea typeface="Proxima Nova"/>
                <a:cs typeface="Proxima Nova"/>
                <a:sym typeface="Proxima Nova"/>
              </a:defRPr>
            </a:lvl2pPr>
            <a:lvl3pPr indent="-317500" lvl="2" marL="1371600" marR="0" rtl="0" algn="l">
              <a:lnSpc>
                <a:spcPct val="150000"/>
              </a:lnSpc>
              <a:spcBef>
                <a:spcPts val="0"/>
              </a:spcBef>
              <a:spcAft>
                <a:spcPts val="0"/>
              </a:spcAft>
              <a:buClr>
                <a:srgbClr val="000000"/>
              </a:buClr>
              <a:buSzPts val="1400"/>
              <a:buFont typeface="Proxima Nova"/>
              <a:buChar char="•"/>
              <a:defRPr i="0" u="none" cap="none" strike="noStrike">
                <a:solidFill>
                  <a:srgbClr val="000000"/>
                </a:solidFill>
                <a:latin typeface="Proxima Nova"/>
                <a:ea typeface="Proxima Nova"/>
                <a:cs typeface="Proxima Nova"/>
                <a:sym typeface="Proxima Nova"/>
              </a:defRPr>
            </a:lvl3pPr>
            <a:lvl4pPr indent="-311150" lvl="3" marL="1828800" marR="0" rtl="0" algn="l">
              <a:lnSpc>
                <a:spcPct val="150000"/>
              </a:lnSpc>
              <a:spcBef>
                <a:spcPts val="0"/>
              </a:spcBef>
              <a:spcAft>
                <a:spcPts val="0"/>
              </a:spcAft>
              <a:buClr>
                <a:srgbClr val="000000"/>
              </a:buClr>
              <a:buSzPts val="1300"/>
              <a:buFont typeface="Proxima Nova"/>
              <a:buChar char="–"/>
              <a:defRPr i="0" sz="1300" u="none" cap="none" strike="noStrike">
                <a:solidFill>
                  <a:srgbClr val="000000"/>
                </a:solidFill>
                <a:latin typeface="Proxima Nova"/>
                <a:ea typeface="Proxima Nova"/>
                <a:cs typeface="Proxima Nova"/>
                <a:sym typeface="Proxima Nova"/>
              </a:defRPr>
            </a:lvl4pPr>
            <a:lvl5pPr indent="-304800" lvl="4" marL="2286000" marR="0" rtl="0" algn="l">
              <a:lnSpc>
                <a:spcPct val="150000"/>
              </a:lnSpc>
              <a:spcBef>
                <a:spcPts val="0"/>
              </a:spcBef>
              <a:spcAft>
                <a:spcPts val="0"/>
              </a:spcAft>
              <a:buClr>
                <a:srgbClr val="000000"/>
              </a:buClr>
              <a:buSzPts val="1200"/>
              <a:buFont typeface="Proxima Nova"/>
              <a:buChar char="»"/>
              <a:defRPr i="0" sz="1200" u="none" cap="none" strike="noStrike">
                <a:solidFill>
                  <a:srgbClr val="000000"/>
                </a:solidFill>
                <a:latin typeface="Proxima Nova"/>
                <a:ea typeface="Proxima Nova"/>
                <a:cs typeface="Proxima Nova"/>
                <a:sym typeface="Proxima Nova"/>
              </a:defRPr>
            </a:lvl5pPr>
            <a:lvl6pPr indent="-298450" lvl="5" marL="2743200" marR="0" rtl="0" algn="l">
              <a:lnSpc>
                <a:spcPct val="150000"/>
              </a:lnSpc>
              <a:spcBef>
                <a:spcPts val="0"/>
              </a:spcBef>
              <a:spcAft>
                <a:spcPts val="0"/>
              </a:spcAft>
              <a:buClr>
                <a:schemeClr val="dk1"/>
              </a:buClr>
              <a:buSzPts val="1100"/>
              <a:buFont typeface="Proxima Nova"/>
              <a:buChar char="•"/>
              <a:defRPr i="0" sz="1100" u="none" cap="none" strike="noStrike">
                <a:solidFill>
                  <a:schemeClr val="dk1"/>
                </a:solidFill>
                <a:latin typeface="Proxima Nova"/>
                <a:ea typeface="Proxima Nova"/>
                <a:cs typeface="Proxima Nova"/>
                <a:sym typeface="Proxima Nova"/>
              </a:defRPr>
            </a:lvl6pPr>
            <a:lvl7pPr indent="-292100" lvl="6" marL="3200400" marR="0" rtl="0" algn="l">
              <a:lnSpc>
                <a:spcPct val="150000"/>
              </a:lnSpc>
              <a:spcBef>
                <a:spcPts val="0"/>
              </a:spcBef>
              <a:spcAft>
                <a:spcPts val="0"/>
              </a:spcAft>
              <a:buClr>
                <a:schemeClr val="dk1"/>
              </a:buClr>
              <a:buSzPts val="1000"/>
              <a:buFont typeface="Proxima Nova"/>
              <a:buChar char="•"/>
              <a:defRPr i="0" sz="1000" u="none" cap="none" strike="noStrike">
                <a:solidFill>
                  <a:schemeClr val="dk1"/>
                </a:solidFill>
                <a:latin typeface="Proxima Nova"/>
                <a:ea typeface="Proxima Nova"/>
                <a:cs typeface="Proxima Nova"/>
                <a:sym typeface="Proxima Nova"/>
              </a:defRPr>
            </a:lvl7pPr>
            <a:lvl8pPr indent="-285750" lvl="7" marL="3657600" marR="0" rtl="0" algn="l">
              <a:lnSpc>
                <a:spcPct val="150000"/>
              </a:lnSpc>
              <a:spcBef>
                <a:spcPts val="0"/>
              </a:spcBef>
              <a:spcAft>
                <a:spcPts val="0"/>
              </a:spcAft>
              <a:buClr>
                <a:schemeClr val="dk1"/>
              </a:buClr>
              <a:buSzPts val="900"/>
              <a:buFont typeface="Proxima Nova"/>
              <a:buChar char="•"/>
              <a:defRPr i="0" sz="900" u="none" cap="none" strike="noStrike">
                <a:solidFill>
                  <a:schemeClr val="dk1"/>
                </a:solidFill>
                <a:latin typeface="Proxima Nova"/>
                <a:ea typeface="Proxima Nova"/>
                <a:cs typeface="Proxima Nova"/>
                <a:sym typeface="Proxima Nova"/>
              </a:defRPr>
            </a:lvl8pPr>
            <a:lvl9pPr indent="-279400" lvl="8" marL="4114800" marR="0" rtl="0" algn="l">
              <a:lnSpc>
                <a:spcPct val="150000"/>
              </a:lnSpc>
              <a:spcBef>
                <a:spcPts val="0"/>
              </a:spcBef>
              <a:spcAft>
                <a:spcPts val="0"/>
              </a:spcAft>
              <a:buClr>
                <a:schemeClr val="dk1"/>
              </a:buClr>
              <a:buSzPts val="800"/>
              <a:buFont typeface="Proxima Nova"/>
              <a:buChar char="•"/>
              <a:defRPr i="0" sz="800" u="none" cap="none" strike="noStrike">
                <a:solidFill>
                  <a:schemeClr val="dk1"/>
                </a:solidFill>
                <a:latin typeface="Proxima Nova"/>
                <a:ea typeface="Proxima Nova"/>
                <a:cs typeface="Proxima Nova"/>
                <a:sym typeface="Proxima Nova"/>
              </a:defRPr>
            </a:lvl9pPr>
          </a:lstStyle>
          <a:p/>
        </p:txBody>
      </p:sp>
      <p:sp>
        <p:nvSpPr>
          <p:cNvPr id="13" name="Google Shape;13;p1"/>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US"/>
              <a:t>‹#›</a:t>
            </a:fld>
            <a:endParaRPr/>
          </a:p>
        </p:txBody>
      </p:sp>
      <p:pic>
        <p:nvPicPr>
          <p:cNvPr descr="1-lineWordmark_GoldOnCard_NoBG.eps" id="14" name="Google Shape;14;p1"/>
          <p:cNvPicPr preferRelativeResize="0"/>
          <p:nvPr/>
        </p:nvPicPr>
        <p:blipFill rotWithShape="1">
          <a:blip r:embed="rId1">
            <a:alphaModFix/>
          </a:blip>
          <a:srcRect b="0" l="0" r="0" t="0"/>
          <a:stretch/>
        </p:blipFill>
        <p:spPr>
          <a:xfrm>
            <a:off x="6997700" y="4846522"/>
            <a:ext cx="1366594" cy="116116"/>
          </a:xfrm>
          <a:prstGeom prst="rect">
            <a:avLst/>
          </a:prstGeom>
          <a:noFill/>
          <a:ln>
            <a:noFill/>
          </a:ln>
        </p:spPr>
      </p:pic>
      <p:pic>
        <p:nvPicPr>
          <p:cNvPr descr="Formal_Viterbi_GoldOnCard_NoBG.eps" id="15" name="Google Shape;15;p1"/>
          <p:cNvPicPr preferRelativeResize="0"/>
          <p:nvPr/>
        </p:nvPicPr>
        <p:blipFill rotWithShape="1">
          <a:blip r:embed="rId2">
            <a:alphaModFix/>
          </a:blip>
          <a:srcRect b="0" l="0" r="0" t="0"/>
          <a:stretch/>
        </p:blipFill>
        <p:spPr>
          <a:xfrm>
            <a:off x="292102" y="4603732"/>
            <a:ext cx="1306267" cy="352557"/>
          </a:xfrm>
          <a:prstGeom prst="rect">
            <a:avLst/>
          </a:prstGeom>
          <a:noFill/>
          <a:ln>
            <a:noFill/>
          </a:ln>
        </p:spPr>
      </p:pic>
      <p:sp>
        <p:nvSpPr>
          <p:cNvPr id="16" name="Google Shape;16;p1"/>
          <p:cNvSpPr/>
          <p:nvPr/>
        </p:nvSpPr>
        <p:spPr>
          <a:xfrm flipH="1" rot="10800000">
            <a:off x="0" y="4470738"/>
            <a:ext cx="9144000" cy="38100"/>
          </a:xfrm>
          <a:prstGeom prst="rect">
            <a:avLst/>
          </a:prstGeom>
          <a:solidFill>
            <a:srgbClr val="FFCC00"/>
          </a:solidFill>
          <a:ln>
            <a:noFill/>
          </a:ln>
          <a:effectLst>
            <a:outerShdw blurRad="40000" rotWithShape="0" dir="5400000" dist="20000">
              <a:srgbClr val="000000">
                <a:alpha val="3647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17" name="Google Shape;17;p1"/>
          <p:cNvPicPr preferRelativeResize="0"/>
          <p:nvPr/>
        </p:nvPicPr>
        <p:blipFill rotWithShape="1">
          <a:blip r:embed="rId3">
            <a:alphaModFix/>
          </a:blip>
          <a:srcRect b="0" l="0" r="57269" t="0"/>
          <a:stretch/>
        </p:blipFill>
        <p:spPr>
          <a:xfrm>
            <a:off x="107950" y="57150"/>
            <a:ext cx="285751" cy="19764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ocs.google.com/presentation/d/1ZydxOBhRUcXqfMy_QLw7v_7g14_AgFpp36n06Yc2TGU/edit?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hyperlink" Target="https://pip.pypa.io/en/stable/installing/"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0"/>
          <p:cNvSpPr txBox="1"/>
          <p:nvPr>
            <p:ph type="ctrTitle"/>
          </p:nvPr>
        </p:nvSpPr>
        <p:spPr>
          <a:xfrm>
            <a:off x="685800" y="1104900"/>
            <a:ext cx="7772400" cy="2136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Packages and modules</a:t>
            </a:r>
            <a:endParaRPr/>
          </a:p>
        </p:txBody>
      </p:sp>
      <p:sp>
        <p:nvSpPr>
          <p:cNvPr id="55" name="Google Shape;55;p10"/>
          <p:cNvSpPr txBox="1"/>
          <p:nvPr>
            <p:ph idx="1" type="subTitle"/>
          </p:nvPr>
        </p:nvSpPr>
        <p:spPr>
          <a:xfrm>
            <a:off x="1371600" y="3240900"/>
            <a:ext cx="6400800" cy="1045500"/>
          </a:xfrm>
          <a:prstGeom prst="rect">
            <a:avLst/>
          </a:prstGeom>
        </p:spPr>
        <p:txBody>
          <a:bodyPr anchorCtr="0" anchor="ctr" bIns="45700" lIns="91425" spcFirstLastPara="1" rIns="91425" wrap="square" tIns="45700">
            <a:noAutofit/>
          </a:bodyPr>
          <a:lstStyle/>
          <a:p>
            <a:pPr indent="0" lvl="0" marL="0" rtl="0" algn="ctr">
              <a:spcBef>
                <a:spcPts val="700"/>
              </a:spcBef>
              <a:spcAft>
                <a:spcPts val="0"/>
              </a:spcAft>
              <a:buNone/>
            </a:pPr>
            <a:r>
              <a:rPr lang="en-US"/>
              <a:t>Applied Python</a:t>
            </a:r>
            <a:endParaRPr/>
          </a:p>
        </p:txBody>
      </p:sp>
      <p:sp>
        <p:nvSpPr>
          <p:cNvPr id="56" name="Google Shape;56;p10"/>
          <p:cNvSpPr txBox="1"/>
          <p:nvPr>
            <p:ph idx="2" type="body"/>
          </p:nvPr>
        </p:nvSpPr>
        <p:spPr>
          <a:xfrm>
            <a:off x="7365900" y="0"/>
            <a:ext cx="1778100" cy="3327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r>
              <a:rPr lang="en-US" u="sng">
                <a:solidFill>
                  <a:schemeClr val="hlink"/>
                </a:solidFill>
                <a:hlinkClick r:id="rId3"/>
              </a:rPr>
              <a:t>Link to this document</a:t>
            </a:r>
            <a:endParaRPr/>
          </a:p>
        </p:txBody>
      </p:sp>
      <p:sp>
        <p:nvSpPr>
          <p:cNvPr id="57" name="Google Shape;57;p10"/>
          <p:cNvSpPr txBox="1"/>
          <p:nvPr>
            <p:ph idx="12" type="sldNum"/>
          </p:nvPr>
        </p:nvSpPr>
        <p:spPr>
          <a:xfrm>
            <a:off x="8556784" y="4749851"/>
            <a:ext cx="548700" cy="3936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 name="Shape 62"/>
        <p:cNvGrpSpPr/>
        <p:nvPr/>
      </p:nvGrpSpPr>
      <p:grpSpPr>
        <a:xfrm>
          <a:off x="0" y="0"/>
          <a:ext cx="0" cy="0"/>
          <a:chOff x="0" y="0"/>
          <a:chExt cx="0" cy="0"/>
        </a:xfrm>
      </p:grpSpPr>
      <p:sp>
        <p:nvSpPr>
          <p:cNvPr id="63" name="Google Shape;63;p1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What are we doing?</a:t>
            </a:r>
            <a:endParaRPr/>
          </a:p>
        </p:txBody>
      </p:sp>
      <p:sp>
        <p:nvSpPr>
          <p:cNvPr id="64" name="Google Shape;64;p1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65" name="Google Shape;65;p1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solidFill>
                  <a:schemeClr val="dk1"/>
                </a:solidFill>
              </a:rPr>
              <a:t>Learning Objectives</a:t>
            </a:r>
            <a:endParaRPr b="1">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By the end of this week, you should: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understand the purpose of modular programming</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identify comprehension syntax</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know the difference between a module and a package</a:t>
            </a:r>
            <a:endParaRPr>
              <a:solidFill>
                <a:schemeClr val="dk1"/>
              </a:solidFill>
            </a:endParaRPr>
          </a:p>
        </p:txBody>
      </p:sp>
      <p:sp>
        <p:nvSpPr>
          <p:cNvPr id="66" name="Google Shape;66;p1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solidFill>
                  <a:schemeClr val="dk1"/>
                </a:solidFill>
              </a:rPr>
              <a:t>Measurable Outcomes</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By the end of this week, you should be able to:</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modularize code into a module and include it in another codebase</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utilize an existing package</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writ</a:t>
            </a:r>
            <a:r>
              <a:rPr lang="en-US">
                <a:solidFill>
                  <a:schemeClr val="dk1"/>
                </a:solidFill>
              </a:rPr>
              <a:t>e a list comprehension to create</a:t>
            </a:r>
            <a:r>
              <a:rPr lang="en-US">
                <a:solidFill>
                  <a:schemeClr val="dk1"/>
                </a:solidFill>
              </a:rPr>
              <a:t> a list.</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use </a:t>
            </a:r>
            <a:r>
              <a:rPr lang="en-US">
                <a:solidFill>
                  <a:schemeClr val="dk1"/>
                </a:solidFill>
                <a:latin typeface="Roboto Mono Light"/>
                <a:ea typeface="Roboto Mono Light"/>
                <a:cs typeface="Roboto Mono Light"/>
                <a:sym typeface="Roboto Mono Light"/>
              </a:rPr>
              <a:t>yield</a:t>
            </a:r>
            <a:r>
              <a:rPr lang="en-US">
                <a:solidFill>
                  <a:schemeClr val="dk1"/>
                </a:solidFill>
              </a:rPr>
              <a:t> to create a generator</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2"/>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MODULAR PROGRAMMING</a:t>
            </a:r>
            <a:endParaRPr/>
          </a:p>
        </p:txBody>
      </p:sp>
      <p:sp>
        <p:nvSpPr>
          <p:cNvPr id="73" name="Google Shape;73;p12"/>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74" name="Google Shape;74;p1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sz="4300"/>
              <a:t>Modularity: work smarter not harder</a:t>
            </a:r>
            <a:endParaRPr sz="4300"/>
          </a:p>
        </p:txBody>
      </p:sp>
      <p:sp>
        <p:nvSpPr>
          <p:cNvPr id="81" name="Google Shape;81;p1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82" name="Google Shape;82;p13"/>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Remember back at the beginning of the semester when we talked about the engineering problem-solving process? One of the approaches was to continually break problems down into smaller subproblems until they were manageable, and then solve them. When you are building out a larger code base, you may find that there are small chunks that are reusable - which you'll turn into functions, or even new Classes. This is an example of </a:t>
            </a:r>
            <a:r>
              <a:rPr b="1" lang="en-US"/>
              <a:t>modular programming</a:t>
            </a:r>
            <a:r>
              <a:rPr lang="en-US"/>
              <a:t>: </a:t>
            </a:r>
            <a:r>
              <a:rPr i="1" lang="en-US"/>
              <a:t>separating out functionality into smaller, reusable chunks.</a:t>
            </a:r>
            <a:endParaRPr i="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Modular programming</a:t>
            </a:r>
            <a:endParaRPr/>
          </a:p>
        </p:txBody>
      </p:sp>
      <p:sp>
        <p:nvSpPr>
          <p:cNvPr id="89" name="Google Shape;89;p1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90" name="Google Shape;90;p14"/>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rPr>
              <a:t>Modular programming has several advantages:</a:t>
            </a:r>
            <a:endParaRPr>
              <a:solidFill>
                <a:schemeClr val="dk1"/>
              </a:solidFill>
            </a:endParaRPr>
          </a:p>
          <a:p>
            <a:pPr indent="-330200" lvl="0" marL="457200" rtl="0" algn="l">
              <a:spcBef>
                <a:spcPts val="0"/>
              </a:spcBef>
              <a:spcAft>
                <a:spcPts val="0"/>
              </a:spcAft>
              <a:buClr>
                <a:schemeClr val="dk1"/>
              </a:buClr>
              <a:buSzPts val="1600"/>
              <a:buFont typeface="Verdana"/>
              <a:buAutoNum type="arabicPeriod"/>
            </a:pPr>
            <a:r>
              <a:rPr b="1" lang="en-US">
                <a:solidFill>
                  <a:schemeClr val="dk1"/>
                </a:solidFill>
              </a:rPr>
              <a:t>Simplicity</a:t>
            </a:r>
            <a:r>
              <a:rPr lang="en-US">
                <a:solidFill>
                  <a:schemeClr val="dk1"/>
                </a:solidFill>
              </a:rPr>
              <a:t>: grouping complex functionality into a module means your main codebase is simpler</a:t>
            </a:r>
            <a:endParaRPr>
              <a:solidFill>
                <a:schemeClr val="dk1"/>
              </a:solidFill>
            </a:endParaRPr>
          </a:p>
          <a:p>
            <a:pPr indent="-330200" lvl="0" marL="457200" rtl="0" algn="l">
              <a:spcBef>
                <a:spcPts val="0"/>
              </a:spcBef>
              <a:spcAft>
                <a:spcPts val="0"/>
              </a:spcAft>
              <a:buClr>
                <a:schemeClr val="dk1"/>
              </a:buClr>
              <a:buSzPts val="1600"/>
              <a:buFont typeface="Verdana"/>
              <a:buAutoNum type="arabicPeriod"/>
            </a:pPr>
            <a:r>
              <a:rPr b="1" lang="en-US">
                <a:solidFill>
                  <a:schemeClr val="dk1"/>
                </a:solidFill>
              </a:rPr>
              <a:t>Reusability</a:t>
            </a:r>
            <a:r>
              <a:rPr lang="en-US">
                <a:solidFill>
                  <a:schemeClr val="dk1"/>
                </a:solidFill>
              </a:rPr>
              <a:t>: abstracting and grouping functionality means you can use it elsewhere </a:t>
            </a:r>
            <a:endParaRPr>
              <a:solidFill>
                <a:schemeClr val="dk1"/>
              </a:solidFill>
            </a:endParaRPr>
          </a:p>
          <a:p>
            <a:pPr indent="-330200" lvl="0" marL="457200" rtl="0" algn="l">
              <a:spcBef>
                <a:spcPts val="0"/>
              </a:spcBef>
              <a:spcAft>
                <a:spcPts val="0"/>
              </a:spcAft>
              <a:buClr>
                <a:schemeClr val="dk1"/>
              </a:buClr>
              <a:buSzPts val="1600"/>
              <a:buFont typeface="Verdana"/>
              <a:buAutoNum type="arabicPeriod"/>
            </a:pPr>
            <a:r>
              <a:rPr b="1" lang="en-US">
                <a:solidFill>
                  <a:schemeClr val="dk1"/>
                </a:solidFill>
              </a:rPr>
              <a:t>Scoping</a:t>
            </a:r>
            <a:r>
              <a:rPr lang="en-US">
                <a:solidFill>
                  <a:schemeClr val="dk1"/>
                </a:solidFill>
              </a:rPr>
              <a:t>: functionality within a module is defined in a different namespace, which helps avoid collisions</a:t>
            </a:r>
            <a:endParaRPr>
              <a:solidFill>
                <a:schemeClr val="dk1"/>
              </a:solidFill>
            </a:endParaRPr>
          </a:p>
          <a:p>
            <a:pPr indent="-330200" lvl="0" marL="457200" rtl="0" algn="l">
              <a:spcBef>
                <a:spcPts val="0"/>
              </a:spcBef>
              <a:spcAft>
                <a:spcPts val="0"/>
              </a:spcAft>
              <a:buClr>
                <a:schemeClr val="dk1"/>
              </a:buClr>
              <a:buSzPts val="1600"/>
              <a:buFont typeface="Verdana"/>
              <a:buAutoNum type="arabicPeriod"/>
            </a:pPr>
            <a:r>
              <a:rPr b="1" lang="en-US">
                <a:solidFill>
                  <a:schemeClr val="dk1"/>
                </a:solidFill>
              </a:rPr>
              <a:t>Maintainability</a:t>
            </a:r>
            <a:r>
              <a:rPr lang="en-US">
                <a:solidFill>
                  <a:schemeClr val="dk1"/>
                </a:solidFill>
              </a:rPr>
              <a:t>: changes to one module won't affect others, which means team members can work on separate modules at the same time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Modules and packages</a:t>
            </a:r>
            <a:endParaRPr/>
          </a:p>
        </p:txBody>
      </p:sp>
      <p:sp>
        <p:nvSpPr>
          <p:cNvPr id="97" name="Google Shape;97;p1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98" name="Google Shape;98;p15"/>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500">
                <a:solidFill>
                  <a:schemeClr val="dk1"/>
                </a:solidFill>
              </a:rPr>
              <a:t>Initially, the code in the file you write may only be intended for that particular program. However, as you expand out functionality, you may decide that some of the functionality could be useful in another program. You could then turn your codebase into a </a:t>
            </a:r>
            <a:r>
              <a:rPr b="1" i="1" lang="en-US" sz="1500">
                <a:solidFill>
                  <a:schemeClr val="dk1"/>
                </a:solidFill>
              </a:rPr>
              <a:t>module</a:t>
            </a:r>
            <a:r>
              <a:rPr i="1" lang="en-US" sz="1500">
                <a:solidFill>
                  <a:schemeClr val="dk1"/>
                </a:solidFill>
              </a:rPr>
              <a:t>: a file (or set of files) with an abstracted set of functionality which can be used in another codebase</a:t>
            </a:r>
            <a:r>
              <a:rPr lang="en-US" sz="1500">
                <a:solidFill>
                  <a:schemeClr val="dk1"/>
                </a:solidFill>
              </a:rPr>
              <a:t>.</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en-US" sz="1500">
                <a:solidFill>
                  <a:schemeClr val="dk1"/>
                </a:solidFill>
              </a:rPr>
              <a:t>A </a:t>
            </a:r>
            <a:r>
              <a:rPr b="1" i="1" lang="en-US" sz="1500">
                <a:solidFill>
                  <a:schemeClr val="dk1"/>
                </a:solidFill>
              </a:rPr>
              <a:t>package</a:t>
            </a:r>
            <a:r>
              <a:rPr i="1" lang="en-US" sz="1500">
                <a:solidFill>
                  <a:schemeClr val="dk1"/>
                </a:solidFill>
              </a:rPr>
              <a:t> is nothing more than a grouping of modules</a:t>
            </a:r>
            <a:r>
              <a:rPr lang="en-US" sz="1500">
                <a:solidFill>
                  <a:schemeClr val="dk1"/>
                </a:solidFill>
              </a:rPr>
              <a:t>. As a project grows in scope, it's possible you'll have ended up writing several modules which are related in application; packaging them up means that in the future, any project you work on which needs the same functionality can take advantage of the entire suite of modules.</a:t>
            </a:r>
            <a:endParaRPr sz="15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CREATING + USING MODULES</a:t>
            </a:r>
            <a:endParaRPr/>
          </a:p>
        </p:txBody>
      </p:sp>
      <p:sp>
        <p:nvSpPr>
          <p:cNvPr id="105" name="Google Shape;105;p16"/>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106" name="Google Shape;106;p1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Module: writing</a:t>
            </a:r>
            <a:endParaRPr/>
          </a:p>
        </p:txBody>
      </p:sp>
      <p:sp>
        <p:nvSpPr>
          <p:cNvPr id="113" name="Google Shape;113;p17"/>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Writing is module is easy: just move your existing code into a new Python file. There will be some nuance in a bit - but for the moment, that's it! Let's create a very simple module called cat.py.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happens when you run this? At the moment, nothing.</a:t>
            </a:r>
            <a:endParaRPr/>
          </a:p>
        </p:txBody>
      </p:sp>
      <p:sp>
        <p:nvSpPr>
          <p:cNvPr id="114" name="Google Shape;114;p17"/>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solidFill>
                  <a:schemeClr val="dk1"/>
                </a:solidFill>
                <a:latin typeface="Roboto Mono"/>
                <a:ea typeface="Roboto Mono"/>
                <a:cs typeface="Roboto Mono"/>
                <a:sym typeface="Roboto Mono"/>
              </a:rPr>
              <a:t># cat.py module</a:t>
            </a:r>
            <a:endParaRPr b="1">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a:solidFill>
                  <a:schemeClr val="dk1"/>
                </a:solidFill>
                <a:latin typeface="Roboto Mono Light"/>
                <a:ea typeface="Roboto Mono Light"/>
                <a:cs typeface="Roboto Mono Light"/>
                <a:sym typeface="Roboto Mono Light"/>
              </a:rPr>
              <a:t>def say_hi(name):</a:t>
            </a:r>
            <a:endParaRPr>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a:solidFill>
                  <a:schemeClr val="dk1"/>
                </a:solidFill>
                <a:latin typeface="Roboto Mono Light"/>
                <a:ea typeface="Roboto Mono Light"/>
                <a:cs typeface="Roboto Mono Light"/>
                <a:sym typeface="Roboto Mono Light"/>
              </a:rPr>
              <a:t>print('meow,', name)</a:t>
            </a:r>
            <a:endParaRPr>
              <a:solidFill>
                <a:schemeClr val="dk1"/>
              </a:solidFill>
              <a:latin typeface="Roboto Mono Light"/>
              <a:ea typeface="Roboto Mono Light"/>
              <a:cs typeface="Roboto Mono Light"/>
              <a:sym typeface="Roboto Mono Light"/>
            </a:endParaRPr>
          </a:p>
        </p:txBody>
      </p:sp>
      <p:sp>
        <p:nvSpPr>
          <p:cNvPr id="115" name="Google Shape;115;p1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Module: including in your project</a:t>
            </a:r>
            <a:endParaRPr/>
          </a:p>
        </p:txBody>
      </p:sp>
      <p:sp>
        <p:nvSpPr>
          <p:cNvPr id="122" name="Google Shape;122;p1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23" name="Google Shape;123;p18"/>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To include the newly-written module in another project, all you'll need to do is </a:t>
            </a:r>
            <a:r>
              <a:rPr b="1" lang="en-US"/>
              <a:t>include</a:t>
            </a:r>
            <a:r>
              <a:rPr lang="en-US"/>
              <a:t>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only catch here is that the module file has to be in the </a:t>
            </a:r>
            <a:r>
              <a:rPr lang="en-US"/>
              <a:t>same directory as the main program file.</a:t>
            </a:r>
            <a:r>
              <a:rPr lang="en-US"/>
              <a:t> So in this case, based on the way the code is written, both </a:t>
            </a:r>
            <a:r>
              <a:rPr lang="en-US">
                <a:solidFill>
                  <a:schemeClr val="dk1"/>
                </a:solidFill>
                <a:latin typeface="Roboto Mono Light"/>
                <a:ea typeface="Roboto Mono Light"/>
                <a:cs typeface="Roboto Mono Light"/>
                <a:sym typeface="Roboto Mono Light"/>
              </a:rPr>
              <a:t>cat.py</a:t>
            </a:r>
            <a:r>
              <a:rPr lang="en-US"/>
              <a:t> and </a:t>
            </a:r>
            <a:r>
              <a:rPr lang="en-US">
                <a:solidFill>
                  <a:schemeClr val="dk1"/>
                </a:solidFill>
                <a:latin typeface="Roboto Mono Light"/>
                <a:ea typeface="Roboto Mono Light"/>
                <a:cs typeface="Roboto Mono Light"/>
                <a:sym typeface="Roboto Mono Light"/>
              </a:rPr>
              <a:t>main.py</a:t>
            </a:r>
            <a:r>
              <a:rPr lang="en-US"/>
              <a:t> need to be </a:t>
            </a:r>
            <a:r>
              <a:rPr b="1" i="1" lang="en-US"/>
              <a:t>in the same directory</a:t>
            </a:r>
            <a:r>
              <a:rPr lang="en-US"/>
              <a:t>.</a:t>
            </a:r>
            <a:endParaRPr/>
          </a:p>
        </p:txBody>
      </p:sp>
      <p:sp>
        <p:nvSpPr>
          <p:cNvPr id="124" name="Google Shape;124;p18"/>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latin typeface="Roboto Mono Light"/>
                <a:ea typeface="Roboto Mono Light"/>
                <a:cs typeface="Roboto Mono Light"/>
                <a:sym typeface="Roboto Mono Light"/>
              </a:rPr>
              <a:t># main.py main codebase</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b="1" lang="en-US">
                <a:solidFill>
                  <a:schemeClr val="dk1"/>
                </a:solidFill>
                <a:latin typeface="Roboto Mono"/>
                <a:ea typeface="Roboto Mono"/>
                <a:cs typeface="Roboto Mono"/>
                <a:sym typeface="Roboto Mono"/>
              </a:rPr>
              <a:t>import cat</a:t>
            </a:r>
            <a:endParaRPr b="1">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a:solidFill>
                  <a:schemeClr val="dk1"/>
                </a:solidFill>
                <a:latin typeface="Roboto Mono Light"/>
                <a:ea typeface="Roboto Mono Light"/>
                <a:cs typeface="Roboto Mono Light"/>
                <a:sym typeface="Roboto Mono Light"/>
              </a:rPr>
              <a:t>def main():</a:t>
            </a:r>
            <a:endParaRPr>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a:solidFill>
                  <a:schemeClr val="dk1"/>
                </a:solidFill>
                <a:latin typeface="Roboto Mono Light"/>
                <a:ea typeface="Roboto Mono Light"/>
                <a:cs typeface="Roboto Mono Light"/>
                <a:sym typeface="Roboto Mono Light"/>
              </a:rPr>
              <a:t># utilize cat module</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a:solidFill>
                  <a:schemeClr val="dk1"/>
                </a:solidFill>
                <a:latin typeface="Roboto Mono Light"/>
                <a:ea typeface="Roboto Mono Light"/>
                <a:cs typeface="Roboto Mono Light"/>
                <a:sym typeface="Roboto Mono Light"/>
              </a:rPr>
              <a:t>if __name__ == '__main__':</a:t>
            </a:r>
            <a:endParaRPr>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a:solidFill>
                  <a:schemeClr val="dk1"/>
                </a:solidFill>
                <a:latin typeface="Roboto Mono Light"/>
                <a:ea typeface="Roboto Mono Light"/>
                <a:cs typeface="Roboto Mono Light"/>
                <a:sym typeface="Roboto Mono Light"/>
              </a:rPr>
              <a:t>main()</a:t>
            </a:r>
            <a:endParaRPr>
              <a:solidFill>
                <a:schemeClr val="dk1"/>
              </a:solidFill>
              <a:latin typeface="Roboto Mono Light"/>
              <a:ea typeface="Roboto Mono Light"/>
              <a:cs typeface="Roboto Mono Light"/>
              <a:sym typeface="Roboto Mono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Module: using</a:t>
            </a:r>
            <a:endParaRPr/>
          </a:p>
        </p:txBody>
      </p:sp>
      <p:sp>
        <p:nvSpPr>
          <p:cNvPr id="131" name="Google Shape;131;p1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32" name="Google Shape;132;p19"/>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rPr>
              <a:t>It turns out that accessing module features is exactly the same as accessing object features: using the </a:t>
            </a:r>
            <a:r>
              <a:rPr b="1" lang="en-US">
                <a:solidFill>
                  <a:schemeClr val="dk1"/>
                </a:solidFill>
              </a:rPr>
              <a:t>dot operator</a:t>
            </a:r>
            <a:r>
              <a:rPr lang="en-US">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457200" lvl="0" marL="0" rtl="0" algn="l">
              <a:spcBef>
                <a:spcPts val="0"/>
              </a:spcBef>
              <a:spcAft>
                <a:spcPts val="0"/>
              </a:spcAft>
              <a:buNone/>
            </a:pPr>
            <a:r>
              <a:rPr lang="en-US">
                <a:solidFill>
                  <a:schemeClr val="dk1"/>
                </a:solidFill>
                <a:latin typeface="Roboto Mono Light"/>
                <a:ea typeface="Roboto Mono Light"/>
                <a:cs typeface="Roboto Mono Light"/>
                <a:sym typeface="Roboto Mono Light"/>
              </a:rPr>
              <a:t>module_name.feature_name</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latin typeface="Roboto Mono Light"/>
                <a:ea typeface="Roboto Mono Light"/>
                <a:cs typeface="Roboto Mono Light"/>
                <a:sym typeface="Roboto Mono Light"/>
              </a:rPr>
              <a:t>feature_name</a:t>
            </a:r>
            <a:r>
              <a:rPr lang="en-US">
                <a:solidFill>
                  <a:schemeClr val="dk1"/>
                </a:solidFill>
              </a:rPr>
              <a:t> can be a class, a function, a variabel, whatever. So to access </a:t>
            </a:r>
            <a:r>
              <a:rPr lang="en-US">
                <a:solidFill>
                  <a:schemeClr val="dk1"/>
                </a:solidFill>
                <a:latin typeface="Roboto Mono Light"/>
                <a:ea typeface="Roboto Mono Light"/>
                <a:cs typeface="Roboto Mono Light"/>
                <a:sym typeface="Roboto Mono Light"/>
              </a:rPr>
              <a:t>cat</a:t>
            </a:r>
            <a:r>
              <a:rPr lang="en-US">
                <a:solidFill>
                  <a:schemeClr val="dk1"/>
                </a:solidFill>
              </a:rPr>
              <a:t>'s functions, just use the dot operator!</a:t>
            </a:r>
            <a:endParaRPr>
              <a:solidFill>
                <a:schemeClr val="dk1"/>
              </a:solidFill>
            </a:endParaRPr>
          </a:p>
        </p:txBody>
      </p:sp>
      <p:sp>
        <p:nvSpPr>
          <p:cNvPr id="133" name="Google Shape;133;p19"/>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latin typeface="Roboto Mono Light"/>
                <a:ea typeface="Roboto Mono Light"/>
                <a:cs typeface="Roboto Mono Light"/>
                <a:sym typeface="Roboto Mono Light"/>
              </a:rPr>
              <a:t># main.py main codebase</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a:solidFill>
                  <a:schemeClr val="dk1"/>
                </a:solidFill>
                <a:latin typeface="Roboto Mono Light"/>
                <a:ea typeface="Roboto Mono Light"/>
                <a:cs typeface="Roboto Mono Light"/>
                <a:sym typeface="Roboto Mono Light"/>
              </a:rPr>
              <a:t>import cat</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a:solidFill>
                  <a:schemeClr val="dk1"/>
                </a:solidFill>
                <a:latin typeface="Roboto Mono Light"/>
                <a:ea typeface="Roboto Mono Light"/>
                <a:cs typeface="Roboto Mono Light"/>
                <a:sym typeface="Roboto Mono Light"/>
              </a:rPr>
              <a:t>def main():</a:t>
            </a:r>
            <a:endParaRPr>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b="1" lang="en-US">
                <a:solidFill>
                  <a:schemeClr val="dk1"/>
                </a:solidFill>
                <a:latin typeface="Roboto Mono"/>
                <a:ea typeface="Roboto Mono"/>
                <a:cs typeface="Roboto Mono"/>
                <a:sym typeface="Roboto Mono"/>
              </a:rPr>
              <a:t>cat.say_hi('archibald')</a:t>
            </a:r>
            <a:endParaRPr b="1">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a:solidFill>
                  <a:schemeClr val="dk1"/>
                </a:solidFill>
                <a:latin typeface="Roboto Mono Light"/>
                <a:ea typeface="Roboto Mono Light"/>
                <a:cs typeface="Roboto Mono Light"/>
                <a:sym typeface="Roboto Mono Light"/>
              </a:rPr>
              <a:t>if __name__ == '__main__':</a:t>
            </a:r>
            <a:endParaRPr>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a:solidFill>
                  <a:schemeClr val="dk1"/>
                </a:solidFill>
                <a:latin typeface="Roboto Mono Light"/>
                <a:ea typeface="Roboto Mono Light"/>
                <a:cs typeface="Roboto Mono Light"/>
                <a:sym typeface="Roboto Mono Light"/>
              </a:rPr>
              <a:t>main()</a:t>
            </a:r>
            <a:endParaRPr>
              <a:solidFill>
                <a:schemeClr val="dk1"/>
              </a:solidFill>
              <a:latin typeface="Roboto Mono Light"/>
              <a:ea typeface="Roboto Mono Light"/>
              <a:cs typeface="Roboto Mono Light"/>
              <a:sym typeface="Roboto Mono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Module: Classes?</a:t>
            </a:r>
            <a:endParaRPr/>
          </a:p>
        </p:txBody>
      </p:sp>
      <p:sp>
        <p:nvSpPr>
          <p:cNvPr id="140" name="Google Shape;140;p2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41" name="Google Shape;141;p2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What happens if you want to import a Class into your existing codebase? It turns out, nothing is different - other than making sure that when you construct a new object, you remember to access the constructor using the dot operator on the Class name!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Let's write a new module called Fish.py.</a:t>
            </a:r>
            <a:endParaRPr>
              <a:solidFill>
                <a:schemeClr val="dk1"/>
              </a:solidFill>
            </a:endParaRPr>
          </a:p>
        </p:txBody>
      </p:sp>
      <p:sp>
        <p:nvSpPr>
          <p:cNvPr id="142" name="Google Shape;142;p20"/>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 Fish.py module</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9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class Fish(object):</a:t>
            </a:r>
            <a:endParaRPr sz="9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    def __init__(self, name_param):</a:t>
            </a:r>
            <a:endParaRPr sz="9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        self.name = name_param</a:t>
            </a:r>
            <a:endParaRPr sz="9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    def say_hi(self):</a:t>
            </a:r>
            <a:endParaRPr sz="9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        print('glub glub,', self.name)</a:t>
            </a:r>
            <a:endParaRPr sz="9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class Red(Fish):</a:t>
            </a:r>
            <a:endParaRPr sz="9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    def __init__(self, name_param):</a:t>
            </a:r>
            <a:endParaRPr sz="9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        super().__init__(name_param)</a:t>
            </a:r>
            <a:endParaRPr sz="9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        self.color = 'red'</a:t>
            </a:r>
            <a:endParaRPr sz="9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class Blue(Fish):</a:t>
            </a:r>
            <a:endParaRPr sz="9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    def __init__(self, name_param):</a:t>
            </a:r>
            <a:endParaRPr sz="9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        super().__init__(name_param)</a:t>
            </a:r>
            <a:endParaRPr sz="9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900">
                <a:solidFill>
                  <a:schemeClr val="dk1"/>
                </a:solidFill>
                <a:latin typeface="Roboto Mono Light"/>
                <a:ea typeface="Roboto Mono Light"/>
                <a:cs typeface="Roboto Mono Light"/>
                <a:sym typeface="Roboto Mono Light"/>
              </a:rPr>
              <a:t>        self.color = 'blue'</a:t>
            </a:r>
            <a:endParaRPr sz="900">
              <a:solidFill>
                <a:schemeClr val="dk1"/>
              </a:solidFill>
              <a:latin typeface="Roboto Mono Light"/>
              <a:ea typeface="Roboto Mono Light"/>
              <a:cs typeface="Roboto Mono Light"/>
              <a:sym typeface="Roboto Mono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Module: Classes.</a:t>
            </a:r>
            <a:endParaRPr/>
          </a:p>
        </p:txBody>
      </p:sp>
      <p:sp>
        <p:nvSpPr>
          <p:cNvPr id="149" name="Google Shape;149;p2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50" name="Google Shape;150;p2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To create a new object in a different codebase from a class you just wrote, import it as normal and just remember to use the dot operator with the Class name when constructing it.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Once again, make sure both the module and main codebase are </a:t>
            </a:r>
            <a:r>
              <a:rPr i="1" lang="en-US">
                <a:solidFill>
                  <a:schemeClr val="dk1"/>
                </a:solidFill>
              </a:rPr>
              <a:t>in the same directory</a:t>
            </a:r>
            <a:r>
              <a:rPr lang="en-US">
                <a:solidFill>
                  <a:schemeClr val="dk1"/>
                </a:solidFill>
              </a:rPr>
              <a:t>.</a:t>
            </a:r>
            <a:endParaRPr>
              <a:solidFill>
                <a:schemeClr val="dk1"/>
              </a:solidFill>
            </a:endParaRPr>
          </a:p>
        </p:txBody>
      </p:sp>
      <p:sp>
        <p:nvSpPr>
          <p:cNvPr id="151" name="Google Shape;151;p2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latin typeface="Roboto Mono Light"/>
                <a:ea typeface="Roboto Mono Light"/>
                <a:cs typeface="Roboto Mono Light"/>
                <a:sym typeface="Roboto Mono Light"/>
              </a:rPr>
              <a:t># main.py main codebase</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b="1" lang="en-US">
                <a:solidFill>
                  <a:schemeClr val="dk1"/>
                </a:solidFill>
                <a:latin typeface="Roboto Mono"/>
                <a:ea typeface="Roboto Mono"/>
                <a:cs typeface="Roboto Mono"/>
                <a:sym typeface="Roboto Mono"/>
              </a:rPr>
              <a:t>import Fish</a:t>
            </a:r>
            <a:endParaRPr b="1">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a:solidFill>
                  <a:schemeClr val="dk1"/>
                </a:solidFill>
                <a:latin typeface="Roboto Mono Light"/>
                <a:ea typeface="Roboto Mono Light"/>
                <a:cs typeface="Roboto Mono Light"/>
                <a:sym typeface="Roboto Mono Light"/>
              </a:rPr>
              <a:t>def main():</a:t>
            </a:r>
            <a:endParaRPr>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a:solidFill>
                  <a:schemeClr val="dk1"/>
                </a:solidFill>
                <a:latin typeface="Roboto Mono Light"/>
                <a:ea typeface="Roboto Mono Light"/>
                <a:cs typeface="Roboto Mono Light"/>
                <a:sym typeface="Roboto Mono Light"/>
              </a:rPr>
              <a:t>red_fish = </a:t>
            </a:r>
            <a:r>
              <a:rPr b="1" lang="en-US">
                <a:solidFill>
                  <a:schemeClr val="dk1"/>
                </a:solidFill>
                <a:latin typeface="Roboto Mono"/>
                <a:ea typeface="Roboto Mono"/>
                <a:cs typeface="Roboto Mono"/>
                <a:sym typeface="Roboto Mono"/>
              </a:rPr>
              <a:t>Fish.Red('salmon')</a:t>
            </a:r>
            <a:endParaRPr b="1">
              <a:solidFill>
                <a:schemeClr val="dk1"/>
              </a:solidFill>
              <a:latin typeface="Roboto Mono"/>
              <a:ea typeface="Roboto Mono"/>
              <a:cs typeface="Roboto Mono"/>
              <a:sym typeface="Roboto Mono"/>
            </a:endParaRPr>
          </a:p>
          <a:p>
            <a:pPr indent="457200" lvl="0" marL="0" rtl="0" algn="l">
              <a:spcBef>
                <a:spcPts val="0"/>
              </a:spcBef>
              <a:spcAft>
                <a:spcPts val="0"/>
              </a:spcAft>
              <a:buNone/>
            </a:pPr>
            <a:r>
              <a:rPr lang="en-US">
                <a:solidFill>
                  <a:schemeClr val="dk1"/>
                </a:solidFill>
                <a:latin typeface="Roboto Mono Light"/>
                <a:ea typeface="Roboto Mono Light"/>
                <a:cs typeface="Roboto Mono Light"/>
                <a:sym typeface="Roboto Mono Light"/>
              </a:rPr>
              <a:t>red_fish.say_hi()</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a:solidFill>
                  <a:schemeClr val="dk1"/>
                </a:solidFill>
                <a:latin typeface="Roboto Mono Light"/>
                <a:ea typeface="Roboto Mono Light"/>
                <a:cs typeface="Roboto Mono Light"/>
                <a:sym typeface="Roboto Mono Light"/>
              </a:rPr>
              <a:t>if __name__ == '__main__':</a:t>
            </a:r>
            <a:endParaRPr>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a:solidFill>
                  <a:schemeClr val="dk1"/>
                </a:solidFill>
                <a:latin typeface="Roboto Mono Light"/>
                <a:ea typeface="Roboto Mono Light"/>
                <a:cs typeface="Roboto Mono Light"/>
                <a:sym typeface="Roboto Mono Light"/>
              </a:rPr>
              <a:t>main()</a:t>
            </a:r>
            <a:endParaRPr>
              <a:solidFill>
                <a:schemeClr val="dk1"/>
              </a:solidFill>
              <a:latin typeface="Roboto Mono Light"/>
              <a:ea typeface="Roboto Mono Light"/>
              <a:cs typeface="Roboto Mono Light"/>
              <a:sym typeface="Roboto Mono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[Aside] Module: location</a:t>
            </a:r>
            <a:endParaRPr/>
          </a:p>
        </p:txBody>
      </p:sp>
      <p:sp>
        <p:nvSpPr>
          <p:cNvPr id="158" name="Google Shape;158;p2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59" name="Google Shape;159;p22"/>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600"/>
              <a:buFont typeface="Arial"/>
              <a:buNone/>
            </a:pPr>
            <a:r>
              <a:rPr lang="en-US" sz="1500">
                <a:solidFill>
                  <a:schemeClr val="dk1"/>
                </a:solidFill>
              </a:rPr>
              <a:t>The emphasis has been on making sure the module and the main codebase are both in the same directory to ensure Python knows where to look. There is another place to put your modules: anywhere contained within Python's </a:t>
            </a:r>
            <a:r>
              <a:rPr lang="en-US">
                <a:solidFill>
                  <a:schemeClr val="dk1"/>
                </a:solidFill>
                <a:latin typeface="Roboto Mono Light"/>
                <a:ea typeface="Roboto Mono Light"/>
                <a:cs typeface="Roboto Mono Light"/>
                <a:sym typeface="Roboto Mono Light"/>
              </a:rPr>
              <a:t>PYTHONPATH</a:t>
            </a:r>
            <a:r>
              <a:rPr lang="en-US" sz="1500">
                <a:solidFill>
                  <a:schemeClr val="dk1"/>
                </a:solidFill>
              </a:rPr>
              <a:t> variable. How do you know where that looks?</a:t>
            </a:r>
            <a:endParaRPr sz="1500">
              <a:solidFill>
                <a:schemeClr val="dk1"/>
              </a:solidFill>
            </a:endParaRPr>
          </a:p>
          <a:p>
            <a:pPr indent="0" lvl="0" marL="0" rtl="0" algn="l">
              <a:spcBef>
                <a:spcPts val="0"/>
              </a:spcBef>
              <a:spcAft>
                <a:spcPts val="0"/>
              </a:spcAft>
              <a:buClr>
                <a:schemeClr val="dk1"/>
              </a:buClr>
              <a:buSzPts val="1600"/>
              <a:buFont typeface="Arial"/>
              <a:buNone/>
            </a:pPr>
            <a:r>
              <a:t/>
            </a:r>
            <a:endParaRPr sz="1500">
              <a:solidFill>
                <a:schemeClr val="dk1"/>
              </a:solidFill>
            </a:endParaRPr>
          </a:p>
          <a:p>
            <a:pPr indent="0" lvl="0" marL="0" rtl="0" algn="l">
              <a:spcBef>
                <a:spcPts val="0"/>
              </a:spcBef>
              <a:spcAft>
                <a:spcPts val="0"/>
              </a:spcAft>
              <a:buNone/>
            </a:pPr>
            <a:r>
              <a:rPr i="1" lang="en-US" sz="1500">
                <a:solidFill>
                  <a:srgbClr val="FF0000"/>
                </a:solidFill>
              </a:rPr>
              <a:t>Note: DO NOT programmatically modify your </a:t>
            </a:r>
            <a:r>
              <a:rPr i="1" lang="en-US" sz="1500">
                <a:solidFill>
                  <a:srgbClr val="FF0000"/>
                </a:solidFill>
                <a:latin typeface="Roboto Mono Light"/>
                <a:ea typeface="Roboto Mono Light"/>
                <a:cs typeface="Roboto Mono Light"/>
                <a:sym typeface="Roboto Mono Light"/>
              </a:rPr>
              <a:t>sys.path</a:t>
            </a:r>
            <a:endParaRPr sz="1500">
              <a:solidFill>
                <a:schemeClr val="dk1"/>
              </a:solidFill>
              <a:latin typeface="Roboto Mono Light"/>
              <a:ea typeface="Roboto Mono Light"/>
              <a:cs typeface="Roboto Mono Light"/>
              <a:sym typeface="Roboto Mono Light"/>
            </a:endParaRPr>
          </a:p>
        </p:txBody>
      </p:sp>
      <p:sp>
        <p:nvSpPr>
          <p:cNvPr id="160" name="Google Shape;160;p22"/>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600"/>
              <a:buFont typeface="Arial"/>
              <a:buNone/>
            </a:pPr>
            <a:r>
              <a:rPr lang="en-US">
                <a:solidFill>
                  <a:schemeClr val="dk1"/>
                </a:solidFill>
                <a:latin typeface="Roboto Mono Light"/>
                <a:ea typeface="Roboto Mono Light"/>
                <a:cs typeface="Roboto Mono Light"/>
                <a:sym typeface="Roboto Mono Light"/>
              </a:rPr>
              <a:t># where does PYTHONPATH look?</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600"/>
              <a:buFont typeface="Arial"/>
              <a:buNone/>
            </a:pPr>
            <a:r>
              <a:rPr lang="en-US">
                <a:solidFill>
                  <a:schemeClr val="dk1"/>
                </a:solidFill>
                <a:latin typeface="Roboto Mono Light"/>
                <a:ea typeface="Roboto Mono Light"/>
                <a:cs typeface="Roboto Mono Light"/>
                <a:sym typeface="Roboto Mono Light"/>
              </a:rPr>
              <a:t>import sys</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600"/>
              <a:buFont typeface="Arial"/>
              <a:buNone/>
            </a:pPr>
            <a:r>
              <a:rPr lang="en-US">
                <a:solidFill>
                  <a:schemeClr val="dk1"/>
                </a:solidFill>
                <a:latin typeface="Roboto Mono Light"/>
                <a:ea typeface="Roboto Mono Light"/>
                <a:cs typeface="Roboto Mono Light"/>
                <a:sym typeface="Roboto Mono Light"/>
              </a:rPr>
              <a:t>for item in </a:t>
            </a:r>
            <a:r>
              <a:rPr lang="en-US">
                <a:solidFill>
                  <a:schemeClr val="dk1"/>
                </a:solidFill>
                <a:latin typeface="Roboto Mono Light"/>
                <a:ea typeface="Roboto Mono Light"/>
                <a:cs typeface="Roboto Mono Light"/>
                <a:sym typeface="Roboto Mono Light"/>
              </a:rPr>
              <a:t>sys.path</a:t>
            </a:r>
            <a:r>
              <a:rPr lang="en-US">
                <a:solidFill>
                  <a:schemeClr val="dk1"/>
                </a:solidFill>
                <a:latin typeface="Roboto Mono Light"/>
                <a:ea typeface="Roboto Mono Light"/>
                <a:cs typeface="Roboto Mono Light"/>
                <a:sym typeface="Roboto Mono Light"/>
              </a:rPr>
              <a:t>:</a:t>
            </a:r>
            <a:endParaRPr>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600"/>
              <a:buFont typeface="Arial"/>
              <a:buNone/>
            </a:pPr>
            <a:r>
              <a:rPr lang="en-US">
                <a:solidFill>
                  <a:schemeClr val="dk1"/>
                </a:solidFill>
                <a:latin typeface="Roboto Mono Light"/>
                <a:ea typeface="Roboto Mono Light"/>
                <a:cs typeface="Roboto Mono Light"/>
                <a:sym typeface="Roboto Mono Light"/>
              </a:rPr>
              <a:t>print(item)</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600"/>
              <a:buFont typeface="Arial"/>
              <a:buNone/>
            </a:pPr>
            <a:r>
              <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a:solidFill>
                  <a:schemeClr val="dk1"/>
                </a:solidFill>
                <a:latin typeface="Roboto Mono Light"/>
                <a:ea typeface="Roboto Mono Light"/>
                <a:cs typeface="Roboto Mono Light"/>
                <a:sym typeface="Roboto Mono Light"/>
              </a:rPr>
              <a:t>&gt;&gt;&gt; /Users/Greg/Documents/ITP/...</a:t>
            </a:r>
            <a:endParaRPr>
              <a:solidFill>
                <a:schemeClr val="dk1"/>
              </a:solidFill>
              <a:latin typeface="Roboto Mono Light"/>
              <a:ea typeface="Roboto Mono Light"/>
              <a:cs typeface="Roboto Mono Light"/>
              <a:sym typeface="Roboto Mono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3"/>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KEYWORDS</a:t>
            </a:r>
            <a:endParaRPr/>
          </a:p>
        </p:txBody>
      </p:sp>
      <p:sp>
        <p:nvSpPr>
          <p:cNvPr id="167" name="Google Shape;167;p23"/>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168" name="Google Shape;168;p2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Keyword: </a:t>
            </a:r>
            <a:r>
              <a:rPr lang="en-US">
                <a:latin typeface="Roboto Mono"/>
                <a:ea typeface="Roboto Mono"/>
                <a:cs typeface="Roboto Mono"/>
                <a:sym typeface="Roboto Mono"/>
              </a:rPr>
              <a:t>from</a:t>
            </a:r>
            <a:endParaRPr>
              <a:latin typeface="Roboto Mono"/>
              <a:ea typeface="Roboto Mono"/>
              <a:cs typeface="Roboto Mono"/>
              <a:sym typeface="Roboto Mono"/>
            </a:endParaRPr>
          </a:p>
        </p:txBody>
      </p:sp>
      <p:sp>
        <p:nvSpPr>
          <p:cNvPr id="175" name="Google Shape;175;p2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76" name="Google Shape;176;p24"/>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Sometimes, you may want to only import a specific subset of code from a module or package. Python provides a way to do this - with the </a:t>
            </a:r>
            <a:r>
              <a:rPr b="1" lang="en-US">
                <a:solidFill>
                  <a:schemeClr val="dk1"/>
                </a:solidFill>
                <a:latin typeface="Roboto Mono"/>
                <a:ea typeface="Roboto Mono"/>
                <a:cs typeface="Roboto Mono"/>
                <a:sym typeface="Roboto Mono"/>
              </a:rPr>
              <a:t>from</a:t>
            </a:r>
            <a:r>
              <a:rPr lang="en-US">
                <a:solidFill>
                  <a:schemeClr val="dk1"/>
                </a:solidFill>
              </a:rPr>
              <a:t> keyword.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This will also, for what it's worth, take care of the slightly clumsy construct that you saw when you import a class.</a:t>
            </a:r>
            <a:endParaRPr>
              <a:solidFill>
                <a:schemeClr val="dk1"/>
              </a:solidFill>
            </a:endParaRPr>
          </a:p>
        </p:txBody>
      </p:sp>
      <p:sp>
        <p:nvSpPr>
          <p:cNvPr id="177" name="Google Shape;177;p24"/>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latin typeface="Roboto Mono Light"/>
                <a:ea typeface="Roboto Mono Light"/>
                <a:cs typeface="Roboto Mono Light"/>
                <a:sym typeface="Roboto Mono Light"/>
              </a:rPr>
              <a:t># main.py main codebase</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b="1" lang="en-US">
                <a:solidFill>
                  <a:schemeClr val="dk1"/>
                </a:solidFill>
                <a:latin typeface="Roboto Mono"/>
                <a:ea typeface="Roboto Mono"/>
                <a:cs typeface="Roboto Mono"/>
                <a:sym typeface="Roboto Mono"/>
              </a:rPr>
              <a:t>from Fish import Red, Blue</a:t>
            </a:r>
            <a:endParaRPr b="1">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a:solidFill>
                  <a:schemeClr val="dk1"/>
                </a:solidFill>
                <a:latin typeface="Roboto Mono Light"/>
                <a:ea typeface="Roboto Mono Light"/>
                <a:cs typeface="Roboto Mono Light"/>
                <a:sym typeface="Roboto Mono Light"/>
              </a:rPr>
              <a:t>def main():</a:t>
            </a:r>
            <a:endParaRPr>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a:solidFill>
                  <a:schemeClr val="dk1"/>
                </a:solidFill>
                <a:latin typeface="Roboto Mono Light"/>
                <a:ea typeface="Roboto Mono Light"/>
                <a:cs typeface="Roboto Mono Light"/>
                <a:sym typeface="Roboto Mono Light"/>
              </a:rPr>
              <a:t>red_fish = </a:t>
            </a:r>
            <a:r>
              <a:rPr b="1" lang="en-US">
                <a:solidFill>
                  <a:schemeClr val="dk1"/>
                </a:solidFill>
                <a:latin typeface="Roboto Mono"/>
                <a:ea typeface="Roboto Mono"/>
                <a:cs typeface="Roboto Mono"/>
                <a:sym typeface="Roboto Mono"/>
              </a:rPr>
              <a:t>Red('salmon')</a:t>
            </a:r>
            <a:endParaRPr b="1">
              <a:solidFill>
                <a:schemeClr val="dk1"/>
              </a:solidFill>
              <a:latin typeface="Roboto Mono"/>
              <a:ea typeface="Roboto Mono"/>
              <a:cs typeface="Roboto Mono"/>
              <a:sym typeface="Roboto Mono"/>
            </a:endParaRPr>
          </a:p>
          <a:p>
            <a:pPr indent="457200" lvl="0" marL="0" rtl="0" algn="l">
              <a:spcBef>
                <a:spcPts val="0"/>
              </a:spcBef>
              <a:spcAft>
                <a:spcPts val="0"/>
              </a:spcAft>
              <a:buClr>
                <a:schemeClr val="dk1"/>
              </a:buClr>
              <a:buSzPts val="1100"/>
              <a:buFont typeface="Arial"/>
              <a:buNone/>
            </a:pPr>
            <a:r>
              <a:rPr lang="en-US">
                <a:solidFill>
                  <a:schemeClr val="dk1"/>
                </a:solidFill>
                <a:latin typeface="Roboto Mono Light"/>
                <a:ea typeface="Roboto Mono Light"/>
                <a:cs typeface="Roboto Mono Light"/>
                <a:sym typeface="Roboto Mono Light"/>
              </a:rPr>
              <a:t>red_fish.say_hi()</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a:solidFill>
                  <a:schemeClr val="dk1"/>
                </a:solidFill>
                <a:latin typeface="Roboto Mono Light"/>
                <a:ea typeface="Roboto Mono Light"/>
                <a:cs typeface="Roboto Mono Light"/>
                <a:sym typeface="Roboto Mono Light"/>
              </a:rPr>
              <a:t>if __name__ == '__main__':</a:t>
            </a:r>
            <a:endParaRPr>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a:solidFill>
                  <a:schemeClr val="dk1"/>
                </a:solidFill>
                <a:latin typeface="Roboto Mono Light"/>
                <a:ea typeface="Roboto Mono Light"/>
                <a:cs typeface="Roboto Mono Light"/>
                <a:sym typeface="Roboto Mono Light"/>
              </a:rPr>
              <a:t>main()</a:t>
            </a:r>
            <a:endParaRPr>
              <a:solidFill>
                <a:schemeClr val="dk1"/>
              </a:solidFill>
              <a:latin typeface="Roboto Mono Light"/>
              <a:ea typeface="Roboto Mono Light"/>
              <a:cs typeface="Roboto Mono Light"/>
              <a:sym typeface="Roboto Mono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Keyword: </a:t>
            </a:r>
            <a:r>
              <a:rPr lang="en-US">
                <a:latin typeface="Roboto Mono"/>
                <a:ea typeface="Roboto Mono"/>
                <a:cs typeface="Roboto Mono"/>
                <a:sym typeface="Roboto Mono"/>
              </a:rPr>
              <a:t>as</a:t>
            </a:r>
            <a:endParaRPr>
              <a:latin typeface="Roboto Mono"/>
              <a:ea typeface="Roboto Mono"/>
              <a:cs typeface="Roboto Mono"/>
              <a:sym typeface="Roboto Mono"/>
            </a:endParaRPr>
          </a:p>
        </p:txBody>
      </p:sp>
      <p:sp>
        <p:nvSpPr>
          <p:cNvPr id="184" name="Google Shape;184;p2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85" name="Google Shape;185;p25"/>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500">
                <a:solidFill>
                  <a:schemeClr val="dk1"/>
                </a:solidFill>
              </a:rPr>
              <a:t>Sometimes, you will want to import a part of a package or module which is several dot operators deep. in this case, referencing it in your main codebase is going to rather cumbersome. To clear up any ambiguity to the programmer, Python provides a way to alias the module you're importing to whatever you want, using the keyword </a:t>
            </a:r>
            <a:r>
              <a:rPr b="1" lang="en-US">
                <a:solidFill>
                  <a:schemeClr val="dk1"/>
                </a:solidFill>
                <a:latin typeface="Roboto Mono"/>
                <a:ea typeface="Roboto Mono"/>
                <a:cs typeface="Roboto Mono"/>
                <a:sym typeface="Roboto Mono"/>
              </a:rPr>
              <a:t>as</a:t>
            </a:r>
            <a:r>
              <a:rPr lang="en-US" sz="1500">
                <a:solidFill>
                  <a:schemeClr val="dk1"/>
                </a:solidFill>
              </a:rPr>
              <a:t>.</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en-US" sz="1500">
                <a:solidFill>
                  <a:schemeClr val="dk1"/>
                </a:solidFill>
              </a:rPr>
              <a:t>(This will be very useful in future weeks.)</a:t>
            </a:r>
            <a:endParaRPr sz="1500">
              <a:solidFill>
                <a:schemeClr val="dk1"/>
              </a:solidFill>
            </a:endParaRPr>
          </a:p>
        </p:txBody>
      </p:sp>
      <p:sp>
        <p:nvSpPr>
          <p:cNvPr id="186" name="Google Shape;186;p25"/>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latin typeface="Roboto Mono Light"/>
                <a:ea typeface="Roboto Mono Light"/>
                <a:cs typeface="Roboto Mono Light"/>
                <a:sym typeface="Roboto Mono Light"/>
              </a:rPr>
              <a:t># main.py main codebase</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b="1" lang="en-US">
                <a:solidFill>
                  <a:schemeClr val="dk1"/>
                </a:solidFill>
                <a:latin typeface="Roboto Mono"/>
                <a:ea typeface="Roboto Mono"/>
                <a:cs typeface="Roboto Mono"/>
                <a:sym typeface="Roboto Mono"/>
              </a:rPr>
              <a:t>from Fish import Red as Rojo</a:t>
            </a:r>
            <a:endParaRPr b="1">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a:solidFill>
                  <a:schemeClr val="dk1"/>
                </a:solidFill>
                <a:latin typeface="Roboto Mono Light"/>
                <a:ea typeface="Roboto Mono Light"/>
                <a:cs typeface="Roboto Mono Light"/>
                <a:sym typeface="Roboto Mono Light"/>
              </a:rPr>
              <a:t>def main():</a:t>
            </a:r>
            <a:endParaRPr>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a:solidFill>
                  <a:schemeClr val="dk1"/>
                </a:solidFill>
                <a:latin typeface="Roboto Mono Light"/>
                <a:ea typeface="Roboto Mono Light"/>
                <a:cs typeface="Roboto Mono Light"/>
                <a:sym typeface="Roboto Mono Light"/>
              </a:rPr>
              <a:t>pez_rojo = </a:t>
            </a:r>
            <a:r>
              <a:rPr b="1" lang="en-US">
                <a:solidFill>
                  <a:schemeClr val="dk1"/>
                </a:solidFill>
                <a:latin typeface="Roboto Mono"/>
                <a:ea typeface="Roboto Mono"/>
                <a:cs typeface="Roboto Mono"/>
                <a:sym typeface="Roboto Mono"/>
              </a:rPr>
              <a:t>Rojo('salmon')</a:t>
            </a:r>
            <a:endParaRPr b="1">
              <a:solidFill>
                <a:schemeClr val="dk1"/>
              </a:solidFill>
              <a:latin typeface="Roboto Mono"/>
              <a:ea typeface="Roboto Mono"/>
              <a:cs typeface="Roboto Mono"/>
              <a:sym typeface="Roboto Mono"/>
            </a:endParaRPr>
          </a:p>
          <a:p>
            <a:pPr indent="457200" lvl="0" marL="0" rtl="0" algn="l">
              <a:spcBef>
                <a:spcPts val="0"/>
              </a:spcBef>
              <a:spcAft>
                <a:spcPts val="0"/>
              </a:spcAft>
              <a:buClr>
                <a:schemeClr val="dk1"/>
              </a:buClr>
              <a:buSzPts val="1100"/>
              <a:buFont typeface="Arial"/>
              <a:buNone/>
            </a:pPr>
            <a:r>
              <a:rPr lang="en-US">
                <a:solidFill>
                  <a:schemeClr val="dk1"/>
                </a:solidFill>
                <a:latin typeface="Roboto Mono Light"/>
                <a:ea typeface="Roboto Mono Light"/>
                <a:cs typeface="Roboto Mono Light"/>
                <a:sym typeface="Roboto Mono Light"/>
              </a:rPr>
              <a:t>pez_rojo.say_hi()</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a:solidFill>
                  <a:schemeClr val="dk1"/>
                </a:solidFill>
                <a:latin typeface="Roboto Mono Light"/>
                <a:ea typeface="Roboto Mono Light"/>
                <a:cs typeface="Roboto Mono Light"/>
                <a:sym typeface="Roboto Mono Light"/>
              </a:rPr>
              <a:t>if __name__ == '__main__':</a:t>
            </a:r>
            <a:endParaRPr>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a:solidFill>
                  <a:schemeClr val="dk1"/>
                </a:solidFill>
                <a:latin typeface="Roboto Mono Light"/>
                <a:ea typeface="Roboto Mono Light"/>
                <a:cs typeface="Roboto Mono Light"/>
                <a:sym typeface="Roboto Mono Light"/>
              </a:rPr>
              <a:t>main()</a:t>
            </a:r>
            <a:endParaRPr>
              <a:solidFill>
                <a:schemeClr val="dk1"/>
              </a:solidFill>
              <a:latin typeface="Roboto Mono Light"/>
              <a:ea typeface="Roboto Mono Light"/>
              <a:cs typeface="Roboto Mono Light"/>
              <a:sym typeface="Roboto Mono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6"/>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3RD PARTY PACKAGES</a:t>
            </a:r>
            <a:endParaRPr/>
          </a:p>
        </p:txBody>
      </p:sp>
      <p:sp>
        <p:nvSpPr>
          <p:cNvPr id="193" name="Google Shape;193;p26"/>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194" name="Google Shape;194;p2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rPr>
              <a:t>Installing someone else's package</a:t>
            </a:r>
            <a:endParaRPr/>
          </a:p>
        </p:txBody>
      </p:sp>
      <p:sp>
        <p:nvSpPr>
          <p:cNvPr id="201" name="Google Shape;201;p2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02" name="Google Shape;202;p27"/>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So far in this course, you've used built-in packages (like random) and learned how to incorporate your own. There are also entire other codebases out on the internet that are available for you to use. So how do you get them into your project? (These are also referred to as </a:t>
            </a:r>
            <a:r>
              <a:rPr b="1" lang="en-US">
                <a:solidFill>
                  <a:schemeClr val="dk1"/>
                </a:solidFill>
              </a:rPr>
              <a:t>3rd party</a:t>
            </a:r>
            <a:r>
              <a:rPr lang="en-US">
                <a:solidFill>
                  <a:schemeClr val="dk1"/>
                </a:solidFill>
              </a:rPr>
              <a:t> packages.)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Let's try it</a:t>
            </a:r>
            <a:endParaRPr/>
          </a:p>
        </p:txBody>
      </p:sp>
      <p:sp>
        <p:nvSpPr>
          <p:cNvPr id="209" name="Google Shape;209;p2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10" name="Google Shape;210;p28"/>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As an example, let's use a very popular data visualization package called </a:t>
            </a:r>
            <a:r>
              <a:rPr lang="en-US">
                <a:solidFill>
                  <a:schemeClr val="dk1"/>
                </a:solidFill>
                <a:latin typeface="Roboto Mono Light"/>
                <a:ea typeface="Roboto Mono Light"/>
                <a:cs typeface="Roboto Mono Light"/>
                <a:sym typeface="Roboto Mono Light"/>
              </a:rPr>
              <a:t>matplotlib</a:t>
            </a:r>
            <a:r>
              <a:rPr lang="en-US"/>
              <a:t>. (That's short for Mathematical Plotting Library, in case you're interested.) You could try importing as you've done before:</a:t>
            </a:r>
            <a:endParaRPr/>
          </a:p>
          <a:p>
            <a:pPr indent="0" lvl="0" marL="0" rtl="0" algn="l">
              <a:spcBef>
                <a:spcPts val="0"/>
              </a:spcBef>
              <a:spcAft>
                <a:spcPts val="0"/>
              </a:spcAft>
              <a:buClr>
                <a:schemeClr val="dk1"/>
              </a:buClr>
              <a:buSzPts val="1100"/>
              <a:buFont typeface="Arial"/>
              <a:buNone/>
            </a:pPr>
            <a:r>
              <a:t/>
            </a:r>
            <a:endParaRPr/>
          </a:p>
          <a:p>
            <a:pPr indent="457200" lvl="0" marL="0" rtl="0" algn="l">
              <a:spcBef>
                <a:spcPts val="0"/>
              </a:spcBef>
              <a:spcAft>
                <a:spcPts val="0"/>
              </a:spcAft>
              <a:buClr>
                <a:schemeClr val="dk1"/>
              </a:buClr>
              <a:buSzPts val="1100"/>
              <a:buFont typeface="Arial"/>
              <a:buNone/>
            </a:pPr>
            <a:r>
              <a:rPr lang="en-US">
                <a:solidFill>
                  <a:schemeClr val="dk1"/>
                </a:solidFill>
                <a:latin typeface="Roboto Mono Light"/>
                <a:ea typeface="Roboto Mono Light"/>
                <a:cs typeface="Roboto Mono Light"/>
                <a:sym typeface="Roboto Mono Light"/>
              </a:rPr>
              <a:t>import matplotlib</a:t>
            </a:r>
            <a:endParaRPr>
              <a:solidFill>
                <a:schemeClr val="dk1"/>
              </a:solidFill>
              <a:latin typeface="Roboto Mono Light"/>
              <a:ea typeface="Roboto Mono Light"/>
              <a:cs typeface="Roboto Mono Light"/>
              <a:sym typeface="Roboto Mono Light"/>
            </a:endParaRPr>
          </a:p>
        </p:txBody>
      </p:sp>
      <p:sp>
        <p:nvSpPr>
          <p:cNvPr id="211" name="Google Shape;211;p28"/>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rPr>
              <a:t>But when you run your code, you may be greeted with the following Error: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457200" rtl="0" algn="l">
              <a:spcBef>
                <a:spcPts val="0"/>
              </a:spcBef>
              <a:spcAft>
                <a:spcPts val="0"/>
              </a:spcAft>
              <a:buClr>
                <a:schemeClr val="dk1"/>
              </a:buClr>
              <a:buSzPts val="1100"/>
              <a:buFont typeface="Arial"/>
              <a:buNone/>
            </a:pPr>
            <a:r>
              <a:rPr lang="en-US">
                <a:solidFill>
                  <a:schemeClr val="dk1"/>
                </a:solidFill>
                <a:latin typeface="Roboto Mono Light"/>
                <a:ea typeface="Roboto Mono Light"/>
                <a:cs typeface="Roboto Mono Light"/>
                <a:sym typeface="Roboto Mono Light"/>
              </a:rPr>
              <a:t>ModuleNotFoundError: No module named 'matplotlib'</a:t>
            </a:r>
            <a:endParaRPr>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US">
                <a:solidFill>
                  <a:schemeClr val="dk1"/>
                </a:solidFill>
              </a:rPr>
              <a:t>So how do you install packages which aren't part of Python already?</a:t>
            </a:r>
            <a:endParaRPr>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Installing someone else's package</a:t>
            </a:r>
            <a:endParaRPr/>
          </a:p>
        </p:txBody>
      </p:sp>
      <p:sp>
        <p:nvSpPr>
          <p:cNvPr id="218" name="Google Shape;218;p2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19" name="Google Shape;219;p29"/>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400">
                <a:solidFill>
                  <a:schemeClr val="dk1"/>
                </a:solidFill>
              </a:rPr>
              <a:t>It turns out that you'll need to install the package - which make</a:t>
            </a:r>
            <a:r>
              <a:rPr lang="en-US" sz="1400">
                <a:solidFill>
                  <a:schemeClr val="dk1"/>
                </a:solidFill>
              </a:rPr>
              <a:t>s sense. But how to you do that? The easiest way is with a </a:t>
            </a:r>
            <a:r>
              <a:rPr b="1" lang="en-US" sz="1400">
                <a:solidFill>
                  <a:schemeClr val="dk1"/>
                </a:solidFill>
              </a:rPr>
              <a:t>package manager</a:t>
            </a:r>
            <a:r>
              <a:rPr lang="en-US" sz="1400">
                <a:solidFill>
                  <a:schemeClr val="dk1"/>
                </a:solidFill>
              </a:rPr>
              <a:t>. The most popular for Python is </a:t>
            </a:r>
            <a:r>
              <a:rPr lang="en-US" sz="1400">
                <a:solidFill>
                  <a:schemeClr val="dk1"/>
                </a:solidFill>
                <a:latin typeface="Roboto Mono Light"/>
                <a:ea typeface="Roboto Mono Light"/>
                <a:cs typeface="Roboto Mono Light"/>
                <a:sym typeface="Roboto Mono Light"/>
              </a:rPr>
              <a:t>pip</a:t>
            </a:r>
            <a:r>
              <a:rPr lang="en-US" sz="1400">
                <a:solidFill>
                  <a:schemeClr val="dk1"/>
                </a:solidFill>
              </a:rPr>
              <a:t>.</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US" sz="1400">
                <a:solidFill>
                  <a:schemeClr val="dk1"/>
                </a:solidFill>
              </a:rPr>
              <a:t>You may have to install it via the CLI. Instructions on how to do so are here:</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en-US" sz="1400" u="sng">
                <a:solidFill>
                  <a:schemeClr val="hlink"/>
                </a:solidFill>
                <a:hlinkClick r:id="rId3"/>
              </a:rPr>
              <a:t>https://pip.pypa.io/en/stable/installing/</a:t>
            </a:r>
            <a:endParaRPr sz="1400">
              <a:solidFill>
                <a:schemeClr val="dk1"/>
              </a:solidFill>
            </a:endParaRPr>
          </a:p>
        </p:txBody>
      </p:sp>
      <p:sp>
        <p:nvSpPr>
          <p:cNvPr id="220" name="Google Shape;220;p29"/>
          <p:cNvSpPr txBox="1"/>
          <p:nvPr>
            <p:ph idx="2" type="body"/>
          </p:nvPr>
        </p:nvSpPr>
        <p:spPr>
          <a:xfrm>
            <a:off x="46243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Then to install </a:t>
            </a:r>
            <a:r>
              <a:rPr lang="en-US" sz="1400">
                <a:solidFill>
                  <a:schemeClr val="dk1"/>
                </a:solidFill>
              </a:rPr>
              <a:t>a package via pip:</a:t>
            </a:r>
            <a:endParaRPr sz="1400">
              <a:solidFill>
                <a:schemeClr val="dk1"/>
              </a:solidFill>
            </a:endParaRPr>
          </a:p>
          <a:p>
            <a:pPr indent="457200" lvl="0" marL="0" rtl="0" algn="l">
              <a:spcBef>
                <a:spcPts val="0"/>
              </a:spcBef>
              <a:spcAft>
                <a:spcPts val="0"/>
              </a:spcAft>
              <a:buClr>
                <a:schemeClr val="dk1"/>
              </a:buClr>
              <a:buSzPts val="1100"/>
              <a:buFont typeface="Arial"/>
              <a:buNone/>
            </a:pPr>
            <a:r>
              <a:rPr lang="en-US" sz="1400">
                <a:solidFill>
                  <a:schemeClr val="dk1"/>
                </a:solidFill>
                <a:latin typeface="Roboto Mono Light"/>
                <a:ea typeface="Roboto Mono Light"/>
                <a:cs typeface="Roboto Mono Light"/>
                <a:sym typeface="Roboto Mono Light"/>
              </a:rPr>
              <a:t>pip install [package name]</a:t>
            </a:r>
            <a:endParaRPr sz="1400">
              <a:solidFill>
                <a:schemeClr val="dk1"/>
              </a:solidFill>
            </a:endParaRPr>
          </a:p>
          <a:p>
            <a:pPr indent="0" lvl="0" marL="0" rtl="0" algn="l">
              <a:spcBef>
                <a:spcPts val="0"/>
              </a:spcBef>
              <a:spcAft>
                <a:spcPts val="0"/>
              </a:spcAft>
              <a:buClr>
                <a:schemeClr val="dk1"/>
              </a:buClr>
              <a:buSzPts val="1100"/>
              <a:buFont typeface="Arial"/>
              <a:buNone/>
            </a:pPr>
            <a:r>
              <a:rPr lang="en-US" sz="1400">
                <a:solidFill>
                  <a:schemeClr val="dk1"/>
                </a:solidFill>
              </a:rPr>
              <a:t>so to install matplotlib:</a:t>
            </a:r>
            <a:endParaRPr sz="1400">
              <a:solidFill>
                <a:schemeClr val="dk1"/>
              </a:solidFill>
            </a:endParaRPr>
          </a:p>
          <a:p>
            <a:pPr indent="0" lvl="0" marL="0" rtl="0" algn="l">
              <a:spcBef>
                <a:spcPts val="0"/>
              </a:spcBef>
              <a:spcAft>
                <a:spcPts val="0"/>
              </a:spcAft>
              <a:buNone/>
            </a:pPr>
            <a:r>
              <a:rPr lang="en-US" sz="1400">
                <a:solidFill>
                  <a:schemeClr val="dk1"/>
                </a:solidFill>
              </a:rPr>
              <a:t>	</a:t>
            </a:r>
            <a:r>
              <a:rPr b="1" lang="en-US" sz="1400">
                <a:solidFill>
                  <a:schemeClr val="dk1"/>
                </a:solidFill>
                <a:latin typeface="Roboto Mono"/>
                <a:ea typeface="Roboto Mono"/>
                <a:cs typeface="Roboto Mono"/>
                <a:sym typeface="Roboto Mono"/>
              </a:rPr>
              <a:t>pip install matplotlib</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4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i="1" lang="en-US" sz="1400">
                <a:solidFill>
                  <a:schemeClr val="dk1"/>
                </a:solidFill>
              </a:rPr>
              <a:t>(Note: Ed already has all the packages installed that this course needs, so you won't need to do this in this course!)</a:t>
            </a:r>
            <a:endParaRPr i="1"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0"/>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DUNDERS: NAME AND MAIN</a:t>
            </a:r>
            <a:endParaRPr/>
          </a:p>
        </p:txBody>
      </p:sp>
      <p:sp>
        <p:nvSpPr>
          <p:cNvPr id="227" name="Google Shape;227;p30"/>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228" name="Google Shape;228;p3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Dunders revisited</a:t>
            </a:r>
            <a:endParaRPr/>
          </a:p>
        </p:txBody>
      </p:sp>
      <p:sp>
        <p:nvSpPr>
          <p:cNvPr id="235" name="Google Shape;235;p31"/>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500"/>
              <a:t>You've already seen dunder methods - specifically, </a:t>
            </a:r>
            <a:r>
              <a:rPr lang="en-US" sz="1500">
                <a:solidFill>
                  <a:schemeClr val="dk1"/>
                </a:solidFill>
                <a:latin typeface="Roboto Mono Light"/>
                <a:ea typeface="Roboto Mono Light"/>
                <a:cs typeface="Roboto Mono Light"/>
                <a:sym typeface="Roboto Mono Light"/>
              </a:rPr>
              <a:t>__init__()</a:t>
            </a:r>
            <a:r>
              <a:rPr lang="en-US" sz="1500"/>
              <a:t> and </a:t>
            </a:r>
            <a:r>
              <a:rPr lang="en-US" sz="1500">
                <a:solidFill>
                  <a:schemeClr val="dk1"/>
                </a:solidFill>
                <a:latin typeface="Roboto Mono Light"/>
                <a:ea typeface="Roboto Mono Light"/>
                <a:cs typeface="Roboto Mono Light"/>
                <a:sym typeface="Roboto Mono Light"/>
              </a:rPr>
              <a:t>__str__()</a:t>
            </a:r>
            <a:r>
              <a:rPr lang="en-US" sz="1500"/>
              <a:t> . </a:t>
            </a:r>
            <a:r>
              <a:rPr b="1" i="1" lang="en-US" sz="1500"/>
              <a:t>Dunders</a:t>
            </a:r>
            <a:r>
              <a:rPr i="1" lang="en-US" sz="1500"/>
              <a:t> are special parts of Python that are accessed automatically during particular scenarios</a:t>
            </a:r>
            <a:r>
              <a:rPr lang="en-US" sz="1500"/>
              <a:t>.</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US" sz="1500"/>
              <a:t>It turns out that Python, in addition to having dunder methods, has </a:t>
            </a:r>
            <a:r>
              <a:rPr b="1" lang="en-US" sz="1500"/>
              <a:t>dunder variables</a:t>
            </a:r>
            <a:r>
              <a:rPr lang="en-US" sz="1500"/>
              <a:t>. You've actually already seen some of these as well, but they've been taken on faith up to this point. It's time to finally analyze them!</a:t>
            </a:r>
            <a:endParaRPr sz="1500"/>
          </a:p>
        </p:txBody>
      </p:sp>
      <p:sp>
        <p:nvSpPr>
          <p:cNvPr id="236" name="Google Shape;236;p3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That odd-looking entrypoint</a:t>
            </a:r>
            <a:endParaRPr/>
          </a:p>
        </p:txBody>
      </p:sp>
      <p:sp>
        <p:nvSpPr>
          <p:cNvPr id="243" name="Google Shape;243;p32"/>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500"/>
              <a:t>If you want to be able to use your codebase as both a standalone program, and be able to import it into another codebase, all in one package, you will have to understand that tricksy conditional you've been using since the beginning of the semester with no explanation:</a:t>
            </a:r>
            <a:endParaRPr sz="1500"/>
          </a:p>
          <a:p>
            <a:pPr indent="0" lvl="0" marL="0" rtl="0" algn="l">
              <a:spcBef>
                <a:spcPts val="0"/>
              </a:spcBef>
              <a:spcAft>
                <a:spcPts val="0"/>
              </a:spcAft>
              <a:buNone/>
            </a:pPr>
            <a:r>
              <a:t/>
            </a:r>
            <a:endParaRPr sz="1500"/>
          </a:p>
          <a:p>
            <a:pPr indent="0" lvl="0" marL="457200" rtl="0" algn="l">
              <a:spcBef>
                <a:spcPts val="0"/>
              </a:spcBef>
              <a:spcAft>
                <a:spcPts val="0"/>
              </a:spcAft>
              <a:buNone/>
            </a:pPr>
            <a:r>
              <a:rPr lang="en-US" sz="1500">
                <a:solidFill>
                  <a:schemeClr val="dk1"/>
                </a:solidFill>
                <a:latin typeface="Roboto Mono Light"/>
                <a:ea typeface="Roboto Mono Light"/>
                <a:cs typeface="Roboto Mono Light"/>
                <a:sym typeface="Roboto Mono Light"/>
              </a:rPr>
              <a:t>if __name__ == '__main__':</a:t>
            </a:r>
            <a:endParaRPr sz="15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lang="en-US" sz="1500">
                <a:solidFill>
                  <a:schemeClr val="dk1"/>
                </a:solidFill>
                <a:latin typeface="Roboto Mono Light"/>
                <a:ea typeface="Roboto Mono Light"/>
                <a:cs typeface="Roboto Mono Light"/>
                <a:sym typeface="Roboto Mono Light"/>
              </a:rPr>
              <a:t>main()</a:t>
            </a:r>
            <a:endParaRPr sz="1500">
              <a:latin typeface="Courier New"/>
              <a:ea typeface="Courier New"/>
              <a:cs typeface="Courier New"/>
              <a:sym typeface="Courier New"/>
            </a:endParaRPr>
          </a:p>
          <a:p>
            <a:pPr indent="0" lvl="0" marL="0" rtl="0" algn="l">
              <a:spcBef>
                <a:spcPts val="0"/>
              </a:spcBef>
              <a:spcAft>
                <a:spcPts val="0"/>
              </a:spcAft>
              <a:buNone/>
            </a:pPr>
            <a:r>
              <a:t/>
            </a:r>
            <a:endParaRPr sz="1500"/>
          </a:p>
          <a:p>
            <a:pPr indent="0" lvl="0" marL="0" rtl="0" algn="l">
              <a:spcBef>
                <a:spcPts val="0"/>
              </a:spcBef>
              <a:spcAft>
                <a:spcPts val="0"/>
              </a:spcAft>
              <a:buNone/>
            </a:pPr>
            <a:r>
              <a:rPr lang="en-US" sz="1500">
                <a:solidFill>
                  <a:schemeClr val="dk1"/>
                </a:solidFill>
              </a:rPr>
              <a:t>In Python, generalized best practices will likely tell you to write those two lines. But what is it there for? Why can't you just write my code directly into the file?</a:t>
            </a:r>
            <a:endParaRPr sz="1500">
              <a:solidFill>
                <a:schemeClr val="dk1"/>
              </a:solidFill>
            </a:endParaRPr>
          </a:p>
        </p:txBody>
      </p:sp>
      <p:sp>
        <p:nvSpPr>
          <p:cNvPr id="244" name="Google Shape;244;p3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hlink"/>
                </a:solidFill>
                <a:latin typeface="Roboto Mono"/>
                <a:ea typeface="Roboto Mono"/>
                <a:cs typeface="Roboto Mono"/>
                <a:sym typeface="Roboto Mono"/>
              </a:rPr>
              <a:t>__name__</a:t>
            </a:r>
            <a:r>
              <a:rPr lang="en-US">
                <a:solidFill>
                  <a:schemeClr val="hlink"/>
                </a:solidFill>
              </a:rPr>
              <a:t>: the name</a:t>
            </a:r>
            <a:endParaRPr>
              <a:latin typeface="Roboto Mono"/>
              <a:ea typeface="Roboto Mono"/>
              <a:cs typeface="Roboto Mono"/>
              <a:sym typeface="Roboto Mono"/>
            </a:endParaRPr>
          </a:p>
        </p:txBody>
      </p:sp>
      <p:sp>
        <p:nvSpPr>
          <p:cNvPr id="251" name="Google Shape;251;p33"/>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t>Let us first analyze </a:t>
            </a:r>
            <a:r>
              <a:rPr b="1" lang="en-US" sz="1100">
                <a:solidFill>
                  <a:schemeClr val="dk1"/>
                </a:solidFill>
                <a:latin typeface="Roboto Mono"/>
                <a:ea typeface="Roboto Mono"/>
                <a:cs typeface="Roboto Mono"/>
                <a:sym typeface="Roboto Mono"/>
              </a:rPr>
              <a:t>__name__</a:t>
            </a:r>
            <a:r>
              <a:rPr lang="en-US" sz="1100"/>
              <a:t>: it is a built-in dunder variable of each script which is automatically assigned a value when the script is run. </a:t>
            </a:r>
            <a:r>
              <a:rPr i="1" lang="en-US" sz="1100"/>
              <a:t>The value it is assigned is based on where it is run from</a:t>
            </a:r>
            <a:r>
              <a:rPr lang="en-US" sz="1100"/>
              <a:t>. The purpose of </a:t>
            </a:r>
            <a:r>
              <a:rPr lang="en-US" sz="1100">
                <a:solidFill>
                  <a:schemeClr val="dk1"/>
                </a:solidFill>
                <a:latin typeface="Roboto Mono Light"/>
                <a:ea typeface="Roboto Mono Light"/>
                <a:cs typeface="Roboto Mono Light"/>
                <a:sym typeface="Roboto Mono Light"/>
              </a:rPr>
              <a:t>__name__</a:t>
            </a:r>
            <a:r>
              <a:rPr lang="en-US" sz="1100"/>
              <a:t> is to help distinguish which script you are running the code from. Consider what happens when the following script is run:</a:t>
            </a:r>
            <a:endParaRPr sz="1100"/>
          </a:p>
          <a:p>
            <a:pPr indent="0" lvl="0" marL="0" rtl="0" algn="l">
              <a:spcBef>
                <a:spcPts val="0"/>
              </a:spcBef>
              <a:spcAft>
                <a:spcPts val="0"/>
              </a:spcAft>
              <a:buClr>
                <a:schemeClr val="dk1"/>
              </a:buClr>
              <a:buSzPts val="1100"/>
              <a:buFont typeface="Arial"/>
              <a:buNone/>
            </a:pPr>
            <a:r>
              <a:t/>
            </a:r>
            <a:endParaRPr sz="1100"/>
          </a:p>
          <a:p>
            <a:pPr indent="0" lvl="0" marL="457200" rtl="0" algn="l">
              <a:spcBef>
                <a:spcPts val="0"/>
              </a:spcBef>
              <a:spcAft>
                <a:spcPts val="0"/>
              </a:spcAft>
              <a:buClr>
                <a:schemeClr val="dk1"/>
              </a:buClr>
              <a:buSzPts val="1100"/>
              <a:buFont typeface="Arial"/>
              <a:buNone/>
            </a:pPr>
            <a:r>
              <a:rPr lang="en-US" sz="1100">
                <a:solidFill>
                  <a:schemeClr val="dk1"/>
                </a:solidFill>
                <a:latin typeface="Roboto Mono Light"/>
                <a:ea typeface="Roboto Mono Light"/>
                <a:cs typeface="Roboto Mono Light"/>
                <a:sym typeface="Roboto Mono Light"/>
              </a:rPr>
              <a:t># Fish.py</a:t>
            </a:r>
            <a:endParaRPr sz="11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100">
                <a:solidFill>
                  <a:schemeClr val="dk1"/>
                </a:solidFill>
                <a:latin typeface="Roboto Mono Light"/>
                <a:ea typeface="Roboto Mono Light"/>
                <a:cs typeface="Roboto Mono Light"/>
                <a:sym typeface="Roboto Mono Light"/>
              </a:rPr>
              <a:t># ...</a:t>
            </a:r>
            <a:endParaRPr sz="11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None/>
            </a:pPr>
            <a:r>
              <a:rPr lang="en-US" sz="1100">
                <a:solidFill>
                  <a:schemeClr val="dk1"/>
                </a:solidFill>
                <a:latin typeface="Roboto Mono Light"/>
                <a:ea typeface="Roboto Mono Light"/>
                <a:cs typeface="Roboto Mono Light"/>
                <a:sym typeface="Roboto Mono Light"/>
              </a:rPr>
              <a:t>print('the script's __name__ is', __name__)</a:t>
            </a:r>
            <a:endParaRPr sz="11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t/>
            </a:r>
            <a:endParaRPr sz="11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None/>
            </a:pPr>
            <a:r>
              <a:rPr b="1" lang="en-US" sz="1100">
                <a:solidFill>
                  <a:schemeClr val="dk1"/>
                </a:solidFill>
                <a:latin typeface="Roboto Mono"/>
                <a:ea typeface="Roboto Mono"/>
                <a:cs typeface="Roboto Mono"/>
                <a:sym typeface="Roboto Mono"/>
              </a:rPr>
              <a:t>&gt;&gt;&gt; the script's __name__ is __main__</a:t>
            </a:r>
            <a:endParaRPr b="1" sz="1100">
              <a:solidFill>
                <a:schemeClr val="dk1"/>
              </a:solidFill>
              <a:latin typeface="Roboto Mono"/>
              <a:ea typeface="Roboto Mono"/>
              <a:cs typeface="Roboto Mono"/>
              <a:sym typeface="Roboto Mono"/>
            </a:endParaRPr>
          </a:p>
        </p:txBody>
      </p:sp>
      <p:sp>
        <p:nvSpPr>
          <p:cNvPr id="252" name="Google Shape;252;p33"/>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t>Now if you were to import the script to the left into another script and run that script:</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t/>
            </a:r>
            <a:endParaRPr sz="1100"/>
          </a:p>
          <a:p>
            <a:pPr indent="0" lvl="0" marL="457200" marR="0" rtl="0" algn="l">
              <a:lnSpc>
                <a:spcPct val="150000"/>
              </a:lnSpc>
              <a:spcBef>
                <a:spcPts val="0"/>
              </a:spcBef>
              <a:spcAft>
                <a:spcPts val="0"/>
              </a:spcAft>
              <a:buClr>
                <a:schemeClr val="dk1"/>
              </a:buClr>
              <a:buSzPts val="1100"/>
              <a:buFont typeface="Arial"/>
              <a:buNone/>
            </a:pPr>
            <a:r>
              <a:rPr lang="en-US" sz="1100">
                <a:solidFill>
                  <a:schemeClr val="dk1"/>
                </a:solidFill>
                <a:latin typeface="Roboto Mono Light"/>
                <a:ea typeface="Roboto Mono Light"/>
                <a:cs typeface="Roboto Mono Light"/>
                <a:sym typeface="Roboto Mono Light"/>
              </a:rPr>
              <a:t># main.py</a:t>
            </a:r>
            <a:endParaRPr sz="1100">
              <a:solidFill>
                <a:schemeClr val="dk1"/>
              </a:solidFill>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100">
                <a:solidFill>
                  <a:schemeClr val="dk1"/>
                </a:solidFill>
                <a:latin typeface="Roboto Mono Light"/>
                <a:ea typeface="Roboto Mono Light"/>
                <a:cs typeface="Roboto Mono Light"/>
                <a:sym typeface="Roboto Mono Light"/>
              </a:rPr>
              <a:t>from Fish import Red, Blue</a:t>
            </a:r>
            <a:endParaRPr sz="1100">
              <a:solidFill>
                <a:schemeClr val="dk1"/>
              </a:solidFill>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100">
                <a:solidFill>
                  <a:schemeClr val="dk1"/>
                </a:solidFill>
                <a:latin typeface="Roboto Mono Light"/>
                <a:ea typeface="Roboto Mono Light"/>
                <a:cs typeface="Roboto Mono Light"/>
                <a:sym typeface="Roboto Mono Light"/>
              </a:rPr>
              <a:t># ...</a:t>
            </a:r>
            <a:endParaRPr sz="1100">
              <a:solidFill>
                <a:schemeClr val="dk1"/>
              </a:solidFill>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t/>
            </a:r>
            <a:endParaRPr sz="1100">
              <a:solidFill>
                <a:schemeClr val="dk1"/>
              </a:solidFill>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b="1" lang="en-US" sz="1100">
                <a:solidFill>
                  <a:schemeClr val="dk1"/>
                </a:solidFill>
                <a:latin typeface="Roboto Mono"/>
                <a:ea typeface="Roboto Mono"/>
                <a:cs typeface="Roboto Mono"/>
                <a:sym typeface="Roboto Mono"/>
              </a:rPr>
              <a:t>&gt;&gt;&gt; the </a:t>
            </a:r>
            <a:r>
              <a:rPr b="1" lang="en-US" sz="1100">
                <a:solidFill>
                  <a:schemeClr val="dk1"/>
                </a:solidFill>
                <a:latin typeface="Roboto Mono"/>
                <a:ea typeface="Roboto Mono"/>
                <a:cs typeface="Roboto Mono"/>
                <a:sym typeface="Roboto Mono"/>
              </a:rPr>
              <a:t>script's __name__ is F</a:t>
            </a:r>
            <a:r>
              <a:rPr b="1" lang="en-US" sz="1100">
                <a:solidFill>
                  <a:schemeClr val="dk1"/>
                </a:solidFill>
                <a:latin typeface="Roboto Mono"/>
                <a:ea typeface="Roboto Mono"/>
                <a:cs typeface="Roboto Mono"/>
                <a:sym typeface="Roboto Mono"/>
              </a:rPr>
              <a:t>ish</a:t>
            </a:r>
            <a:endParaRPr b="1" sz="1100">
              <a:solidFill>
                <a:schemeClr val="dk1"/>
              </a:solidFill>
              <a:latin typeface="Roboto Mono"/>
              <a:ea typeface="Roboto Mono"/>
              <a:cs typeface="Roboto Mono"/>
              <a:sym typeface="Roboto Mono"/>
            </a:endParaRPr>
          </a:p>
        </p:txBody>
      </p:sp>
      <p:sp>
        <p:nvSpPr>
          <p:cNvPr id="253" name="Google Shape;253;p3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Roboto Mono"/>
                <a:ea typeface="Roboto Mono"/>
                <a:cs typeface="Roboto Mono"/>
                <a:sym typeface="Roboto Mono"/>
              </a:rPr>
              <a:t>__name__</a:t>
            </a:r>
            <a:r>
              <a:rPr lang="en-US"/>
              <a:t>: results</a:t>
            </a:r>
            <a:endParaRPr/>
          </a:p>
        </p:txBody>
      </p:sp>
      <p:sp>
        <p:nvSpPr>
          <p:cNvPr id="260" name="Google Shape;260;p3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61" name="Google Shape;261;p34"/>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The example in the previous slide shows that:</a:t>
            </a:r>
            <a:endParaRPr>
              <a:solidFill>
                <a:schemeClr val="dk1"/>
              </a:solidFill>
            </a:endParaRPr>
          </a:p>
          <a:p>
            <a:pPr indent="0" lvl="0" marL="0" rtl="0" algn="l">
              <a:spcBef>
                <a:spcPts val="0"/>
              </a:spcBef>
              <a:spcAft>
                <a:spcPts val="0"/>
              </a:spcAft>
              <a:buNone/>
            </a:pPr>
            <a:r>
              <a:t/>
            </a:r>
            <a:endParaRPr>
              <a:solidFill>
                <a:schemeClr val="dk1"/>
              </a:solidFill>
            </a:endParaRPr>
          </a:p>
          <a:p>
            <a:pPr indent="-330200" lvl="0" marL="457200" rtl="0" algn="l">
              <a:spcBef>
                <a:spcPts val="0"/>
              </a:spcBef>
              <a:spcAft>
                <a:spcPts val="0"/>
              </a:spcAft>
              <a:buClr>
                <a:schemeClr val="dk1"/>
              </a:buClr>
              <a:buSzPts val="1600"/>
              <a:buChar char="•"/>
            </a:pPr>
            <a:r>
              <a:rPr b="1" lang="en-US">
                <a:solidFill>
                  <a:schemeClr val="dk1"/>
                </a:solidFill>
              </a:rPr>
              <a:t>when a particular script is run directly (python &lt;script&gt;.py), python runtime sets/assigns:</a:t>
            </a:r>
            <a:endParaRPr b="1">
              <a:solidFill>
                <a:schemeClr val="dk1"/>
              </a:solidFill>
            </a:endParaRPr>
          </a:p>
          <a:p>
            <a:pPr indent="0" lvl="0" marL="914400" rtl="0" algn="l">
              <a:spcBef>
                <a:spcPts val="0"/>
              </a:spcBef>
              <a:spcAft>
                <a:spcPts val="0"/>
              </a:spcAft>
              <a:buNone/>
            </a:pPr>
            <a:r>
              <a:rPr lang="en-US">
                <a:solidFill>
                  <a:srgbClr val="9900FF"/>
                </a:solidFill>
                <a:latin typeface="Roboto Mono Light"/>
                <a:ea typeface="Roboto Mono Light"/>
                <a:cs typeface="Roboto Mono Light"/>
                <a:sym typeface="Roboto Mono Light"/>
              </a:rPr>
              <a:t>__name__ = '__main__'</a:t>
            </a:r>
            <a:endParaRPr>
              <a:solidFill>
                <a:srgbClr val="9900FF"/>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b="1">
              <a:solidFill>
                <a:schemeClr val="dk1"/>
              </a:solidFill>
            </a:endParaRPr>
          </a:p>
          <a:p>
            <a:pPr indent="-330200" lvl="0" marL="457200" rtl="0" algn="l">
              <a:spcBef>
                <a:spcPts val="0"/>
              </a:spcBef>
              <a:spcAft>
                <a:spcPts val="0"/>
              </a:spcAft>
              <a:buClr>
                <a:schemeClr val="dk1"/>
              </a:buClr>
              <a:buSzPts val="1600"/>
              <a:buChar char="•"/>
            </a:pPr>
            <a:r>
              <a:rPr b="1" lang="en-US">
                <a:solidFill>
                  <a:schemeClr val="dk1"/>
                </a:solidFill>
              </a:rPr>
              <a:t>when a script is run via an import:</a:t>
            </a:r>
            <a:endParaRPr b="1">
              <a:solidFill>
                <a:schemeClr val="dk1"/>
              </a:solidFill>
            </a:endParaRPr>
          </a:p>
          <a:p>
            <a:pPr indent="0" lvl="0" marL="914400" rtl="0" algn="l">
              <a:spcBef>
                <a:spcPts val="0"/>
              </a:spcBef>
              <a:spcAft>
                <a:spcPts val="0"/>
              </a:spcAft>
              <a:buNone/>
            </a:pPr>
            <a:r>
              <a:rPr lang="en-US">
                <a:solidFill>
                  <a:srgbClr val="9900FF"/>
                </a:solidFill>
                <a:latin typeface="Roboto Mono Light"/>
                <a:ea typeface="Roboto Mono Light"/>
                <a:cs typeface="Roboto Mono Light"/>
                <a:sym typeface="Roboto Mono Light"/>
              </a:rPr>
              <a:t>__name__ = [script file name]</a:t>
            </a:r>
            <a:endParaRPr>
              <a:solidFill>
                <a:srgbClr val="9900FF"/>
              </a:solidFill>
              <a:latin typeface="Roboto Mono Light"/>
              <a:ea typeface="Roboto Mono Light"/>
              <a:cs typeface="Roboto Mono Light"/>
              <a:sym typeface="Roboto Mono 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latin typeface="Roboto Mono"/>
                <a:ea typeface="Roboto Mono"/>
                <a:cs typeface="Roboto Mono"/>
                <a:sym typeface="Roboto Mono"/>
              </a:rPr>
              <a:t>__main__</a:t>
            </a:r>
            <a:r>
              <a:rPr lang="en-US">
                <a:solidFill>
                  <a:schemeClr val="hlink"/>
                </a:solidFill>
              </a:rPr>
              <a:t>: another special one</a:t>
            </a:r>
            <a:endParaRPr>
              <a:latin typeface="Roboto Mono"/>
              <a:ea typeface="Roboto Mono"/>
              <a:cs typeface="Roboto Mono"/>
              <a:sym typeface="Roboto Mono"/>
            </a:endParaRPr>
          </a:p>
        </p:txBody>
      </p:sp>
      <p:sp>
        <p:nvSpPr>
          <p:cNvPr id="268" name="Google Shape;268;p3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69" name="Google Shape;269;p35"/>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The other dunder-looking bit in that entrypoint: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457200" rtl="0" algn="l">
              <a:spcBef>
                <a:spcPts val="0"/>
              </a:spcBef>
              <a:spcAft>
                <a:spcPts val="0"/>
              </a:spcAft>
              <a:buNone/>
            </a:pPr>
            <a:r>
              <a:rPr lang="en-US">
                <a:solidFill>
                  <a:schemeClr val="dk1"/>
                </a:solidFill>
                <a:latin typeface="Roboto Mono Light"/>
                <a:ea typeface="Roboto Mono Light"/>
                <a:cs typeface="Roboto Mono Light"/>
                <a:sym typeface="Roboto Mono Light"/>
              </a:rPr>
              <a:t>if __name__ == '__main__':</a:t>
            </a:r>
            <a:endParaRPr>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lang="en-US">
                <a:solidFill>
                  <a:schemeClr val="dk1"/>
                </a:solidFill>
                <a:latin typeface="Roboto Mono Light"/>
                <a:ea typeface="Roboto Mono Light"/>
                <a:cs typeface="Roboto Mono Light"/>
                <a:sym typeface="Roboto Mono Light"/>
              </a:rPr>
              <a:t>main()</a:t>
            </a:r>
            <a:endParaRPr>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is </a:t>
            </a:r>
            <a:r>
              <a:rPr b="1" lang="en-US">
                <a:solidFill>
                  <a:schemeClr val="dk1"/>
                </a:solidFill>
                <a:latin typeface="Roboto Mono"/>
                <a:ea typeface="Roboto Mono"/>
                <a:cs typeface="Roboto Mono"/>
                <a:sym typeface="Roboto Mono"/>
              </a:rPr>
              <a:t>'__main__'</a:t>
            </a:r>
            <a:r>
              <a:rPr lang="en-US">
                <a:solidFill>
                  <a:schemeClr val="dk1"/>
                </a:solidFill>
              </a:rPr>
              <a:t>. This dunder is (slightly confusingly) a special String value that </a:t>
            </a:r>
            <a:r>
              <a:rPr lang="en-US">
                <a:solidFill>
                  <a:schemeClr val="dk1"/>
                </a:solidFill>
                <a:latin typeface="Roboto Mono Light"/>
                <a:ea typeface="Roboto Mono Light"/>
                <a:cs typeface="Roboto Mono Light"/>
                <a:sym typeface="Roboto Mono Light"/>
              </a:rPr>
              <a:t>__name__</a:t>
            </a:r>
            <a:r>
              <a:rPr lang="en-US">
                <a:solidFill>
                  <a:schemeClr val="dk1"/>
                </a:solidFill>
              </a:rPr>
              <a:t> will be given when and </a:t>
            </a:r>
            <a:r>
              <a:rPr i="1" lang="en-US">
                <a:solidFill>
                  <a:schemeClr val="dk1"/>
                </a:solidFill>
              </a:rPr>
              <a:t>only when the script </a:t>
            </a:r>
            <a:r>
              <a:rPr i="1" lang="en-US">
                <a:solidFill>
                  <a:schemeClr val="dk1"/>
                </a:solidFill>
                <a:latin typeface="Roboto Mono Light"/>
                <a:ea typeface="Roboto Mono Light"/>
                <a:cs typeface="Roboto Mono Light"/>
                <a:sym typeface="Roboto Mono Light"/>
              </a:rPr>
              <a:t>__name__</a:t>
            </a:r>
            <a:r>
              <a:rPr i="1" lang="en-US">
                <a:solidFill>
                  <a:schemeClr val="dk1"/>
                </a:solidFill>
              </a:rPr>
              <a:t> is in is run directly</a:t>
            </a:r>
            <a:r>
              <a:rPr lang="en-US">
                <a:solidFill>
                  <a:schemeClr val="dk1"/>
                </a:solidFill>
              </a:rPr>
              <a:t>.</a:t>
            </a:r>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Dunder variables: implications</a:t>
            </a:r>
            <a:endParaRPr/>
          </a:p>
        </p:txBody>
      </p:sp>
      <p:sp>
        <p:nvSpPr>
          <p:cNvPr id="276" name="Google Shape;276;p3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77" name="Google Shape;277;p36"/>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The most important implication of all of this is the following: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457200" rtl="0" algn="l">
              <a:spcBef>
                <a:spcPts val="0"/>
              </a:spcBef>
              <a:spcAft>
                <a:spcPts val="0"/>
              </a:spcAft>
              <a:buNone/>
            </a:pPr>
            <a:r>
              <a:rPr b="1" lang="en-US">
                <a:solidFill>
                  <a:schemeClr val="dk1"/>
                </a:solidFill>
              </a:rPr>
              <a:t>Via the </a:t>
            </a:r>
            <a:r>
              <a:rPr b="1" lang="en-US">
                <a:solidFill>
                  <a:schemeClr val="dk1"/>
                </a:solidFill>
                <a:latin typeface="Roboto Mono"/>
                <a:ea typeface="Roboto Mono"/>
                <a:cs typeface="Roboto Mono"/>
                <a:sym typeface="Roboto Mono"/>
              </a:rPr>
              <a:t>__name__</a:t>
            </a:r>
            <a:r>
              <a:rPr b="1" lang="en-US">
                <a:solidFill>
                  <a:schemeClr val="dk1"/>
                </a:solidFill>
              </a:rPr>
              <a:t> dunder, you have the ability to check when a particular script is being run directly, or whether it is being imported into another codebase.</a:t>
            </a:r>
            <a:endParaRPr b="1"/>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7"/>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UNIT TESTING</a:t>
            </a:r>
            <a:endParaRPr/>
          </a:p>
        </p:txBody>
      </p:sp>
      <p:sp>
        <p:nvSpPr>
          <p:cNvPr id="284" name="Google Shape;284;p37"/>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285" name="Google Shape;285;p3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Unit testing: good practice!</a:t>
            </a:r>
            <a:endParaRPr/>
          </a:p>
        </p:txBody>
      </p:sp>
      <p:sp>
        <p:nvSpPr>
          <p:cNvPr id="292" name="Google Shape;292;p3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93" name="Google Shape;293;p38"/>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500">
                <a:solidFill>
                  <a:schemeClr val="dk1"/>
                </a:solidFill>
              </a:rPr>
              <a:t>Up to this point, when you write your codebases, you've likely been testing functionality (you've been testing, right?) by writing small snippets of code which you then delete later.</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en-US" sz="1500">
                <a:solidFill>
                  <a:schemeClr val="dk1"/>
                </a:solidFill>
              </a:rPr>
              <a:t>While this isn't going to be covered in depth, it's worth taking a moment to</a:t>
            </a:r>
            <a:r>
              <a:rPr lang="en-US" sz="1500">
                <a:solidFill>
                  <a:schemeClr val="dk1"/>
                </a:solidFill>
              </a:rPr>
              <a:t> formally approach the idea of testing. </a:t>
            </a:r>
            <a:r>
              <a:rPr b="1" lang="en-US" sz="1500">
                <a:solidFill>
                  <a:schemeClr val="dk1"/>
                </a:solidFill>
              </a:rPr>
              <a:t>U</a:t>
            </a:r>
            <a:r>
              <a:rPr b="1" lang="en-US" sz="1500">
                <a:solidFill>
                  <a:schemeClr val="dk1"/>
                </a:solidFill>
              </a:rPr>
              <a:t>nit testing</a:t>
            </a:r>
            <a:r>
              <a:rPr lang="en-US" sz="1500">
                <a:solidFill>
                  <a:schemeClr val="dk1"/>
                </a:solidFill>
              </a:rPr>
              <a:t> is the process of making sure individual parts of a particular script actually work as intended. In effect: you're writing code to test code.</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en-US" sz="1500">
                <a:solidFill>
                  <a:schemeClr val="dk1"/>
                </a:solidFill>
              </a:rPr>
              <a:t>In fact, sometimes it's actually more advantageous to write the unit tests </a:t>
            </a:r>
            <a:r>
              <a:rPr i="1" lang="en-US" sz="1500">
                <a:solidFill>
                  <a:schemeClr val="dk1"/>
                </a:solidFill>
              </a:rPr>
              <a:t>before</a:t>
            </a:r>
            <a:r>
              <a:rPr lang="en-US" sz="1500">
                <a:solidFill>
                  <a:schemeClr val="dk1"/>
                </a:solidFill>
              </a:rPr>
              <a:t> you write the actual codebase - because you'll be defining exactly how you want your code be behave, and then writing the code to conform to that.</a:t>
            </a:r>
            <a:endParaRPr sz="15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rPr>
              <a:t>You may have tried this already</a:t>
            </a:r>
            <a:endParaRPr/>
          </a:p>
        </p:txBody>
      </p:sp>
      <p:sp>
        <p:nvSpPr>
          <p:cNvPr id="300" name="Google Shape;300;p39"/>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You may have already tried writing, for instance, test code at the bottom of your Class files to make sure the functionality worked. But you'd have to take that test code out before completing your codebases, because it would clog up (so to speak) console, for instance.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US" sz="1400"/>
              <a:t>For example, if you added the new object instance and the print statement to Fish.py, this would print out even when in main.py.</a:t>
            </a:r>
            <a:endParaRPr sz="1400"/>
          </a:p>
        </p:txBody>
      </p:sp>
      <p:sp>
        <p:nvSpPr>
          <p:cNvPr id="301" name="Google Shape;301;p39"/>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US" sz="1400">
                <a:solidFill>
                  <a:schemeClr val="dk1"/>
                </a:solidFill>
                <a:latin typeface="Roboto Mono Light"/>
                <a:ea typeface="Roboto Mono Light"/>
                <a:cs typeface="Roboto Mono Light"/>
                <a:sym typeface="Roboto Mono Light"/>
              </a:rPr>
              <a:t>#Fish.py</a:t>
            </a:r>
            <a:endParaRPr sz="1400">
              <a:solidFill>
                <a:schemeClr val="dk1"/>
              </a:solidFill>
              <a:latin typeface="Roboto Mono Light"/>
              <a:ea typeface="Roboto Mono Light"/>
              <a:cs typeface="Roboto Mono Light"/>
              <a:sym typeface="Roboto Mono Light"/>
            </a:endParaRPr>
          </a:p>
          <a:p>
            <a:pPr indent="0" lvl="0" marL="0" marR="0" rtl="0" algn="l">
              <a:lnSpc>
                <a:spcPct val="150000"/>
              </a:lnSpc>
              <a:spcBef>
                <a:spcPts val="0"/>
              </a:spcBef>
              <a:spcAft>
                <a:spcPts val="0"/>
              </a:spcAft>
              <a:buNone/>
            </a:pPr>
            <a:r>
              <a:rPr lang="en-US" sz="1400">
                <a:solidFill>
                  <a:schemeClr val="dk1"/>
                </a:solidFill>
                <a:latin typeface="Roboto Mono Light"/>
                <a:ea typeface="Roboto Mono Light"/>
                <a:cs typeface="Roboto Mono Light"/>
                <a:sym typeface="Roboto Mono Light"/>
              </a:rPr>
              <a:t># </a:t>
            </a:r>
            <a:r>
              <a:rPr lang="en-US" sz="1400">
                <a:solidFill>
                  <a:schemeClr val="dk1"/>
                </a:solidFill>
                <a:latin typeface="Roboto Mono Light"/>
                <a:ea typeface="Roboto Mono Light"/>
                <a:cs typeface="Roboto Mono Light"/>
                <a:sym typeface="Roboto Mono Light"/>
              </a:rPr>
              <a:t>...</a:t>
            </a:r>
            <a:endParaRPr sz="1400">
              <a:solidFill>
                <a:schemeClr val="dk1"/>
              </a:solidFill>
              <a:latin typeface="Roboto Mono Light"/>
              <a:ea typeface="Roboto Mono Light"/>
              <a:cs typeface="Roboto Mono Light"/>
              <a:sym typeface="Roboto Mono Light"/>
            </a:endParaRPr>
          </a:p>
          <a:p>
            <a:pPr indent="0" lvl="0" marL="0" marR="0" rtl="0" algn="l">
              <a:lnSpc>
                <a:spcPct val="150000"/>
              </a:lnSpc>
              <a:spcBef>
                <a:spcPts val="0"/>
              </a:spcBef>
              <a:spcAft>
                <a:spcPts val="0"/>
              </a:spcAft>
              <a:buNone/>
            </a:pPr>
            <a:r>
              <a:t/>
            </a:r>
            <a:endParaRPr sz="1400">
              <a:solidFill>
                <a:schemeClr val="dk1"/>
              </a:solidFill>
              <a:latin typeface="Roboto Mono Light"/>
              <a:ea typeface="Roboto Mono Light"/>
              <a:cs typeface="Roboto Mono Light"/>
              <a:sym typeface="Roboto Mono Light"/>
            </a:endParaRPr>
          </a:p>
          <a:p>
            <a:pPr indent="0" lvl="0" marL="0" marR="0" rtl="0" algn="l">
              <a:lnSpc>
                <a:spcPct val="150000"/>
              </a:lnSpc>
              <a:spcBef>
                <a:spcPts val="0"/>
              </a:spcBef>
              <a:spcAft>
                <a:spcPts val="0"/>
              </a:spcAft>
              <a:buNone/>
            </a:pPr>
            <a:r>
              <a:rPr lang="en-US" sz="1400">
                <a:solidFill>
                  <a:schemeClr val="dk1"/>
                </a:solidFill>
                <a:latin typeface="Roboto Mono Light"/>
                <a:ea typeface="Roboto Mono Light"/>
                <a:cs typeface="Roboto Mono Light"/>
                <a:sym typeface="Roboto Mono Light"/>
              </a:rPr>
              <a:t>red_fish = Red('nemo')</a:t>
            </a:r>
            <a:endParaRPr sz="1400">
              <a:solidFill>
                <a:schemeClr val="dk1"/>
              </a:solidFill>
              <a:latin typeface="Roboto Mono Light"/>
              <a:ea typeface="Roboto Mono Light"/>
              <a:cs typeface="Roboto Mono Light"/>
              <a:sym typeface="Roboto Mono Light"/>
            </a:endParaRPr>
          </a:p>
          <a:p>
            <a:pPr indent="0" lvl="0" marL="0" marR="0" rtl="0" algn="l">
              <a:lnSpc>
                <a:spcPct val="150000"/>
              </a:lnSpc>
              <a:spcBef>
                <a:spcPts val="0"/>
              </a:spcBef>
              <a:spcAft>
                <a:spcPts val="0"/>
              </a:spcAft>
              <a:buNone/>
            </a:pPr>
            <a:r>
              <a:rPr lang="en-US" sz="1400">
                <a:solidFill>
                  <a:schemeClr val="dk1"/>
                </a:solidFill>
                <a:latin typeface="Roboto Mono Light"/>
                <a:ea typeface="Roboto Mono Light"/>
                <a:cs typeface="Roboto Mono Light"/>
                <a:sym typeface="Roboto Mono Light"/>
              </a:rPr>
              <a:t>print(red_fish.get_name())</a:t>
            </a:r>
            <a:endParaRPr sz="1400">
              <a:solidFill>
                <a:schemeClr val="dk1"/>
              </a:solidFill>
              <a:latin typeface="Roboto Mono Light"/>
              <a:ea typeface="Roboto Mono Light"/>
              <a:cs typeface="Roboto Mono Light"/>
              <a:sym typeface="Roboto Mono Light"/>
            </a:endParaRPr>
          </a:p>
          <a:p>
            <a:pPr indent="0" lvl="0" marL="0" marR="0" rtl="0" algn="l">
              <a:lnSpc>
                <a:spcPct val="150000"/>
              </a:lnSpc>
              <a:spcBef>
                <a:spcPts val="0"/>
              </a:spcBef>
              <a:spcAft>
                <a:spcPts val="0"/>
              </a:spcAft>
              <a:buNone/>
            </a:pPr>
            <a:r>
              <a:t/>
            </a:r>
            <a:endParaRPr sz="1400">
              <a:solidFill>
                <a:schemeClr val="dk1"/>
              </a:solidFill>
              <a:latin typeface="Roboto Mono Light"/>
              <a:ea typeface="Roboto Mono Light"/>
              <a:cs typeface="Roboto Mono Light"/>
              <a:sym typeface="Roboto Mono Light"/>
            </a:endParaRPr>
          </a:p>
          <a:p>
            <a:pPr indent="0" lvl="0" marL="0" marR="0" rtl="0" algn="l">
              <a:lnSpc>
                <a:spcPct val="150000"/>
              </a:lnSpc>
              <a:spcBef>
                <a:spcPts val="0"/>
              </a:spcBef>
              <a:spcAft>
                <a:spcPts val="0"/>
              </a:spcAft>
              <a:buNone/>
            </a:pPr>
            <a:r>
              <a:t/>
            </a:r>
            <a:endParaRPr sz="1400">
              <a:solidFill>
                <a:schemeClr val="dk1"/>
              </a:solidFill>
              <a:latin typeface="Roboto Mono Light"/>
              <a:ea typeface="Roboto Mono Light"/>
              <a:cs typeface="Roboto Mono Light"/>
              <a:sym typeface="Roboto Mono Light"/>
            </a:endParaRPr>
          </a:p>
          <a:p>
            <a:pPr indent="0" lvl="0" marL="0" marR="0" rtl="0" algn="l">
              <a:lnSpc>
                <a:spcPct val="150000"/>
              </a:lnSpc>
              <a:spcBef>
                <a:spcPts val="0"/>
              </a:spcBef>
              <a:spcAft>
                <a:spcPts val="0"/>
              </a:spcAft>
              <a:buNone/>
            </a:pPr>
            <a:r>
              <a:t/>
            </a:r>
            <a:endParaRPr sz="1400">
              <a:solidFill>
                <a:schemeClr val="dk1"/>
              </a:solidFill>
              <a:latin typeface="Roboto Mono Light"/>
              <a:ea typeface="Roboto Mono Light"/>
              <a:cs typeface="Roboto Mono Light"/>
              <a:sym typeface="Roboto Mono Light"/>
            </a:endParaRPr>
          </a:p>
          <a:p>
            <a:pPr indent="0" lvl="0" marL="0" marR="0" rtl="0" algn="l">
              <a:lnSpc>
                <a:spcPct val="150000"/>
              </a:lnSpc>
              <a:spcBef>
                <a:spcPts val="0"/>
              </a:spcBef>
              <a:spcAft>
                <a:spcPts val="0"/>
              </a:spcAft>
              <a:buNone/>
            </a:pPr>
            <a:r>
              <a:rPr lang="en-US" sz="1400">
                <a:solidFill>
                  <a:schemeClr val="dk1"/>
                </a:solidFill>
                <a:latin typeface="Roboto Mono Light"/>
                <a:ea typeface="Roboto Mono Light"/>
                <a:cs typeface="Roboto Mono Light"/>
                <a:sym typeface="Roboto Mono Light"/>
              </a:rPr>
              <a:t>&gt;&gt;&gt; nemo</a:t>
            </a:r>
            <a:endParaRPr sz="1400">
              <a:solidFill>
                <a:schemeClr val="dk1"/>
              </a:solidFill>
              <a:latin typeface="Roboto Mono Light"/>
              <a:ea typeface="Roboto Mono Light"/>
              <a:cs typeface="Roboto Mono Light"/>
              <a:sym typeface="Roboto Mono Light"/>
            </a:endParaRPr>
          </a:p>
        </p:txBody>
      </p:sp>
      <p:sp>
        <p:nvSpPr>
          <p:cNvPr id="302" name="Google Shape;302;p3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rPr>
              <a:t>Unit testing approach: dunders</a:t>
            </a:r>
            <a:endParaRPr/>
          </a:p>
        </p:txBody>
      </p:sp>
      <p:sp>
        <p:nvSpPr>
          <p:cNvPr id="309" name="Google Shape;309;p4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t>An approach to unit testing is to drop all the test code (in the imported file) into that special dunder conditional you've seen for weeks:</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US" sz="1300">
                <a:latin typeface="Roboto Mono Light"/>
                <a:ea typeface="Roboto Mono Light"/>
                <a:cs typeface="Roboto Mono Light"/>
                <a:sym typeface="Roboto Mono Light"/>
              </a:rPr>
              <a:t>	if __name__ == '__main__':</a:t>
            </a:r>
            <a:endParaRPr sz="1300">
              <a:latin typeface="Roboto Mono Light"/>
              <a:ea typeface="Roboto Mono Light"/>
              <a:cs typeface="Roboto Mono Light"/>
              <a:sym typeface="Roboto Mono Light"/>
            </a:endParaRPr>
          </a:p>
          <a:p>
            <a:pPr indent="457200" lvl="0" marL="457200" rtl="0" algn="l">
              <a:spcBef>
                <a:spcPts val="0"/>
              </a:spcBef>
              <a:spcAft>
                <a:spcPts val="0"/>
              </a:spcAft>
              <a:buNone/>
            </a:pPr>
            <a:r>
              <a:rPr lang="en-US" sz="1300">
                <a:latin typeface="Roboto Mono Light"/>
                <a:ea typeface="Roboto Mono Light"/>
                <a:cs typeface="Roboto Mono Light"/>
                <a:sym typeface="Roboto Mono Light"/>
              </a:rPr>
              <a:t># unit testing goes here</a:t>
            </a:r>
            <a:endParaRPr sz="1300">
              <a:latin typeface="Roboto Mono Light"/>
              <a:ea typeface="Roboto Mono Light"/>
              <a:cs typeface="Roboto Mono Light"/>
              <a:sym typeface="Roboto Mono Light"/>
            </a:endParaRPr>
          </a:p>
          <a:p>
            <a:pPr indent="0" lvl="0" marL="0" rtl="0" algn="l">
              <a:spcBef>
                <a:spcPts val="0"/>
              </a:spcBef>
              <a:spcAft>
                <a:spcPts val="0"/>
              </a:spcAft>
              <a:buNone/>
            </a:pPr>
            <a:r>
              <a:t/>
            </a:r>
            <a:endParaRPr sz="1300"/>
          </a:p>
          <a:p>
            <a:pPr indent="0" lvl="0" marL="0" rtl="0" algn="l">
              <a:spcBef>
                <a:spcPts val="0"/>
              </a:spcBef>
              <a:spcAft>
                <a:spcPts val="0"/>
              </a:spcAft>
              <a:buNone/>
            </a:pPr>
            <a:r>
              <a:rPr lang="en-US" sz="1300"/>
              <a:t>It is also important to formalize the code a bit more. Now when it's imported in main.py, the condition evaluates to False (</a:t>
            </a:r>
            <a:r>
              <a:rPr lang="en-US" sz="1300">
                <a:solidFill>
                  <a:schemeClr val="dk1"/>
                </a:solidFill>
                <a:latin typeface="Roboto Mono Light"/>
                <a:ea typeface="Roboto Mono Light"/>
                <a:cs typeface="Roboto Mono Light"/>
                <a:sym typeface="Roboto Mono Light"/>
              </a:rPr>
              <a:t>__name__</a:t>
            </a:r>
            <a:r>
              <a:rPr lang="en-US" sz="1300"/>
              <a:t> is 'Fish'), and you've taken a step to separate out your codebase from the code testing it.</a:t>
            </a:r>
            <a:endParaRPr sz="1300"/>
          </a:p>
        </p:txBody>
      </p:sp>
      <p:sp>
        <p:nvSpPr>
          <p:cNvPr id="310" name="Google Shape;310;p40"/>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#Fish.py</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 ...</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if __name__ == '__main__':</a:t>
            </a:r>
            <a:endParaRPr sz="1300">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fish_name = 'nemo'</a:t>
            </a:r>
            <a:endParaRPr sz="1300">
              <a:latin typeface="Roboto Mono Light"/>
              <a:ea typeface="Roboto Mono Light"/>
              <a:cs typeface="Roboto Mono Light"/>
              <a:sym typeface="Roboto Mono Light"/>
            </a:endParaRPr>
          </a:p>
          <a:p>
            <a:pPr indent="0" lvl="0" marL="457200" rtl="0" algn="l">
              <a:spcBef>
                <a:spcPts val="0"/>
              </a:spcBef>
              <a:spcAft>
                <a:spcPts val="0"/>
              </a:spcAft>
              <a:buNone/>
            </a:pPr>
            <a:r>
              <a:rPr lang="en-US" sz="1300">
                <a:latin typeface="Roboto Mono Light"/>
                <a:ea typeface="Roboto Mono Light"/>
                <a:cs typeface="Roboto Mono Light"/>
                <a:sym typeface="Roboto Mono Light"/>
              </a:rPr>
              <a:t>red_fish = Red(fish_name)</a:t>
            </a:r>
            <a:endParaRPr sz="1300">
              <a:latin typeface="Roboto Mono Light"/>
              <a:ea typeface="Roboto Mono Light"/>
              <a:cs typeface="Roboto Mono Light"/>
              <a:sym typeface="Roboto Mono Light"/>
            </a:endParaRPr>
          </a:p>
          <a:p>
            <a:pPr indent="0" lvl="0" marL="457200" rtl="0" algn="l">
              <a:spcBef>
                <a:spcPts val="0"/>
              </a:spcBef>
              <a:spcAft>
                <a:spcPts val="0"/>
              </a:spcAft>
              <a:buNone/>
            </a:pPr>
            <a:r>
              <a:rPr lang="en-US" sz="1300">
                <a:latin typeface="Roboto Mono Light"/>
                <a:ea typeface="Roboto Mono Light"/>
                <a:cs typeface="Roboto Mono Light"/>
                <a:sym typeface="Roboto Mono Light"/>
              </a:rPr>
              <a:t>if red_fish.get_name() == fish_name:</a:t>
            </a:r>
            <a:endParaRPr sz="1300">
              <a:latin typeface="Roboto Mono Light"/>
              <a:ea typeface="Roboto Mono Light"/>
              <a:cs typeface="Roboto Mono Light"/>
              <a:sym typeface="Roboto Mono Light"/>
            </a:endParaRPr>
          </a:p>
          <a:p>
            <a:pPr indent="457200" lvl="0" marL="457200" rtl="0" algn="l">
              <a:spcBef>
                <a:spcPts val="0"/>
              </a:spcBef>
              <a:spcAft>
                <a:spcPts val="0"/>
              </a:spcAft>
              <a:buNone/>
            </a:pPr>
            <a:r>
              <a:rPr lang="en-US" sz="1300">
                <a:latin typeface="Roboto Mono Light"/>
                <a:ea typeface="Roboto Mono Light"/>
                <a:cs typeface="Roboto Mono Light"/>
                <a:sym typeface="Roboto Mono Light"/>
              </a:rPr>
              <a:t>print('get_name() pass')</a:t>
            </a:r>
            <a:endParaRPr sz="1300">
              <a:latin typeface="Roboto Mono Light"/>
              <a:ea typeface="Roboto Mono Light"/>
              <a:cs typeface="Roboto Mono Light"/>
              <a:sym typeface="Roboto Mono Light"/>
            </a:endParaRPr>
          </a:p>
          <a:p>
            <a:pPr indent="0" lvl="0" marL="457200" rtl="0" algn="l">
              <a:spcBef>
                <a:spcPts val="0"/>
              </a:spcBef>
              <a:spcAft>
                <a:spcPts val="0"/>
              </a:spcAft>
              <a:buNone/>
            </a:pPr>
            <a:r>
              <a:rPr lang="en-US" sz="1300">
                <a:latin typeface="Roboto Mono Light"/>
                <a:ea typeface="Roboto Mono Light"/>
                <a:cs typeface="Roboto Mono Light"/>
                <a:sym typeface="Roboto Mono Light"/>
              </a:rPr>
              <a:t>else:</a:t>
            </a:r>
            <a:endParaRPr sz="1300">
              <a:latin typeface="Roboto Mono Light"/>
              <a:ea typeface="Roboto Mono Light"/>
              <a:cs typeface="Roboto Mono Light"/>
              <a:sym typeface="Roboto Mono Light"/>
            </a:endParaRPr>
          </a:p>
          <a:p>
            <a:pPr indent="457200" lvl="0" marL="457200" rtl="0" algn="l">
              <a:spcBef>
                <a:spcPts val="0"/>
              </a:spcBef>
              <a:spcAft>
                <a:spcPts val="0"/>
              </a:spcAft>
              <a:buNone/>
            </a:pPr>
            <a:r>
              <a:rPr lang="en-US" sz="1300">
                <a:latin typeface="Roboto Mono Light"/>
                <a:ea typeface="Roboto Mono Light"/>
                <a:cs typeface="Roboto Mono Light"/>
                <a:sym typeface="Roboto Mono Light"/>
              </a:rPr>
              <a:t>print('get_name() failed')</a:t>
            </a:r>
            <a:endParaRPr sz="1300">
              <a:latin typeface="Roboto Mono Light"/>
              <a:ea typeface="Roboto Mono Light"/>
              <a:cs typeface="Roboto Mono Light"/>
              <a:sym typeface="Roboto Mono Light"/>
            </a:endParaRPr>
          </a:p>
        </p:txBody>
      </p:sp>
      <p:sp>
        <p:nvSpPr>
          <p:cNvPr id="311" name="Google Shape;311;p4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Unit testing approach: together</a:t>
            </a:r>
            <a:endParaRPr/>
          </a:p>
        </p:txBody>
      </p:sp>
      <p:sp>
        <p:nvSpPr>
          <p:cNvPr id="318" name="Google Shape;318;p4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19" name="Google Shape;319;p41"/>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Let's take some time to formally define a set of unit tests for Fish.py.</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Unit testing approach: packages</a:t>
            </a:r>
            <a:endParaRPr/>
          </a:p>
        </p:txBody>
      </p:sp>
      <p:sp>
        <p:nvSpPr>
          <p:cNvPr id="326" name="Google Shape;326;p4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27" name="Google Shape;327;p42"/>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previous approach is how you can, in this course, create unit tests. There are also packages for Python which properly formalize this approach. The two most </a:t>
            </a:r>
            <a:r>
              <a:rPr lang="en-US"/>
              <a:t>ubiquitous</a:t>
            </a:r>
            <a:r>
              <a:rPr lang="en-US"/>
              <a:t> are </a:t>
            </a:r>
            <a:r>
              <a:rPr b="1" lang="en-US">
                <a:solidFill>
                  <a:schemeClr val="dk1"/>
                </a:solidFill>
                <a:latin typeface="Roboto Mono"/>
                <a:ea typeface="Roboto Mono"/>
                <a:cs typeface="Roboto Mono"/>
                <a:sym typeface="Roboto Mono"/>
              </a:rPr>
              <a:t>pytest</a:t>
            </a:r>
            <a:r>
              <a:rPr lang="en-US"/>
              <a:t> and </a:t>
            </a:r>
            <a:r>
              <a:rPr b="1" lang="en-US">
                <a:solidFill>
                  <a:schemeClr val="dk1"/>
                </a:solidFill>
                <a:latin typeface="Roboto Mono"/>
                <a:ea typeface="Roboto Mono"/>
                <a:cs typeface="Roboto Mono"/>
                <a:sym typeface="Roboto Mono"/>
              </a:rPr>
              <a:t>behave</a:t>
            </a:r>
            <a:r>
              <a:rPr lang="en-US"/>
              <a: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3"/>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PACKAGING</a:t>
            </a:r>
            <a:endParaRPr/>
          </a:p>
        </p:txBody>
      </p:sp>
      <p:sp>
        <p:nvSpPr>
          <p:cNvPr id="334" name="Google Shape;334;p43"/>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335" name="Google Shape;335;p4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Packages: </a:t>
            </a:r>
            <a:r>
              <a:rPr lang="en-US">
                <a:latin typeface="Roboto Mono"/>
                <a:ea typeface="Roboto Mono"/>
                <a:cs typeface="Roboto Mono"/>
                <a:sym typeface="Roboto Mono"/>
              </a:rPr>
              <a:t>__init__.py</a:t>
            </a:r>
            <a:endParaRPr/>
          </a:p>
        </p:txBody>
      </p:sp>
      <p:sp>
        <p:nvSpPr>
          <p:cNvPr id="342" name="Google Shape;342;p4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43" name="Google Shape;343;p44"/>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You've seen how to create modules. But what about packages? It turns out that creating a package is </a:t>
            </a:r>
            <a:r>
              <a:rPr i="1" lang="en-US"/>
              <a:t>almost</a:t>
            </a:r>
            <a:r>
              <a:rPr lang="en-US"/>
              <a:t> as easy as creating a module. There's just a little bit of nuance, and another file to work with. </a:t>
            </a:r>
            <a:r>
              <a:rPr lang="en-US">
                <a:solidFill>
                  <a:schemeClr val="dk1"/>
                </a:solidFill>
                <a:latin typeface="Roboto Mono Light"/>
                <a:ea typeface="Roboto Mono Light"/>
                <a:cs typeface="Roboto Mono Light"/>
                <a:sym typeface="Roboto Mono Light"/>
              </a:rPr>
              <a:t>__init__.py</a:t>
            </a:r>
            <a:r>
              <a:rPr lang="en-US"/>
              <a:t> is a </a:t>
            </a:r>
            <a:r>
              <a:rPr b="1" lang="en-US"/>
              <a:t>dunder file</a:t>
            </a:r>
            <a:r>
              <a:rPr lang="en-US"/>
              <a:t> which is used to define a package. It is automatically loaded when the package is imported into another codebase.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Packages: structure</a:t>
            </a:r>
            <a:endParaRPr/>
          </a:p>
        </p:txBody>
      </p:sp>
      <p:sp>
        <p:nvSpPr>
          <p:cNvPr id="350" name="Google Shape;350;p4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51" name="Google Shape;351;p45"/>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To contextualize, let's turn the existing Fish.py module into a package. The directory structure needs to be changed slightly, and a new file - </a:t>
            </a:r>
            <a:r>
              <a:rPr lang="en-US">
                <a:solidFill>
                  <a:schemeClr val="dk1"/>
                </a:solidFill>
                <a:latin typeface="Roboto Mono Light"/>
                <a:ea typeface="Roboto Mono Light"/>
                <a:cs typeface="Roboto Mono Light"/>
                <a:sym typeface="Roboto Mono Light"/>
              </a:rPr>
              <a:t>__init__.py</a:t>
            </a:r>
            <a:r>
              <a:rPr lang="en-US">
                <a:solidFill>
                  <a:schemeClr val="dk1"/>
                </a:solidFill>
              </a:rPr>
              <a:t> - needs to be created.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To the right:</a:t>
            </a:r>
            <a:endParaRPr>
              <a:solidFill>
                <a:schemeClr val="dk1"/>
              </a:solidFill>
            </a:endParaRPr>
          </a:p>
          <a:p>
            <a:pPr indent="457200" lvl="0" marL="0" rtl="0" algn="l">
              <a:spcBef>
                <a:spcPts val="0"/>
              </a:spcBef>
              <a:spcAft>
                <a:spcPts val="0"/>
              </a:spcAft>
              <a:buNone/>
            </a:pPr>
            <a:r>
              <a:rPr lang="en-US">
                <a:solidFill>
                  <a:schemeClr val="dk1"/>
                </a:solidFill>
              </a:rPr>
              <a:t>on the top is the example structure</a:t>
            </a:r>
            <a:endParaRPr>
              <a:solidFill>
                <a:schemeClr val="dk1"/>
              </a:solidFill>
            </a:endParaRPr>
          </a:p>
          <a:p>
            <a:pPr indent="457200" lvl="0" marL="0" rtl="0" algn="l">
              <a:spcBef>
                <a:spcPts val="0"/>
              </a:spcBef>
              <a:spcAft>
                <a:spcPts val="0"/>
              </a:spcAft>
              <a:buNone/>
            </a:pPr>
            <a:r>
              <a:rPr lang="en-US">
                <a:solidFill>
                  <a:schemeClr val="dk1"/>
                </a:solidFill>
              </a:rPr>
              <a:t>on the bottom is context!</a:t>
            </a:r>
            <a:endParaRPr/>
          </a:p>
        </p:txBody>
      </p:sp>
      <p:graphicFrame>
        <p:nvGraphicFramePr>
          <p:cNvPr id="352" name="Google Shape;352;p45"/>
          <p:cNvGraphicFramePr/>
          <p:nvPr/>
        </p:nvGraphicFramePr>
        <p:xfrm>
          <a:off x="4641700" y="998800"/>
          <a:ext cx="3000000" cy="3000000"/>
        </p:xfrm>
        <a:graphic>
          <a:graphicData uri="http://schemas.openxmlformats.org/drawingml/2006/table">
            <a:tbl>
              <a:tblPr>
                <a:noFill/>
                <a:tableStyleId>{D08F7877-44E9-4A88-834E-D14FADAC9C64}</a:tableStyleId>
              </a:tblPr>
              <a:tblGrid>
                <a:gridCol w="2859825"/>
                <a:gridCol w="1596675"/>
              </a:tblGrid>
              <a:tr h="381000">
                <a:tc>
                  <a:txBody>
                    <a:bodyPr/>
                    <a:lstStyle/>
                    <a:p>
                      <a:pPr indent="0" lvl="0" marL="0" rtl="0" algn="l">
                        <a:lnSpc>
                          <a:spcPct val="150000"/>
                        </a:lnSpc>
                        <a:spcBef>
                          <a:spcPts val="0"/>
                        </a:spcBef>
                        <a:spcAft>
                          <a:spcPts val="0"/>
                        </a:spcAft>
                        <a:buNone/>
                      </a:pPr>
                      <a:r>
                        <a:rPr lang="en-US">
                          <a:latin typeface="Roboto Mono Light"/>
                          <a:ea typeface="Roboto Mono Light"/>
                          <a:cs typeface="Roboto Mono Light"/>
                          <a:sym typeface="Roboto Mono Light"/>
                        </a:rPr>
                        <a:t>project/</a:t>
                      </a:r>
                      <a:endParaRPr>
                        <a:latin typeface="Roboto Mono Light"/>
                        <a:ea typeface="Roboto Mono Light"/>
                        <a:cs typeface="Roboto Mono Light"/>
                        <a:sym typeface="Roboto Mono Light"/>
                      </a:endParaRPr>
                    </a:p>
                    <a:p>
                      <a:pPr indent="0" lvl="0" marL="0" rtl="0" algn="l">
                        <a:lnSpc>
                          <a:spcPct val="150000"/>
                        </a:lnSpc>
                        <a:spcBef>
                          <a:spcPts val="0"/>
                        </a:spcBef>
                        <a:spcAft>
                          <a:spcPts val="0"/>
                        </a:spcAft>
                        <a:buNone/>
                      </a:pPr>
                      <a:r>
                        <a:rPr lang="en-US">
                          <a:latin typeface="Roboto Mono Light"/>
                          <a:ea typeface="Roboto Mono Light"/>
                          <a:cs typeface="Roboto Mono Light"/>
                          <a:sym typeface="Roboto Mono Light"/>
                        </a:rPr>
                        <a:t>    package_name/</a:t>
                      </a:r>
                      <a:endParaRPr>
                        <a:latin typeface="Roboto Mono Light"/>
                        <a:ea typeface="Roboto Mono Light"/>
                        <a:cs typeface="Roboto Mono Light"/>
                        <a:sym typeface="Roboto Mono Light"/>
                      </a:endParaRPr>
                    </a:p>
                    <a:p>
                      <a:pPr indent="0" lvl="0" marL="0" rtl="0" algn="l">
                        <a:lnSpc>
                          <a:spcPct val="150000"/>
                        </a:lnSpc>
                        <a:spcBef>
                          <a:spcPts val="0"/>
                        </a:spcBef>
                        <a:spcAft>
                          <a:spcPts val="0"/>
                        </a:spcAft>
                        <a:buNone/>
                      </a:pPr>
                      <a:r>
                        <a:rPr lang="en-US">
                          <a:solidFill>
                            <a:schemeClr val="dk1"/>
                          </a:solidFill>
                          <a:latin typeface="Roboto Mono Light"/>
                          <a:ea typeface="Roboto Mono Light"/>
                          <a:cs typeface="Roboto Mono Light"/>
                          <a:sym typeface="Roboto Mono Light"/>
                        </a:rPr>
                        <a:t>        </a:t>
                      </a:r>
                      <a:r>
                        <a:rPr b="1" lang="en-US">
                          <a:solidFill>
                            <a:schemeClr val="dk1"/>
                          </a:solidFill>
                          <a:latin typeface="Roboto Mono"/>
                          <a:ea typeface="Roboto Mono"/>
                          <a:cs typeface="Roboto Mono"/>
                          <a:sym typeface="Roboto Mono"/>
                        </a:rPr>
                        <a:t>__init__.py</a:t>
                      </a:r>
                      <a:endParaRPr b="1">
                        <a:solidFill>
                          <a:schemeClr val="dk1"/>
                        </a:solidFill>
                        <a:latin typeface="Roboto Mono"/>
                        <a:ea typeface="Roboto Mono"/>
                        <a:cs typeface="Roboto Mono"/>
                        <a:sym typeface="Roboto Mono"/>
                      </a:endParaRPr>
                    </a:p>
                    <a:p>
                      <a:pPr indent="0" lvl="0" marL="0" rtl="0" algn="l">
                        <a:lnSpc>
                          <a:spcPct val="150000"/>
                        </a:lnSpc>
                        <a:spcBef>
                          <a:spcPts val="0"/>
                        </a:spcBef>
                        <a:spcAft>
                          <a:spcPts val="0"/>
                        </a:spcAft>
                        <a:buNone/>
                      </a:pPr>
                      <a:r>
                        <a:rPr lang="en-US">
                          <a:solidFill>
                            <a:schemeClr val="dk1"/>
                          </a:solidFill>
                          <a:latin typeface="Roboto Mono Light"/>
                          <a:ea typeface="Roboto Mono Light"/>
                          <a:cs typeface="Roboto Mono Light"/>
                          <a:sym typeface="Roboto Mono Light"/>
                        </a:rPr>
                        <a:t>        module_name.py</a:t>
                      </a:r>
                      <a:endParaRPr>
                        <a:solidFill>
                          <a:schemeClr val="dk1"/>
                        </a:solidFill>
                        <a:latin typeface="Roboto Mono Light"/>
                        <a:ea typeface="Roboto Mono Light"/>
                        <a:cs typeface="Roboto Mono Light"/>
                        <a:sym typeface="Roboto Mono Light"/>
                      </a:endParaRPr>
                    </a:p>
                    <a:p>
                      <a:pPr indent="0" lvl="0" marL="0" rtl="0" algn="l">
                        <a:lnSpc>
                          <a:spcPct val="150000"/>
                        </a:lnSpc>
                        <a:spcBef>
                          <a:spcPts val="0"/>
                        </a:spcBef>
                        <a:spcAft>
                          <a:spcPts val="0"/>
                        </a:spcAft>
                        <a:buNone/>
                      </a:pPr>
                      <a:r>
                        <a:rPr lang="en-US">
                          <a:solidFill>
                            <a:schemeClr val="dk1"/>
                          </a:solidFill>
                          <a:latin typeface="Roboto Mono Light"/>
                          <a:ea typeface="Roboto Mono Light"/>
                          <a:cs typeface="Roboto Mono Light"/>
                          <a:sym typeface="Roboto Mono Light"/>
                        </a:rPr>
                        <a:t>    main.py</a:t>
                      </a:r>
                      <a:endParaRPr>
                        <a:solidFill>
                          <a:schemeClr val="dk1"/>
                        </a:solidFill>
                        <a:latin typeface="Roboto Mono Light"/>
                        <a:ea typeface="Roboto Mono Light"/>
                        <a:cs typeface="Roboto Mono Light"/>
                        <a:sym typeface="Roboto Mono Light"/>
                      </a:endParaRPr>
                    </a:p>
                  </a:txBody>
                  <a:tcPr marT="91425" marB="91425" marR="91425" marL="91425"/>
                </a:tc>
                <a:tc>
                  <a:txBody>
                    <a:bodyPr/>
                    <a:lstStyle/>
                    <a:p>
                      <a:pPr indent="0" lvl="0" marL="0" rtl="0" algn="l">
                        <a:lnSpc>
                          <a:spcPct val="150000"/>
                        </a:lnSpc>
                        <a:spcBef>
                          <a:spcPts val="0"/>
                        </a:spcBef>
                        <a:spcAft>
                          <a:spcPts val="0"/>
                        </a:spcAft>
                        <a:buNone/>
                      </a:pPr>
                      <a:r>
                        <a:rPr lang="en-US">
                          <a:latin typeface="Proxima Nova"/>
                          <a:ea typeface="Proxima Nova"/>
                          <a:cs typeface="Proxima Nova"/>
                          <a:sym typeface="Proxima Nova"/>
                        </a:rPr>
                        <a:t>(directory)</a:t>
                      </a:r>
                      <a:endParaRPr>
                        <a:latin typeface="Proxima Nova"/>
                        <a:ea typeface="Proxima Nova"/>
                        <a:cs typeface="Proxima Nova"/>
                        <a:sym typeface="Proxima Nova"/>
                      </a:endParaRPr>
                    </a:p>
                    <a:p>
                      <a:pPr indent="0" lvl="0" marL="0" rtl="0" algn="l">
                        <a:lnSpc>
                          <a:spcPct val="150000"/>
                        </a:lnSpc>
                        <a:spcBef>
                          <a:spcPts val="0"/>
                        </a:spcBef>
                        <a:spcAft>
                          <a:spcPts val="0"/>
                        </a:spcAft>
                        <a:buNone/>
                      </a:pPr>
                      <a:r>
                        <a:rPr lang="en-US">
                          <a:solidFill>
                            <a:schemeClr val="dk1"/>
                          </a:solidFill>
                          <a:latin typeface="Proxima Nova"/>
                          <a:ea typeface="Proxima Nova"/>
                          <a:cs typeface="Proxima Nova"/>
                          <a:sym typeface="Proxima Nova"/>
                        </a:rPr>
                        <a:t>(directory)</a:t>
                      </a:r>
                      <a:endParaRPr>
                        <a:solidFill>
                          <a:schemeClr val="dk1"/>
                        </a:solidFill>
                        <a:latin typeface="Proxima Nova"/>
                        <a:ea typeface="Proxima Nova"/>
                        <a:cs typeface="Proxima Nova"/>
                        <a:sym typeface="Proxima Nova"/>
                      </a:endParaRPr>
                    </a:p>
                    <a:p>
                      <a:pPr indent="0" lvl="0" marL="0" rtl="0" algn="l">
                        <a:lnSpc>
                          <a:spcPct val="150000"/>
                        </a:lnSpc>
                        <a:spcBef>
                          <a:spcPts val="0"/>
                        </a:spcBef>
                        <a:spcAft>
                          <a:spcPts val="0"/>
                        </a:spcAft>
                        <a:buNone/>
                      </a:pPr>
                      <a:r>
                        <a:rPr lang="en-US">
                          <a:solidFill>
                            <a:schemeClr val="dk1"/>
                          </a:solidFill>
                          <a:latin typeface="Proxima Nova"/>
                          <a:ea typeface="Proxima Nova"/>
                          <a:cs typeface="Proxima Nova"/>
                          <a:sym typeface="Proxima Nova"/>
                        </a:rPr>
                        <a:t>(file)</a:t>
                      </a:r>
                      <a:endParaRPr>
                        <a:solidFill>
                          <a:schemeClr val="dk1"/>
                        </a:solidFill>
                        <a:latin typeface="Proxima Nova"/>
                        <a:ea typeface="Proxima Nova"/>
                        <a:cs typeface="Proxima Nova"/>
                        <a:sym typeface="Proxima Nova"/>
                      </a:endParaRPr>
                    </a:p>
                    <a:p>
                      <a:pPr indent="0" lvl="0" marL="0" rtl="0" algn="l">
                        <a:lnSpc>
                          <a:spcPct val="150000"/>
                        </a:lnSpc>
                        <a:spcBef>
                          <a:spcPts val="0"/>
                        </a:spcBef>
                        <a:spcAft>
                          <a:spcPts val="0"/>
                        </a:spcAft>
                        <a:buNone/>
                      </a:pPr>
                      <a:r>
                        <a:rPr lang="en-US">
                          <a:solidFill>
                            <a:schemeClr val="dk1"/>
                          </a:solidFill>
                          <a:latin typeface="Proxima Nova"/>
                          <a:ea typeface="Proxima Nova"/>
                          <a:cs typeface="Proxima Nova"/>
                          <a:sym typeface="Proxima Nova"/>
                        </a:rPr>
                        <a:t>(file)</a:t>
                      </a:r>
                      <a:endParaRPr>
                        <a:solidFill>
                          <a:schemeClr val="dk1"/>
                        </a:solidFill>
                        <a:latin typeface="Proxima Nova"/>
                        <a:ea typeface="Proxima Nova"/>
                        <a:cs typeface="Proxima Nova"/>
                        <a:sym typeface="Proxima Nova"/>
                      </a:endParaRPr>
                    </a:p>
                    <a:p>
                      <a:pPr indent="0" lvl="0" marL="0" rtl="0" algn="l">
                        <a:lnSpc>
                          <a:spcPct val="150000"/>
                        </a:lnSpc>
                        <a:spcBef>
                          <a:spcPts val="0"/>
                        </a:spcBef>
                        <a:spcAft>
                          <a:spcPts val="0"/>
                        </a:spcAft>
                        <a:buNone/>
                      </a:pPr>
                      <a:r>
                        <a:rPr lang="en-US">
                          <a:solidFill>
                            <a:schemeClr val="dk1"/>
                          </a:solidFill>
                          <a:latin typeface="Proxima Nova"/>
                          <a:ea typeface="Proxima Nova"/>
                          <a:cs typeface="Proxima Nova"/>
                          <a:sym typeface="Proxima Nova"/>
                        </a:rPr>
                        <a:t>(file)</a:t>
                      </a:r>
                      <a:endParaRPr>
                        <a:solidFill>
                          <a:schemeClr val="dk1"/>
                        </a:solidFill>
                        <a:latin typeface="Proxima Nova"/>
                        <a:ea typeface="Proxima Nova"/>
                        <a:cs typeface="Proxima Nova"/>
                        <a:sym typeface="Proxima Nova"/>
                      </a:endParaRPr>
                    </a:p>
                  </a:txBody>
                  <a:tcPr marT="91425" marB="91425" marR="91425" marL="91425"/>
                </a:tc>
              </a:tr>
              <a:tr h="381000">
                <a:tc>
                  <a:txBody>
                    <a:bodyPr/>
                    <a:lstStyle/>
                    <a:p>
                      <a:pPr indent="0" lvl="0" marL="0" rtl="0" algn="l">
                        <a:lnSpc>
                          <a:spcPct val="150000"/>
                        </a:lnSpc>
                        <a:spcBef>
                          <a:spcPts val="0"/>
                        </a:spcBef>
                        <a:spcAft>
                          <a:spcPts val="0"/>
                        </a:spcAft>
                        <a:buNone/>
                      </a:pPr>
                      <a:r>
                        <a:rPr lang="en-US">
                          <a:solidFill>
                            <a:schemeClr val="dk1"/>
                          </a:solidFill>
                          <a:latin typeface="Roboto Mono Light"/>
                          <a:ea typeface="Roboto Mono Light"/>
                          <a:cs typeface="Roboto Mono Light"/>
                          <a:sym typeface="Roboto Mono Light"/>
                        </a:rPr>
                        <a:t>in_class_exercise/</a:t>
                      </a:r>
                      <a:endParaRPr>
                        <a:solidFill>
                          <a:schemeClr val="dk1"/>
                        </a:solidFill>
                        <a:latin typeface="Roboto Mono Light"/>
                        <a:ea typeface="Roboto Mono Light"/>
                        <a:cs typeface="Roboto Mono Light"/>
                        <a:sym typeface="Roboto Mono Light"/>
                      </a:endParaRPr>
                    </a:p>
                    <a:p>
                      <a:pPr indent="0" lvl="0" marL="0" rtl="0" algn="l">
                        <a:lnSpc>
                          <a:spcPct val="150000"/>
                        </a:lnSpc>
                        <a:spcBef>
                          <a:spcPts val="0"/>
                        </a:spcBef>
                        <a:spcAft>
                          <a:spcPts val="0"/>
                        </a:spcAft>
                        <a:buClr>
                          <a:schemeClr val="dk1"/>
                        </a:buClr>
                        <a:buSzPts val="1100"/>
                        <a:buFont typeface="Arial"/>
                        <a:buNone/>
                      </a:pPr>
                      <a:r>
                        <a:rPr lang="en-US">
                          <a:solidFill>
                            <a:schemeClr val="dk1"/>
                          </a:solidFill>
                          <a:latin typeface="Roboto Mono Light"/>
                          <a:ea typeface="Roboto Mono Light"/>
                          <a:cs typeface="Roboto Mono Light"/>
                          <a:sym typeface="Roboto Mono Light"/>
                        </a:rPr>
                        <a:t>    </a:t>
                      </a:r>
                      <a:r>
                        <a:rPr lang="en-US">
                          <a:solidFill>
                            <a:schemeClr val="dk1"/>
                          </a:solidFill>
                          <a:latin typeface="Roboto Mono Light"/>
                          <a:ea typeface="Roboto Mono Light"/>
                          <a:cs typeface="Roboto Mono Light"/>
                          <a:sym typeface="Roboto Mono Light"/>
                        </a:rPr>
                        <a:t>fish/</a:t>
                      </a:r>
                      <a:endParaRPr>
                        <a:solidFill>
                          <a:schemeClr val="dk1"/>
                        </a:solidFill>
                        <a:latin typeface="Roboto Mono Light"/>
                        <a:ea typeface="Roboto Mono Light"/>
                        <a:cs typeface="Roboto Mono Light"/>
                        <a:sym typeface="Roboto Mono Light"/>
                      </a:endParaRPr>
                    </a:p>
                    <a:p>
                      <a:pPr indent="0" lvl="0" marL="0" rtl="0" algn="l">
                        <a:lnSpc>
                          <a:spcPct val="150000"/>
                        </a:lnSpc>
                        <a:spcBef>
                          <a:spcPts val="0"/>
                        </a:spcBef>
                        <a:spcAft>
                          <a:spcPts val="0"/>
                        </a:spcAft>
                        <a:buClr>
                          <a:schemeClr val="dk1"/>
                        </a:buClr>
                        <a:buSzPts val="1100"/>
                        <a:buFont typeface="Arial"/>
                        <a:buNone/>
                      </a:pPr>
                      <a:r>
                        <a:rPr lang="en-US">
                          <a:solidFill>
                            <a:schemeClr val="dk1"/>
                          </a:solidFill>
                          <a:latin typeface="Roboto Mono Light"/>
                          <a:ea typeface="Roboto Mono Light"/>
                          <a:cs typeface="Roboto Mono Light"/>
                          <a:sym typeface="Roboto Mono Light"/>
                        </a:rPr>
                        <a:t>        </a:t>
                      </a:r>
                      <a:r>
                        <a:rPr b="1" lang="en-US">
                          <a:solidFill>
                            <a:schemeClr val="dk1"/>
                          </a:solidFill>
                          <a:latin typeface="Roboto Mono"/>
                          <a:ea typeface="Roboto Mono"/>
                          <a:cs typeface="Roboto Mono"/>
                          <a:sym typeface="Roboto Mono"/>
                        </a:rPr>
                        <a:t>__init__.py</a:t>
                      </a:r>
                      <a:endParaRPr b="1">
                        <a:solidFill>
                          <a:schemeClr val="dk1"/>
                        </a:solidFill>
                        <a:latin typeface="Roboto Mono"/>
                        <a:ea typeface="Roboto Mono"/>
                        <a:cs typeface="Roboto Mono"/>
                        <a:sym typeface="Roboto Mono"/>
                      </a:endParaRPr>
                    </a:p>
                    <a:p>
                      <a:pPr indent="0" lvl="0" marL="0" rtl="0" algn="l">
                        <a:lnSpc>
                          <a:spcPct val="150000"/>
                        </a:lnSpc>
                        <a:spcBef>
                          <a:spcPts val="0"/>
                        </a:spcBef>
                        <a:spcAft>
                          <a:spcPts val="0"/>
                        </a:spcAft>
                        <a:buNone/>
                      </a:pPr>
                      <a:r>
                        <a:rPr lang="en-US">
                          <a:solidFill>
                            <a:schemeClr val="dk1"/>
                          </a:solidFill>
                          <a:latin typeface="Roboto Mono Light"/>
                          <a:ea typeface="Roboto Mono Light"/>
                          <a:cs typeface="Roboto Mono Light"/>
                          <a:sym typeface="Roboto Mono Light"/>
                        </a:rPr>
                        <a:t>        Fish.py</a:t>
                      </a:r>
                      <a:endParaRPr>
                        <a:solidFill>
                          <a:schemeClr val="dk1"/>
                        </a:solidFill>
                        <a:latin typeface="Roboto Mono Light"/>
                        <a:ea typeface="Roboto Mono Light"/>
                        <a:cs typeface="Roboto Mono Light"/>
                        <a:sym typeface="Roboto Mono Light"/>
                      </a:endParaRPr>
                    </a:p>
                    <a:p>
                      <a:pPr indent="0" lvl="0" marL="0" rtl="0" algn="l">
                        <a:lnSpc>
                          <a:spcPct val="150000"/>
                        </a:lnSpc>
                        <a:spcBef>
                          <a:spcPts val="0"/>
                        </a:spcBef>
                        <a:spcAft>
                          <a:spcPts val="0"/>
                        </a:spcAft>
                        <a:buNone/>
                      </a:pPr>
                      <a:r>
                        <a:rPr lang="en-US">
                          <a:solidFill>
                            <a:schemeClr val="dk1"/>
                          </a:solidFill>
                          <a:latin typeface="Roboto Mono Light"/>
                          <a:ea typeface="Roboto Mono Light"/>
                          <a:cs typeface="Roboto Mono Light"/>
                          <a:sym typeface="Roboto Mono Light"/>
                        </a:rPr>
                        <a:t>    main.py</a:t>
                      </a:r>
                      <a:endParaRPr>
                        <a:latin typeface="Roboto Mono Light"/>
                        <a:ea typeface="Roboto Mono Light"/>
                        <a:cs typeface="Roboto Mono Light"/>
                        <a:sym typeface="Roboto Mono Light"/>
                      </a:endParaRPr>
                    </a:p>
                  </a:txBody>
                  <a:tcPr marT="91425" marB="91425" marR="91425" marL="91425"/>
                </a:tc>
                <a:tc>
                  <a:txBody>
                    <a:bodyPr/>
                    <a:lstStyle/>
                    <a:p>
                      <a:pPr indent="0" lvl="0" marL="0" rtl="0" algn="l">
                        <a:lnSpc>
                          <a:spcPct val="150000"/>
                        </a:lnSpc>
                        <a:spcBef>
                          <a:spcPts val="0"/>
                        </a:spcBef>
                        <a:spcAft>
                          <a:spcPts val="0"/>
                        </a:spcAft>
                        <a:buClr>
                          <a:schemeClr val="dk1"/>
                        </a:buClr>
                        <a:buSzPts val="1100"/>
                        <a:buFont typeface="Arial"/>
                        <a:buNone/>
                      </a:pPr>
                      <a:r>
                        <a:rPr lang="en-US">
                          <a:solidFill>
                            <a:schemeClr val="dk1"/>
                          </a:solidFill>
                          <a:latin typeface="Proxima Nova"/>
                          <a:ea typeface="Proxima Nova"/>
                          <a:cs typeface="Proxima Nova"/>
                          <a:sym typeface="Proxima Nova"/>
                        </a:rPr>
                        <a:t>(directory)</a:t>
                      </a:r>
                      <a:endParaRPr>
                        <a:solidFill>
                          <a:schemeClr val="dk1"/>
                        </a:solidFill>
                        <a:latin typeface="Proxima Nova"/>
                        <a:ea typeface="Proxima Nova"/>
                        <a:cs typeface="Proxima Nova"/>
                        <a:sym typeface="Proxima Nova"/>
                      </a:endParaRPr>
                    </a:p>
                    <a:p>
                      <a:pPr indent="0" lvl="0" marL="0" rtl="0" algn="l">
                        <a:lnSpc>
                          <a:spcPct val="150000"/>
                        </a:lnSpc>
                        <a:spcBef>
                          <a:spcPts val="0"/>
                        </a:spcBef>
                        <a:spcAft>
                          <a:spcPts val="0"/>
                        </a:spcAft>
                        <a:buClr>
                          <a:schemeClr val="dk1"/>
                        </a:buClr>
                        <a:buSzPts val="1100"/>
                        <a:buFont typeface="Arial"/>
                        <a:buNone/>
                      </a:pPr>
                      <a:r>
                        <a:rPr lang="en-US">
                          <a:solidFill>
                            <a:schemeClr val="dk1"/>
                          </a:solidFill>
                          <a:latin typeface="Proxima Nova"/>
                          <a:ea typeface="Proxima Nova"/>
                          <a:cs typeface="Proxima Nova"/>
                          <a:sym typeface="Proxima Nova"/>
                        </a:rPr>
                        <a:t>(directory)</a:t>
                      </a:r>
                      <a:endParaRPr>
                        <a:solidFill>
                          <a:schemeClr val="dk1"/>
                        </a:solidFill>
                        <a:latin typeface="Proxima Nova"/>
                        <a:ea typeface="Proxima Nova"/>
                        <a:cs typeface="Proxima Nova"/>
                        <a:sym typeface="Proxima Nova"/>
                      </a:endParaRPr>
                    </a:p>
                    <a:p>
                      <a:pPr indent="0" lvl="0" marL="0" rtl="0" algn="l">
                        <a:lnSpc>
                          <a:spcPct val="150000"/>
                        </a:lnSpc>
                        <a:spcBef>
                          <a:spcPts val="0"/>
                        </a:spcBef>
                        <a:spcAft>
                          <a:spcPts val="0"/>
                        </a:spcAft>
                        <a:buClr>
                          <a:schemeClr val="dk1"/>
                        </a:buClr>
                        <a:buSzPts val="1100"/>
                        <a:buFont typeface="Arial"/>
                        <a:buNone/>
                      </a:pPr>
                      <a:r>
                        <a:rPr lang="en-US">
                          <a:solidFill>
                            <a:schemeClr val="dk1"/>
                          </a:solidFill>
                          <a:latin typeface="Proxima Nova"/>
                          <a:ea typeface="Proxima Nova"/>
                          <a:cs typeface="Proxima Nova"/>
                          <a:sym typeface="Proxima Nova"/>
                        </a:rPr>
                        <a:t>(file)</a:t>
                      </a:r>
                      <a:endParaRPr>
                        <a:solidFill>
                          <a:schemeClr val="dk1"/>
                        </a:solidFill>
                        <a:latin typeface="Proxima Nova"/>
                        <a:ea typeface="Proxima Nova"/>
                        <a:cs typeface="Proxima Nova"/>
                        <a:sym typeface="Proxima Nova"/>
                      </a:endParaRPr>
                    </a:p>
                    <a:p>
                      <a:pPr indent="0" lvl="0" marL="0" rtl="0" algn="l">
                        <a:lnSpc>
                          <a:spcPct val="150000"/>
                        </a:lnSpc>
                        <a:spcBef>
                          <a:spcPts val="0"/>
                        </a:spcBef>
                        <a:spcAft>
                          <a:spcPts val="0"/>
                        </a:spcAft>
                        <a:buClr>
                          <a:schemeClr val="dk1"/>
                        </a:buClr>
                        <a:buSzPts val="1100"/>
                        <a:buFont typeface="Arial"/>
                        <a:buNone/>
                      </a:pPr>
                      <a:r>
                        <a:rPr lang="en-US">
                          <a:solidFill>
                            <a:schemeClr val="dk1"/>
                          </a:solidFill>
                          <a:latin typeface="Proxima Nova"/>
                          <a:ea typeface="Proxima Nova"/>
                          <a:cs typeface="Proxima Nova"/>
                          <a:sym typeface="Proxima Nova"/>
                        </a:rPr>
                        <a:t>(file)</a:t>
                      </a:r>
                      <a:endParaRPr>
                        <a:solidFill>
                          <a:schemeClr val="dk1"/>
                        </a:solidFill>
                        <a:latin typeface="Proxima Nova"/>
                        <a:ea typeface="Proxima Nova"/>
                        <a:cs typeface="Proxima Nova"/>
                        <a:sym typeface="Proxima Nova"/>
                      </a:endParaRPr>
                    </a:p>
                    <a:p>
                      <a:pPr indent="0" lvl="0" marL="0" rtl="0" algn="l">
                        <a:lnSpc>
                          <a:spcPct val="150000"/>
                        </a:lnSpc>
                        <a:spcBef>
                          <a:spcPts val="0"/>
                        </a:spcBef>
                        <a:spcAft>
                          <a:spcPts val="0"/>
                        </a:spcAft>
                        <a:buClr>
                          <a:schemeClr val="dk1"/>
                        </a:buClr>
                        <a:buSzPts val="1100"/>
                        <a:buFont typeface="Arial"/>
                        <a:buNone/>
                      </a:pPr>
                      <a:r>
                        <a:rPr lang="en-US">
                          <a:solidFill>
                            <a:schemeClr val="dk1"/>
                          </a:solidFill>
                          <a:latin typeface="Proxima Nova"/>
                          <a:ea typeface="Proxima Nova"/>
                          <a:cs typeface="Proxima Nova"/>
                          <a:sym typeface="Proxima Nova"/>
                        </a:rPr>
                        <a:t>(file)</a:t>
                      </a:r>
                      <a:endParaRPr>
                        <a:latin typeface="Proxima Nova"/>
                        <a:ea typeface="Proxima Nova"/>
                        <a:cs typeface="Proxima Nova"/>
                        <a:sym typeface="Proxima Nova"/>
                      </a:endParaRPr>
                    </a:p>
                  </a:txBody>
                  <a:tcPr marT="91425" marB="91425" marR="91425" marL="91425"/>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rPr>
              <a:t>Imports: absolute vs relative</a:t>
            </a:r>
            <a:endParaRPr/>
          </a:p>
        </p:txBody>
      </p:sp>
      <p:sp>
        <p:nvSpPr>
          <p:cNvPr id="359" name="Google Shape;359;p4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60" name="Google Shape;360;p46"/>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An </a:t>
            </a:r>
            <a:r>
              <a:rPr b="1" lang="en-US">
                <a:solidFill>
                  <a:schemeClr val="dk1"/>
                </a:solidFill>
              </a:rPr>
              <a:t>absolute import</a:t>
            </a:r>
            <a:r>
              <a:rPr lang="en-US">
                <a:solidFill>
                  <a:schemeClr val="dk1"/>
                </a:solidFill>
              </a:rPr>
              <a:t> is from your </a:t>
            </a:r>
            <a:r>
              <a:rPr lang="en-US">
                <a:solidFill>
                  <a:schemeClr val="dk1"/>
                </a:solidFill>
                <a:latin typeface="Roboto Mono Light"/>
                <a:ea typeface="Roboto Mono Light"/>
                <a:cs typeface="Roboto Mono Light"/>
                <a:sym typeface="Roboto Mono Light"/>
              </a:rPr>
              <a:t>PYTHONPATH</a:t>
            </a:r>
            <a:r>
              <a:rPr lang="en-US">
                <a:solidFill>
                  <a:schemeClr val="dk1"/>
                </a:solidFill>
              </a:rPr>
              <a:t> - this is what you've seen before.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A </a:t>
            </a:r>
            <a:r>
              <a:rPr b="1" lang="en-US">
                <a:solidFill>
                  <a:schemeClr val="dk1"/>
                </a:solidFill>
              </a:rPr>
              <a:t>relative import</a:t>
            </a:r>
            <a:r>
              <a:rPr lang="en-US">
                <a:solidFill>
                  <a:schemeClr val="dk1"/>
                </a:solidFill>
              </a:rPr>
              <a:t>, however, imports from the the current directory. The important takeaway here is that </a:t>
            </a:r>
            <a:r>
              <a:rPr i="1" lang="en-US">
                <a:solidFill>
                  <a:schemeClr val="dk1"/>
                </a:solidFill>
              </a:rPr>
              <a:t>the main file - the one that runs directly - must always use absolute imports - and the other files should use relatives.</a:t>
            </a:r>
            <a:endParaRPr i="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For </a:t>
            </a:r>
            <a:r>
              <a:rPr i="1" lang="en-US">
                <a:solidFill>
                  <a:schemeClr val="dk1"/>
                </a:solidFill>
              </a:rPr>
              <a:t>relative</a:t>
            </a:r>
            <a:r>
              <a:rPr lang="en-US">
                <a:solidFill>
                  <a:schemeClr val="dk1"/>
                </a:solidFill>
              </a:rPr>
              <a:t> imports, remember your CLI training:</a:t>
            </a:r>
            <a:endParaRPr>
              <a:solidFill>
                <a:schemeClr val="dk1"/>
              </a:solidFill>
            </a:endParaRPr>
          </a:p>
          <a:p>
            <a:pPr indent="-330200" lvl="0" marL="457200" rtl="0" algn="l">
              <a:spcBef>
                <a:spcPts val="0"/>
              </a:spcBef>
              <a:spcAft>
                <a:spcPts val="0"/>
              </a:spcAft>
              <a:buClr>
                <a:schemeClr val="dk1"/>
              </a:buClr>
              <a:buSzPts val="1600"/>
              <a:buChar char="•"/>
            </a:pPr>
            <a:r>
              <a:rPr b="1" lang="en-US">
                <a:solidFill>
                  <a:schemeClr val="dk1"/>
                </a:solidFill>
                <a:latin typeface="Courier New"/>
                <a:ea typeface="Courier New"/>
                <a:cs typeface="Courier New"/>
                <a:sym typeface="Courier New"/>
              </a:rPr>
              <a:t>.</a:t>
            </a:r>
            <a:r>
              <a:rPr lang="en-US">
                <a:solidFill>
                  <a:schemeClr val="dk1"/>
                </a:solidFill>
              </a:rPr>
              <a:t> is the current directory</a:t>
            </a:r>
            <a:endParaRPr>
              <a:solidFill>
                <a:schemeClr val="dk1"/>
              </a:solidFill>
            </a:endParaRPr>
          </a:p>
          <a:p>
            <a:pPr indent="-330200" lvl="0" marL="457200" rtl="0" algn="l">
              <a:spcBef>
                <a:spcPts val="0"/>
              </a:spcBef>
              <a:spcAft>
                <a:spcPts val="0"/>
              </a:spcAft>
              <a:buClr>
                <a:schemeClr val="dk1"/>
              </a:buClr>
              <a:buSzPts val="1600"/>
              <a:buChar char="•"/>
            </a:pPr>
            <a:r>
              <a:rPr b="1" lang="en-US">
                <a:solidFill>
                  <a:schemeClr val="dk1"/>
                </a:solidFill>
                <a:latin typeface="Courier New"/>
                <a:ea typeface="Courier New"/>
                <a:cs typeface="Courier New"/>
                <a:sym typeface="Courier New"/>
              </a:rPr>
              <a:t>..</a:t>
            </a:r>
            <a:r>
              <a:rPr lang="en-US">
                <a:solidFill>
                  <a:schemeClr val="dk1"/>
                </a:solidFill>
              </a:rPr>
              <a:t> is the parent directory</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Imports: context</a:t>
            </a:r>
            <a:endParaRPr/>
          </a:p>
        </p:txBody>
      </p:sp>
      <p:sp>
        <p:nvSpPr>
          <p:cNvPr id="367" name="Google Shape;367;p4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68" name="Google Shape;368;p47"/>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500"/>
              <a:t>U</a:t>
            </a:r>
            <a:r>
              <a:rPr lang="en-US" sz="1500"/>
              <a:t>se </a:t>
            </a:r>
            <a:r>
              <a:rPr b="1" lang="en-US" sz="1500"/>
              <a:t>relative</a:t>
            </a:r>
            <a:r>
              <a:rPr lang="en-US" sz="1500"/>
              <a:t> importing within your package to refer to other modules/files inside the same package to increase portability (package does not need to know where it is in relation to your </a:t>
            </a:r>
            <a:r>
              <a:rPr lang="en-US" sz="1500">
                <a:solidFill>
                  <a:schemeClr val="dk1"/>
                </a:solidFill>
                <a:latin typeface="Roboto Mono Light"/>
                <a:ea typeface="Roboto Mono Light"/>
                <a:cs typeface="Roboto Mono Light"/>
                <a:sym typeface="Roboto Mono Light"/>
              </a:rPr>
              <a:t>PYTHONPATH</a:t>
            </a:r>
            <a:r>
              <a:rPr lang="en-US" sz="1500"/>
              <a:t>).</a:t>
            </a:r>
            <a:endParaRPr sz="1500"/>
          </a:p>
          <a:p>
            <a:pPr indent="0" lvl="0" marL="0" rtl="0" algn="l">
              <a:spcBef>
                <a:spcPts val="0"/>
              </a:spcBef>
              <a:spcAft>
                <a:spcPts val="0"/>
              </a:spcAft>
              <a:buClr>
                <a:schemeClr val="dk1"/>
              </a:buClr>
              <a:buSzPts val="1100"/>
              <a:buFont typeface="Arial"/>
              <a:buNone/>
            </a:pPr>
            <a:r>
              <a:t/>
            </a:r>
            <a:endParaRPr sz="1500"/>
          </a:p>
          <a:p>
            <a:pPr indent="0" lvl="0" marL="0" rtl="0" algn="l">
              <a:spcBef>
                <a:spcPts val="0"/>
              </a:spcBef>
              <a:spcAft>
                <a:spcPts val="0"/>
              </a:spcAft>
              <a:buNone/>
            </a:pPr>
            <a:r>
              <a:rPr lang="en-US" sz="1500"/>
              <a:t>Use </a:t>
            </a:r>
            <a:r>
              <a:rPr b="1" lang="en-US" sz="1500"/>
              <a:t>absolute</a:t>
            </a:r>
            <a:r>
              <a:rPr lang="en-US" sz="1500"/>
              <a:t> importing within your </a:t>
            </a:r>
            <a:r>
              <a:rPr lang="en-US" sz="1500">
                <a:solidFill>
                  <a:schemeClr val="dk1"/>
                </a:solidFill>
                <a:latin typeface="Roboto Mono Light"/>
                <a:ea typeface="Roboto Mono Light"/>
                <a:cs typeface="Roboto Mono Light"/>
                <a:sym typeface="Roboto Mono Light"/>
              </a:rPr>
              <a:t>main.py</a:t>
            </a:r>
            <a:r>
              <a:rPr lang="en-US" sz="1500"/>
              <a:t> file (file with your name in our course format) since </a:t>
            </a:r>
            <a:r>
              <a:rPr lang="en-US" sz="1500">
                <a:solidFill>
                  <a:schemeClr val="dk1"/>
                </a:solidFill>
                <a:latin typeface="Roboto Mono Light"/>
                <a:ea typeface="Roboto Mono Light"/>
                <a:cs typeface="Roboto Mono Light"/>
                <a:sym typeface="Roboto Mono Light"/>
              </a:rPr>
              <a:t>__name__ == "__main__"</a:t>
            </a:r>
            <a:r>
              <a:rPr lang="en-US" sz="1500"/>
              <a:t> in a main file runs directly.</a:t>
            </a:r>
            <a:endParaRPr sz="1500"/>
          </a:p>
        </p:txBody>
      </p:sp>
      <p:sp>
        <p:nvSpPr>
          <p:cNvPr id="369" name="Google Shape;369;p47"/>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US" sz="1200"/>
              <a:t>Relative Import </a:t>
            </a:r>
            <a:r>
              <a:rPr b="1" lang="en-US" sz="1200">
                <a:solidFill>
                  <a:srgbClr val="6AA84F"/>
                </a:solidFill>
              </a:rPr>
              <a:t>(do this in your modules, </a:t>
            </a:r>
            <a:r>
              <a:rPr b="1" lang="en-US" sz="1200">
                <a:solidFill>
                  <a:srgbClr val="FF0000"/>
                </a:solidFill>
              </a:rPr>
              <a:t>not main.py)</a:t>
            </a:r>
            <a:r>
              <a:rPr lang="en-US" sz="1200">
                <a:solidFill>
                  <a:schemeClr val="dk1"/>
                </a:solidFill>
              </a:rPr>
              <a:t>:</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457200" rtl="0" algn="l">
              <a:spcBef>
                <a:spcPts val="0"/>
              </a:spcBef>
              <a:spcAft>
                <a:spcPts val="0"/>
              </a:spcAft>
              <a:buNone/>
            </a:pPr>
            <a:r>
              <a:rPr lang="en-US" sz="1200">
                <a:solidFill>
                  <a:schemeClr val="dk1"/>
                </a:solidFill>
                <a:latin typeface="Roboto Mono Light"/>
                <a:ea typeface="Roboto Mono Light"/>
                <a:cs typeface="Roboto Mono Light"/>
                <a:sym typeface="Roboto Mono Light"/>
              </a:rPr>
              <a:t># In Parrot</a:t>
            </a:r>
            <a:endParaRPr sz="12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from ..Animal import Animal</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None/>
            </a:pPr>
            <a:r>
              <a:rPr lang="en-US" sz="1200"/>
              <a:t>Absolute Import </a:t>
            </a:r>
            <a:r>
              <a:rPr b="1" lang="en-US" sz="1200">
                <a:solidFill>
                  <a:srgbClr val="6AA84F"/>
                </a:solidFill>
              </a:rPr>
              <a:t>(do this in main.py)</a:t>
            </a:r>
            <a:r>
              <a:rPr lang="en-US" sz="1200">
                <a:solidFill>
                  <a:schemeClr val="dk1"/>
                </a:solidFill>
              </a:rPr>
              <a:t>:</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457200" lvl="0" marL="0" rtl="0" algn="l">
              <a:spcBef>
                <a:spcPts val="0"/>
              </a:spcBef>
              <a:spcAft>
                <a:spcPts val="0"/>
              </a:spcAft>
              <a:buNone/>
            </a:pPr>
            <a:r>
              <a:rPr lang="en-US" sz="1200">
                <a:solidFill>
                  <a:schemeClr val="dk1"/>
                </a:solidFill>
                <a:latin typeface="Roboto Mono Light"/>
                <a:ea typeface="Roboto Mono Light"/>
                <a:cs typeface="Roboto Mono Light"/>
                <a:sym typeface="Roboto Mono Light"/>
              </a:rPr>
              <a:t># in main.py</a:t>
            </a:r>
            <a:endParaRPr sz="12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1200">
                <a:latin typeface="Roboto Mono Light"/>
                <a:ea typeface="Roboto Mono Light"/>
                <a:cs typeface="Roboto Mono Light"/>
                <a:sym typeface="Roboto Mono Light"/>
              </a:rPr>
              <a:t>import Animals as anim</a:t>
            </a:r>
            <a:endParaRPr sz="1200">
              <a:latin typeface="Roboto Mono Light"/>
              <a:ea typeface="Roboto Mono Light"/>
              <a:cs typeface="Roboto Mono Light"/>
              <a:sym typeface="Roboto Mono Light"/>
            </a:endParaRPr>
          </a:p>
        </p:txBody>
      </p:sp>
      <p:pic>
        <p:nvPicPr>
          <p:cNvPr id="370" name="Google Shape;370;p47"/>
          <p:cNvPicPr preferRelativeResize="0"/>
          <p:nvPr/>
        </p:nvPicPr>
        <p:blipFill rotWithShape="1">
          <a:blip r:embed="rId3">
            <a:alphaModFix/>
          </a:blip>
          <a:srcRect b="0" l="0" r="0" t="10563"/>
          <a:stretch/>
        </p:blipFill>
        <p:spPr>
          <a:xfrm>
            <a:off x="5932175" y="389200"/>
            <a:ext cx="1638875" cy="14189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Packages: </a:t>
            </a:r>
            <a:r>
              <a:rPr lang="en-US">
                <a:latin typeface="Roboto Mono"/>
                <a:ea typeface="Roboto Mono"/>
                <a:cs typeface="Roboto Mono"/>
                <a:sym typeface="Roboto Mono"/>
              </a:rPr>
              <a:t>__init__.py</a:t>
            </a:r>
            <a:r>
              <a:rPr lang="en-US"/>
              <a:t> code</a:t>
            </a:r>
            <a:endParaRPr/>
          </a:p>
        </p:txBody>
      </p:sp>
      <p:sp>
        <p:nvSpPr>
          <p:cNvPr id="377" name="Google Shape;377;p4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78" name="Google Shape;378;p48"/>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Inside of </a:t>
            </a:r>
            <a:r>
              <a:rPr lang="en-US" sz="1400">
                <a:latin typeface="Roboto Mono Light"/>
                <a:ea typeface="Roboto Mono Light"/>
                <a:cs typeface="Roboto Mono Light"/>
                <a:sym typeface="Roboto Mono Light"/>
              </a:rPr>
              <a:t>__init__.py</a:t>
            </a:r>
            <a:r>
              <a:rPr lang="en-US" sz="1400"/>
              <a:t>, you will place any code which is </a:t>
            </a:r>
            <a:r>
              <a:rPr lang="en-US" sz="1400"/>
              <a:t>related</a:t>
            </a:r>
            <a:r>
              <a:rPr lang="en-US" sz="1400"/>
              <a:t> to constructing the package. What this usually means in practice is </a:t>
            </a:r>
            <a:r>
              <a:rPr i="1" lang="en-US" sz="1400"/>
              <a:t>importing</a:t>
            </a:r>
            <a:r>
              <a:rPr lang="en-US" sz="1400"/>
              <a:t> any modules you would like. When the package itself is imported in another script. </a:t>
            </a:r>
            <a:r>
              <a:rPr lang="en-US" sz="1400">
                <a:latin typeface="Roboto Mono Light"/>
                <a:ea typeface="Roboto Mono Light"/>
                <a:cs typeface="Roboto Mono Light"/>
                <a:sym typeface="Roboto Mono Light"/>
              </a:rPr>
              <a:t>__init__.py</a:t>
            </a:r>
            <a:r>
              <a:rPr lang="en-US" sz="1400"/>
              <a:t> is automatically run (it </a:t>
            </a:r>
            <a:r>
              <a:rPr i="1" lang="en-US" sz="1400"/>
              <a:t>is</a:t>
            </a:r>
            <a:r>
              <a:rPr lang="en-US" sz="1400"/>
              <a:t> a dunder, after all!).</a:t>
            </a:r>
            <a:endParaRPr sz="1400"/>
          </a:p>
          <a:p>
            <a:pPr indent="0" lvl="0" marL="0" rtl="0" algn="l">
              <a:spcBef>
                <a:spcPts val="0"/>
              </a:spcBef>
              <a:spcAft>
                <a:spcPts val="0"/>
              </a:spcAft>
              <a:buNone/>
            </a:pPr>
            <a:r>
              <a:t/>
            </a:r>
            <a:endParaRPr sz="1400"/>
          </a:p>
          <a:p>
            <a:pPr indent="0" lvl="0" marL="0" rtl="0" algn="l">
              <a:spcBef>
                <a:spcPts val="0"/>
              </a:spcBef>
              <a:spcAft>
                <a:spcPts val="0"/>
              </a:spcAft>
              <a:buClr>
                <a:schemeClr val="dk1"/>
              </a:buClr>
              <a:buSzPts val="1100"/>
              <a:buFont typeface="Arial"/>
              <a:buNone/>
            </a:pPr>
            <a:r>
              <a:rPr b="1" lang="en-US" sz="1400">
                <a:solidFill>
                  <a:schemeClr val="dk1"/>
                </a:solidFill>
              </a:rPr>
              <a:t>Notice that to access a module inside of a package, you use the dot operator, which will navigate into the appropriate directory.</a:t>
            </a:r>
            <a:endParaRPr b="1" sz="1400"/>
          </a:p>
        </p:txBody>
      </p:sp>
      <p:sp>
        <p:nvSpPr>
          <p:cNvPr id="379" name="Google Shape;379;p48"/>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Roboto Mono Light"/>
                <a:ea typeface="Roboto Mono Light"/>
                <a:cs typeface="Roboto Mono Light"/>
                <a:sym typeface="Roboto Mono Light"/>
              </a:rPr>
              <a:t># __init__.py file</a:t>
            </a:r>
            <a:endParaRPr>
              <a:latin typeface="Roboto Mono Light"/>
              <a:ea typeface="Roboto Mono Light"/>
              <a:cs typeface="Roboto Mono Light"/>
              <a:sym typeface="Roboto Mono Light"/>
            </a:endParaRPr>
          </a:p>
          <a:p>
            <a:pPr indent="0" lvl="0" marL="0" rtl="0" algn="l">
              <a:spcBef>
                <a:spcPts val="0"/>
              </a:spcBef>
              <a:spcAft>
                <a:spcPts val="0"/>
              </a:spcAft>
              <a:buNone/>
            </a:pPr>
            <a:r>
              <a:t/>
            </a:r>
            <a:endParaRPr>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a:latin typeface="Roboto Mono Light"/>
                <a:ea typeface="Roboto Mono Light"/>
                <a:cs typeface="Roboto Mono Light"/>
                <a:sym typeface="Roboto Mono Light"/>
              </a:rPr>
              <a:t>from fish.Fish import Red, Blue</a:t>
            </a:r>
            <a:endParaRPr>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a:latin typeface="Roboto Mono Light"/>
                <a:ea typeface="Roboto Mono Light"/>
                <a:cs typeface="Roboto Mono Light"/>
                <a:sym typeface="Roboto Mono Light"/>
              </a:rPr>
              <a:t>if __name__ == '__main__':</a:t>
            </a:r>
            <a:endParaRPr>
              <a:latin typeface="Roboto Mono Light"/>
              <a:ea typeface="Roboto Mono Light"/>
              <a:cs typeface="Roboto Mono Light"/>
              <a:sym typeface="Roboto Mono Light"/>
            </a:endParaRPr>
          </a:p>
          <a:p>
            <a:pPr indent="0" lvl="0" marL="457200" rtl="0" algn="l">
              <a:spcBef>
                <a:spcPts val="0"/>
              </a:spcBef>
              <a:spcAft>
                <a:spcPts val="0"/>
              </a:spcAft>
              <a:buNone/>
            </a:pPr>
            <a:r>
              <a:rPr lang="en-US">
                <a:latin typeface="Roboto Mono Light"/>
                <a:ea typeface="Roboto Mono Light"/>
                <a:cs typeface="Roboto Mono Light"/>
                <a:sym typeface="Roboto Mono Light"/>
              </a:rPr>
              <a:t>print('This is the fish package __init__ file. Why are you running it?')</a:t>
            </a:r>
            <a:endParaRPr>
              <a:latin typeface="Roboto Mono Light"/>
              <a:ea typeface="Roboto Mono Light"/>
              <a:cs typeface="Roboto Mono Light"/>
              <a:sym typeface="Roboto Mono Light"/>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Packages: main.py rewrite</a:t>
            </a:r>
            <a:endParaRPr/>
          </a:p>
        </p:txBody>
      </p:sp>
      <p:sp>
        <p:nvSpPr>
          <p:cNvPr id="386" name="Google Shape;386;p4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87" name="Google Shape;387;p49"/>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only other thing to do is adjust how the (now) package is imported. In the codebase where you were originally using it, just change the </a:t>
            </a:r>
            <a:r>
              <a:rPr lang="en-US">
                <a:latin typeface="Roboto Mono Light"/>
                <a:ea typeface="Roboto Mono Light"/>
                <a:cs typeface="Roboto Mono Light"/>
                <a:sym typeface="Roboto Mono Light"/>
              </a:rPr>
              <a:t>import</a:t>
            </a:r>
            <a:r>
              <a:rPr lang="en-US"/>
              <a:t> statement to reflect the new structure.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(Note: you can just import fish, but then you'd have to access the individual module functionality with quite a few dots.)</a:t>
            </a:r>
            <a:endParaRPr/>
          </a:p>
        </p:txBody>
      </p:sp>
      <p:sp>
        <p:nvSpPr>
          <p:cNvPr id="388" name="Google Shape;388;p49"/>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Roboto Mono Light"/>
                <a:ea typeface="Roboto Mono Light"/>
                <a:cs typeface="Roboto Mono Light"/>
                <a:sym typeface="Roboto Mono Light"/>
              </a:rPr>
              <a:t># main.py file</a:t>
            </a:r>
            <a:endParaRPr sz="1200">
              <a:latin typeface="Roboto Mono Light"/>
              <a:ea typeface="Roboto Mono Light"/>
              <a:cs typeface="Roboto Mono Light"/>
              <a:sym typeface="Roboto Mono Light"/>
            </a:endParaRPr>
          </a:p>
          <a:p>
            <a:pPr indent="0" lvl="0" marL="0" rtl="0" algn="l">
              <a:spcBef>
                <a:spcPts val="0"/>
              </a:spcBef>
              <a:spcAft>
                <a:spcPts val="0"/>
              </a:spcAft>
              <a:buNone/>
            </a:pPr>
            <a:r>
              <a:rPr b="1" lang="en-US" sz="1200">
                <a:latin typeface="Roboto Mono"/>
                <a:ea typeface="Roboto Mono"/>
                <a:cs typeface="Roboto Mono"/>
                <a:sym typeface="Roboto Mono"/>
              </a:rPr>
              <a:t>import fish as f</a:t>
            </a:r>
            <a:r>
              <a:rPr lang="en-US" sz="1200">
                <a:latin typeface="Roboto Mono Light"/>
                <a:ea typeface="Roboto Mono Light"/>
                <a:cs typeface="Roboto Mono Light"/>
                <a:sym typeface="Roboto Mono Light"/>
              </a:rPr>
              <a:t> # this calls __init__.py</a:t>
            </a:r>
            <a:endParaRPr sz="1200">
              <a:latin typeface="Roboto Mono Light"/>
              <a:ea typeface="Roboto Mono Light"/>
              <a:cs typeface="Roboto Mono Light"/>
              <a:sym typeface="Roboto Mono Light"/>
            </a:endParaRPr>
          </a:p>
          <a:p>
            <a:pPr indent="0" lvl="0" marL="0" rtl="0" algn="l">
              <a:spcBef>
                <a:spcPts val="0"/>
              </a:spcBef>
              <a:spcAft>
                <a:spcPts val="0"/>
              </a:spcAft>
              <a:buNone/>
            </a:pPr>
            <a:r>
              <a:rPr lang="en-US" sz="1200">
                <a:latin typeface="Roboto Mono Light"/>
                <a:ea typeface="Roboto Mono Light"/>
                <a:cs typeface="Roboto Mono Light"/>
                <a:sym typeface="Roboto Mono Light"/>
              </a:rPr>
              <a:t># Note the module name is not needed since it was imported in __init__.py</a:t>
            </a:r>
            <a:endParaRPr sz="1200">
              <a:latin typeface="Roboto Mono Light"/>
              <a:ea typeface="Roboto Mono Light"/>
              <a:cs typeface="Roboto Mono Light"/>
              <a:sym typeface="Roboto Mono Light"/>
            </a:endParaRPr>
          </a:p>
          <a:p>
            <a:pPr indent="0" lvl="0" marL="0" rtl="0" algn="l">
              <a:spcBef>
                <a:spcPts val="0"/>
              </a:spcBef>
              <a:spcAft>
                <a:spcPts val="0"/>
              </a:spcAft>
              <a:buNone/>
            </a:pPr>
            <a:r>
              <a:t/>
            </a:r>
            <a:endParaRPr sz="1200">
              <a:latin typeface="Roboto Mono Light"/>
              <a:ea typeface="Roboto Mono Light"/>
              <a:cs typeface="Roboto Mono Light"/>
              <a:sym typeface="Roboto Mono Light"/>
            </a:endParaRPr>
          </a:p>
          <a:p>
            <a:pPr indent="0" lvl="0" marL="0" rtl="0" algn="l">
              <a:spcBef>
                <a:spcPts val="0"/>
              </a:spcBef>
              <a:spcAft>
                <a:spcPts val="0"/>
              </a:spcAft>
              <a:buNone/>
            </a:pPr>
            <a:r>
              <a:rPr lang="en-US" sz="1200">
                <a:latin typeface="Roboto Mono Light"/>
                <a:ea typeface="Roboto Mono Light"/>
                <a:cs typeface="Roboto Mono Light"/>
                <a:sym typeface="Roboto Mono Light"/>
              </a:rPr>
              <a:t>def main():</a:t>
            </a:r>
            <a:endParaRPr sz="1200">
              <a:latin typeface="Roboto Mono Light"/>
              <a:ea typeface="Roboto Mono Light"/>
              <a:cs typeface="Roboto Mono Light"/>
              <a:sym typeface="Roboto Mono Light"/>
            </a:endParaRPr>
          </a:p>
          <a:p>
            <a:pPr indent="457200" lvl="0" marL="0" rtl="0" algn="l">
              <a:spcBef>
                <a:spcPts val="0"/>
              </a:spcBef>
              <a:spcAft>
                <a:spcPts val="0"/>
              </a:spcAft>
              <a:buNone/>
            </a:pPr>
            <a:r>
              <a:rPr lang="en-US" sz="1200">
                <a:latin typeface="Roboto Mono Light"/>
                <a:ea typeface="Roboto Mono Light"/>
                <a:cs typeface="Roboto Mono Light"/>
                <a:sym typeface="Roboto Mono Light"/>
              </a:rPr>
              <a:t># ...</a:t>
            </a:r>
            <a:endParaRPr sz="1200">
              <a:latin typeface="Roboto Mono Light"/>
              <a:ea typeface="Roboto Mono Light"/>
              <a:cs typeface="Roboto Mono Light"/>
              <a:sym typeface="Roboto Mono Light"/>
            </a:endParaRPr>
          </a:p>
          <a:p>
            <a:pPr indent="457200" lvl="0" marL="0" rtl="0" algn="l">
              <a:spcBef>
                <a:spcPts val="0"/>
              </a:spcBef>
              <a:spcAft>
                <a:spcPts val="0"/>
              </a:spcAft>
              <a:buNone/>
            </a:pPr>
            <a:r>
              <a:rPr lang="en-US" sz="1200">
                <a:latin typeface="Roboto Mono Light"/>
                <a:ea typeface="Roboto Mono Light"/>
                <a:cs typeface="Roboto Mono Light"/>
                <a:sym typeface="Roboto Mono Light"/>
              </a:rPr>
              <a:t>pez_rojo = </a:t>
            </a:r>
            <a:r>
              <a:rPr b="1" lang="en-US" sz="1200">
                <a:latin typeface="Roboto Mono"/>
                <a:ea typeface="Roboto Mono"/>
                <a:cs typeface="Roboto Mono"/>
                <a:sym typeface="Roboto Mono"/>
              </a:rPr>
              <a:t>f.Red</a:t>
            </a:r>
            <a:r>
              <a:rPr lang="en-US" sz="1200">
                <a:latin typeface="Roboto Mono Light"/>
                <a:ea typeface="Roboto Mono Light"/>
                <a:cs typeface="Roboto Mono Light"/>
                <a:sym typeface="Roboto Mono Light"/>
              </a:rPr>
              <a:t>('nemo')</a:t>
            </a:r>
            <a:endParaRPr sz="1200">
              <a:latin typeface="Roboto Mono Light"/>
              <a:ea typeface="Roboto Mono Light"/>
              <a:cs typeface="Roboto Mono Light"/>
              <a:sym typeface="Roboto Mono Light"/>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Summary of terms</a:t>
            </a:r>
            <a:endParaRPr/>
          </a:p>
        </p:txBody>
      </p:sp>
      <p:sp>
        <p:nvSpPr>
          <p:cNvPr id="395" name="Google Shape;395;p5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96" name="Google Shape;396;p5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00"/>
              <a:t>Terminology:</a:t>
            </a:r>
            <a:endParaRPr sz="1200"/>
          </a:p>
          <a:p>
            <a:pPr indent="-304800" lvl="0" marL="457200" rtl="0" algn="l">
              <a:spcBef>
                <a:spcPts val="0"/>
              </a:spcBef>
              <a:spcAft>
                <a:spcPts val="0"/>
              </a:spcAft>
              <a:buSzPts val="1200"/>
              <a:buChar char="•"/>
            </a:pPr>
            <a:r>
              <a:rPr lang="en-US" sz="1200"/>
              <a:t>modular programming</a:t>
            </a:r>
            <a:endParaRPr sz="1200"/>
          </a:p>
          <a:p>
            <a:pPr indent="-304800" lvl="0" marL="457200" rtl="0" algn="l">
              <a:spcBef>
                <a:spcPts val="0"/>
              </a:spcBef>
              <a:spcAft>
                <a:spcPts val="0"/>
              </a:spcAft>
              <a:buSzPts val="1200"/>
              <a:buChar char="•"/>
            </a:pPr>
            <a:r>
              <a:rPr lang="en-US" sz="1200"/>
              <a:t>module</a:t>
            </a:r>
            <a:endParaRPr sz="1200"/>
          </a:p>
          <a:p>
            <a:pPr indent="-304800" lvl="0" marL="457200" rtl="0" algn="l">
              <a:spcBef>
                <a:spcPts val="0"/>
              </a:spcBef>
              <a:spcAft>
                <a:spcPts val="0"/>
              </a:spcAft>
              <a:buSzPts val="1200"/>
              <a:buChar char="•"/>
            </a:pPr>
            <a:r>
              <a:rPr lang="en-US" sz="1200"/>
              <a:t>package</a:t>
            </a:r>
            <a:endParaRPr sz="1200"/>
          </a:p>
          <a:p>
            <a:pPr indent="-304800" lvl="0" marL="457200" rtl="0" algn="l">
              <a:spcBef>
                <a:spcPts val="0"/>
              </a:spcBef>
              <a:spcAft>
                <a:spcPts val="0"/>
              </a:spcAft>
              <a:buSzPts val="1200"/>
              <a:buChar char="•"/>
            </a:pPr>
            <a:r>
              <a:rPr lang="en-US" sz="1200"/>
              <a:t>dot operator</a:t>
            </a:r>
            <a:endParaRPr sz="1200"/>
          </a:p>
          <a:p>
            <a:pPr indent="-304800" lvl="0" marL="457200" rtl="0" algn="l">
              <a:spcBef>
                <a:spcPts val="0"/>
              </a:spcBef>
              <a:spcAft>
                <a:spcPts val="0"/>
              </a:spcAft>
              <a:buSzPts val="1200"/>
              <a:buChar char="•"/>
            </a:pPr>
            <a:r>
              <a:rPr lang="en-US" sz="1200"/>
              <a:t>dunder variable, dunder String, and dunder file</a:t>
            </a:r>
            <a:endParaRPr sz="1200"/>
          </a:p>
          <a:p>
            <a:pPr indent="-304800" lvl="0" marL="457200" rtl="0" algn="l">
              <a:spcBef>
                <a:spcPts val="0"/>
              </a:spcBef>
              <a:spcAft>
                <a:spcPts val="0"/>
              </a:spcAft>
              <a:buSzPts val="1200"/>
              <a:buChar char="•"/>
            </a:pPr>
            <a:r>
              <a:rPr lang="en-US" sz="1200"/>
              <a:t>unit testing</a:t>
            </a:r>
            <a:endParaRPr sz="1200"/>
          </a:p>
        </p:txBody>
      </p:sp>
      <p:sp>
        <p:nvSpPr>
          <p:cNvPr id="397" name="Google Shape;397;p50"/>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00"/>
              <a:t>Specific vocab/syntax:</a:t>
            </a:r>
            <a:endParaRPr sz="1200"/>
          </a:p>
          <a:p>
            <a:pPr indent="-304800" lvl="0" marL="457200" rtl="0" algn="l">
              <a:spcBef>
                <a:spcPts val="0"/>
              </a:spcBef>
              <a:spcAft>
                <a:spcPts val="0"/>
              </a:spcAft>
              <a:buSzPts val="1200"/>
              <a:buFont typeface="Courier New"/>
              <a:buChar char="•"/>
            </a:pPr>
            <a:r>
              <a:rPr lang="en-US" sz="1200">
                <a:latin typeface="Roboto Mono Light"/>
                <a:ea typeface="Roboto Mono Light"/>
                <a:cs typeface="Roboto Mono Light"/>
                <a:sym typeface="Roboto Mono Light"/>
              </a:rPr>
              <a:t>import</a:t>
            </a:r>
            <a:r>
              <a:rPr lang="en-US" sz="1200"/>
              <a:t>, as well as </a:t>
            </a:r>
            <a:r>
              <a:rPr lang="en-US" sz="1200">
                <a:latin typeface="Roboto Mono Light"/>
                <a:ea typeface="Roboto Mono Light"/>
                <a:cs typeface="Roboto Mono Light"/>
                <a:sym typeface="Roboto Mono Light"/>
              </a:rPr>
              <a:t>from</a:t>
            </a:r>
            <a:r>
              <a:rPr lang="en-US" sz="1200">
                <a:solidFill>
                  <a:schemeClr val="dk1"/>
                </a:solidFill>
              </a:rPr>
              <a:t> and </a:t>
            </a:r>
            <a:r>
              <a:rPr lang="en-US" sz="1200">
                <a:latin typeface="Roboto Mono Light"/>
                <a:ea typeface="Roboto Mono Light"/>
                <a:cs typeface="Roboto Mono Light"/>
                <a:sym typeface="Roboto Mono Light"/>
              </a:rPr>
              <a:t>as</a:t>
            </a:r>
            <a:endParaRPr sz="1200">
              <a:latin typeface="Courier New"/>
              <a:ea typeface="Courier New"/>
              <a:cs typeface="Courier New"/>
              <a:sym typeface="Courier New"/>
            </a:endParaRPr>
          </a:p>
          <a:p>
            <a:pPr indent="-304800" lvl="0" marL="457200" rtl="0" algn="l">
              <a:spcBef>
                <a:spcPts val="0"/>
              </a:spcBef>
              <a:spcAft>
                <a:spcPts val="0"/>
              </a:spcAft>
              <a:buSzPts val="1200"/>
              <a:buFont typeface="Roboto Mono Light"/>
              <a:buChar char="•"/>
            </a:pPr>
            <a:r>
              <a:rPr lang="en-US" sz="1200">
                <a:latin typeface="Roboto Mono Light"/>
                <a:ea typeface="Roboto Mono Light"/>
                <a:cs typeface="Roboto Mono Light"/>
                <a:sym typeface="Roboto Mono Light"/>
              </a:rPr>
              <a:t>PYTHONPATH</a:t>
            </a:r>
            <a:endParaRPr sz="1200">
              <a:latin typeface="Roboto Mono Light"/>
              <a:ea typeface="Roboto Mono Light"/>
              <a:cs typeface="Roboto Mono Light"/>
              <a:sym typeface="Roboto Mono Light"/>
            </a:endParaRPr>
          </a:p>
          <a:p>
            <a:pPr indent="-304800" lvl="0" marL="457200" rtl="0" algn="l">
              <a:spcBef>
                <a:spcPts val="0"/>
              </a:spcBef>
              <a:spcAft>
                <a:spcPts val="0"/>
              </a:spcAft>
              <a:buSzPts val="1200"/>
              <a:buFont typeface="Roboto Mono Light"/>
              <a:buChar char="•"/>
            </a:pPr>
            <a:r>
              <a:rPr lang="en-US" sz="1200">
                <a:latin typeface="Roboto Mono Light"/>
                <a:ea typeface="Roboto Mono Light"/>
                <a:cs typeface="Roboto Mono Light"/>
                <a:sym typeface="Roboto Mono Light"/>
              </a:rPr>
              <a:t>pip</a:t>
            </a:r>
            <a:endParaRPr sz="1200">
              <a:latin typeface="Roboto Mono Light"/>
              <a:ea typeface="Roboto Mono Light"/>
              <a:cs typeface="Roboto Mono Light"/>
              <a:sym typeface="Roboto Mono Light"/>
            </a:endParaRPr>
          </a:p>
          <a:p>
            <a:pPr indent="-304800" lvl="0" marL="457200" rtl="0" algn="l">
              <a:spcBef>
                <a:spcPts val="0"/>
              </a:spcBef>
              <a:spcAft>
                <a:spcPts val="0"/>
              </a:spcAft>
              <a:buSzPts val="1200"/>
              <a:buFont typeface="Roboto Mono Light"/>
              <a:buChar char="•"/>
            </a:pPr>
            <a:r>
              <a:rPr lang="en-US" sz="1200">
                <a:latin typeface="Roboto Mono Light"/>
                <a:ea typeface="Roboto Mono Light"/>
                <a:cs typeface="Roboto Mono Light"/>
                <a:sym typeface="Roboto Mono Light"/>
              </a:rPr>
              <a:t>__name__</a:t>
            </a:r>
            <a:endParaRPr sz="1200">
              <a:latin typeface="Roboto Mono Light"/>
              <a:ea typeface="Roboto Mono Light"/>
              <a:cs typeface="Roboto Mono Light"/>
              <a:sym typeface="Roboto Mono Light"/>
            </a:endParaRPr>
          </a:p>
          <a:p>
            <a:pPr indent="-304800" lvl="0" marL="457200" rtl="0" algn="l">
              <a:spcBef>
                <a:spcPts val="0"/>
              </a:spcBef>
              <a:spcAft>
                <a:spcPts val="0"/>
              </a:spcAft>
              <a:buSzPts val="1200"/>
              <a:buFont typeface="Roboto Mono Light"/>
              <a:buChar char="•"/>
            </a:pPr>
            <a:r>
              <a:rPr lang="en-US" sz="1200">
                <a:latin typeface="Roboto Mono Light"/>
                <a:ea typeface="Roboto Mono Light"/>
                <a:cs typeface="Roboto Mono Light"/>
                <a:sym typeface="Roboto Mono Light"/>
              </a:rPr>
              <a:t>'__main__'</a:t>
            </a:r>
            <a:endParaRPr sz="1200">
              <a:latin typeface="Roboto Mono Light"/>
              <a:ea typeface="Roboto Mono Light"/>
              <a:cs typeface="Roboto Mono Light"/>
              <a:sym typeface="Roboto Mono Light"/>
            </a:endParaRPr>
          </a:p>
          <a:p>
            <a:pPr indent="-304800" lvl="0" marL="457200" rtl="0" algn="l">
              <a:spcBef>
                <a:spcPts val="0"/>
              </a:spcBef>
              <a:spcAft>
                <a:spcPts val="0"/>
              </a:spcAft>
              <a:buSzPts val="1200"/>
              <a:buFont typeface="Roboto Mono Light"/>
              <a:buChar char="•"/>
            </a:pPr>
            <a:r>
              <a:rPr lang="en-US" sz="1200">
                <a:latin typeface="Roboto Mono Light"/>
                <a:ea typeface="Roboto Mono Light"/>
                <a:cs typeface="Roboto Mono Light"/>
                <a:sym typeface="Roboto Mono Light"/>
              </a:rPr>
              <a:t>__init__.py</a:t>
            </a:r>
            <a:endParaRPr sz="1200">
              <a:latin typeface="Roboto Mono Light"/>
              <a:ea typeface="Roboto Mono Light"/>
              <a:cs typeface="Roboto Mono Light"/>
              <a:sym typeface="Roboto Mono Light"/>
            </a:endParaRPr>
          </a:p>
          <a:p>
            <a:pPr indent="-304800" lvl="0" marL="457200" rtl="0" algn="l">
              <a:spcBef>
                <a:spcPts val="0"/>
              </a:spcBef>
              <a:spcAft>
                <a:spcPts val="0"/>
              </a:spcAft>
              <a:buSzPts val="1200"/>
              <a:buFont typeface="Roboto Mono Light"/>
              <a:buChar char="•"/>
            </a:pPr>
            <a:r>
              <a:rPr lang="en-US" sz="1200">
                <a:latin typeface="Roboto Mono Light"/>
                <a:ea typeface="Roboto Mono Light"/>
                <a:cs typeface="Roboto Mono Light"/>
                <a:sym typeface="Roboto Mono Light"/>
              </a:rPr>
              <a:t>pytest</a:t>
            </a:r>
            <a:endParaRPr sz="1200">
              <a:latin typeface="Roboto Mono Light"/>
              <a:ea typeface="Roboto Mono Light"/>
              <a:cs typeface="Roboto Mono Light"/>
              <a:sym typeface="Roboto Mono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USC Viterbi Theme Aldenderfer">
  <a:themeElements>
    <a:clrScheme name="Custom 1">
      <a:dk1>
        <a:srgbClr val="000000"/>
      </a:dk1>
      <a:lt1>
        <a:srgbClr val="FFFFFF"/>
      </a:lt1>
      <a:dk2>
        <a:srgbClr val="830000"/>
      </a:dk2>
      <a:lt2>
        <a:srgbClr val="999999"/>
      </a:lt2>
      <a:accent1>
        <a:srgbClr val="CCCCCC"/>
      </a:accent1>
      <a:accent2>
        <a:srgbClr val="FFCC00"/>
      </a:accent2>
      <a:accent3>
        <a:srgbClr val="FFFFFF"/>
      </a:accent3>
      <a:accent4>
        <a:srgbClr val="000000"/>
      </a:accent4>
      <a:accent5>
        <a:srgbClr val="D9D9D9"/>
      </a:accent5>
      <a:accent6>
        <a:srgbClr val="FFCC00"/>
      </a:accent6>
      <a:hlink>
        <a:srgbClr val="990000"/>
      </a:hlink>
      <a:folHlink>
        <a:srgbClr val="99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