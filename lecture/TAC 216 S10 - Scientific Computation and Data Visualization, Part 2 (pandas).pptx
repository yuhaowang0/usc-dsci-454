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7315200" cy="9601200"/>
  <p:embeddedFontLst>
    <p:embeddedFont>
      <p:font typeface="Proxima Nova"/>
      <p:regular r:id="rId36"/>
      <p:bold r:id="rId37"/>
      <p:italic r:id="rId38"/>
      <p:boldItalic r:id="rId39"/>
    </p:embeddedFont>
    <p:embeddedFont>
      <p:font typeface="Roboto Mono Light"/>
      <p:regular r:id="rId40"/>
      <p:bold r:id="rId41"/>
      <p:italic r:id="rId42"/>
      <p:boldItalic r:id="rId43"/>
    </p:embeddedFont>
    <p:embeddedFont>
      <p:font typeface="Roboto Mono"/>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Light-regular.fntdata"/><Relationship Id="rId42" Type="http://schemas.openxmlformats.org/officeDocument/2006/relationships/font" Target="fonts/RobotoMonoLight-italic.fntdata"/><Relationship Id="rId41" Type="http://schemas.openxmlformats.org/officeDocument/2006/relationships/font" Target="fonts/RobotoMonoLight-bold.fntdata"/><Relationship Id="rId44" Type="http://schemas.openxmlformats.org/officeDocument/2006/relationships/font" Target="fonts/RobotoMono-regular.fntdata"/><Relationship Id="rId43" Type="http://schemas.openxmlformats.org/officeDocument/2006/relationships/font" Target="fonts/RobotoMonoLight-boldItalic.fntdata"/><Relationship Id="rId46" Type="http://schemas.openxmlformats.org/officeDocument/2006/relationships/font" Target="fonts/RobotoMono-italic.fntdata"/><Relationship Id="rId45" Type="http://schemas.openxmlformats.org/officeDocument/2006/relationships/font" Target="fonts/RobotoMon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regular.fntdata"/><Relationship Id="rId47" Type="http://schemas.openxmlformats.org/officeDocument/2006/relationships/font" Target="fonts/RobotoMono-boldItalic.fntdata"/><Relationship Id="rId49"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ProximaNova-bold.fntdata"/><Relationship Id="rId36" Type="http://schemas.openxmlformats.org/officeDocument/2006/relationships/font" Target="fonts/ProximaNova-regular.fntdata"/><Relationship Id="rId39" Type="http://schemas.openxmlformats.org/officeDocument/2006/relationships/font" Target="fonts/ProximaNova-boldItalic.fntdata"/><Relationship Id="rId38" Type="http://schemas.openxmlformats.org/officeDocument/2006/relationships/font" Target="fonts/ProximaNova-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cc18617f6c_0_5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0" name="Google Shape;50;gcc18617f6c_0_5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gcc18617f6c_0_5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1e891366f_0_258:notes"/>
          <p:cNvSpPr/>
          <p:nvPr>
            <p:ph idx="2" type="sldImg"/>
          </p:nvPr>
        </p:nvSpPr>
        <p:spPr>
          <a:xfrm>
            <a:off x="457200" y="720725"/>
            <a:ext cx="6401100" cy="36006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1e891366f_0_25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 name="Google Shape;59;g341e891366f_0_25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41e891366f_0_1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67" name="Google Shape;67;g341e891366f_0_1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 name="Google Shape;68;g341e891366f_0_1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1e891366f_0_25: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75" name="Google Shape;75;g341e891366f_0_25: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g341e891366f_0_25: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1e891366f_0_3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1e891366f_0_3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 name="Google Shape;84;g341e891366f_0_3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7fc021f57_0_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1" name="Google Shape;91;g397fc021f57_0_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g397fc021f57_0_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1e891366f_0_39: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1e891366f_0_39: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9" name="Google Shape;99;g341e891366f_0_39: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1e891366f_0_4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1e891366f_0_4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 name="Google Shape;108;g341e891366f_0_4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1e891366f_0_55: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1e891366f_0_55: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7" name="Google Shape;117;g341e891366f_0_55: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1e891366f_0_63: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1e891366f_0_63: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6" name="Google Shape;126;g341e891366f_0_63: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41e891366f_0_7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41e891366f_0_7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5" name="Google Shape;135;g341e891366f_0_7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41e891366f_0_79: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41e891366f_0_79: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4" name="Google Shape;144;g341e891366f_0_79: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1e891366f_0_8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41e891366f_0_8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3" name="Google Shape;153;g341e891366f_0_8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7fc021f57_0_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97fc021f57_0_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2" name="Google Shape;162;g397fc021f57_0_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41e891366f_0_95: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41e891366f_0_95: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9" name="Google Shape;169;g341e891366f_0_95: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1e891366f_0_10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1e891366f_0_10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7" name="Google Shape;177;g341e891366f_0_10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1e891366f_0_11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41e891366f_0_11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6" name="Google Shape;186;g341e891366f_0_11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1e891366f_0_11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41e891366f_0_11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5" name="Google Shape;195;g341e891366f_0_11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438d50c78c_17_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438d50c78c_17_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4" name="Google Shape;204;g3438d50c78c_17_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1e891366f_0_126: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41e891366f_0_126: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3" name="Google Shape;213;g341e891366f_0_126: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41e891366f_0_13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41e891366f_0_13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2" name="Google Shape;222;g341e891366f_0_13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1e891366f_0_14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1e891366f_0_14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1" name="Google Shape;231;g341e891366f_0_14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41e891366f_0_15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41e891366f_0_15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 name="Google Shape;240;g341e891366f_0_15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41e891366f_0_15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41e891366f_0_15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9" name="Google Shape;249;g341e891366f_0_15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41e891366f_0_166: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41e891366f_0_166: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8" name="Google Shape;258;g341e891366f_0_166: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41e891366f_0_17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41e891366f_0_17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7" name="Google Shape;267;g341e891366f_0_17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4385c16fd6_0_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4385c16fd6_0_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6" name="Google Shape;276;g34385c16fd6_0_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41e891366f_0_19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41e891366f_0_19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5" name="Google Shape;285;g341e891366f_0_19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41e891366f_0_18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41e891366f_0_18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4" name="Google Shape;294;g341e891366f_0_18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41e891366f_0_19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41e891366f_0_19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3" name="Google Shape;303;g341e891366f_0_19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5" name="Google Shape;25;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 name="Google Shape;28;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29" name="Google Shape;29;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 name="Google Shape;32;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4" name="Shape 34"/>
        <p:cNvGrpSpPr/>
        <p:nvPr/>
      </p:nvGrpSpPr>
      <p:grpSpPr>
        <a:xfrm>
          <a:off x="0" y="0"/>
          <a:ext cx="0" cy="0"/>
          <a:chOff x="0" y="0"/>
          <a:chExt cx="0" cy="0"/>
        </a:xfrm>
      </p:grpSpPr>
      <p:sp>
        <p:nvSpPr>
          <p:cNvPr id="35" name="Google Shape;35;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7" name="Google Shape;37;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8" name="Google Shape;38;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39" name="Shape 39"/>
        <p:cNvGrpSpPr/>
        <p:nvPr/>
      </p:nvGrpSpPr>
      <p:grpSpPr>
        <a:xfrm>
          <a:off x="0" y="0"/>
          <a:ext cx="0" cy="0"/>
          <a:chOff x="0" y="0"/>
          <a:chExt cx="0" cy="0"/>
        </a:xfrm>
      </p:grpSpPr>
      <p:sp>
        <p:nvSpPr>
          <p:cNvPr id="40" name="Google Shape;40;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5" name="Shape 45"/>
        <p:cNvGrpSpPr/>
        <p:nvPr/>
      </p:nvGrpSpPr>
      <p:grpSpPr>
        <a:xfrm>
          <a:off x="0" y="0"/>
          <a:ext cx="0" cy="0"/>
          <a:chOff x="0" y="0"/>
          <a:chExt cx="0" cy="0"/>
        </a:xfrm>
      </p:grpSpPr>
      <p:sp>
        <p:nvSpPr>
          <p:cNvPr id="46" name="Google Shape;46;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7" name="Google Shape;47;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Vet_rDddEaGnlXdTcdXtX4ILoFbkI53vobkx3Sg1Xhc/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chemeClr val="hlink"/>
                </a:solidFill>
              </a:rPr>
              <a:t>Scientific Computation</a:t>
            </a:r>
            <a:r>
              <a:rPr lang="en-US">
                <a:solidFill>
                  <a:schemeClr val="hlink"/>
                </a:solidFill>
              </a:rPr>
              <a:t> and Data Visualization, </a:t>
            </a:r>
            <a:r>
              <a:rPr lang="en-US">
                <a:solidFill>
                  <a:schemeClr val="hlink"/>
                </a:solidFill>
              </a:rPr>
              <a:t>Part 2</a:t>
            </a:r>
            <a:endParaRPr/>
          </a:p>
        </p:txBody>
      </p:sp>
      <p:sp>
        <p:nvSpPr>
          <p:cNvPr id="54" name="Google Shape;54;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5" name="Google Shape;55;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2" name="Google Shape;62;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63" name="Google Shape;63;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500">
                <a:solidFill>
                  <a:schemeClr val="dk1"/>
                </a:solidFill>
              </a:rPr>
              <a:t>Learning Objectives</a:t>
            </a:r>
            <a:endParaRPr b="1" sz="1500">
              <a:solidFill>
                <a:schemeClr val="dk1"/>
              </a:solidFill>
            </a:endParaRPr>
          </a:p>
          <a:p>
            <a:pPr indent="0" lvl="0" marL="0" rtl="0" algn="l">
              <a:spcBef>
                <a:spcPts val="0"/>
              </a:spcBef>
              <a:spcAft>
                <a:spcPts val="0"/>
              </a:spcAft>
              <a:buClr>
                <a:schemeClr val="dk1"/>
              </a:buClr>
              <a:buSzPts val="1100"/>
              <a:buFont typeface="Arial"/>
              <a:buNone/>
            </a:pPr>
            <a:r>
              <a:rPr lang="en-US" sz="1500">
                <a:solidFill>
                  <a:schemeClr val="dk1"/>
                </a:solidFill>
              </a:rPr>
              <a:t>By the end of this session, you should:</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understand the power of pandas data structures</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identify a Series and a DataFrame</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know which data structure to choose for what kind of application</a:t>
            </a:r>
            <a:endParaRPr sz="1500">
              <a:solidFill>
                <a:schemeClr val="dk1"/>
              </a:solidFill>
            </a:endParaRPr>
          </a:p>
        </p:txBody>
      </p:sp>
      <p:sp>
        <p:nvSpPr>
          <p:cNvPr id="64" name="Google Shape;64;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500">
                <a:solidFill>
                  <a:schemeClr val="dk1"/>
                </a:solidFill>
              </a:rPr>
              <a:t>Measurable Outcomes</a:t>
            </a:r>
            <a:endParaRPr sz="1500">
              <a:solidFill>
                <a:schemeClr val="dk1"/>
              </a:solidFill>
            </a:endParaRPr>
          </a:p>
          <a:p>
            <a:pPr indent="0" lvl="0" marL="0" rtl="0" algn="l">
              <a:spcBef>
                <a:spcPts val="0"/>
              </a:spcBef>
              <a:spcAft>
                <a:spcPts val="0"/>
              </a:spcAft>
              <a:buClr>
                <a:schemeClr val="dk1"/>
              </a:buClr>
              <a:buSzPts val="1100"/>
              <a:buFont typeface="Arial"/>
              <a:buNone/>
            </a:pPr>
            <a:r>
              <a:rPr lang="en-US" sz="1500">
                <a:solidFill>
                  <a:schemeClr val="dk1"/>
                </a:solidFill>
              </a:rPr>
              <a:t>By the end of this session, you should be able to:</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create a Series from a collection</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create a DataFrame from a csv file</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filter and manipulate a DataFrame</a:t>
            </a:r>
            <a:endParaRPr sz="1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PANDAS</a:t>
            </a:r>
            <a:endParaRPr/>
          </a:p>
        </p:txBody>
      </p:sp>
      <p:sp>
        <p:nvSpPr>
          <p:cNvPr id="71" name="Google Shape;71;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2" name="Google Shape;72;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is great, but...</a:t>
            </a:r>
            <a:endParaRPr/>
          </a:p>
        </p:txBody>
      </p:sp>
      <p:sp>
        <p:nvSpPr>
          <p:cNvPr id="79" name="Google Shape;79;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One of the major constraints of NumPy is that any ndarray can only hold one type of data. But data in the real world are complex. Imagine a dataset of just the students in this class. You could have attributes for each student such as:</a:t>
            </a:r>
            <a:endParaRPr sz="1400"/>
          </a:p>
          <a:p>
            <a:pPr indent="-317500" lvl="0" marL="457200" rtl="0" algn="l">
              <a:spcBef>
                <a:spcPts val="0"/>
              </a:spcBef>
              <a:spcAft>
                <a:spcPts val="0"/>
              </a:spcAft>
              <a:buSzPts val="1400"/>
              <a:buChar char="•"/>
            </a:pPr>
            <a:r>
              <a:rPr lang="en-US" sz="1400"/>
              <a:t>First name (String)</a:t>
            </a:r>
            <a:endParaRPr sz="1400"/>
          </a:p>
          <a:p>
            <a:pPr indent="-317500" lvl="0" marL="457200" rtl="0" algn="l">
              <a:spcBef>
                <a:spcPts val="0"/>
              </a:spcBef>
              <a:spcAft>
                <a:spcPts val="0"/>
              </a:spcAft>
              <a:buSzPts val="1400"/>
              <a:buChar char="•"/>
            </a:pPr>
            <a:r>
              <a:rPr lang="en-US" sz="1400"/>
              <a:t>Age (integer)</a:t>
            </a:r>
            <a:endParaRPr sz="1400"/>
          </a:p>
          <a:p>
            <a:pPr indent="-317500" lvl="0" marL="457200" rtl="0" algn="l">
              <a:spcBef>
                <a:spcPts val="0"/>
              </a:spcBef>
              <a:spcAft>
                <a:spcPts val="0"/>
              </a:spcAft>
              <a:buSzPts val="1400"/>
              <a:buChar char="•"/>
            </a:pPr>
            <a:r>
              <a:rPr lang="en-US" sz="1400"/>
              <a:t>Height in meters (float)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Each of these attributes is a different datatype, so storing these (as listed) in an ndarray isn't possible. Clearly what is needed is a a new datatype which has has the efficiency advantages of NumPy but improves upon NumPy's datatype constraint.</a:t>
            </a:r>
            <a:endParaRPr sz="1400"/>
          </a:p>
        </p:txBody>
      </p:sp>
      <p:sp>
        <p:nvSpPr>
          <p:cNvPr id="80" name="Google Shape;80;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pandas: much better</a:t>
            </a:r>
            <a:endParaRPr/>
          </a:p>
        </p:txBody>
      </p:sp>
      <p:sp>
        <p:nvSpPr>
          <p:cNvPr id="87" name="Google Shape;87;p1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solidFill>
                  <a:schemeClr val="dk1"/>
                </a:solidFill>
              </a:rPr>
              <a:t>pandas</a:t>
            </a:r>
            <a:r>
              <a:rPr lang="en-US">
                <a:solidFill>
                  <a:schemeClr val="dk1"/>
                </a:solidFill>
              </a:rPr>
              <a:t> is a Python package designed to store and manipulate multi-dimensional, multi-datatype data. It provides two new datatypes - the </a:t>
            </a:r>
            <a:r>
              <a:rPr lang="en-US">
                <a:solidFill>
                  <a:schemeClr val="dk1"/>
                </a:solidFill>
                <a:latin typeface="Roboto Mono Light"/>
                <a:ea typeface="Roboto Mono Light"/>
                <a:cs typeface="Roboto Mono Light"/>
                <a:sym typeface="Roboto Mono Light"/>
              </a:rPr>
              <a:t>Series</a:t>
            </a:r>
            <a:r>
              <a:rPr lang="en-US">
                <a:solidFill>
                  <a:schemeClr val="dk1"/>
                </a:solidFill>
              </a:rPr>
              <a:t> and the </a:t>
            </a:r>
            <a:r>
              <a:rPr lang="en-US">
                <a:solidFill>
                  <a:schemeClr val="dk1"/>
                </a:solidFill>
                <a:latin typeface="Roboto Mono Light"/>
                <a:ea typeface="Roboto Mono Light"/>
                <a:cs typeface="Roboto Mono Light"/>
                <a:sym typeface="Roboto Mono Light"/>
              </a:rPr>
              <a:t>DataFrame</a:t>
            </a:r>
            <a:r>
              <a:rPr lang="en-US">
                <a:solidFill>
                  <a:schemeClr val="dk1"/>
                </a:solidFill>
              </a:rPr>
              <a:t> - both of which are built on top of NumPy ndarrays. The power of pandas comes from the ability to take care of pretty much every step in the big data chain: load, prepare, manipulate, model, and analyze - in other words, </a:t>
            </a:r>
            <a:r>
              <a:rPr b="1" lang="en-US">
                <a:solidFill>
                  <a:schemeClr val="dk1"/>
                </a:solidFill>
              </a:rPr>
              <a:t>wrangle</a:t>
            </a:r>
            <a:r>
              <a:rPr lang="en-US">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As a side note: pandas uses NumPy to construct its datatypes. This means that NumPy is a </a:t>
            </a:r>
            <a:r>
              <a:rPr b="1" lang="en-US">
                <a:solidFill>
                  <a:schemeClr val="dk1"/>
                </a:solidFill>
              </a:rPr>
              <a:t>dependency</a:t>
            </a:r>
            <a:r>
              <a:rPr lang="en-US">
                <a:solidFill>
                  <a:schemeClr val="dk1"/>
                </a:solidFill>
              </a:rPr>
              <a:t> of pandas. (In fact, NumPy is a dependency for pretty much all packages you'll be using in this course.)</a:t>
            </a:r>
            <a:endParaRPr>
              <a:solidFill>
                <a:schemeClr val="dk1"/>
              </a:solidFill>
            </a:endParaRPr>
          </a:p>
        </p:txBody>
      </p:sp>
      <p:sp>
        <p:nvSpPr>
          <p:cNvPr id="88" name="Google Shape;88;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PANDAS: SERIES</a:t>
            </a:r>
            <a:endParaRPr/>
          </a:p>
        </p:txBody>
      </p:sp>
      <p:sp>
        <p:nvSpPr>
          <p:cNvPr id="95" name="Google Shape;95;p15"/>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pandas: Series</a:t>
            </a:r>
            <a:endParaRPr/>
          </a:p>
        </p:txBody>
      </p:sp>
      <p:sp>
        <p:nvSpPr>
          <p:cNvPr id="102" name="Google Shape;102;p1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A </a:t>
            </a:r>
            <a:r>
              <a:rPr b="1" lang="en-US" sz="1200"/>
              <a:t>Series</a:t>
            </a:r>
            <a:r>
              <a:rPr lang="en-US" sz="1200"/>
              <a:t> is nothing more than a one-dimensional ndarray with some fancy wrapping around it. There are several ways to construct them; the most obvious is to just use the </a:t>
            </a:r>
            <a:r>
              <a:rPr lang="en-US" sz="1200">
                <a:latin typeface="Roboto Mono Light"/>
                <a:ea typeface="Roboto Mono Light"/>
                <a:cs typeface="Roboto Mono Light"/>
                <a:sym typeface="Roboto Mono Light"/>
              </a:rPr>
              <a:t>Series()</a:t>
            </a:r>
            <a:r>
              <a:rPr lang="en-US" sz="1200"/>
              <a:t> constructor and feed it a one-dimensional collection.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You've still got all the functionality of ndarrays present in Series; some functionality may just be referenced slightly differently.</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i="1" lang="en-US" sz="1200">
                <a:solidFill>
                  <a:schemeClr val="dk1"/>
                </a:solidFill>
              </a:rPr>
              <a:t>Notice that when a Series is printed, it shows a bit more information.</a:t>
            </a:r>
            <a:endParaRPr sz="1200"/>
          </a:p>
        </p:txBody>
      </p:sp>
      <p:sp>
        <p:nvSpPr>
          <p:cNvPr id="103" name="Google Shape;103;p1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00">
                <a:latin typeface="Roboto Mono Light"/>
                <a:ea typeface="Roboto Mono Light"/>
                <a:cs typeface="Roboto Mono Light"/>
                <a:sym typeface="Roboto Mono Light"/>
              </a:rPr>
              <a:t>import numpy as np</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b="1" lang="en-US" sz="800">
                <a:latin typeface="Roboto Mono"/>
                <a:ea typeface="Roboto Mono"/>
                <a:cs typeface="Roboto Mono"/>
                <a:sym typeface="Roboto Mono"/>
              </a:rPr>
              <a:t>import pandas as pd</a:t>
            </a:r>
            <a:endParaRPr b="1" sz="800">
              <a:latin typeface="Roboto Mono"/>
              <a:ea typeface="Roboto Mono"/>
              <a:cs typeface="Roboto Mono"/>
              <a:sym typeface="Roboto Mono"/>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def main():</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ndarr_odds = np.array([1, 3, 5])</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ser_odds = </a:t>
            </a:r>
            <a:r>
              <a:rPr b="1" lang="en-US" sz="800">
                <a:latin typeface="Roboto Mono"/>
                <a:ea typeface="Roboto Mono"/>
                <a:cs typeface="Roboto Mono"/>
                <a:sym typeface="Roboto Mono"/>
              </a:rPr>
              <a:t>pd.Series([1, 3, 5])</a:t>
            </a:r>
            <a:endParaRPr b="1" sz="800">
              <a:latin typeface="Roboto Mono"/>
              <a:ea typeface="Roboto Mono"/>
              <a:cs typeface="Roboto Mono"/>
              <a:sym typeface="Roboto Mono"/>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print(ndarr_odds)</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print(ser_odds)</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if __name__ == '__main__':</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    main()</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&gt;&gt;&gt; [1 3 5]</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&gt;&gt;&gt; </a:t>
            </a:r>
            <a:r>
              <a:rPr b="1" lang="en-US" sz="800">
                <a:solidFill>
                  <a:schemeClr val="dk1"/>
                </a:solidFill>
                <a:latin typeface="Roboto Mono"/>
                <a:ea typeface="Roboto Mono"/>
                <a:cs typeface="Roboto Mono"/>
                <a:sym typeface="Roboto Mono"/>
              </a:rPr>
              <a:t>0	1</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800">
                <a:solidFill>
                  <a:schemeClr val="dk1"/>
                </a:solidFill>
                <a:latin typeface="Roboto Mono"/>
                <a:ea typeface="Roboto Mono"/>
                <a:cs typeface="Roboto Mono"/>
                <a:sym typeface="Roboto Mono"/>
              </a:rPr>
              <a:t>    1	3</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800">
                <a:solidFill>
                  <a:schemeClr val="dk1"/>
                </a:solidFill>
                <a:latin typeface="Roboto Mono"/>
                <a:ea typeface="Roboto Mono"/>
                <a:cs typeface="Roboto Mono"/>
                <a:sym typeface="Roboto Mono"/>
              </a:rPr>
              <a:t>    2	5</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800">
                <a:solidFill>
                  <a:schemeClr val="dk1"/>
                </a:solidFill>
                <a:latin typeface="Roboto Mono"/>
                <a:ea typeface="Roboto Mono"/>
                <a:cs typeface="Roboto Mono"/>
                <a:sym typeface="Roboto Mono"/>
              </a:rPr>
              <a:t>    dtype: int64</a:t>
            </a:r>
            <a:endParaRPr b="1" sz="800">
              <a:solidFill>
                <a:schemeClr val="dk1"/>
              </a:solidFill>
              <a:latin typeface="Roboto Mono"/>
              <a:ea typeface="Roboto Mono"/>
              <a:cs typeface="Roboto Mono"/>
              <a:sym typeface="Roboto Mono"/>
            </a:endParaRPr>
          </a:p>
        </p:txBody>
      </p:sp>
      <p:sp>
        <p:nvSpPr>
          <p:cNvPr id="104" name="Google Shape;104;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Series: some attributes</a:t>
            </a:r>
            <a:endParaRPr/>
          </a:p>
        </p:txBody>
      </p:sp>
      <p:sp>
        <p:nvSpPr>
          <p:cNvPr id="111" name="Google Shape;111;p1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Given that Series are fancier one-dimensional ndarrays, you should know some of the shiny new attributes! Options include but are not limited to:</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n-US"/>
              <a:t>extract the indices themselves</a:t>
            </a:r>
            <a:endParaRPr/>
          </a:p>
          <a:p>
            <a:pPr indent="-330200" lvl="0" marL="457200" rtl="0" algn="l">
              <a:spcBef>
                <a:spcPts val="0"/>
              </a:spcBef>
              <a:spcAft>
                <a:spcPts val="0"/>
              </a:spcAft>
              <a:buSzPts val="1600"/>
              <a:buChar char="•"/>
            </a:pPr>
            <a:r>
              <a:rPr lang="en-US"/>
              <a:t>extract the ndarray contained inside</a:t>
            </a:r>
            <a:endParaRPr/>
          </a:p>
        </p:txBody>
      </p:sp>
      <p:sp>
        <p:nvSpPr>
          <p:cNvPr id="112" name="Google Shape;112;p1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00">
                <a:latin typeface="Roboto Mono Light"/>
                <a:ea typeface="Roboto Mono Light"/>
                <a:cs typeface="Roboto Mono Light"/>
                <a:sym typeface="Roboto Mono Light"/>
              </a:rPr>
              <a:t>import pandas as pd</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def main():</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ser_odds = pd.Series([1, 3, 5])</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a:t>
            </a:r>
            <a:r>
              <a:rPr b="1" lang="en-US" sz="800">
                <a:latin typeface="Roboto Mono"/>
                <a:ea typeface="Roboto Mono"/>
                <a:cs typeface="Roboto Mono"/>
                <a:sym typeface="Roboto Mono"/>
              </a:rPr>
              <a:t>ser_odds.index</a:t>
            </a:r>
            <a:r>
              <a:rPr lang="en-US" sz="800">
                <a:latin typeface="Roboto Mono Light"/>
                <a:ea typeface="Roboto Mono Light"/>
                <a:cs typeface="Roboto Mono Light"/>
                <a:sym typeface="Roboto Mono Light"/>
              </a:rPr>
              <a:t>)</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a:t>
            </a:r>
            <a:r>
              <a:rPr b="1" lang="en-US" sz="800">
                <a:latin typeface="Roboto Mono"/>
                <a:ea typeface="Roboto Mono"/>
                <a:cs typeface="Roboto Mono"/>
                <a:sym typeface="Roboto Mono"/>
              </a:rPr>
              <a:t>ser_odds.values</a:t>
            </a:r>
            <a:r>
              <a:rPr lang="en-US" sz="800">
                <a:latin typeface="Roboto Mono Light"/>
                <a:ea typeface="Roboto Mono Light"/>
                <a:cs typeface="Roboto Mono Light"/>
                <a:sym typeface="Roboto Mono Light"/>
              </a:rPr>
              <a:t>)</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print(type(ser_odds.values))</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if __name__ == '__main__':</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main()</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&gt;&gt;&gt; RangeIndex(start=0, stop=3, step=1)</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&gt;&gt;&gt; [1 3 5]</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&gt;&gt;&gt; </a:t>
            </a:r>
            <a:r>
              <a:rPr b="1" lang="en-US" sz="800">
                <a:latin typeface="Roboto Mono"/>
                <a:ea typeface="Roboto Mono"/>
                <a:cs typeface="Roboto Mono"/>
                <a:sym typeface="Roboto Mono"/>
              </a:rPr>
              <a:t>&lt;class 'numpy.ndarray'&gt;</a:t>
            </a:r>
            <a:endParaRPr b="1" sz="800">
              <a:latin typeface="Roboto Mono"/>
              <a:ea typeface="Roboto Mono"/>
              <a:cs typeface="Roboto Mono"/>
              <a:sym typeface="Roboto Mono"/>
            </a:endParaRPr>
          </a:p>
        </p:txBody>
      </p:sp>
      <p:sp>
        <p:nvSpPr>
          <p:cNvPr id="113" name="Google Shape;113;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Series: changing indexes</a:t>
            </a:r>
            <a:endParaRPr/>
          </a:p>
        </p:txBody>
      </p:sp>
      <p:sp>
        <p:nvSpPr>
          <p:cNvPr id="120" name="Google Shape;120;p1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So far, any ndarray or Series you've worked with has had auto-assigned indexes. But occasionally, you may want to be able to index via something other than integers - much like how dictionary values are accessed! Series actually support a surprising number of non-integer indexes.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You can assign different indexes when constructing the Series, or reassign after construction. Just send it a collection the same length as the Series itself.</a:t>
            </a:r>
            <a:endParaRPr sz="1400"/>
          </a:p>
        </p:txBody>
      </p:sp>
      <p:sp>
        <p:nvSpPr>
          <p:cNvPr id="121" name="Google Shape;121;p18"/>
          <p:cNvSpPr txBox="1"/>
          <p:nvPr>
            <p:ph idx="2" type="body"/>
          </p:nvPr>
        </p:nvSpPr>
        <p:spPr>
          <a:xfrm>
            <a:off x="4572000" y="713050"/>
            <a:ext cx="4456500" cy="3762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previous code goes here</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def main():</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li_odds = [1, 3, 5]</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li_evens = [2, 4, 6]</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a:t>
            </a:r>
            <a:r>
              <a:rPr b="1" lang="en-US" sz="700">
                <a:solidFill>
                  <a:schemeClr val="dk1"/>
                </a:solidFill>
                <a:latin typeface="Roboto Mono"/>
                <a:ea typeface="Roboto Mono"/>
                <a:cs typeface="Roboto Mono"/>
                <a:sym typeface="Roboto Mono"/>
              </a:rPr>
              <a:t># use new indexes when creating</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ser_odds = pd.Series(li_odds, </a:t>
            </a:r>
            <a:r>
              <a:rPr b="1" lang="en-US" sz="700">
                <a:solidFill>
                  <a:schemeClr val="dk1"/>
                </a:solidFill>
                <a:latin typeface="Roboto Mono"/>
                <a:ea typeface="Roboto Mono"/>
                <a:cs typeface="Roboto Mono"/>
                <a:sym typeface="Roboto Mono"/>
              </a:rPr>
              <a:t>index=[np.arange(10, 10+len(li_odds))]</a:t>
            </a:r>
            <a:r>
              <a:rPr lang="en-US" sz="700">
                <a:solidFill>
                  <a:schemeClr val="dk1"/>
                </a:solidFill>
                <a:latin typeface="Roboto Mono Light"/>
                <a:ea typeface="Roboto Mono Light"/>
                <a:cs typeface="Roboto Mono Light"/>
                <a:sym typeface="Roboto Mono Light"/>
              </a:rPr>
              <a:t>)</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print(ser_odds)</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ser_evens = pd.Series(li_evens)</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a:t>
            </a:r>
            <a:r>
              <a:rPr b="1" lang="en-US" sz="700">
                <a:solidFill>
                  <a:schemeClr val="dk1"/>
                </a:solidFill>
                <a:latin typeface="Roboto Mono"/>
                <a:ea typeface="Roboto Mono"/>
                <a:cs typeface="Roboto Mono"/>
                <a:sym typeface="Roboto Mono"/>
              </a:rPr>
              <a:t># reassign indexes after creation</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a:t>
            </a:r>
            <a:r>
              <a:rPr b="1" lang="en-US" sz="700">
                <a:solidFill>
                  <a:schemeClr val="dk1"/>
                </a:solidFill>
                <a:latin typeface="Roboto Mono"/>
                <a:ea typeface="Roboto Mono"/>
                <a:cs typeface="Roboto Mono"/>
                <a:sym typeface="Roboto Mono"/>
              </a:rPr>
              <a:t>ser_evens.index =</a:t>
            </a:r>
            <a:r>
              <a:rPr lang="en-US" sz="700">
                <a:solidFill>
                  <a:schemeClr val="dk1"/>
                </a:solidFill>
                <a:latin typeface="Roboto Mono Light"/>
                <a:ea typeface="Roboto Mono Light"/>
                <a:cs typeface="Roboto Mono Light"/>
                <a:sym typeface="Roboto Mono Light"/>
              </a:rPr>
              <a:t> ['a', 'b', 'c']</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print(ser_evens)</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if __name__ == '__main__':</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main()</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&gt;&gt;&gt; </a:t>
            </a:r>
            <a:r>
              <a:rPr b="1" lang="en-US" sz="700">
                <a:solidFill>
                  <a:schemeClr val="dk1"/>
                </a:solidFill>
                <a:latin typeface="Roboto Mono"/>
                <a:ea typeface="Roboto Mono"/>
                <a:cs typeface="Roboto Mono"/>
                <a:sym typeface="Roboto Mono"/>
              </a:rPr>
              <a:t>10	1</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11	3</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12	5</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dtype: int64</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&gt;&gt;&gt; </a:t>
            </a:r>
            <a:r>
              <a:rPr b="1" lang="en-US" sz="700">
                <a:solidFill>
                  <a:schemeClr val="dk1"/>
                </a:solidFill>
                <a:latin typeface="Roboto Mono"/>
                <a:ea typeface="Roboto Mono"/>
                <a:cs typeface="Roboto Mono"/>
                <a:sym typeface="Roboto Mono"/>
              </a:rPr>
              <a:t>a	2</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b	4</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c	6</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dtype: int64</a:t>
            </a:r>
            <a:endParaRPr sz="700">
              <a:solidFill>
                <a:schemeClr val="dk1"/>
              </a:solidFill>
              <a:latin typeface="Roboto Mono Light"/>
              <a:ea typeface="Roboto Mono Light"/>
              <a:cs typeface="Roboto Mono Light"/>
              <a:sym typeface="Roboto Mono Light"/>
            </a:endParaRPr>
          </a:p>
        </p:txBody>
      </p:sp>
      <p:sp>
        <p:nvSpPr>
          <p:cNvPr id="122" name="Google Shape;122;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Series: head and tail</a:t>
            </a:r>
            <a:endParaRPr/>
          </a:p>
        </p:txBody>
      </p:sp>
      <p:sp>
        <p:nvSpPr>
          <p:cNvPr id="129" name="Google Shape;129;p1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If you're just looking for a short printout of a Series to get an idea of what the data look like, you can use the </a:t>
            </a:r>
            <a:r>
              <a:rPr lang="en-US" sz="1300">
                <a:latin typeface="Roboto Mono Light"/>
                <a:ea typeface="Roboto Mono Light"/>
                <a:cs typeface="Roboto Mono Light"/>
                <a:sym typeface="Roboto Mono Light"/>
              </a:rPr>
              <a:t>.head()</a:t>
            </a:r>
            <a:r>
              <a:rPr lang="en-US" sz="1300"/>
              <a:t> and </a:t>
            </a:r>
            <a:r>
              <a:rPr lang="en-US" sz="1300">
                <a:latin typeface="Roboto Mono Light"/>
                <a:ea typeface="Roboto Mono Light"/>
                <a:cs typeface="Roboto Mono Light"/>
                <a:sym typeface="Roboto Mono Light"/>
              </a:rPr>
              <a:t>.tail()</a:t>
            </a:r>
            <a:r>
              <a:rPr lang="en-US" sz="1300"/>
              <a:t> methods. By default, they return the first and last five items in the Series, respectively.</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Giving </a:t>
            </a:r>
            <a:r>
              <a:rPr lang="en-US" sz="1300">
                <a:solidFill>
                  <a:schemeClr val="dk1"/>
                </a:solidFill>
                <a:latin typeface="Roboto Mono Light"/>
                <a:ea typeface="Roboto Mono Light"/>
                <a:cs typeface="Roboto Mono Light"/>
                <a:sym typeface="Roboto Mono Light"/>
              </a:rPr>
              <a:t>.head()</a:t>
            </a:r>
            <a:r>
              <a:rPr lang="en-US" sz="1300">
                <a:solidFill>
                  <a:schemeClr val="dk1"/>
                </a:solidFill>
              </a:rPr>
              <a:t> or </a:t>
            </a:r>
            <a:r>
              <a:rPr lang="en-US" sz="1300">
                <a:solidFill>
                  <a:schemeClr val="dk1"/>
                </a:solidFill>
                <a:latin typeface="Roboto Mono Light"/>
                <a:ea typeface="Roboto Mono Light"/>
                <a:cs typeface="Roboto Mono Light"/>
                <a:sym typeface="Roboto Mono Light"/>
              </a:rPr>
              <a:t>.tail()</a:t>
            </a:r>
            <a:r>
              <a:rPr lang="en-US" sz="1300">
                <a:solidFill>
                  <a:schemeClr val="dk1"/>
                </a:solidFill>
              </a:rPr>
              <a:t> </a:t>
            </a:r>
            <a:r>
              <a:rPr lang="en-US" sz="1300"/>
              <a:t>an integer argument will allow for a specific number of rows to be returned.</a:t>
            </a:r>
            <a:endParaRPr sz="1300"/>
          </a:p>
        </p:txBody>
      </p:sp>
      <p:sp>
        <p:nvSpPr>
          <p:cNvPr id="130" name="Google Shape;130;p1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import numpy as np</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import pandas as pd</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def main():</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 create a Series filled with 100 random numbers ranging from 0 to 9</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ser_random = pd.Series(np.random.randint(0, 10, (100,)))</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print(ser_random</a:t>
            </a:r>
            <a:r>
              <a:rPr b="1" lang="en-US" sz="700">
                <a:solidFill>
                  <a:schemeClr val="dk1"/>
                </a:solidFill>
                <a:latin typeface="Roboto Mono"/>
                <a:ea typeface="Roboto Mono"/>
                <a:cs typeface="Roboto Mono"/>
                <a:sym typeface="Roboto Mono"/>
              </a:rPr>
              <a:t>.head()</a:t>
            </a:r>
            <a:r>
              <a:rPr lang="en-US" sz="700">
                <a:solidFill>
                  <a:schemeClr val="dk1"/>
                </a:solidFill>
                <a:latin typeface="Roboto Mono Light"/>
                <a:ea typeface="Roboto Mono Light"/>
                <a:cs typeface="Roboto Mono Light"/>
                <a:sym typeface="Roboto Mono Light"/>
              </a:rPr>
              <a:t>)  #first five</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print(ser_random</a:t>
            </a:r>
            <a:r>
              <a:rPr b="1" lang="en-US" sz="700">
                <a:solidFill>
                  <a:schemeClr val="dk1"/>
                </a:solidFill>
                <a:latin typeface="Roboto Mono"/>
                <a:ea typeface="Roboto Mono"/>
                <a:cs typeface="Roboto Mono"/>
                <a:sym typeface="Roboto Mono"/>
              </a:rPr>
              <a:t>.tail()</a:t>
            </a:r>
            <a:r>
              <a:rPr lang="en-US" sz="700">
                <a:solidFill>
                  <a:schemeClr val="dk1"/>
                </a:solidFill>
                <a:latin typeface="Roboto Mono Light"/>
                <a:ea typeface="Roboto Mono Light"/>
                <a:cs typeface="Roboto Mono Light"/>
                <a:sym typeface="Roboto Mono Light"/>
              </a:rPr>
              <a:t>)  #last five</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print(ser_random</a:t>
            </a:r>
            <a:r>
              <a:rPr b="1" lang="en-US" sz="700">
                <a:solidFill>
                  <a:schemeClr val="dk1"/>
                </a:solidFill>
                <a:latin typeface="Roboto Mono"/>
                <a:ea typeface="Roboto Mono"/>
                <a:cs typeface="Roboto Mono"/>
                <a:sym typeface="Roboto Mono"/>
              </a:rPr>
              <a:t>.tail(2)</a:t>
            </a:r>
            <a:r>
              <a:rPr lang="en-US" sz="700">
                <a:solidFill>
                  <a:schemeClr val="dk1"/>
                </a:solidFill>
                <a:latin typeface="Roboto Mono Light"/>
                <a:ea typeface="Roboto Mono Light"/>
                <a:cs typeface="Roboto Mono Light"/>
                <a:sym typeface="Roboto Mono Light"/>
              </a:rPr>
              <a:t>) # last two</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if __name__ == '__main__':</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main()</a:t>
            </a:r>
            <a:endParaRPr sz="700">
              <a:solidFill>
                <a:schemeClr val="dk1"/>
              </a:solidFill>
              <a:latin typeface="Roboto Mono Light"/>
              <a:ea typeface="Roboto Mono Light"/>
              <a:cs typeface="Roboto Mono Light"/>
              <a:sym typeface="Roboto Mono Light"/>
            </a:endParaRPr>
          </a:p>
        </p:txBody>
      </p:sp>
      <p:sp>
        <p:nvSpPr>
          <p:cNvPr id="131" name="Google Shape;131;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Series: selecting</a:t>
            </a:r>
            <a:endParaRPr/>
          </a:p>
        </p:txBody>
      </p:sp>
      <p:sp>
        <p:nvSpPr>
          <p:cNvPr id="138" name="Google Shape;138;p2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Because Series are sequences, you should be able to access the items contained within. One of the nicest properties of Series is that </a:t>
            </a:r>
            <a:r>
              <a:rPr b="1" lang="en-US" sz="1300"/>
              <a:t>indexing </a:t>
            </a:r>
            <a:r>
              <a:rPr lang="en-US" sz="1300"/>
              <a:t>works exactly the same as other sequences you've seen before.</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There's also a new construct in Series which allows you to </a:t>
            </a:r>
            <a:r>
              <a:rPr b="1" lang="en-US" sz="1300"/>
              <a:t>extract a collection</a:t>
            </a:r>
            <a:r>
              <a:rPr lang="en-US" sz="1300"/>
              <a:t> of individual items.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i="1" lang="en-US" sz="1300"/>
              <a:t>Notice that with any of these actions, if the returned object contains more than one item, it will return as a Series.</a:t>
            </a:r>
            <a:endParaRPr i="1" sz="1300"/>
          </a:p>
        </p:txBody>
      </p:sp>
      <p:sp>
        <p:nvSpPr>
          <p:cNvPr id="139" name="Google Shape;139;p20"/>
          <p:cNvSpPr txBox="1"/>
          <p:nvPr>
            <p:ph idx="2" type="body"/>
          </p:nvPr>
        </p:nvSpPr>
        <p:spPr>
          <a:xfrm>
            <a:off x="4687500" y="405000"/>
            <a:ext cx="4456500" cy="4008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previous code goes here</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def main():</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 create a Series filled with 100 random numbers ranging from 1 to 9</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ser_random = pd.Series(np.random.randint(0, 10, (100,)))</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print(ser_random</a:t>
            </a:r>
            <a:r>
              <a:rPr b="1" lang="en-US" sz="700">
                <a:solidFill>
                  <a:schemeClr val="dk1"/>
                </a:solidFill>
                <a:latin typeface="Roboto Mono"/>
                <a:ea typeface="Roboto Mono"/>
                <a:cs typeface="Roboto Mono"/>
                <a:sym typeface="Roboto Mono"/>
              </a:rPr>
              <a:t>[4]</a:t>
            </a:r>
            <a:r>
              <a:rPr lang="en-US" sz="700">
                <a:solidFill>
                  <a:schemeClr val="dk1"/>
                </a:solidFill>
                <a:latin typeface="Roboto Mono Light"/>
                <a:ea typeface="Roboto Mono Light"/>
                <a:cs typeface="Roboto Mono Light"/>
                <a:sym typeface="Roboto Mono Light"/>
              </a:rPr>
              <a:t>) # indexing</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print(ser_random</a:t>
            </a:r>
            <a:r>
              <a:rPr b="1" lang="en-US" sz="700">
                <a:solidFill>
                  <a:schemeClr val="dk1"/>
                </a:solidFill>
                <a:latin typeface="Roboto Mono"/>
                <a:ea typeface="Roboto Mono"/>
                <a:cs typeface="Roboto Mono"/>
                <a:sym typeface="Roboto Mono"/>
              </a:rPr>
              <a:t>[4:9]</a:t>
            </a:r>
            <a:r>
              <a:rPr lang="en-US" sz="700">
                <a:solidFill>
                  <a:schemeClr val="dk1"/>
                </a:solidFill>
                <a:latin typeface="Roboto Mono Light"/>
                <a:ea typeface="Roboto Mono Light"/>
                <a:cs typeface="Roboto Mono Light"/>
                <a:sym typeface="Roboto Mono Light"/>
              </a:rPr>
              <a:t>) # slicing</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print(ser_random</a:t>
            </a:r>
            <a:r>
              <a:rPr b="1" lang="en-US" sz="700">
                <a:solidFill>
                  <a:schemeClr val="dk1"/>
                </a:solidFill>
                <a:latin typeface="Roboto Mono"/>
                <a:ea typeface="Roboto Mono"/>
                <a:cs typeface="Roboto Mono"/>
                <a:sym typeface="Roboto Mono"/>
              </a:rPr>
              <a:t>[ [4, 6, 7] ]</a:t>
            </a:r>
            <a:r>
              <a:rPr lang="en-US" sz="700">
                <a:solidFill>
                  <a:schemeClr val="dk1"/>
                </a:solidFill>
                <a:latin typeface="Roboto Mono Light"/>
                <a:ea typeface="Roboto Mono Light"/>
                <a:cs typeface="Roboto Mono Light"/>
                <a:sym typeface="Roboto Mono Light"/>
              </a:rPr>
              <a:t>) # extract a collection</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if __name__ == '__main__':</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main()</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&gt;&gt;&gt; 4</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&gt;&gt;&gt; 4	4</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5	6</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6	9</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7	8</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8	4</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dtype: int64</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&gt;&gt;&gt; 4	4</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6	9</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7	8</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dtype: int64</a:t>
            </a:r>
            <a:endParaRPr sz="700">
              <a:solidFill>
                <a:schemeClr val="dk1"/>
              </a:solidFill>
              <a:latin typeface="Roboto Mono Light"/>
              <a:ea typeface="Roboto Mono Light"/>
              <a:cs typeface="Roboto Mono Light"/>
              <a:sym typeface="Roboto Mono Light"/>
            </a:endParaRPr>
          </a:p>
        </p:txBody>
      </p:sp>
      <p:sp>
        <p:nvSpPr>
          <p:cNvPr id="140" name="Google Shape;140;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Series: changing descriptors</a:t>
            </a:r>
            <a:endParaRPr/>
          </a:p>
        </p:txBody>
      </p:sp>
      <p:sp>
        <p:nvSpPr>
          <p:cNvPr id="147" name="Google Shape;147;p2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You'll note that when printing out a Series, you get a bit more information than an ndarray, including the datatype. One of the other important additions that Series give you is the ability to </a:t>
            </a:r>
            <a:r>
              <a:rPr b="1" lang="en-US" sz="1500"/>
              <a:t>name</a:t>
            </a:r>
            <a:r>
              <a:rPr lang="en-US" sz="1500"/>
              <a:t> it, </a:t>
            </a:r>
            <a:r>
              <a:rPr i="1" lang="en-US" sz="1500"/>
              <a:t>and</a:t>
            </a:r>
            <a:r>
              <a:rPr lang="en-US" sz="1500"/>
              <a:t> to name the index collection itself.</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Why is this important? When you start combining Series into one larger multidimensional object, you'll want to be able to differentiate among different Series!</a:t>
            </a:r>
            <a:endParaRPr sz="1500"/>
          </a:p>
        </p:txBody>
      </p:sp>
      <p:sp>
        <p:nvSpPr>
          <p:cNvPr id="148" name="Google Shape;148;p2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 previous code goes here</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def main():</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	li_evens = [2, 4, 6]</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	ser_evens = pd.Series(li_evens, index = ['a', 'b', 'c'])</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	print(ser_evens)</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	ser_evens</a:t>
            </a:r>
            <a:r>
              <a:rPr b="1" lang="en-US" sz="600">
                <a:solidFill>
                  <a:schemeClr val="dk1"/>
                </a:solidFill>
                <a:latin typeface="Roboto Mono"/>
                <a:ea typeface="Roboto Mono"/>
                <a:cs typeface="Roboto Mono"/>
                <a:sym typeface="Roboto Mono"/>
              </a:rPr>
              <a:t>.name</a:t>
            </a:r>
            <a:r>
              <a:rPr lang="en-US" sz="600">
                <a:solidFill>
                  <a:schemeClr val="dk1"/>
                </a:solidFill>
                <a:latin typeface="Roboto Mono Light"/>
                <a:ea typeface="Roboto Mono Light"/>
                <a:cs typeface="Roboto Mono Light"/>
                <a:sym typeface="Roboto Mono Light"/>
              </a:rPr>
              <a:t> = 'Even Nums'</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	ser_evens</a:t>
            </a:r>
            <a:r>
              <a:rPr b="1" lang="en-US" sz="600">
                <a:solidFill>
                  <a:schemeClr val="dk1"/>
                </a:solidFill>
                <a:latin typeface="Roboto Mono"/>
                <a:ea typeface="Roboto Mono"/>
                <a:cs typeface="Roboto Mono"/>
                <a:sym typeface="Roboto Mono"/>
              </a:rPr>
              <a:t>.index.name</a:t>
            </a:r>
            <a:r>
              <a:rPr lang="en-US" sz="600">
                <a:solidFill>
                  <a:schemeClr val="dk1"/>
                </a:solidFill>
                <a:latin typeface="Roboto Mono Light"/>
                <a:ea typeface="Roboto Mono Light"/>
                <a:cs typeface="Roboto Mono Light"/>
                <a:sym typeface="Roboto Mono Light"/>
              </a:rPr>
              <a:t> = 'Letters!'</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	print(ser_evens)</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if __name__ == '__main__':</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    main()</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&gt;&gt;&gt; a	2</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b	4</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c	6</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dtype: int64</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&gt;&gt;&gt;</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600">
                <a:solidFill>
                  <a:schemeClr val="dk1"/>
                </a:solidFill>
                <a:latin typeface="Roboto Mono"/>
                <a:ea typeface="Roboto Mono"/>
                <a:cs typeface="Roboto Mono"/>
                <a:sym typeface="Roboto Mono"/>
              </a:rPr>
              <a:t>Letters!</a:t>
            </a:r>
            <a:endParaRPr b="1" sz="6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a	2</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b	4</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600">
                <a:solidFill>
                  <a:schemeClr val="dk1"/>
                </a:solidFill>
                <a:latin typeface="Roboto Mono Light"/>
                <a:ea typeface="Roboto Mono Light"/>
                <a:cs typeface="Roboto Mono Light"/>
                <a:sym typeface="Roboto Mono Light"/>
              </a:rPr>
              <a:t>c	6</a:t>
            </a:r>
            <a:endParaRPr sz="6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600">
                <a:solidFill>
                  <a:schemeClr val="dk1"/>
                </a:solidFill>
                <a:latin typeface="Roboto Mono"/>
                <a:ea typeface="Roboto Mono"/>
                <a:cs typeface="Roboto Mono"/>
                <a:sym typeface="Roboto Mono"/>
              </a:rPr>
              <a:t>Name: Even Nums</a:t>
            </a:r>
            <a:r>
              <a:rPr lang="en-US" sz="600">
                <a:solidFill>
                  <a:schemeClr val="dk1"/>
                </a:solidFill>
                <a:latin typeface="Roboto Mono Light"/>
                <a:ea typeface="Roboto Mono Light"/>
                <a:cs typeface="Roboto Mono Light"/>
                <a:sym typeface="Roboto Mono Light"/>
              </a:rPr>
              <a:t>, dtype: int64</a:t>
            </a:r>
            <a:endParaRPr sz="600">
              <a:solidFill>
                <a:schemeClr val="dk1"/>
              </a:solidFill>
              <a:latin typeface="Roboto Mono Light"/>
              <a:ea typeface="Roboto Mono Light"/>
              <a:cs typeface="Roboto Mono Light"/>
              <a:sym typeface="Roboto Mono Light"/>
            </a:endParaRPr>
          </a:p>
        </p:txBody>
      </p:sp>
      <p:sp>
        <p:nvSpPr>
          <p:cNvPr id="149" name="Google Shape;149;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Series: filtering</a:t>
            </a:r>
            <a:endParaRPr/>
          </a:p>
        </p:txBody>
      </p:sp>
      <p:sp>
        <p:nvSpPr>
          <p:cNvPr id="156" name="Google Shape;156;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Series provide to you a new, very powerful tool for selecting items inside of them: the </a:t>
            </a:r>
            <a:r>
              <a:rPr b="1" lang="en-US" sz="1300"/>
              <a:t>conditional filter</a:t>
            </a:r>
            <a:r>
              <a:rPr lang="en-US" sz="1300"/>
              <a:t>.</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The conditional filter is really just a new </a:t>
            </a:r>
            <a:r>
              <a:rPr i="1" lang="en-US" sz="1300"/>
              <a:t>boolean</a:t>
            </a:r>
            <a:r>
              <a:rPr lang="en-US" sz="1300"/>
              <a:t> Series, the same shape as the first, which is filled with Trues and Falses: </a:t>
            </a:r>
            <a:r>
              <a:rPr lang="en-US" sz="1300">
                <a:latin typeface="Roboto Mono Light"/>
                <a:ea typeface="Roboto Mono Light"/>
                <a:cs typeface="Roboto Mono Light"/>
                <a:sym typeface="Roboto Mono Light"/>
              </a:rPr>
              <a:t>True</a:t>
            </a:r>
            <a:r>
              <a:rPr lang="en-US" sz="1300"/>
              <a:t> when the value meets the condition, and </a:t>
            </a:r>
            <a:r>
              <a:rPr lang="en-US" sz="1300">
                <a:latin typeface="Roboto Mono Light"/>
                <a:ea typeface="Roboto Mono Light"/>
                <a:cs typeface="Roboto Mono Light"/>
                <a:sym typeface="Roboto Mono Light"/>
              </a:rPr>
              <a:t>False</a:t>
            </a:r>
            <a:r>
              <a:rPr lang="en-US" sz="1300"/>
              <a:t> when it does not. This can then be applied directly to the original Series (via sticking it inside of square brackets, just like a selecting action), which will produce a new filtered Series!</a:t>
            </a:r>
            <a:endParaRPr sz="1300"/>
          </a:p>
        </p:txBody>
      </p:sp>
      <p:sp>
        <p:nvSpPr>
          <p:cNvPr id="157" name="Google Shape;157;p2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00">
                <a:latin typeface="Roboto Mono Light"/>
                <a:ea typeface="Roboto Mono Light"/>
                <a:cs typeface="Roboto Mono Light"/>
                <a:sym typeface="Roboto Mono Light"/>
              </a:rPr>
              <a:t>import numpy as np</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def main():</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ser_values = pd.Series(np.arange(10))</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a:t>
            </a:r>
            <a:r>
              <a:rPr b="1" lang="en-US" sz="800">
                <a:latin typeface="Roboto Mono"/>
                <a:ea typeface="Roboto Mono"/>
                <a:cs typeface="Roboto Mono"/>
                <a:sym typeface="Roboto Mono"/>
              </a:rPr>
              <a:t># set up the filter</a:t>
            </a:r>
            <a:endParaRPr b="1" sz="800">
              <a:latin typeface="Roboto Mono"/>
              <a:ea typeface="Roboto Mono"/>
              <a:cs typeface="Roboto Mono"/>
              <a:sym typeface="Roboto Mono"/>
            </a:endParaRPr>
          </a:p>
          <a:p>
            <a:pPr indent="0" lvl="0" marL="0" rtl="0" algn="l">
              <a:spcBef>
                <a:spcPts val="0"/>
              </a:spcBef>
              <a:spcAft>
                <a:spcPts val="0"/>
              </a:spcAft>
              <a:buNone/>
            </a:pPr>
            <a:r>
              <a:rPr b="1" lang="en-US" sz="800">
                <a:latin typeface="Roboto Mono"/>
                <a:ea typeface="Roboto Mono"/>
                <a:cs typeface="Roboto Mono"/>
                <a:sym typeface="Roboto Mono"/>
              </a:rPr>
              <a:t>	ser_evens_filt = ser_values % 2 == 0</a:t>
            </a:r>
            <a:endParaRPr b="1" sz="800">
              <a:latin typeface="Roboto Mono"/>
              <a:ea typeface="Roboto Mono"/>
              <a:cs typeface="Roboto Mono"/>
              <a:sym typeface="Roboto Mono"/>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print(ser_evens_filt)</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a:t>
            </a:r>
            <a:r>
              <a:rPr b="1" lang="en-US" sz="800">
                <a:latin typeface="Roboto Mono"/>
                <a:ea typeface="Roboto Mono"/>
                <a:cs typeface="Roboto Mono"/>
                <a:sym typeface="Roboto Mono"/>
              </a:rPr>
              <a:t># apply the filter</a:t>
            </a:r>
            <a:endParaRPr b="1" sz="800">
              <a:latin typeface="Roboto Mono"/>
              <a:ea typeface="Roboto Mono"/>
              <a:cs typeface="Roboto Mono"/>
              <a:sym typeface="Roboto Mono"/>
            </a:endParaRPr>
          </a:p>
          <a:p>
            <a:pPr indent="0" lvl="0" marL="0" rtl="0" algn="l">
              <a:spcBef>
                <a:spcPts val="0"/>
              </a:spcBef>
              <a:spcAft>
                <a:spcPts val="0"/>
              </a:spcAft>
              <a:buNone/>
            </a:pPr>
            <a:r>
              <a:rPr b="1" lang="en-US" sz="800">
                <a:latin typeface="Roboto Mono"/>
                <a:ea typeface="Roboto Mono"/>
                <a:cs typeface="Roboto Mono"/>
                <a:sym typeface="Roboto Mono"/>
              </a:rPr>
              <a:t>	ser_evens = ser_values[ser_evens_filt]</a:t>
            </a:r>
            <a:endParaRPr b="1" sz="800">
              <a:latin typeface="Roboto Mono"/>
              <a:ea typeface="Roboto Mono"/>
              <a:cs typeface="Roboto Mono"/>
              <a:sym typeface="Roboto Mono"/>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print(ser_evens)</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a:t>
            </a:r>
            <a:r>
              <a:rPr b="1" lang="en-US" sz="800">
                <a:latin typeface="Roboto Mono"/>
                <a:ea typeface="Roboto Mono"/>
                <a:cs typeface="Roboto Mono"/>
                <a:sym typeface="Roboto Mono"/>
              </a:rPr>
              <a:t># this can also be done in one step</a:t>
            </a:r>
            <a:endParaRPr b="1" sz="800">
              <a:latin typeface="Roboto Mono"/>
              <a:ea typeface="Roboto Mono"/>
              <a:cs typeface="Roboto Mono"/>
              <a:sym typeface="Roboto Mono"/>
            </a:endParaRPr>
          </a:p>
          <a:p>
            <a:pPr indent="0" lvl="0" marL="0" rtl="0" algn="l">
              <a:spcBef>
                <a:spcPts val="0"/>
              </a:spcBef>
              <a:spcAft>
                <a:spcPts val="0"/>
              </a:spcAft>
              <a:buNone/>
            </a:pPr>
            <a:r>
              <a:rPr b="1" lang="en-US" sz="800">
                <a:latin typeface="Roboto Mono"/>
                <a:ea typeface="Roboto Mono"/>
                <a:cs typeface="Roboto Mono"/>
                <a:sym typeface="Roboto Mono"/>
              </a:rPr>
              <a:t>	ser_odds = ser_values[ser_values % 2 == 1]</a:t>
            </a:r>
            <a:endParaRPr b="1" sz="800">
              <a:latin typeface="Roboto Mono"/>
              <a:ea typeface="Roboto Mono"/>
              <a:cs typeface="Roboto Mono"/>
              <a:sym typeface="Roboto Mono"/>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if __name__ == '__main__':</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main()</a:t>
            </a:r>
            <a:endParaRPr sz="800">
              <a:latin typeface="Roboto Mono Light"/>
              <a:ea typeface="Roboto Mono Light"/>
              <a:cs typeface="Roboto Mono Light"/>
              <a:sym typeface="Roboto Mono Light"/>
            </a:endParaRPr>
          </a:p>
        </p:txBody>
      </p:sp>
      <p:sp>
        <p:nvSpPr>
          <p:cNvPr id="158" name="Google Shape;158;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PANDAS: DATAFRAMES</a:t>
            </a:r>
            <a:endParaRPr/>
          </a:p>
        </p:txBody>
      </p:sp>
      <p:sp>
        <p:nvSpPr>
          <p:cNvPr id="165" name="Google Shape;165;p23"/>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Series are great, but...</a:t>
            </a:r>
            <a:endParaRPr/>
          </a:p>
        </p:txBody>
      </p:sp>
      <p:sp>
        <p:nvSpPr>
          <p:cNvPr id="172" name="Google Shape;172;p2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Series only allow for one-dimensional data. But real-world data are mixed datatype, e.g. name (String), age (int), height (float), etc. So you'd still need multiple of them to describe one dataset. Clearly, you're going to need another new datatype - one which combines Series together.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That new datatype is the DataFrame. A </a:t>
            </a:r>
            <a:r>
              <a:rPr b="1" lang="en-US">
                <a:solidFill>
                  <a:schemeClr val="dk1"/>
                </a:solidFill>
              </a:rPr>
              <a:t>DataFrame </a:t>
            </a:r>
            <a:r>
              <a:rPr lang="en-US">
                <a:solidFill>
                  <a:schemeClr val="dk1"/>
                </a:solidFill>
              </a:rPr>
              <a:t>is nothing more than a collection of Series with some extra functionality built around it. DataFrames retain the same functionality as Series (although occasionally it will be referenced differently) and provide more complex functionality as well.</a:t>
            </a:r>
            <a:endParaRPr>
              <a:solidFill>
                <a:schemeClr val="dk1"/>
              </a:solidFill>
            </a:endParaRPr>
          </a:p>
        </p:txBody>
      </p:sp>
      <p:sp>
        <p:nvSpPr>
          <p:cNvPr id="173" name="Google Shape;173;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from collection</a:t>
            </a:r>
            <a:endParaRPr/>
          </a:p>
        </p:txBody>
      </p:sp>
      <p:sp>
        <p:nvSpPr>
          <p:cNvPr id="180" name="Google Shape;180;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There are several ways to construct DataFrames; the most obvious is to just use the </a:t>
            </a:r>
            <a:r>
              <a:rPr lang="en-US" sz="1300">
                <a:latin typeface="Roboto Mono Light"/>
                <a:ea typeface="Roboto Mono Light"/>
                <a:cs typeface="Roboto Mono Light"/>
                <a:sym typeface="Roboto Mono Light"/>
              </a:rPr>
              <a:t>DataFrame()</a:t>
            </a:r>
            <a:r>
              <a:rPr lang="en-US" sz="1300"/>
              <a:t> constructor and feed it a two-dimensional collection.</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i="1" lang="en-US" sz="1300">
                <a:solidFill>
                  <a:schemeClr val="dk1"/>
                </a:solidFill>
              </a:rPr>
              <a:t>Notice that when a DataFrame is printed, it</a:t>
            </a:r>
            <a:r>
              <a:rPr i="1" lang="en-US" sz="1300"/>
              <a:t> shows a bit more information.</a:t>
            </a:r>
            <a:endParaRPr i="1" sz="1300"/>
          </a:p>
        </p:txBody>
      </p:sp>
      <p:sp>
        <p:nvSpPr>
          <p:cNvPr id="181" name="Google Shape;181;p2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00">
                <a:latin typeface="Roboto Mono Light"/>
                <a:ea typeface="Roboto Mono Light"/>
                <a:cs typeface="Roboto Mono Light"/>
                <a:sym typeface="Roboto Mono Light"/>
              </a:rPr>
              <a:t>import numpy as np</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b="1" lang="en-US" sz="800">
                <a:latin typeface="Roboto Mono"/>
                <a:ea typeface="Roboto Mono"/>
                <a:cs typeface="Roboto Mono"/>
                <a:sym typeface="Roboto Mono"/>
              </a:rPr>
              <a:t>import pandas as pd</a:t>
            </a:r>
            <a:endParaRPr b="1" sz="800">
              <a:latin typeface="Roboto Mono"/>
              <a:ea typeface="Roboto Mono"/>
              <a:cs typeface="Roboto Mono"/>
              <a:sym typeface="Roboto Mono"/>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def main():</a:t>
            </a:r>
            <a:endParaRPr sz="800">
              <a:latin typeface="Roboto Mono Light"/>
              <a:ea typeface="Roboto Mono Light"/>
              <a:cs typeface="Roboto Mono Light"/>
              <a:sym typeface="Roboto Mono Light"/>
            </a:endParaRPr>
          </a:p>
          <a:p>
            <a:pPr indent="-457200" lvl="0" marL="914400" rtl="0" algn="l">
              <a:spcBef>
                <a:spcPts val="0"/>
              </a:spcBef>
              <a:spcAft>
                <a:spcPts val="0"/>
              </a:spcAft>
              <a:buNone/>
            </a:pPr>
            <a:r>
              <a:rPr lang="en-US" sz="800">
                <a:solidFill>
                  <a:schemeClr val="dk1"/>
                </a:solidFill>
                <a:latin typeface="Roboto Mono Light"/>
                <a:ea typeface="Roboto Mono Light"/>
                <a:cs typeface="Roboto Mono Light"/>
                <a:sym typeface="Roboto Mono Light"/>
              </a:rPr>
              <a:t>dict_my_pets = {'name': ['puff', 'snacks', 'uszka'], 'animal': ['cat', 'hamster', 'dog']}</a:t>
            </a:r>
            <a:endParaRPr sz="800">
              <a:solidFill>
                <a:schemeClr val="dk1"/>
              </a:solidFill>
              <a:latin typeface="Roboto Mono Light"/>
              <a:ea typeface="Roboto Mono Light"/>
              <a:cs typeface="Roboto Mono Light"/>
              <a:sym typeface="Roboto Mono Light"/>
            </a:endParaRPr>
          </a:p>
          <a:p>
            <a:pPr indent="-457200" lvl="0" marL="914400" rtl="0" algn="l">
              <a:spcBef>
                <a:spcPts val="0"/>
              </a:spcBef>
              <a:spcAft>
                <a:spcPts val="0"/>
              </a:spcAft>
              <a:buNone/>
            </a:pPr>
            <a:r>
              <a:rPr lang="en-US" sz="800">
                <a:solidFill>
                  <a:schemeClr val="dk1"/>
                </a:solidFill>
                <a:latin typeface="Roboto Mono Light"/>
                <a:ea typeface="Roboto Mono Light"/>
                <a:cs typeface="Roboto Mono Light"/>
                <a:sym typeface="Roboto Mono Light"/>
              </a:rPr>
              <a:t>df_pets = </a:t>
            </a:r>
            <a:r>
              <a:rPr b="1" lang="en-US" sz="800">
                <a:solidFill>
                  <a:schemeClr val="dk1"/>
                </a:solidFill>
                <a:latin typeface="Roboto Mono"/>
                <a:ea typeface="Roboto Mono"/>
                <a:cs typeface="Roboto Mono"/>
                <a:sym typeface="Roboto Mono"/>
              </a:rPr>
              <a:t>pd.DataFrame(dict_my_pets)</a:t>
            </a:r>
            <a:endParaRPr b="1" sz="800">
              <a:solidFill>
                <a:schemeClr val="dk1"/>
              </a:solidFill>
              <a:latin typeface="Roboto Mono"/>
              <a:ea typeface="Roboto Mono"/>
              <a:cs typeface="Roboto Mono"/>
              <a:sym typeface="Roboto Mono"/>
            </a:endParaRPr>
          </a:p>
          <a:p>
            <a:pPr indent="-457200" lvl="0" marL="914400" rtl="0" algn="l">
              <a:spcBef>
                <a:spcPts val="0"/>
              </a:spcBef>
              <a:spcAft>
                <a:spcPts val="0"/>
              </a:spcAft>
              <a:buNone/>
            </a:pPr>
            <a:r>
              <a:rPr lang="en-US" sz="800">
                <a:solidFill>
                  <a:schemeClr val="dk1"/>
                </a:solidFill>
                <a:latin typeface="Roboto Mono Light"/>
                <a:ea typeface="Roboto Mono Light"/>
                <a:cs typeface="Roboto Mono Light"/>
                <a:sym typeface="Roboto Mono Light"/>
              </a:rPr>
              <a:t>print(df_pets)</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if __name__ == '__main__':</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    main()</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&gt;&gt;&gt;</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b="1" lang="en-US" sz="800">
                <a:solidFill>
                  <a:schemeClr val="dk1"/>
                </a:solidFill>
                <a:latin typeface="Roboto Mono"/>
                <a:ea typeface="Roboto Mono"/>
                <a:cs typeface="Roboto Mono"/>
                <a:sym typeface="Roboto Mono"/>
              </a:rPr>
              <a:t>        name      animal</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800">
                <a:solidFill>
                  <a:schemeClr val="dk1"/>
                </a:solidFill>
                <a:latin typeface="Roboto Mono"/>
                <a:ea typeface="Roboto Mono"/>
                <a:cs typeface="Roboto Mono"/>
                <a:sym typeface="Roboto Mono"/>
              </a:rPr>
              <a:t>0       puff         cat</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800">
                <a:solidFill>
                  <a:schemeClr val="dk1"/>
                </a:solidFill>
                <a:latin typeface="Roboto Mono"/>
                <a:ea typeface="Roboto Mono"/>
                <a:cs typeface="Roboto Mono"/>
                <a:sym typeface="Roboto Mono"/>
              </a:rPr>
              <a:t>1     snacks     hamster</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800">
                <a:solidFill>
                  <a:schemeClr val="dk1"/>
                </a:solidFill>
                <a:latin typeface="Roboto Mono"/>
                <a:ea typeface="Roboto Mono"/>
                <a:cs typeface="Roboto Mono"/>
                <a:sym typeface="Roboto Mono"/>
              </a:rPr>
              <a:t>2      uszka         dog</a:t>
            </a:r>
            <a:endParaRPr b="1" sz="800">
              <a:solidFill>
                <a:schemeClr val="dk1"/>
              </a:solidFill>
              <a:latin typeface="Roboto Mono"/>
              <a:ea typeface="Roboto Mono"/>
              <a:cs typeface="Roboto Mono"/>
              <a:sym typeface="Roboto Mono"/>
            </a:endParaRPr>
          </a:p>
        </p:txBody>
      </p:sp>
      <p:sp>
        <p:nvSpPr>
          <p:cNvPr id="182" name="Google Shape;182;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from a file</a:t>
            </a:r>
            <a:endParaRPr/>
          </a:p>
        </p:txBody>
      </p:sp>
      <p:sp>
        <p:nvSpPr>
          <p:cNvPr id="189" name="Google Shape;189;p2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There are several ways to construct DataFrames; the one which you'll be using the most often (in this course, anway) is via a file import. pandas can handle a number of different file types. In this course, however, the only file type you'll be using is the </a:t>
            </a:r>
            <a:r>
              <a:rPr b="1" lang="en-US" sz="1100"/>
              <a:t>comma separated values (csv) file</a:t>
            </a:r>
            <a:r>
              <a:rPr lang="en-U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pandas provides for you a built-in method which will import and format a the data from a csv into a DataFrame with just one line of code!</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i="1" lang="en-US" sz="1100"/>
              <a:t>Note that when a DataFrame with more than 10 rows is printed, it will truncate the output. (This is also the behavior of a Series.)</a:t>
            </a:r>
            <a:endParaRPr i="1" sz="1100"/>
          </a:p>
        </p:txBody>
      </p:sp>
      <p:sp>
        <p:nvSpPr>
          <p:cNvPr id="190" name="Google Shape;190;p2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900">
                <a:latin typeface="Roboto Mono Light"/>
                <a:ea typeface="Roboto Mono Light"/>
                <a:cs typeface="Roboto Mono Light"/>
                <a:sym typeface="Roboto Mono Light"/>
              </a:rPr>
              <a:t>import numpy as np</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import pandas as pd</a:t>
            </a:r>
            <a:endParaRPr sz="900">
              <a:latin typeface="Roboto Mono Light"/>
              <a:ea typeface="Roboto Mono Light"/>
              <a:cs typeface="Roboto Mono Light"/>
              <a:sym typeface="Roboto Mono Light"/>
            </a:endParaRPr>
          </a:p>
          <a:p>
            <a:pPr indent="0" lvl="0" marL="0" rtl="0" algn="l">
              <a:spcBef>
                <a:spcPts val="0"/>
              </a:spcBef>
              <a:spcAft>
                <a:spcPts val="0"/>
              </a:spcAft>
              <a:buNone/>
            </a:pPr>
            <a:r>
              <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def main():</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	file_path = 'iris.csv'</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	df_iris = </a:t>
            </a:r>
            <a:r>
              <a:rPr b="1" lang="en-US" sz="900">
                <a:latin typeface="Roboto Mono"/>
                <a:ea typeface="Roboto Mono"/>
                <a:cs typeface="Roboto Mono"/>
                <a:sym typeface="Roboto Mono"/>
              </a:rPr>
              <a:t>pd.read_csv(</a:t>
            </a:r>
            <a:r>
              <a:rPr b="1" lang="en-US" sz="900">
                <a:latin typeface="Roboto Mono"/>
                <a:ea typeface="Roboto Mono"/>
                <a:cs typeface="Roboto Mono"/>
                <a:sym typeface="Roboto Mono"/>
              </a:rPr>
              <a:t>file_path</a:t>
            </a:r>
            <a:r>
              <a:rPr b="1" lang="en-US" sz="900">
                <a:latin typeface="Roboto Mono"/>
                <a:ea typeface="Roboto Mono"/>
                <a:cs typeface="Roboto Mono"/>
                <a:sym typeface="Roboto Mono"/>
              </a:rPr>
              <a:t>)</a:t>
            </a:r>
            <a:endParaRPr b="1" sz="900">
              <a:latin typeface="Roboto Mono"/>
              <a:ea typeface="Roboto Mono"/>
              <a:cs typeface="Roboto Mono"/>
              <a:sym typeface="Roboto Mono"/>
            </a:endParaRPr>
          </a:p>
          <a:p>
            <a:pPr indent="0" lvl="0" marL="0" rtl="0" algn="l">
              <a:spcBef>
                <a:spcPts val="0"/>
              </a:spcBef>
              <a:spcAft>
                <a:spcPts val="0"/>
              </a:spcAft>
              <a:buNone/>
            </a:pPr>
            <a:r>
              <a:rPr lang="en-US" sz="900">
                <a:latin typeface="Roboto Mono Light"/>
                <a:ea typeface="Roboto Mono Light"/>
                <a:cs typeface="Roboto Mono Light"/>
                <a:sym typeface="Roboto Mono Light"/>
              </a:rPr>
              <a:t>	print(df_iris)</a:t>
            </a:r>
            <a:endParaRPr sz="900">
              <a:latin typeface="Roboto Mono Light"/>
              <a:ea typeface="Roboto Mono Light"/>
              <a:cs typeface="Roboto Mono Light"/>
              <a:sym typeface="Roboto Mono Light"/>
            </a:endParaRPr>
          </a:p>
          <a:p>
            <a:pPr indent="0" lvl="0" marL="0" rtl="0" algn="l">
              <a:spcBef>
                <a:spcPts val="0"/>
              </a:spcBef>
              <a:spcAft>
                <a:spcPts val="0"/>
              </a:spcAft>
              <a:buNone/>
            </a:pPr>
            <a:r>
              <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if __name__ == '__main__':</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main()</a:t>
            </a:r>
            <a:endParaRPr sz="900">
              <a:solidFill>
                <a:schemeClr val="dk1"/>
              </a:solidFill>
              <a:latin typeface="Roboto Mono Light"/>
              <a:ea typeface="Roboto Mono Light"/>
              <a:cs typeface="Roboto Mono Light"/>
              <a:sym typeface="Roboto Mono Light"/>
            </a:endParaRPr>
          </a:p>
        </p:txBody>
      </p:sp>
      <p:sp>
        <p:nvSpPr>
          <p:cNvPr id="191" name="Google Shape;191;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ignoring csv data</a:t>
            </a:r>
            <a:endParaRPr/>
          </a:p>
        </p:txBody>
      </p:sp>
      <p:sp>
        <p:nvSpPr>
          <p:cNvPr id="198" name="Google Shape;198;p2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Using the </a:t>
            </a:r>
            <a:r>
              <a:rPr lang="en-US" sz="1300">
                <a:latin typeface="Roboto Mono Light"/>
                <a:ea typeface="Roboto Mono Light"/>
                <a:cs typeface="Roboto Mono Light"/>
                <a:sym typeface="Roboto Mono Light"/>
              </a:rPr>
              <a:t>.read_csv()</a:t>
            </a:r>
            <a:r>
              <a:rPr lang="en-US" sz="1300"/>
              <a:t> method will, by default, treat the first line as the header and all subsequent lines as data. What happens if your csv has extra stuff in it at the top (like comments)? You can use the </a:t>
            </a:r>
            <a:r>
              <a:rPr b="1" lang="en-US" sz="1300">
                <a:latin typeface="Roboto Mono"/>
                <a:ea typeface="Roboto Mono"/>
                <a:cs typeface="Roboto Mono"/>
                <a:sym typeface="Roboto Mono"/>
              </a:rPr>
              <a:t>skiprows</a:t>
            </a:r>
            <a:r>
              <a:rPr lang="en-US" sz="1300"/>
              <a:t> kwarg to jump over any number of initial lines.</a:t>
            </a:r>
            <a:endParaRPr sz="1300"/>
          </a:p>
          <a:p>
            <a:pPr indent="-311150" lvl="0" marL="457200" rtl="0" algn="l">
              <a:spcBef>
                <a:spcPts val="0"/>
              </a:spcBef>
              <a:spcAft>
                <a:spcPts val="0"/>
              </a:spcAft>
              <a:buSzPts val="1300"/>
              <a:buChar char="•"/>
            </a:pPr>
            <a:r>
              <a:rPr b="1" lang="en-US" sz="1300">
                <a:latin typeface="Roboto Mono"/>
                <a:ea typeface="Roboto Mono"/>
                <a:cs typeface="Roboto Mono"/>
                <a:sym typeface="Roboto Mono"/>
              </a:rPr>
              <a:t>DataFrame.dropna()</a:t>
            </a:r>
            <a:r>
              <a:rPr b="1" lang="en-US" sz="1300"/>
              <a:t> </a:t>
            </a:r>
            <a:r>
              <a:rPr lang="en-US" sz="1300"/>
              <a:t>will remove any row where one or more columns has a </a:t>
            </a:r>
            <a:r>
              <a:rPr lang="en-US" sz="1300">
                <a:latin typeface="Roboto Mono Light"/>
                <a:ea typeface="Roboto Mono Light"/>
                <a:cs typeface="Roboto Mono Light"/>
                <a:sym typeface="Roboto Mono Light"/>
              </a:rPr>
              <a:t>NaN</a:t>
            </a:r>
            <a:r>
              <a:rPr lang="en-US" sz="1300"/>
              <a:t> (Not a Number) value and/or empty value and/or invalid value</a:t>
            </a:r>
            <a:endParaRPr sz="1300"/>
          </a:p>
        </p:txBody>
      </p:sp>
      <p:sp>
        <p:nvSpPr>
          <p:cNvPr id="199" name="Google Shape;199;p2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import pandas as pd</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def main():</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file_name = 'iris.csv'</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df_iris = pd.read_csv(file_name, </a:t>
            </a:r>
            <a:r>
              <a:rPr b="1" lang="en-US" sz="1100">
                <a:latin typeface="Roboto Mono"/>
                <a:ea typeface="Roboto Mono"/>
                <a:cs typeface="Roboto Mono"/>
                <a:sym typeface="Roboto Mono"/>
              </a:rPr>
              <a:t>skiprows=2</a:t>
            </a:r>
            <a:r>
              <a:rPr lang="en-US" sz="1100">
                <a:latin typeface="Roboto Mono Light"/>
                <a:ea typeface="Roboto Mono Light"/>
                <a:cs typeface="Roboto Mono Light"/>
                <a:sym typeface="Roboto Mono Light"/>
              </a:rPr>
              <a:t>)</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print(df_iris)</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 use this</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df_iris = </a:t>
            </a:r>
            <a:r>
              <a:rPr b="1" lang="en-US" sz="1100">
                <a:latin typeface="Roboto Mono"/>
                <a:ea typeface="Roboto Mono"/>
                <a:cs typeface="Roboto Mono"/>
                <a:sym typeface="Roboto Mono"/>
              </a:rPr>
              <a:t>df_iris.dropna()</a:t>
            </a:r>
            <a:endParaRPr b="1"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print(df_iris)</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if __name__ == '__main__':</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main()</a:t>
            </a:r>
            <a:endParaRPr sz="1100">
              <a:latin typeface="Roboto Mono Light"/>
              <a:ea typeface="Roboto Mono Light"/>
              <a:cs typeface="Roboto Mono Light"/>
              <a:sym typeface="Roboto Mono Light"/>
            </a:endParaRPr>
          </a:p>
        </p:txBody>
      </p:sp>
      <p:sp>
        <p:nvSpPr>
          <p:cNvPr id="200" name="Google Shape;200;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basic information</a:t>
            </a:r>
            <a:endParaRPr/>
          </a:p>
        </p:txBody>
      </p:sp>
      <p:sp>
        <p:nvSpPr>
          <p:cNvPr id="207" name="Google Shape;207;p2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Getting a summary of the all of the information in the DataFrame is incredibly useful, and also very easy. This will tell you a number of things, including the datatype of each attribute (aka Series!).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Additionally, getting aggregated info about each of the numeric attributes is also very simple</a:t>
            </a:r>
            <a:endParaRPr sz="1500">
              <a:solidFill>
                <a:schemeClr val="dk1"/>
              </a:solidFill>
            </a:endParaRPr>
          </a:p>
        </p:txBody>
      </p:sp>
      <p:sp>
        <p:nvSpPr>
          <p:cNvPr id="208" name="Google Shape;208;p2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900">
                <a:latin typeface="Roboto Mono Light"/>
                <a:ea typeface="Roboto Mono Light"/>
                <a:cs typeface="Roboto Mono Light"/>
                <a:sym typeface="Roboto Mono Light"/>
              </a:rPr>
              <a:t>import numpy as np</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import pandas as pd</a:t>
            </a:r>
            <a:endParaRPr sz="900">
              <a:latin typeface="Roboto Mono Light"/>
              <a:ea typeface="Roboto Mono Light"/>
              <a:cs typeface="Roboto Mono Light"/>
              <a:sym typeface="Roboto Mono Light"/>
            </a:endParaRPr>
          </a:p>
          <a:p>
            <a:pPr indent="0" lvl="0" marL="0" rtl="0" algn="l">
              <a:spcBef>
                <a:spcPts val="0"/>
              </a:spcBef>
              <a:spcAft>
                <a:spcPts val="0"/>
              </a:spcAft>
              <a:buNone/>
            </a:pPr>
            <a:r>
              <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def main():</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	# </a:t>
            </a:r>
            <a:r>
              <a:rPr lang="en-US" sz="900">
                <a:latin typeface="Roboto Mono Light"/>
                <a:ea typeface="Roboto Mono Light"/>
                <a:cs typeface="Roboto Mono Light"/>
                <a:sym typeface="Roboto Mono Light"/>
              </a:rPr>
              <a:t>... previous code goes here</a:t>
            </a:r>
            <a:endParaRPr sz="900">
              <a:latin typeface="Roboto Mono Light"/>
              <a:ea typeface="Roboto Mono Light"/>
              <a:cs typeface="Roboto Mono Light"/>
              <a:sym typeface="Roboto Mono Light"/>
            </a:endParaRPr>
          </a:p>
          <a:p>
            <a:pPr indent="0" lvl="0" marL="0" rtl="0" algn="l">
              <a:spcBef>
                <a:spcPts val="0"/>
              </a:spcBef>
              <a:spcAft>
                <a:spcPts val="0"/>
              </a:spcAft>
              <a:buNone/>
            </a:pPr>
            <a:r>
              <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b="1" lang="en-US" sz="900">
                <a:latin typeface="Roboto Mono"/>
                <a:ea typeface="Roboto Mono"/>
                <a:cs typeface="Roboto Mono"/>
                <a:sym typeface="Roboto Mono"/>
              </a:rPr>
              <a:t>	# get general information, Note: no print()</a:t>
            </a:r>
            <a:endParaRPr b="1" sz="900">
              <a:latin typeface="Roboto Mono"/>
              <a:ea typeface="Roboto Mono"/>
              <a:cs typeface="Roboto Mono"/>
              <a:sym typeface="Roboto Mono"/>
            </a:endParaRPr>
          </a:p>
          <a:p>
            <a:pPr indent="0" lvl="0" marL="0" rtl="0" algn="l">
              <a:spcBef>
                <a:spcPts val="0"/>
              </a:spcBef>
              <a:spcAft>
                <a:spcPts val="0"/>
              </a:spcAft>
              <a:buNone/>
            </a:pPr>
            <a:r>
              <a:rPr b="1" lang="en-US" sz="900">
                <a:latin typeface="Roboto Mono"/>
                <a:ea typeface="Roboto Mono"/>
                <a:cs typeface="Roboto Mono"/>
                <a:sym typeface="Roboto Mono"/>
              </a:rPr>
              <a:t>	df_iris.info()</a:t>
            </a:r>
            <a:endParaRPr b="1" sz="900">
              <a:latin typeface="Roboto Mono"/>
              <a:ea typeface="Roboto Mono"/>
              <a:cs typeface="Roboto Mono"/>
              <a:sym typeface="Roboto Mono"/>
            </a:endParaRPr>
          </a:p>
          <a:p>
            <a:pPr indent="0" lvl="0" marL="0" rtl="0" algn="l">
              <a:spcBef>
                <a:spcPts val="0"/>
              </a:spcBef>
              <a:spcAft>
                <a:spcPts val="0"/>
              </a:spcAft>
              <a:buNone/>
            </a:pPr>
            <a:r>
              <a:t/>
            </a:r>
            <a:endParaRPr b="1" sz="900">
              <a:latin typeface="Roboto Mono"/>
              <a:ea typeface="Roboto Mono"/>
              <a:cs typeface="Roboto Mono"/>
              <a:sym typeface="Roboto Mono"/>
            </a:endParaRPr>
          </a:p>
          <a:p>
            <a:pPr indent="0" lvl="0" marL="0" rtl="0" algn="l">
              <a:spcBef>
                <a:spcPts val="0"/>
              </a:spcBef>
              <a:spcAft>
                <a:spcPts val="0"/>
              </a:spcAft>
              <a:buNone/>
            </a:pPr>
            <a:r>
              <a:rPr b="1" lang="en-US" sz="900">
                <a:latin typeface="Roboto Mono"/>
                <a:ea typeface="Roboto Mono"/>
                <a:cs typeface="Roboto Mono"/>
                <a:sym typeface="Roboto Mono"/>
              </a:rPr>
              <a:t>	# get aggregated info about numeric attributes</a:t>
            </a:r>
            <a:endParaRPr b="1" sz="900">
              <a:latin typeface="Roboto Mono"/>
              <a:ea typeface="Roboto Mono"/>
              <a:cs typeface="Roboto Mono"/>
              <a:sym typeface="Roboto Mono"/>
            </a:endParaRPr>
          </a:p>
          <a:p>
            <a:pPr indent="457200" lvl="0" marL="0" rtl="0" algn="l">
              <a:spcBef>
                <a:spcPts val="0"/>
              </a:spcBef>
              <a:spcAft>
                <a:spcPts val="0"/>
              </a:spcAft>
              <a:buNone/>
            </a:pPr>
            <a:r>
              <a:rPr b="1" lang="en-US" sz="900">
                <a:latin typeface="Roboto Mono"/>
                <a:ea typeface="Roboto Mono"/>
                <a:cs typeface="Roboto Mono"/>
                <a:sym typeface="Roboto Mono"/>
              </a:rPr>
              <a:t>print(df_iris.describe()) </a:t>
            </a:r>
            <a:endParaRPr b="1"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if __name__ == '__main__':</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main()</a:t>
            </a:r>
            <a:endParaRPr sz="900">
              <a:latin typeface="Roboto Mono Light"/>
              <a:ea typeface="Roboto Mono Light"/>
              <a:cs typeface="Roboto Mono Light"/>
              <a:sym typeface="Roboto Mono Light"/>
            </a:endParaRPr>
          </a:p>
        </p:txBody>
      </p:sp>
      <p:sp>
        <p:nvSpPr>
          <p:cNvPr id="209" name="Google Shape;209;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changing attributes</a:t>
            </a:r>
            <a:endParaRPr/>
          </a:p>
        </p:txBody>
      </p:sp>
      <p:sp>
        <p:nvSpPr>
          <p:cNvPr id="216" name="Google Shape;216;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DataFrames themselves have many attributes which you have access to. The most important descriptive attributes are the names of the </a:t>
            </a:r>
            <a:r>
              <a:rPr b="1" lang="en-US" sz="1500">
                <a:latin typeface="Roboto Mono"/>
                <a:ea typeface="Roboto Mono"/>
                <a:cs typeface="Roboto Mono"/>
                <a:sym typeface="Roboto Mono"/>
              </a:rPr>
              <a:t>columns</a:t>
            </a:r>
            <a:r>
              <a:rPr lang="en-US" sz="1500">
                <a:solidFill>
                  <a:schemeClr val="dk1"/>
                </a:solidFill>
              </a:rPr>
              <a:t> and the name of the </a:t>
            </a:r>
            <a:r>
              <a:rPr b="1" lang="en-US" sz="1500">
                <a:latin typeface="Roboto Mono"/>
                <a:ea typeface="Roboto Mono"/>
                <a:cs typeface="Roboto Mono"/>
                <a:sym typeface="Roboto Mono"/>
              </a:rPr>
              <a:t>index</a:t>
            </a:r>
            <a:r>
              <a:rPr lang="en-US" sz="1500">
                <a:solidFill>
                  <a:schemeClr val="dk1"/>
                </a:solidFill>
              </a:rPr>
              <a:t>es. You can manually change when the DataFrame is being created, and/or at any time after it has been.</a:t>
            </a:r>
            <a:endParaRPr sz="1500"/>
          </a:p>
        </p:txBody>
      </p:sp>
      <p:sp>
        <p:nvSpPr>
          <p:cNvPr id="217" name="Google Shape;217;p2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900">
                <a:latin typeface="Roboto Mono Light"/>
                <a:ea typeface="Roboto Mono Light"/>
                <a:cs typeface="Roboto Mono Light"/>
                <a:sym typeface="Roboto Mono Light"/>
              </a:rPr>
              <a:t>import numpy as np</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import pandas as pd</a:t>
            </a:r>
            <a:endParaRPr sz="900">
              <a:latin typeface="Roboto Mono Light"/>
              <a:ea typeface="Roboto Mono Light"/>
              <a:cs typeface="Roboto Mono Light"/>
              <a:sym typeface="Roboto Mono Light"/>
            </a:endParaRPr>
          </a:p>
          <a:p>
            <a:pPr indent="0" lvl="0" marL="0" rtl="0" algn="l">
              <a:spcBef>
                <a:spcPts val="0"/>
              </a:spcBef>
              <a:spcAft>
                <a:spcPts val="0"/>
              </a:spcAft>
              <a:buNone/>
            </a:pPr>
            <a:r>
              <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def main():</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	file_path = 'iris.csv'</a:t>
            </a:r>
            <a:endParaRPr sz="900">
              <a:latin typeface="Roboto Mono Light"/>
              <a:ea typeface="Roboto Mono Light"/>
              <a:cs typeface="Roboto Mono Light"/>
              <a:sym typeface="Roboto Mono Light"/>
            </a:endParaRPr>
          </a:p>
          <a:p>
            <a:pPr indent="-428625" lvl="0" marL="885825" rtl="0" algn="l">
              <a:spcBef>
                <a:spcPts val="0"/>
              </a:spcBef>
              <a:spcAft>
                <a:spcPts val="0"/>
              </a:spcAft>
              <a:buNone/>
            </a:pPr>
            <a:r>
              <a:rPr lang="en-US" sz="900">
                <a:latin typeface="Roboto Mono Light"/>
                <a:ea typeface="Roboto Mono Light"/>
                <a:cs typeface="Roboto Mono Light"/>
                <a:sym typeface="Roboto Mono Light"/>
              </a:rPr>
              <a:t>df_iris = pd.read_csv(file_path)</a:t>
            </a:r>
            <a:endParaRPr sz="900">
              <a:latin typeface="Roboto Mono Light"/>
              <a:ea typeface="Roboto Mono Light"/>
              <a:cs typeface="Roboto Mono Light"/>
              <a:sym typeface="Roboto Mono Light"/>
            </a:endParaRPr>
          </a:p>
          <a:p>
            <a:pPr indent="-428625" lvl="0" marL="885825" rtl="0" algn="l">
              <a:spcBef>
                <a:spcPts val="0"/>
              </a:spcBef>
              <a:spcAft>
                <a:spcPts val="0"/>
              </a:spcAft>
              <a:buClr>
                <a:schemeClr val="dk1"/>
              </a:buClr>
              <a:buSzPts val="1100"/>
              <a:buFont typeface="Arial"/>
              <a:buNone/>
            </a:pPr>
            <a:r>
              <a:rPr b="1" lang="en-US" sz="900">
                <a:solidFill>
                  <a:schemeClr val="dk1"/>
                </a:solidFill>
                <a:latin typeface="Roboto Mono"/>
                <a:ea typeface="Roboto Mono"/>
                <a:cs typeface="Roboto Mono"/>
                <a:sym typeface="Roboto Mono"/>
              </a:rPr>
              <a:t>df_iris.columns</a:t>
            </a:r>
            <a:r>
              <a:rPr lang="en-US" sz="900">
                <a:solidFill>
                  <a:schemeClr val="dk1"/>
                </a:solidFill>
                <a:latin typeface="Roboto Mono Light"/>
                <a:ea typeface="Roboto Mono Light"/>
                <a:cs typeface="Roboto Mono Light"/>
                <a:sym typeface="Roboto Mono Light"/>
              </a:rPr>
              <a:t> </a:t>
            </a:r>
            <a:r>
              <a:rPr lang="en-US" sz="900">
                <a:solidFill>
                  <a:schemeClr val="dk1"/>
                </a:solidFill>
                <a:latin typeface="Roboto Mono Light"/>
                <a:ea typeface="Roboto Mono Light"/>
                <a:cs typeface="Roboto Mono Light"/>
                <a:sym typeface="Roboto Mono Light"/>
              </a:rPr>
              <a:t>= ['a', 'b', 'c', 'd', 'e']</a:t>
            </a:r>
            <a:endParaRPr sz="900">
              <a:latin typeface="Roboto Mono Light"/>
              <a:ea typeface="Roboto Mono Light"/>
              <a:cs typeface="Roboto Mono Light"/>
              <a:sym typeface="Roboto Mono Light"/>
            </a:endParaRPr>
          </a:p>
          <a:p>
            <a:pPr indent="-428625" lvl="0" marL="885825" rtl="0" algn="l">
              <a:spcBef>
                <a:spcPts val="0"/>
              </a:spcBef>
              <a:spcAft>
                <a:spcPts val="0"/>
              </a:spcAft>
              <a:buNone/>
            </a:pPr>
            <a:r>
              <a:rPr b="1" lang="en-US" sz="900">
                <a:latin typeface="Roboto Mono"/>
                <a:ea typeface="Roboto Mono"/>
                <a:cs typeface="Roboto Mono"/>
                <a:sym typeface="Roboto Mono"/>
              </a:rPr>
              <a:t>df_iris.index</a:t>
            </a:r>
            <a:r>
              <a:rPr lang="en-US" sz="900">
                <a:latin typeface="Roboto Mono Light"/>
                <a:ea typeface="Roboto Mono Light"/>
                <a:cs typeface="Roboto Mono Light"/>
                <a:sym typeface="Roboto Mono Light"/>
              </a:rPr>
              <a:t> = </a:t>
            </a:r>
            <a:r>
              <a:rPr lang="en-US" sz="900">
                <a:solidFill>
                  <a:schemeClr val="dk1"/>
                </a:solidFill>
                <a:latin typeface="Roboto Mono Light"/>
                <a:ea typeface="Roboto Mono Light"/>
                <a:cs typeface="Roboto Mono Light"/>
                <a:sym typeface="Roboto Mono Light"/>
              </a:rPr>
              <a:t>np.arange(10, 160)</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if __name__ == '__main__':</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main()</a:t>
            </a:r>
            <a:endParaRPr sz="900">
              <a:latin typeface="Roboto Mono Light"/>
              <a:ea typeface="Roboto Mono Light"/>
              <a:cs typeface="Roboto Mono Light"/>
              <a:sym typeface="Roboto Mono Light"/>
            </a:endParaRPr>
          </a:p>
        </p:txBody>
      </p:sp>
      <p:sp>
        <p:nvSpPr>
          <p:cNvPr id="218" name="Google Shape;218;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basic indexing</a:t>
            </a:r>
            <a:endParaRPr/>
          </a:p>
        </p:txBody>
      </p:sp>
      <p:sp>
        <p:nvSpPr>
          <p:cNvPr id="225" name="Google Shape;225;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solidFill>
                  <a:schemeClr val="dk1"/>
                </a:solidFill>
              </a:rPr>
              <a:t>The only significant difference in implementation between DataFrames and Series is how to access items contained within. By default, you can still use square brackets - but </a:t>
            </a:r>
            <a:r>
              <a:rPr b="1" lang="en-US" sz="1300">
                <a:solidFill>
                  <a:schemeClr val="dk1"/>
                </a:solidFill>
              </a:rPr>
              <a:t>with a DataFrame, indexing like you're used to selects </a:t>
            </a:r>
            <a:r>
              <a:rPr b="1" i="1" lang="en-US" sz="1300">
                <a:solidFill>
                  <a:schemeClr val="dk1"/>
                </a:solidFill>
              </a:rPr>
              <a:t>columns</a:t>
            </a:r>
            <a:r>
              <a:rPr b="1" lang="en-US" sz="1300">
                <a:solidFill>
                  <a:schemeClr val="dk1"/>
                </a:solidFill>
              </a:rPr>
              <a:t>, not rows</a:t>
            </a:r>
            <a:r>
              <a:rPr lang="en-US" sz="1300">
                <a:solidFill>
                  <a:schemeClr val="dk1"/>
                </a:solidFill>
              </a:rPr>
              <a:t>.</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US" sz="1300">
                <a:solidFill>
                  <a:schemeClr val="dk1"/>
                </a:solidFill>
              </a:rPr>
              <a:t>Both singular and collection selection are syntactically the same as with Series.</a:t>
            </a:r>
            <a:endParaRPr sz="1300">
              <a:solidFill>
                <a:schemeClr val="dk1"/>
              </a:solidFill>
            </a:endParaRPr>
          </a:p>
        </p:txBody>
      </p:sp>
      <p:sp>
        <p:nvSpPr>
          <p:cNvPr id="226" name="Google Shape;226;p3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import pandas as pd</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def main():</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file_name = 'iris.csv'</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df_iris = pd.read_csv(file_name, skiprows=2).dropna()</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 select one column</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df_species = </a:t>
            </a:r>
            <a:r>
              <a:rPr b="1" lang="en-US" sz="850">
                <a:solidFill>
                  <a:schemeClr val="dk1"/>
                </a:solidFill>
                <a:latin typeface="Roboto Mono"/>
                <a:ea typeface="Roboto Mono"/>
                <a:cs typeface="Roboto Mono"/>
                <a:sym typeface="Roboto Mono"/>
              </a:rPr>
              <a:t>df_iris['Species']</a:t>
            </a:r>
            <a:endParaRPr b="1" sz="85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print(df_species)</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print(type(df_species))</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 select multiple columns via a sequence</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df_species = </a:t>
            </a:r>
            <a:r>
              <a:rPr b="1" lang="en-US" sz="850">
                <a:solidFill>
                  <a:schemeClr val="dk1"/>
                </a:solidFill>
                <a:latin typeface="Roboto Mono"/>
                <a:ea typeface="Roboto Mono"/>
                <a:cs typeface="Roboto Mono"/>
                <a:sym typeface="Roboto Mono"/>
              </a:rPr>
              <a:t>df_iris[ ['Petal width', 'Species'] ]</a:t>
            </a:r>
            <a:endParaRPr b="1" sz="85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print(df_species)</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print(type(df_species))</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if __name__ == '__main__':</a:t>
            </a:r>
            <a:endParaRPr sz="85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50">
                <a:solidFill>
                  <a:schemeClr val="dk1"/>
                </a:solidFill>
                <a:latin typeface="Roboto Mono Light"/>
                <a:ea typeface="Roboto Mono Light"/>
                <a:cs typeface="Roboto Mono Light"/>
                <a:sym typeface="Roboto Mono Light"/>
              </a:rPr>
              <a:t>    main()</a:t>
            </a:r>
            <a:endParaRPr sz="850">
              <a:solidFill>
                <a:schemeClr val="dk1"/>
              </a:solidFill>
              <a:latin typeface="Roboto Mono Light"/>
              <a:ea typeface="Roboto Mono Light"/>
              <a:cs typeface="Roboto Mono Light"/>
              <a:sym typeface="Roboto Mono Light"/>
            </a:endParaRPr>
          </a:p>
        </p:txBody>
      </p:sp>
      <p:sp>
        <p:nvSpPr>
          <p:cNvPr id="227" name="Google Shape;227;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better indexing</a:t>
            </a:r>
            <a:endParaRPr/>
          </a:p>
        </p:txBody>
      </p:sp>
      <p:sp>
        <p:nvSpPr>
          <p:cNvPr id="234" name="Google Shape;234;p3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solidFill>
                  <a:schemeClr val="dk1"/>
                </a:solidFill>
              </a:rPr>
              <a:t>So how </a:t>
            </a:r>
            <a:r>
              <a:rPr i="1" lang="en-US" sz="1300">
                <a:solidFill>
                  <a:schemeClr val="dk1"/>
                </a:solidFill>
              </a:rPr>
              <a:t>do</a:t>
            </a:r>
            <a:r>
              <a:rPr lang="en-US" sz="1300">
                <a:solidFill>
                  <a:schemeClr val="dk1"/>
                </a:solidFill>
              </a:rPr>
              <a:t> you select rows? More generally, is there a tool which will allow you to select whatever data you want from a DataFrame?</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US" sz="1300">
                <a:solidFill>
                  <a:schemeClr val="dk1"/>
                </a:solidFill>
              </a:rPr>
              <a:t>No; there are </a:t>
            </a:r>
            <a:r>
              <a:rPr i="1" lang="en-US" sz="1300">
                <a:solidFill>
                  <a:schemeClr val="dk1"/>
                </a:solidFill>
              </a:rPr>
              <a:t>two </a:t>
            </a:r>
            <a:r>
              <a:rPr lang="en-US" sz="1300">
                <a:solidFill>
                  <a:schemeClr val="dk1"/>
                </a:solidFill>
              </a:rPr>
              <a:t>tools.</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latin typeface="Roboto Mono"/>
                <a:ea typeface="Roboto Mono"/>
                <a:cs typeface="Roboto Mono"/>
                <a:sym typeface="Roboto Mono"/>
              </a:rPr>
              <a:t>.iloc[]</a:t>
            </a:r>
            <a:r>
              <a:rPr lang="en-US" sz="1300">
                <a:solidFill>
                  <a:schemeClr val="dk1"/>
                </a:solidFill>
              </a:rPr>
              <a:t> allows for selecting based on row and column </a:t>
            </a:r>
            <a:r>
              <a:rPr b="1" lang="en-US" sz="1300">
                <a:solidFill>
                  <a:schemeClr val="dk1"/>
                </a:solidFill>
              </a:rPr>
              <a:t>index</a:t>
            </a:r>
            <a:r>
              <a:rPr lang="en-US" sz="1300">
                <a:solidFill>
                  <a:schemeClr val="dk1"/>
                </a:solidFill>
              </a:rPr>
              <a:t> (</a:t>
            </a:r>
            <a:r>
              <a:rPr b="1" lang="en-US" sz="1300" u="sng">
                <a:solidFill>
                  <a:schemeClr val="dk1"/>
                </a:solidFill>
              </a:rPr>
              <a:t>i</a:t>
            </a:r>
            <a:r>
              <a:rPr lang="en-US" sz="1300">
                <a:solidFill>
                  <a:schemeClr val="dk1"/>
                </a:solidFill>
              </a:rPr>
              <a:t>nteger </a:t>
            </a:r>
            <a:r>
              <a:rPr b="1" lang="en-US" sz="1300" u="sng">
                <a:solidFill>
                  <a:schemeClr val="dk1"/>
                </a:solidFill>
              </a:rPr>
              <a:t>loc</a:t>
            </a:r>
            <a:r>
              <a:rPr lang="en-US" sz="1300">
                <a:solidFill>
                  <a:schemeClr val="dk1"/>
                </a:solidFill>
              </a:rPr>
              <a:t>ation).</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latin typeface="Roboto Mono"/>
                <a:ea typeface="Roboto Mono"/>
                <a:cs typeface="Roboto Mono"/>
                <a:sym typeface="Roboto Mono"/>
              </a:rPr>
              <a:t>.loc[]</a:t>
            </a:r>
            <a:r>
              <a:rPr lang="en-US" sz="1300">
                <a:solidFill>
                  <a:schemeClr val="dk1"/>
                </a:solidFill>
              </a:rPr>
              <a:t> allows for selecting based on row and column </a:t>
            </a:r>
            <a:r>
              <a:rPr b="1" lang="en-US" sz="1300">
                <a:solidFill>
                  <a:schemeClr val="dk1"/>
                </a:solidFill>
              </a:rPr>
              <a:t>label</a:t>
            </a:r>
            <a:r>
              <a:rPr lang="en-US" sz="1300">
                <a:solidFill>
                  <a:schemeClr val="dk1"/>
                </a:solidFill>
              </a:rPr>
              <a:t>. Note that if either axis only has integer 'labels', you are able to use them.</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t/>
            </a:r>
            <a:endParaRPr sz="1500"/>
          </a:p>
        </p:txBody>
      </p:sp>
      <p:sp>
        <p:nvSpPr>
          <p:cNvPr id="235" name="Google Shape;235;p3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00">
                <a:latin typeface="Roboto Mono Light"/>
                <a:ea typeface="Roboto Mono Light"/>
                <a:cs typeface="Roboto Mono Light"/>
                <a:sym typeface="Roboto Mono Light"/>
              </a:rPr>
              <a:t>import pandas as pd</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def main():</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file_name = 'iris.csv'</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df_iris = pd.read_csv(file_name, skiprows=2).dropna()</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 integer location selection</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a:t>
            </a:r>
            <a:r>
              <a:rPr b="1" lang="en-US" sz="800">
                <a:latin typeface="Roboto Mono"/>
                <a:ea typeface="Roboto Mono"/>
                <a:cs typeface="Roboto Mono"/>
                <a:sym typeface="Roboto Mono"/>
              </a:rPr>
              <a:t>df_iris.iloc[1, 4]</a:t>
            </a:r>
            <a:r>
              <a:rPr lang="en-US" sz="800">
                <a:latin typeface="Roboto Mono Light"/>
                <a:ea typeface="Roboto Mono Light"/>
                <a:cs typeface="Roboto Mono Light"/>
                <a:sym typeface="Roboto Mono Light"/>
              </a:rPr>
              <a:t>) # row 1, column 4 (Species)</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a:t>
            </a:r>
            <a:r>
              <a:rPr b="1" lang="en-US" sz="800">
                <a:latin typeface="Roboto Mono"/>
                <a:ea typeface="Roboto Mono"/>
                <a:cs typeface="Roboto Mono"/>
                <a:sym typeface="Roboto Mono"/>
              </a:rPr>
              <a:t>df_iris.iloc[:4, :]</a:t>
            </a:r>
            <a:r>
              <a:rPr lang="en-US" sz="800">
                <a:latin typeface="Roboto Mono Light"/>
                <a:ea typeface="Roboto Mono Light"/>
                <a:cs typeface="Roboto Mono Light"/>
                <a:sym typeface="Roboto Mono Light"/>
              </a:rPr>
              <a:t>) # first four rows, all columns</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print(</a:t>
            </a:r>
            <a:r>
              <a:rPr b="1" lang="en-US" sz="800">
                <a:latin typeface="Roboto Mono"/>
                <a:ea typeface="Roboto Mono"/>
                <a:cs typeface="Roboto Mono"/>
                <a:sym typeface="Roboto Mono"/>
              </a:rPr>
              <a:t>df_iris.iloc[:4]</a:t>
            </a:r>
            <a:r>
              <a:rPr lang="en-US" sz="800">
                <a:latin typeface="Roboto Mono Light"/>
                <a:ea typeface="Roboto Mono Light"/>
                <a:cs typeface="Roboto Mono Light"/>
                <a:sym typeface="Roboto Mono Light"/>
              </a:rPr>
              <a:t>) # </a:t>
            </a:r>
            <a:r>
              <a:rPr lang="en-US" sz="800">
                <a:solidFill>
                  <a:schemeClr val="dk1"/>
                </a:solidFill>
                <a:latin typeface="Roboto Mono Light"/>
                <a:ea typeface="Roboto Mono Light"/>
                <a:cs typeface="Roboto Mono Light"/>
                <a:sym typeface="Roboto Mono Light"/>
              </a:rPr>
              <a:t>first four rows, all columns</a:t>
            </a:r>
            <a:endParaRPr sz="800">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 label location selection</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	print(</a:t>
            </a:r>
            <a:r>
              <a:rPr b="1" lang="en-US" sz="800">
                <a:solidFill>
                  <a:schemeClr val="dk1"/>
                </a:solidFill>
                <a:latin typeface="Roboto Mono"/>
                <a:ea typeface="Roboto Mono"/>
                <a:cs typeface="Roboto Mono"/>
                <a:sym typeface="Roboto Mono"/>
              </a:rPr>
              <a:t>df_iris.loc[1, 'Species']</a:t>
            </a:r>
            <a:r>
              <a:rPr lang="en-US" sz="800">
                <a:solidFill>
                  <a:schemeClr val="dk1"/>
                </a:solidFill>
                <a:latin typeface="Roboto Mono Light"/>
                <a:ea typeface="Roboto Mono Light"/>
                <a:cs typeface="Roboto Mono Light"/>
                <a:sym typeface="Roboto Mono Light"/>
              </a:rPr>
              <a:t>) # row 1 Species</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	print(</a:t>
            </a:r>
            <a:r>
              <a:rPr b="1" lang="en-US" sz="800">
                <a:solidFill>
                  <a:schemeClr val="dk1"/>
                </a:solidFill>
                <a:latin typeface="Roboto Mono"/>
                <a:ea typeface="Roboto Mono"/>
                <a:cs typeface="Roboto Mono"/>
                <a:sym typeface="Roboto Mono"/>
              </a:rPr>
              <a:t>df_iris.loc[:4, :]</a:t>
            </a:r>
            <a:r>
              <a:rPr lang="en-US" sz="800">
                <a:solidFill>
                  <a:schemeClr val="dk1"/>
                </a:solidFill>
                <a:latin typeface="Roboto Mono Light"/>
                <a:ea typeface="Roboto Mono Light"/>
                <a:cs typeface="Roboto Mono Light"/>
                <a:sym typeface="Roboto Mono Light"/>
              </a:rPr>
              <a:t>) # first four rows, all columns</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if __name__ == '__main__':</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	main()</a:t>
            </a:r>
            <a:endParaRPr sz="800">
              <a:latin typeface="Roboto Mono Light"/>
              <a:ea typeface="Roboto Mono Light"/>
              <a:cs typeface="Roboto Mono Light"/>
              <a:sym typeface="Roboto Mono Light"/>
            </a:endParaRPr>
          </a:p>
        </p:txBody>
      </p:sp>
      <p:sp>
        <p:nvSpPr>
          <p:cNvPr id="236" name="Google Shape;236;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assignment + maths</a:t>
            </a:r>
            <a:endParaRPr/>
          </a:p>
        </p:txBody>
      </p:sp>
      <p:sp>
        <p:nvSpPr>
          <p:cNvPr id="243" name="Google Shape;243;p3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DataFrame columns can be reassigned just as you would reassign a key's value in a dictionary. Just remember that the new data has to match the column's length!</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Unsurprisingly, you can also do maths on DataFrame columns since they're Series.</a:t>
            </a:r>
            <a:endParaRPr sz="1500">
              <a:solidFill>
                <a:schemeClr val="dk1"/>
              </a:solidFill>
            </a:endParaRPr>
          </a:p>
        </p:txBody>
      </p:sp>
      <p:sp>
        <p:nvSpPr>
          <p:cNvPr id="244" name="Google Shape;244;p3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import pandas as pd</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def main():</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file_name = 'iris.csv'</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a:t>
            </a:r>
            <a:r>
              <a:rPr lang="en-US" sz="900">
                <a:solidFill>
                  <a:schemeClr val="dk1"/>
                </a:solidFill>
                <a:latin typeface="Roboto Mono Light"/>
                <a:ea typeface="Roboto Mono Light"/>
                <a:cs typeface="Roboto Mono Light"/>
                <a:sym typeface="Roboto Mono Light"/>
              </a:rPr>
              <a:t>df_iris = pd.read_csv(file_name, skiprows=2).dropna()</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 print out a converted Sepal length (in mm)</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print(</a:t>
            </a:r>
            <a:r>
              <a:rPr b="1" lang="en-US" sz="900">
                <a:solidFill>
                  <a:schemeClr val="dk1"/>
                </a:solidFill>
                <a:latin typeface="Roboto Mono"/>
                <a:ea typeface="Roboto Mono"/>
                <a:cs typeface="Roboto Mono"/>
                <a:sym typeface="Roboto Mono"/>
              </a:rPr>
              <a:t>df_iris['Sepal </a:t>
            </a:r>
            <a:r>
              <a:rPr b="1" lang="en-US" sz="900">
                <a:solidFill>
                  <a:schemeClr val="dk1"/>
                </a:solidFill>
                <a:latin typeface="Roboto Mono"/>
                <a:ea typeface="Roboto Mono"/>
                <a:cs typeface="Roboto Mono"/>
                <a:sym typeface="Roboto Mono"/>
              </a:rPr>
              <a:t>length'</a:t>
            </a:r>
            <a:r>
              <a:rPr b="1" lang="en-US" sz="900">
                <a:solidFill>
                  <a:schemeClr val="dk1"/>
                </a:solidFill>
                <a:latin typeface="Roboto Mono"/>
                <a:ea typeface="Roboto Mono"/>
                <a:cs typeface="Roboto Mono"/>
                <a:sym typeface="Roboto Mono"/>
              </a:rPr>
              <a:t>] * </a:t>
            </a:r>
            <a:r>
              <a:rPr b="1" lang="en-US" sz="900">
                <a:solidFill>
                  <a:schemeClr val="dk1"/>
                </a:solidFill>
                <a:latin typeface="Roboto Mono"/>
                <a:ea typeface="Roboto Mono"/>
                <a:cs typeface="Roboto Mono"/>
                <a:sym typeface="Roboto Mono"/>
              </a:rPr>
              <a:t>10</a:t>
            </a:r>
            <a:r>
              <a:rPr lang="en-US" sz="900">
                <a:solidFill>
                  <a:schemeClr val="dk1"/>
                </a:solidFill>
                <a:latin typeface="Roboto Mono Light"/>
                <a:ea typeface="Roboto Mono Light"/>
                <a:cs typeface="Roboto Mono Light"/>
                <a:sym typeface="Roboto Mono Light"/>
              </a:rPr>
              <a:t>)</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 change Sepal length to be in mm</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a:t>
            </a:r>
            <a:r>
              <a:rPr b="1" lang="en-US" sz="900">
                <a:solidFill>
                  <a:schemeClr val="dk1"/>
                </a:solidFill>
                <a:latin typeface="Roboto Mono"/>
                <a:ea typeface="Roboto Mono"/>
                <a:cs typeface="Roboto Mono"/>
                <a:sym typeface="Roboto Mono"/>
              </a:rPr>
              <a:t>df_iris['Sepal length'] =</a:t>
            </a:r>
            <a:r>
              <a:rPr lang="en-US" sz="900">
                <a:solidFill>
                  <a:schemeClr val="dk1"/>
                </a:solidFill>
                <a:latin typeface="Roboto Mono Light"/>
                <a:ea typeface="Roboto Mono Light"/>
                <a:cs typeface="Roboto Mono Light"/>
                <a:sym typeface="Roboto Mono Light"/>
              </a:rPr>
              <a:t> df_iris['Sepal length'] * 10</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if __name__ == '__main__':</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main()</a:t>
            </a:r>
            <a:endParaRPr sz="900">
              <a:latin typeface="Roboto Mono Light"/>
              <a:ea typeface="Roboto Mono Light"/>
              <a:cs typeface="Roboto Mono Light"/>
              <a:sym typeface="Roboto Mono Light"/>
            </a:endParaRPr>
          </a:p>
        </p:txBody>
      </p:sp>
      <p:sp>
        <p:nvSpPr>
          <p:cNvPr id="245" name="Google Shape;245;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filtering</a:t>
            </a:r>
            <a:endParaRPr/>
          </a:p>
        </p:txBody>
      </p:sp>
      <p:sp>
        <p:nvSpPr>
          <p:cNvPr id="252" name="Google Shape;252;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Just like Series, DataFrames provide you with the conditional </a:t>
            </a:r>
            <a:r>
              <a:rPr b="1" lang="en-US" sz="1300"/>
              <a:t>filtering</a:t>
            </a:r>
            <a:r>
              <a:rPr lang="en-US" sz="1300"/>
              <a:t> tool.</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The only difference now is that conditional filter is really just a new boolean </a:t>
            </a:r>
            <a:r>
              <a:rPr i="1" lang="en-US" sz="1300"/>
              <a:t>DataFrame</a:t>
            </a:r>
            <a:r>
              <a:rPr lang="en-US" sz="1300"/>
              <a:t>, the same shape as the first, which is filled with Trues and Falses: </a:t>
            </a:r>
            <a:r>
              <a:rPr lang="en-US" sz="1300">
                <a:latin typeface="Roboto Mono Light"/>
                <a:ea typeface="Roboto Mono Light"/>
                <a:cs typeface="Roboto Mono Light"/>
                <a:sym typeface="Roboto Mono Light"/>
              </a:rPr>
              <a:t>True</a:t>
            </a:r>
            <a:r>
              <a:rPr lang="en-US" sz="1300"/>
              <a:t> when the value meets the condition, and </a:t>
            </a:r>
            <a:r>
              <a:rPr lang="en-US" sz="1300">
                <a:latin typeface="Roboto Mono Light"/>
                <a:ea typeface="Roboto Mono Light"/>
                <a:cs typeface="Roboto Mono Light"/>
                <a:sym typeface="Roboto Mono Light"/>
              </a:rPr>
              <a:t>False</a:t>
            </a:r>
            <a:r>
              <a:rPr lang="en-US" sz="1300"/>
              <a:t> when it does not. This can then be applied directly to the original DataFrame (via sticking it inside of square brackets, just like a selecting action), which will produce a new filtered DataFrame!</a:t>
            </a:r>
            <a:endParaRPr sz="1300"/>
          </a:p>
        </p:txBody>
      </p:sp>
      <p:sp>
        <p:nvSpPr>
          <p:cNvPr id="253" name="Google Shape;253;p3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import pandas as pd</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def main():</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file_name = 'iris.csv'</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df_iris = pd.read_csv(file_name, skiprows=2).dropna()</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a:t>
            </a:r>
            <a:r>
              <a:rPr b="1" lang="en-US" sz="900">
                <a:solidFill>
                  <a:schemeClr val="dk1"/>
                </a:solidFill>
                <a:latin typeface="Roboto Mono"/>
                <a:ea typeface="Roboto Mono"/>
                <a:cs typeface="Roboto Mono"/>
                <a:sym typeface="Roboto Mono"/>
              </a:rPr>
              <a:t># create a filter</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df_iris_setosa_filter = </a:t>
            </a:r>
            <a:r>
              <a:rPr b="1" lang="en-US" sz="900">
                <a:solidFill>
                  <a:schemeClr val="dk1"/>
                </a:solidFill>
                <a:latin typeface="Roboto Mono"/>
                <a:ea typeface="Roboto Mono"/>
                <a:cs typeface="Roboto Mono"/>
                <a:sym typeface="Roboto Mono"/>
              </a:rPr>
              <a:t>df_iris['Species'] == 'I. setosa'</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a:t>
            </a:r>
            <a:r>
              <a:rPr b="1" lang="en-US" sz="900">
                <a:solidFill>
                  <a:schemeClr val="dk1"/>
                </a:solidFill>
                <a:latin typeface="Roboto Mono"/>
                <a:ea typeface="Roboto Mono"/>
                <a:cs typeface="Roboto Mono"/>
                <a:sym typeface="Roboto Mono"/>
              </a:rPr>
              <a:t># apply the filter</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df_setosa = </a:t>
            </a:r>
            <a:r>
              <a:rPr b="1" lang="en-US" sz="900">
                <a:solidFill>
                  <a:schemeClr val="dk1"/>
                </a:solidFill>
                <a:latin typeface="Roboto Mono"/>
                <a:ea typeface="Roboto Mono"/>
                <a:cs typeface="Roboto Mono"/>
                <a:sym typeface="Roboto Mono"/>
              </a:rPr>
              <a:t>df_iris[df_iris_setosa_filter]</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a:t>
            </a:r>
            <a:r>
              <a:rPr b="1" lang="en-US" sz="900">
                <a:solidFill>
                  <a:schemeClr val="dk1"/>
                </a:solidFill>
                <a:latin typeface="Roboto Mono"/>
                <a:ea typeface="Roboto Mono"/>
                <a:cs typeface="Roboto Mono"/>
                <a:sym typeface="Roboto Mono"/>
              </a:rPr>
              <a:t># or all at once</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a:t>
            </a:r>
            <a:r>
              <a:rPr b="1" lang="en-US" sz="900">
                <a:solidFill>
                  <a:schemeClr val="dk1"/>
                </a:solidFill>
                <a:latin typeface="Roboto Mono"/>
                <a:ea typeface="Roboto Mono"/>
                <a:cs typeface="Roboto Mono"/>
                <a:sym typeface="Roboto Mono"/>
              </a:rPr>
              <a:t>df_s</a:t>
            </a:r>
            <a:r>
              <a:rPr b="1" lang="en-US" sz="900">
                <a:solidFill>
                  <a:schemeClr val="dk1"/>
                </a:solidFill>
                <a:latin typeface="Roboto Mono"/>
                <a:ea typeface="Roboto Mono"/>
                <a:cs typeface="Roboto Mono"/>
                <a:sym typeface="Roboto Mono"/>
              </a:rPr>
              <a:t>e</a:t>
            </a:r>
            <a:r>
              <a:rPr b="1" lang="en-US" sz="900">
                <a:solidFill>
                  <a:schemeClr val="dk1"/>
                </a:solidFill>
                <a:latin typeface="Roboto Mono"/>
                <a:ea typeface="Roboto Mono"/>
                <a:cs typeface="Roboto Mono"/>
                <a:sym typeface="Roboto Mono"/>
              </a:rPr>
              <a:t>tosa = df_iris[df_iris['Species'] == 'I. setosa']</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df_setosa = df_iris.query("Species == 'I. setosa'")</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print(df_setosa)</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if __name__ == '__main__':</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main()</a:t>
            </a:r>
            <a:endParaRPr sz="900">
              <a:solidFill>
                <a:schemeClr val="dk1"/>
              </a:solidFill>
              <a:latin typeface="Roboto Mono Light"/>
              <a:ea typeface="Roboto Mono Light"/>
              <a:cs typeface="Roboto Mono Light"/>
              <a:sym typeface="Roboto Mono Light"/>
            </a:endParaRPr>
          </a:p>
        </p:txBody>
      </p:sp>
      <p:sp>
        <p:nvSpPr>
          <p:cNvPr id="254" name="Google Shape;254;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adding and removing</a:t>
            </a:r>
            <a:endParaRPr/>
          </a:p>
        </p:txBody>
      </p:sp>
      <p:sp>
        <p:nvSpPr>
          <p:cNvPr id="261" name="Google Shape;261;p3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Adding columns to and removing columns from a DataFrame is pretty straightforward:</a:t>
            </a:r>
            <a:endParaRPr>
              <a:solidFill>
                <a:schemeClr val="dk1"/>
              </a:solidFill>
            </a:endParaRPr>
          </a:p>
          <a:p>
            <a:pPr indent="0" lvl="0" marL="0" rtl="0" algn="l">
              <a:spcBef>
                <a:spcPts val="0"/>
              </a:spcBef>
              <a:spcAft>
                <a:spcPts val="0"/>
              </a:spcAft>
              <a:buNone/>
            </a:pPr>
            <a:r>
              <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To add: same syntax as a dictionary</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To remove: a new method </a:t>
            </a:r>
            <a:r>
              <a:rPr b="1" lang="en-US">
                <a:latin typeface="Roboto Mono"/>
                <a:ea typeface="Roboto Mono"/>
                <a:cs typeface="Roboto Mono"/>
                <a:sym typeface="Roboto Mono"/>
              </a:rPr>
              <a:t>.drop()</a:t>
            </a:r>
            <a:endParaRPr b="1" sz="1900">
              <a:solidFill>
                <a:schemeClr val="dk1"/>
              </a:solidFill>
              <a:latin typeface="Courier New"/>
              <a:ea typeface="Courier New"/>
              <a:cs typeface="Courier New"/>
              <a:sym typeface="Courier New"/>
            </a:endParaRPr>
          </a:p>
        </p:txBody>
      </p:sp>
      <p:sp>
        <p:nvSpPr>
          <p:cNvPr id="262" name="Google Shape;262;p3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import pandas as pd</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def main():</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 </a:t>
            </a:r>
            <a:r>
              <a:rPr lang="en-US" sz="700">
                <a:solidFill>
                  <a:schemeClr val="dk1"/>
                </a:solidFill>
                <a:latin typeface="Roboto Mono Light"/>
                <a:ea typeface="Roboto Mono Light"/>
                <a:cs typeface="Roboto Mono Light"/>
                <a:sym typeface="Roboto Mono Light"/>
              </a:rPr>
              <a:t>... previous code goes here</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700">
                <a:solidFill>
                  <a:schemeClr val="dk1"/>
                </a:solidFill>
                <a:latin typeface="Roboto Mono"/>
                <a:ea typeface="Roboto Mono"/>
                <a:cs typeface="Roboto Mono"/>
                <a:sym typeface="Roboto Mono"/>
              </a:rPr>
              <a:t>	# add a new row</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700">
                <a:solidFill>
                  <a:schemeClr val="dk1"/>
                </a:solidFill>
                <a:latin typeface="Roboto Mono"/>
                <a:ea typeface="Roboto Mono"/>
                <a:cs typeface="Roboto Mono"/>
                <a:sym typeface="Roboto Mono"/>
              </a:rPr>
              <a:t>	new_row = pd.DataFrame([[2, 3, 4, 5, 'I. faketosa']], columns=df_iris.columns)</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700">
                <a:solidFill>
                  <a:schemeClr val="dk1"/>
                </a:solidFill>
                <a:latin typeface="Roboto Mono"/>
                <a:ea typeface="Roboto Mono"/>
                <a:cs typeface="Roboto Mono"/>
                <a:sym typeface="Roboto Mono"/>
              </a:rPr>
              <a:t>	df_iris = pd.concat([df_iris, new_row], ignore_index=True)</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700">
                <a:solidFill>
                  <a:schemeClr val="dk1"/>
                </a:solidFill>
                <a:latin typeface="Roboto Mono"/>
                <a:ea typeface="Roboto Mono"/>
                <a:cs typeface="Roboto Mono"/>
                <a:sym typeface="Roboto Mono"/>
              </a:rPr>
              <a:t>	# remove a row</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	df_iris = df_iris.drop(index=12)</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	# add a new column</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	df_iris['Petal diff'] = </a:t>
            </a:r>
            <a:r>
              <a:rPr lang="en-US" sz="700">
                <a:solidFill>
                  <a:schemeClr val="dk1"/>
                </a:solidFill>
                <a:latin typeface="Roboto Mono Light"/>
                <a:ea typeface="Roboto Mono Light"/>
                <a:cs typeface="Roboto Mono Light"/>
                <a:sym typeface="Roboto Mono Light"/>
              </a:rPr>
              <a:t>df_iris['Petal length']-df_iris['Petal width']</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	# remove a column</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700">
                <a:solidFill>
                  <a:schemeClr val="dk1"/>
                </a:solidFill>
                <a:latin typeface="Roboto Mono"/>
                <a:ea typeface="Roboto Mono"/>
                <a:cs typeface="Roboto Mono"/>
                <a:sym typeface="Roboto Mono"/>
              </a:rPr>
              <a:t>	df_iris = df_iris.drop(columns='Petal diff')</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if __name__ == '__main__':</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main()</a:t>
            </a:r>
            <a:endParaRPr sz="700">
              <a:latin typeface="Roboto Mono Light"/>
              <a:ea typeface="Roboto Mono Light"/>
              <a:cs typeface="Roboto Mono Light"/>
              <a:sym typeface="Roboto Mono Light"/>
            </a:endParaRPr>
          </a:p>
        </p:txBody>
      </p:sp>
      <p:sp>
        <p:nvSpPr>
          <p:cNvPr id="263" name="Google Shape;263;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sorting</a:t>
            </a:r>
            <a:endParaRPr/>
          </a:p>
        </p:txBody>
      </p:sp>
      <p:sp>
        <p:nvSpPr>
          <p:cNvPr id="270" name="Google Shape;270;p3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solidFill>
                  <a:schemeClr val="dk1"/>
                </a:solidFill>
              </a:rPr>
              <a:t>Inevitably, at some point you're going to want to </a:t>
            </a:r>
            <a:r>
              <a:rPr b="1" lang="en-US" sz="1300">
                <a:solidFill>
                  <a:schemeClr val="dk1"/>
                </a:solidFill>
              </a:rPr>
              <a:t>sort</a:t>
            </a:r>
            <a:r>
              <a:rPr lang="en-US" sz="1300">
                <a:solidFill>
                  <a:schemeClr val="dk1"/>
                </a:solidFill>
              </a:rPr>
              <a:t> your data. DataFrames can be sorted by:</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US" sz="1300">
                <a:solidFill>
                  <a:schemeClr val="dk1"/>
                </a:solidFill>
              </a:rPr>
              <a:t>values in one of their columns</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US" sz="1300">
                <a:solidFill>
                  <a:schemeClr val="dk1"/>
                </a:solidFill>
              </a:rPr>
              <a:t>their indexes</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US" sz="1300">
                <a:solidFill>
                  <a:schemeClr val="dk1"/>
                </a:solidFill>
              </a:rPr>
              <a:t>They  can be sorted in either direction (</a:t>
            </a:r>
            <a:r>
              <a:rPr lang="en-US" sz="1300">
                <a:solidFill>
                  <a:schemeClr val="dk1"/>
                </a:solidFill>
                <a:latin typeface="Courier New"/>
                <a:ea typeface="Courier New"/>
                <a:cs typeface="Courier New"/>
                <a:sym typeface="Courier New"/>
              </a:rPr>
              <a:t>ascending</a:t>
            </a:r>
            <a:r>
              <a:rPr lang="en-US" sz="1300">
                <a:solidFill>
                  <a:schemeClr val="dk1"/>
                </a:solidFill>
              </a:rPr>
              <a:t> is </a:t>
            </a:r>
            <a:r>
              <a:rPr lang="en-US" sz="1300">
                <a:solidFill>
                  <a:schemeClr val="dk1"/>
                </a:solidFill>
                <a:latin typeface="Courier New"/>
                <a:ea typeface="Courier New"/>
                <a:cs typeface="Courier New"/>
                <a:sym typeface="Courier New"/>
              </a:rPr>
              <a:t>True</a:t>
            </a:r>
            <a:r>
              <a:rPr lang="en-US" sz="1300">
                <a:solidFill>
                  <a:schemeClr val="dk1"/>
                </a:solidFill>
              </a:rPr>
              <a:t> by default). Their values can also be sorted in multiple ways at once!</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i="1" lang="en-US" sz="1300">
                <a:solidFill>
                  <a:schemeClr val="dk1"/>
                </a:solidFill>
              </a:rPr>
              <a:t>Notice: does sorting change the DataFrame?</a:t>
            </a:r>
            <a:endParaRPr i="1" sz="1300">
              <a:solidFill>
                <a:schemeClr val="dk1"/>
              </a:solidFill>
            </a:endParaRPr>
          </a:p>
        </p:txBody>
      </p:sp>
      <p:sp>
        <p:nvSpPr>
          <p:cNvPr id="271" name="Google Shape;271;p3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750">
                <a:solidFill>
                  <a:schemeClr val="dk1"/>
                </a:solidFill>
                <a:latin typeface="Courier New"/>
                <a:ea typeface="Courier New"/>
                <a:cs typeface="Courier New"/>
                <a:sym typeface="Courier New"/>
              </a:rPr>
              <a:t>import pandas as pd</a:t>
            </a:r>
            <a:endParaRPr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50">
                <a:solidFill>
                  <a:schemeClr val="dk1"/>
                </a:solidFill>
                <a:latin typeface="Courier New"/>
                <a:ea typeface="Courier New"/>
                <a:cs typeface="Courier New"/>
                <a:sym typeface="Courier New"/>
              </a:rPr>
              <a:t>def main():</a:t>
            </a:r>
            <a:endParaRPr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50">
                <a:solidFill>
                  <a:schemeClr val="dk1"/>
                </a:solidFill>
                <a:latin typeface="Courier New"/>
                <a:ea typeface="Courier New"/>
                <a:cs typeface="Courier New"/>
                <a:sym typeface="Courier New"/>
              </a:rPr>
              <a:t>	file_name = 'iris.csv'</a:t>
            </a:r>
            <a:endParaRPr sz="7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50">
                <a:solidFill>
                  <a:schemeClr val="dk1"/>
                </a:solidFill>
                <a:latin typeface="Courier New"/>
                <a:ea typeface="Courier New"/>
                <a:cs typeface="Courier New"/>
                <a:sym typeface="Courier New"/>
              </a:rPr>
              <a:t>	df_iris = pd.read_csv(file_name)</a:t>
            </a:r>
            <a:endParaRPr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50">
                <a:solidFill>
                  <a:schemeClr val="dk1"/>
                </a:solidFill>
                <a:latin typeface="Courier New"/>
                <a:ea typeface="Courier New"/>
                <a:cs typeface="Courier New"/>
                <a:sym typeface="Courier New"/>
              </a:rPr>
              <a:t>	# sort by Petal width</a:t>
            </a:r>
            <a:endParaRPr b="1"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50">
                <a:solidFill>
                  <a:schemeClr val="dk1"/>
                </a:solidFill>
                <a:latin typeface="Courier New"/>
                <a:ea typeface="Courier New"/>
                <a:cs typeface="Courier New"/>
                <a:sym typeface="Courier New"/>
              </a:rPr>
              <a:t>	df_sorted1 = df_iris.sort_values(by='Petal width')</a:t>
            </a:r>
            <a:endParaRPr b="1"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50">
                <a:solidFill>
                  <a:schemeClr val="dk1"/>
                </a:solidFill>
                <a:latin typeface="Courier New"/>
                <a:ea typeface="Courier New"/>
                <a:cs typeface="Courier New"/>
                <a:sym typeface="Courier New"/>
              </a:rPr>
              <a:t>	# sort by index in descending order</a:t>
            </a:r>
            <a:endParaRPr b="1"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50">
                <a:solidFill>
                  <a:schemeClr val="dk1"/>
                </a:solidFill>
                <a:latin typeface="Courier New"/>
                <a:ea typeface="Courier New"/>
                <a:cs typeface="Courier New"/>
                <a:sym typeface="Courier New"/>
              </a:rPr>
              <a:t>	df_sorted2 = df_iris.sort_index(ascending=False)</a:t>
            </a:r>
            <a:endParaRPr b="1"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50">
                <a:solidFill>
                  <a:schemeClr val="dk1"/>
                </a:solidFill>
                <a:latin typeface="Courier New"/>
                <a:ea typeface="Courier New"/>
                <a:cs typeface="Courier New"/>
                <a:sym typeface="Courier New"/>
              </a:rPr>
              <a:t>	# sort by Species, then Petal length</a:t>
            </a:r>
            <a:endParaRPr b="1"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50">
                <a:solidFill>
                  <a:schemeClr val="dk1"/>
                </a:solidFill>
                <a:latin typeface="Courier New"/>
                <a:ea typeface="Courier New"/>
                <a:cs typeface="Courier New"/>
                <a:sym typeface="Courier New"/>
              </a:rPr>
              <a:t>	df_sorted3 = df_iris.sort_values(by=['Species', 'Petal length'])</a:t>
            </a:r>
            <a:endParaRPr b="1"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7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50">
                <a:solidFill>
                  <a:schemeClr val="dk1"/>
                </a:solidFill>
                <a:latin typeface="Courier New"/>
                <a:ea typeface="Courier New"/>
                <a:cs typeface="Courier New"/>
                <a:sym typeface="Courier New"/>
              </a:rPr>
              <a:t>if __name__ == '__main__':</a:t>
            </a:r>
            <a:endParaRPr sz="7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50">
                <a:solidFill>
                  <a:schemeClr val="dk1"/>
                </a:solidFill>
                <a:latin typeface="Courier New"/>
                <a:ea typeface="Courier New"/>
                <a:cs typeface="Courier New"/>
                <a:sym typeface="Courier New"/>
              </a:rPr>
              <a:t>	main()</a:t>
            </a:r>
            <a:endParaRPr sz="750">
              <a:latin typeface="Courier New"/>
              <a:ea typeface="Courier New"/>
              <a:cs typeface="Courier New"/>
              <a:sym typeface="Courier New"/>
            </a:endParaRPr>
          </a:p>
        </p:txBody>
      </p:sp>
      <p:sp>
        <p:nvSpPr>
          <p:cNvPr id="272" name="Google Shape;272;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grouping</a:t>
            </a:r>
            <a:endParaRPr/>
          </a:p>
        </p:txBody>
      </p:sp>
      <p:sp>
        <p:nvSpPr>
          <p:cNvPr id="279" name="Google Shape;279;p3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chemeClr val="dk1"/>
                </a:solidFill>
              </a:rPr>
              <a:t>One of the more powerful features of DataFrames is the ability to </a:t>
            </a:r>
            <a:r>
              <a:rPr b="1" lang="en-US" sz="1400">
                <a:solidFill>
                  <a:schemeClr val="dk1"/>
                </a:solidFill>
              </a:rPr>
              <a:t>group</a:t>
            </a:r>
            <a:r>
              <a:rPr lang="en-US" sz="1400">
                <a:solidFill>
                  <a:schemeClr val="dk1"/>
                </a:solidFill>
              </a:rPr>
              <a:t> items in them based on an attribute; this is done with the </a:t>
            </a:r>
            <a:r>
              <a:rPr b="1" lang="en-US" sz="1400">
                <a:solidFill>
                  <a:schemeClr val="dk1"/>
                </a:solidFill>
                <a:latin typeface="Courier New"/>
                <a:ea typeface="Courier New"/>
                <a:cs typeface="Courier New"/>
                <a:sym typeface="Courier New"/>
              </a:rPr>
              <a:t>.groupby()</a:t>
            </a:r>
            <a:r>
              <a:rPr lang="en-US" sz="1400">
                <a:solidFill>
                  <a:schemeClr val="dk1"/>
                </a:solidFill>
              </a:rPr>
              <a:t> method.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US" sz="1400">
                <a:solidFill>
                  <a:schemeClr val="dk1"/>
                </a:solidFill>
              </a:rPr>
              <a:t>Two things to remember:</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This does not change the DataFrame, so you'll have to store the new object somewhere.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The new object is a </a:t>
            </a:r>
            <a:r>
              <a:rPr lang="en-US" sz="1400">
                <a:solidFill>
                  <a:schemeClr val="dk1"/>
                </a:solidFill>
                <a:latin typeface="Courier New"/>
                <a:ea typeface="Courier New"/>
                <a:cs typeface="Courier New"/>
                <a:sym typeface="Courier New"/>
              </a:rPr>
              <a:t>Groupby</a:t>
            </a:r>
            <a:r>
              <a:rPr lang="en-US" sz="1400">
                <a:solidFill>
                  <a:schemeClr val="dk1"/>
                </a:solidFill>
              </a:rPr>
              <a:t> object which isn't useful on its own; you'll have to do something with it to produce something useful.</a:t>
            </a:r>
            <a:endParaRPr sz="1400">
              <a:solidFill>
                <a:schemeClr val="dk1"/>
              </a:solidFill>
            </a:endParaRPr>
          </a:p>
        </p:txBody>
      </p:sp>
      <p:sp>
        <p:nvSpPr>
          <p:cNvPr id="280" name="Google Shape;280;p3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import pandas as pd</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file_name = 'iris.csv'</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df_iris = pd.read_csv(file_name, skiprows=2).dropna()</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900">
                <a:solidFill>
                  <a:schemeClr val="dk1"/>
                </a:solidFill>
                <a:latin typeface="Courier New"/>
                <a:ea typeface="Courier New"/>
                <a:cs typeface="Courier New"/>
                <a:sym typeface="Courier New"/>
              </a:rPr>
              <a:t>	# group items by Species</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900">
                <a:solidFill>
                  <a:schemeClr val="dk1"/>
                </a:solidFill>
                <a:latin typeface="Courier New"/>
                <a:ea typeface="Courier New"/>
                <a:cs typeface="Courier New"/>
                <a:sym typeface="Courier New"/>
              </a:rPr>
              <a:t>	iris_grouped = df_iris.</a:t>
            </a:r>
            <a:r>
              <a:rPr b="1" lang="en-US" sz="900">
                <a:solidFill>
                  <a:schemeClr val="dk1"/>
                </a:solidFill>
                <a:latin typeface="Courier New"/>
                <a:ea typeface="Courier New"/>
                <a:cs typeface="Courier New"/>
                <a:sym typeface="Courier New"/>
              </a:rPr>
              <a:t>groupby</a:t>
            </a:r>
            <a:r>
              <a:rPr b="1" lang="en-US" sz="900">
                <a:solidFill>
                  <a:schemeClr val="dk1"/>
                </a:solidFill>
                <a:latin typeface="Courier New"/>
                <a:ea typeface="Courier New"/>
                <a:cs typeface="Courier New"/>
                <a:sym typeface="Courier New"/>
              </a:rPr>
              <a:t>('Species')</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print(type(iris_grouped))</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main()</a:t>
            </a:r>
            <a:endParaRPr sz="900">
              <a:latin typeface="Courier New"/>
              <a:ea typeface="Courier New"/>
              <a:cs typeface="Courier New"/>
              <a:sym typeface="Courier New"/>
            </a:endParaRPr>
          </a:p>
        </p:txBody>
      </p:sp>
      <p:sp>
        <p:nvSpPr>
          <p:cNvPr id="281" name="Google Shape;281;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ungrouping</a:t>
            </a:r>
            <a:endParaRPr/>
          </a:p>
        </p:txBody>
      </p:sp>
      <p:sp>
        <p:nvSpPr>
          <p:cNvPr id="288" name="Google Shape;288;p3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solidFill>
                  <a:schemeClr val="dk1"/>
                </a:solidFill>
              </a:rPr>
              <a:t>Once you've got a Groupby object, you can do a number of things with it. One option is to aggregate, e.g.:</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def main():</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 ... previous code goes here</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 Aggregate with describe() to produce a new DataFrame</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800">
                <a:solidFill>
                  <a:schemeClr val="dk1"/>
                </a:solidFill>
                <a:latin typeface="Courier New"/>
                <a:ea typeface="Courier New"/>
                <a:cs typeface="Courier New"/>
                <a:sym typeface="Courier New"/>
              </a:rPr>
              <a:t>	df_iris_groups = iris_grouped.describe()</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print(df_iris_groups)</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if __name__ == '__main__':</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main()</a:t>
            </a:r>
            <a:endParaRPr sz="1300">
              <a:solidFill>
                <a:schemeClr val="dk1"/>
              </a:solidFill>
            </a:endParaRPr>
          </a:p>
        </p:txBody>
      </p:sp>
      <p:sp>
        <p:nvSpPr>
          <p:cNvPr id="289" name="Google Shape;289;p3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solidFill>
                  <a:schemeClr val="dk1"/>
                </a:solidFill>
              </a:rPr>
              <a:t>Another option is just to extract out the groups themselves, rather than aggregating. This can be done in at least two different ways:</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def main():</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a:t>
            </a:r>
            <a:r>
              <a:rPr lang="en-US" sz="800">
                <a:solidFill>
                  <a:schemeClr val="dk1"/>
                </a:solidFill>
                <a:latin typeface="Courier New"/>
                <a:ea typeface="Courier New"/>
                <a:cs typeface="Courier New"/>
                <a:sym typeface="Courier New"/>
              </a:rPr>
              <a:t># ... previous code goes here</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 get the 'Setosa' group</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df_iris_setosa = iris_grouped.get_group('Setosa')</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 OR iterate through each of the groups</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 notice how each group is formatted</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for group in iris_grouped:</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print(group)</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if __name__ == '__main__':</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main()</a:t>
            </a:r>
            <a:endParaRPr sz="800">
              <a:latin typeface="Courier New"/>
              <a:ea typeface="Courier New"/>
              <a:cs typeface="Courier New"/>
              <a:sym typeface="Courier New"/>
            </a:endParaRPr>
          </a:p>
        </p:txBody>
      </p:sp>
      <p:sp>
        <p:nvSpPr>
          <p:cNvPr id="290" name="Google Shape;290;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DataFrames: aggregating</a:t>
            </a:r>
            <a:endParaRPr/>
          </a:p>
        </p:txBody>
      </p:sp>
      <p:sp>
        <p:nvSpPr>
          <p:cNvPr id="297" name="Google Shape;297;p3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chemeClr val="dk1"/>
                </a:solidFill>
              </a:rPr>
              <a:t>Aggregation</a:t>
            </a:r>
            <a:r>
              <a:rPr lang="en-US" sz="1200">
                <a:solidFill>
                  <a:schemeClr val="dk1"/>
                </a:solidFill>
              </a:rPr>
              <a:t> of data is really just combining and collapsing data down into a meaningful quantity. Because NumPy underlies everything in pandas, it should come as no surprise that you have in your toolkit all the same aggregation methods that you had before - including but not limited to:</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.sum()</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.mean()</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.median()</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.mode()</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.std()</a:t>
            </a:r>
            <a:endParaRPr sz="1200">
              <a:solidFill>
                <a:schemeClr val="dk1"/>
              </a:solidFill>
            </a:endParaRPr>
          </a:p>
        </p:txBody>
      </p:sp>
      <p:sp>
        <p:nvSpPr>
          <p:cNvPr id="298" name="Google Shape;298;p3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import pandas as pd</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file_name = 'iris.csv'</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df_iris = pd.read_csv(file_name)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900">
                <a:solidFill>
                  <a:schemeClr val="dk1"/>
                </a:solidFill>
                <a:latin typeface="Courier New"/>
                <a:ea typeface="Courier New"/>
                <a:cs typeface="Courier New"/>
                <a:sym typeface="Courier New"/>
              </a:rPr>
              <a:t>	# Aggregate the data</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900">
                <a:solidFill>
                  <a:schemeClr val="dk1"/>
                </a:solidFill>
                <a:latin typeface="Courier New"/>
                <a:ea typeface="Courier New"/>
                <a:cs typeface="Courier New"/>
                <a:sym typeface="Courier New"/>
              </a:rPr>
              <a:t>	iris_mean_petal_length = df_iris['Petal length'].mean()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main()</a:t>
            </a:r>
            <a:endParaRPr sz="900">
              <a:latin typeface="Courier New"/>
              <a:ea typeface="Courier New"/>
              <a:cs typeface="Courier New"/>
              <a:sym typeface="Courier New"/>
            </a:endParaRPr>
          </a:p>
        </p:txBody>
      </p:sp>
      <p:sp>
        <p:nvSpPr>
          <p:cNvPr id="299" name="Google Shape;299;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306" name="Google Shape;306;p3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Terminology:</a:t>
            </a:r>
            <a:endParaRPr/>
          </a:p>
          <a:p>
            <a:pPr indent="-304800" lvl="0" marL="457200" rtl="0" algn="l">
              <a:spcBef>
                <a:spcPts val="0"/>
              </a:spcBef>
              <a:spcAft>
                <a:spcPts val="0"/>
              </a:spcAft>
              <a:buSzPts val="1200"/>
              <a:buChar char="•"/>
            </a:pPr>
            <a:r>
              <a:rPr lang="en-US" sz="1200"/>
              <a:t>data wrangling</a:t>
            </a:r>
            <a:endParaRPr sz="1200"/>
          </a:p>
          <a:p>
            <a:pPr indent="-304800" lvl="0" marL="457200" rtl="0" algn="l">
              <a:spcBef>
                <a:spcPts val="0"/>
              </a:spcBef>
              <a:spcAft>
                <a:spcPts val="0"/>
              </a:spcAft>
              <a:buSzPts val="1200"/>
              <a:buChar char="•"/>
            </a:pPr>
            <a:r>
              <a:rPr lang="en-US" sz="1200"/>
              <a:t>dependency</a:t>
            </a:r>
            <a:endParaRPr sz="1200"/>
          </a:p>
          <a:p>
            <a:pPr indent="-304800" lvl="0" marL="457200" rtl="0" algn="l">
              <a:spcBef>
                <a:spcPts val="0"/>
              </a:spcBef>
              <a:spcAft>
                <a:spcPts val="0"/>
              </a:spcAft>
              <a:buSzPts val="1200"/>
              <a:buChar char="•"/>
            </a:pPr>
            <a:r>
              <a:rPr lang="en-US" sz="1200">
                <a:solidFill>
                  <a:schemeClr val="dk1"/>
                </a:solidFill>
              </a:rPr>
              <a:t>indexing</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filtering and the conditional filter</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grouping</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aggregating</a:t>
            </a:r>
            <a:endParaRPr sz="1200">
              <a:solidFill>
                <a:schemeClr val="dk1"/>
              </a:solidFill>
            </a:endParaRPr>
          </a:p>
        </p:txBody>
      </p:sp>
      <p:sp>
        <p:nvSpPr>
          <p:cNvPr id="307" name="Google Shape;307;p3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specific terminology/syntax:</a:t>
            </a:r>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Series</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DataFrame</a:t>
            </a:r>
            <a:endParaRPr sz="1200">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pandas.read_csv(skiprows=)</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DataFrame.loc[]</a:t>
            </a:r>
            <a:r>
              <a:rPr lang="en-US" sz="1200"/>
              <a:t>, </a:t>
            </a:r>
            <a:r>
              <a:rPr lang="en-US" sz="1200">
                <a:latin typeface="Courier New"/>
                <a:ea typeface="Courier New"/>
                <a:cs typeface="Courier New"/>
                <a:sym typeface="Courier New"/>
              </a:rPr>
              <a:t>DataFrame.iloc[]</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DataFrame</a:t>
            </a:r>
            <a:r>
              <a:rPr lang="en-US" sz="1200"/>
              <a:t> index, columns</a:t>
            </a:r>
            <a:endParaRPr sz="1200"/>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DataFrame.sort_index()</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DataFrame.sort_values()</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DataFrame.drop()</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DataFrame.groupby()</a:t>
            </a:r>
            <a:endParaRPr sz="1200">
              <a:latin typeface="Courier New"/>
              <a:ea typeface="Courier New"/>
              <a:cs typeface="Courier New"/>
              <a:sym typeface="Courier New"/>
            </a:endParaRPr>
          </a:p>
        </p:txBody>
      </p:sp>
      <p:sp>
        <p:nvSpPr>
          <p:cNvPr id="308" name="Google Shape;308;p3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