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7315200" cy="9601200"/>
  <p:embeddedFontLst>
    <p:embeddedFont>
      <p:font typeface="Proxima Nova"/>
      <p:regular r:id="rId32"/>
      <p:bold r:id="rId33"/>
      <p:italic r:id="rId34"/>
      <p:boldItalic r:id="rId35"/>
    </p:embeddedFont>
    <p:embeddedFont>
      <p:font typeface="Roboto Mono Light"/>
      <p:regular r:id="rId36"/>
      <p:bold r:id="rId37"/>
      <p:italic r:id="rId38"/>
      <p:boldItalic r:id="rId39"/>
    </p:embeddedFont>
    <p:embeddedFont>
      <p:font typeface="Roboto Mono"/>
      <p:regular r:id="rId40"/>
      <p:bold r:id="rId41"/>
      <p:italic r:id="rId42"/>
      <p:boldItalic r:id="rId43"/>
    </p:embeddedFont>
    <p:embeddedFont>
      <p:font typeface="Open Sans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regular.fntdata"/><Relationship Id="rId20" Type="http://schemas.openxmlformats.org/officeDocument/2006/relationships/slide" Target="slides/slide15.xml"/><Relationship Id="rId42" Type="http://schemas.openxmlformats.org/officeDocument/2006/relationships/font" Target="fonts/RobotoMono-italic.fntdata"/><Relationship Id="rId41" Type="http://schemas.openxmlformats.org/officeDocument/2006/relationships/font" Target="fonts/RobotoMono-bold.fntdata"/><Relationship Id="rId22" Type="http://schemas.openxmlformats.org/officeDocument/2006/relationships/slide" Target="slides/slide17.xml"/><Relationship Id="rId44" Type="http://schemas.openxmlformats.org/officeDocument/2006/relationships/font" Target="fonts/OpenSans-regular.fntdata"/><Relationship Id="rId21" Type="http://schemas.openxmlformats.org/officeDocument/2006/relationships/slide" Target="slides/slide16.xml"/><Relationship Id="rId43" Type="http://schemas.openxmlformats.org/officeDocument/2006/relationships/font" Target="fonts/RobotoMono-boldItalic.fntdata"/><Relationship Id="rId24" Type="http://schemas.openxmlformats.org/officeDocument/2006/relationships/slide" Target="slides/slide19.xml"/><Relationship Id="rId46" Type="http://schemas.openxmlformats.org/officeDocument/2006/relationships/font" Target="fonts/OpenSans-italic.fntdata"/><Relationship Id="rId23" Type="http://schemas.openxmlformats.org/officeDocument/2006/relationships/slide" Target="slides/slide18.xml"/><Relationship Id="rId45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schemas.openxmlformats.org/officeDocument/2006/relationships/font" Target="fonts/OpenSans-bold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ProximaNova-bold.fntdata"/><Relationship Id="rId10" Type="http://schemas.openxmlformats.org/officeDocument/2006/relationships/slide" Target="slides/slide5.xml"/><Relationship Id="rId32" Type="http://schemas.openxmlformats.org/officeDocument/2006/relationships/font" Target="fonts/ProximaNova-regular.fntdata"/><Relationship Id="rId13" Type="http://schemas.openxmlformats.org/officeDocument/2006/relationships/slide" Target="slides/slide8.xml"/><Relationship Id="rId35" Type="http://schemas.openxmlformats.org/officeDocument/2006/relationships/font" Target="fonts/ProximaNova-boldItalic.fntdata"/><Relationship Id="rId12" Type="http://schemas.openxmlformats.org/officeDocument/2006/relationships/slide" Target="slides/slide7.xml"/><Relationship Id="rId34" Type="http://schemas.openxmlformats.org/officeDocument/2006/relationships/font" Target="fonts/ProximaNova-italic.fntdata"/><Relationship Id="rId15" Type="http://schemas.openxmlformats.org/officeDocument/2006/relationships/slide" Target="slides/slide10.xml"/><Relationship Id="rId37" Type="http://schemas.openxmlformats.org/officeDocument/2006/relationships/font" Target="fonts/RobotoMonoLight-bold.fntdata"/><Relationship Id="rId14" Type="http://schemas.openxmlformats.org/officeDocument/2006/relationships/slide" Target="slides/slide9.xml"/><Relationship Id="rId36" Type="http://schemas.openxmlformats.org/officeDocument/2006/relationships/font" Target="fonts/RobotoMonoLight-regular.fntdata"/><Relationship Id="rId17" Type="http://schemas.openxmlformats.org/officeDocument/2006/relationships/slide" Target="slides/slide12.xml"/><Relationship Id="rId39" Type="http://schemas.openxmlformats.org/officeDocument/2006/relationships/font" Target="fonts/RobotoMonoLight-boldItalic.fntdata"/><Relationship Id="rId16" Type="http://schemas.openxmlformats.org/officeDocument/2006/relationships/slide" Target="slides/slide11.xml"/><Relationship Id="rId38" Type="http://schemas.openxmlformats.org/officeDocument/2006/relationships/font" Target="fonts/RobotoMonoLight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57200" y="720725"/>
            <a:ext cx="6400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beb834509f_0_50:notes"/>
          <p:cNvSpPr/>
          <p:nvPr>
            <p:ph idx="2" type="sldImg"/>
          </p:nvPr>
        </p:nvSpPr>
        <p:spPr>
          <a:xfrm>
            <a:off x="457200" y="720725"/>
            <a:ext cx="6400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" name="Google Shape;50;gbeb834509f_0_50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beb834509f_0_50:notes"/>
          <p:cNvSpPr txBox="1"/>
          <p:nvPr>
            <p:ph idx="12" type="sldNum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beb834509f_0_79:notes"/>
          <p:cNvSpPr/>
          <p:nvPr>
            <p:ph idx="2" type="sldImg"/>
          </p:nvPr>
        </p:nvSpPr>
        <p:spPr>
          <a:xfrm>
            <a:off x="457200" y="720725"/>
            <a:ext cx="6400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beb834509f_0_79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beb834509f_0_79:notes"/>
          <p:cNvSpPr txBox="1"/>
          <p:nvPr>
            <p:ph idx="12" type="sldNum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beb834509f_0_362:notes"/>
          <p:cNvSpPr/>
          <p:nvPr>
            <p:ph idx="2" type="sldImg"/>
          </p:nvPr>
        </p:nvSpPr>
        <p:spPr>
          <a:xfrm>
            <a:off x="457200" y="720725"/>
            <a:ext cx="6400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beb834509f_0_362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beb834509f_0_362:notes"/>
          <p:cNvSpPr txBox="1"/>
          <p:nvPr>
            <p:ph idx="12" type="sldNum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beb834509f_0_411:notes"/>
          <p:cNvSpPr/>
          <p:nvPr>
            <p:ph idx="2" type="sldImg"/>
          </p:nvPr>
        </p:nvSpPr>
        <p:spPr>
          <a:xfrm>
            <a:off x="457200" y="720725"/>
            <a:ext cx="6400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beb834509f_0_411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beb834509f_0_411:notes"/>
          <p:cNvSpPr txBox="1"/>
          <p:nvPr>
            <p:ph idx="12" type="sldNum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beb834509f_0_419:notes"/>
          <p:cNvSpPr/>
          <p:nvPr>
            <p:ph idx="2" type="sldImg"/>
          </p:nvPr>
        </p:nvSpPr>
        <p:spPr>
          <a:xfrm>
            <a:off x="457200" y="720725"/>
            <a:ext cx="6400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beb834509f_0_419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beb834509f_0_419:notes"/>
          <p:cNvSpPr txBox="1"/>
          <p:nvPr>
            <p:ph idx="12" type="sldNum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beb834509f_0_430:notes"/>
          <p:cNvSpPr/>
          <p:nvPr>
            <p:ph idx="2" type="sldImg"/>
          </p:nvPr>
        </p:nvSpPr>
        <p:spPr>
          <a:xfrm>
            <a:off x="457200" y="720725"/>
            <a:ext cx="6400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beb834509f_0_430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beb834509f_0_430:notes"/>
          <p:cNvSpPr txBox="1"/>
          <p:nvPr>
            <p:ph idx="12" type="sldNum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beb834509f_0_334:notes"/>
          <p:cNvSpPr/>
          <p:nvPr>
            <p:ph idx="2" type="sldImg"/>
          </p:nvPr>
        </p:nvSpPr>
        <p:spPr>
          <a:xfrm>
            <a:off x="457200" y="720725"/>
            <a:ext cx="6400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beb834509f_0_334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beb834509f_0_334:notes"/>
          <p:cNvSpPr txBox="1"/>
          <p:nvPr>
            <p:ph idx="12" type="sldNum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beb834509f_0_191:notes"/>
          <p:cNvSpPr/>
          <p:nvPr>
            <p:ph idx="2" type="sldImg"/>
          </p:nvPr>
        </p:nvSpPr>
        <p:spPr>
          <a:xfrm>
            <a:off x="457200" y="720725"/>
            <a:ext cx="6400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beb834509f_0_191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beb834509f_0_191:notes"/>
          <p:cNvSpPr txBox="1"/>
          <p:nvPr>
            <p:ph idx="12" type="sldNum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beb834509f_0_87:notes"/>
          <p:cNvSpPr/>
          <p:nvPr>
            <p:ph idx="2" type="sldImg"/>
          </p:nvPr>
        </p:nvSpPr>
        <p:spPr>
          <a:xfrm>
            <a:off x="457200" y="720725"/>
            <a:ext cx="6400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beb834509f_0_87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beb834509f_0_87:notes"/>
          <p:cNvSpPr txBox="1"/>
          <p:nvPr>
            <p:ph idx="12" type="sldNum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beb834509f_0_117:notes"/>
          <p:cNvSpPr/>
          <p:nvPr>
            <p:ph idx="2" type="sldImg"/>
          </p:nvPr>
        </p:nvSpPr>
        <p:spPr>
          <a:xfrm>
            <a:off x="457200" y="720725"/>
            <a:ext cx="6400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beb834509f_0_117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beb834509f_0_117:notes"/>
          <p:cNvSpPr txBox="1"/>
          <p:nvPr>
            <p:ph idx="12" type="sldNum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beb834509f_0_94:notes"/>
          <p:cNvSpPr/>
          <p:nvPr>
            <p:ph idx="2" type="sldImg"/>
          </p:nvPr>
        </p:nvSpPr>
        <p:spPr>
          <a:xfrm>
            <a:off x="457200" y="720725"/>
            <a:ext cx="6400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beb834509f_0_94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beb834509f_0_94:notes"/>
          <p:cNvSpPr txBox="1"/>
          <p:nvPr>
            <p:ph idx="12" type="sldNum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beb834509f_0_125:notes"/>
          <p:cNvSpPr/>
          <p:nvPr>
            <p:ph idx="2" type="sldImg"/>
          </p:nvPr>
        </p:nvSpPr>
        <p:spPr>
          <a:xfrm>
            <a:off x="457200" y="720725"/>
            <a:ext cx="6400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beb834509f_0_125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beb834509f_0_125:notes"/>
          <p:cNvSpPr txBox="1"/>
          <p:nvPr>
            <p:ph idx="12" type="sldNum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beb834509f_0_133:notes"/>
          <p:cNvSpPr/>
          <p:nvPr>
            <p:ph idx="2" type="sldImg"/>
          </p:nvPr>
        </p:nvSpPr>
        <p:spPr>
          <a:xfrm>
            <a:off x="457200" y="720725"/>
            <a:ext cx="6400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beb834509f_0_133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beb834509f_0_133:notes"/>
          <p:cNvSpPr txBox="1"/>
          <p:nvPr>
            <p:ph idx="12" type="sldNum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beb834509f_0_369:notes"/>
          <p:cNvSpPr/>
          <p:nvPr>
            <p:ph idx="2" type="sldImg"/>
          </p:nvPr>
        </p:nvSpPr>
        <p:spPr>
          <a:xfrm>
            <a:off x="457200" y="720725"/>
            <a:ext cx="6400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beb834509f_0_369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beb834509f_0_369:notes"/>
          <p:cNvSpPr txBox="1"/>
          <p:nvPr>
            <p:ph idx="12" type="sldNum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beb834509f_0_199:notes"/>
          <p:cNvSpPr/>
          <p:nvPr>
            <p:ph idx="2" type="sldImg"/>
          </p:nvPr>
        </p:nvSpPr>
        <p:spPr>
          <a:xfrm>
            <a:off x="457200" y="720725"/>
            <a:ext cx="6400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beb834509f_0_199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beb834509f_0_199:notes"/>
          <p:cNvSpPr txBox="1"/>
          <p:nvPr>
            <p:ph idx="12" type="sldNum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beb834509f_0_207:notes"/>
          <p:cNvSpPr/>
          <p:nvPr>
            <p:ph idx="2" type="sldImg"/>
          </p:nvPr>
        </p:nvSpPr>
        <p:spPr>
          <a:xfrm>
            <a:off x="457200" y="720725"/>
            <a:ext cx="6400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beb834509f_0_207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beb834509f_0_207:notes"/>
          <p:cNvSpPr txBox="1"/>
          <p:nvPr>
            <p:ph idx="12" type="sldNum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beb834509f_0_341:notes"/>
          <p:cNvSpPr/>
          <p:nvPr>
            <p:ph idx="2" type="sldImg"/>
          </p:nvPr>
        </p:nvSpPr>
        <p:spPr>
          <a:xfrm>
            <a:off x="457200" y="720725"/>
            <a:ext cx="6400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beb834509f_0_341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beb834509f_0_341:notes"/>
          <p:cNvSpPr txBox="1"/>
          <p:nvPr>
            <p:ph idx="12" type="sldNum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beb834509f_0_215:notes"/>
          <p:cNvSpPr/>
          <p:nvPr>
            <p:ph idx="2" type="sldImg"/>
          </p:nvPr>
        </p:nvSpPr>
        <p:spPr>
          <a:xfrm>
            <a:off x="457200" y="720725"/>
            <a:ext cx="6400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beb834509f_0_215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beb834509f_0_215:notes"/>
          <p:cNvSpPr txBox="1"/>
          <p:nvPr>
            <p:ph idx="12" type="sldNum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beb834509f_0_223:notes"/>
          <p:cNvSpPr/>
          <p:nvPr>
            <p:ph idx="2" type="sldImg"/>
          </p:nvPr>
        </p:nvSpPr>
        <p:spPr>
          <a:xfrm>
            <a:off x="457200" y="720725"/>
            <a:ext cx="6400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beb834509f_0_223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beb834509f_0_223:notes"/>
          <p:cNvSpPr txBox="1"/>
          <p:nvPr>
            <p:ph idx="12" type="sldNum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beb834509f_0_231:notes"/>
          <p:cNvSpPr/>
          <p:nvPr>
            <p:ph idx="2" type="sldImg"/>
          </p:nvPr>
        </p:nvSpPr>
        <p:spPr>
          <a:xfrm>
            <a:off x="457200" y="720725"/>
            <a:ext cx="6400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beb834509f_0_231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beb834509f_0_231:notes"/>
          <p:cNvSpPr txBox="1"/>
          <p:nvPr>
            <p:ph idx="12" type="sldNum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beb834509f_0_239:notes"/>
          <p:cNvSpPr/>
          <p:nvPr>
            <p:ph idx="2" type="sldImg"/>
          </p:nvPr>
        </p:nvSpPr>
        <p:spPr>
          <a:xfrm>
            <a:off x="457200" y="720725"/>
            <a:ext cx="6400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beb834509f_0_239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beb834509f_0_239:notes"/>
          <p:cNvSpPr txBox="1"/>
          <p:nvPr>
            <p:ph idx="12" type="sldNum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beb834509f_0_348:notes"/>
          <p:cNvSpPr/>
          <p:nvPr>
            <p:ph idx="2" type="sldImg"/>
          </p:nvPr>
        </p:nvSpPr>
        <p:spPr>
          <a:xfrm>
            <a:off x="457200" y="720725"/>
            <a:ext cx="6400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beb834509f_0_348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beb834509f_0_348:notes"/>
          <p:cNvSpPr txBox="1"/>
          <p:nvPr>
            <p:ph idx="12" type="sldNum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bfb4e1b45b_0_5:notes"/>
          <p:cNvSpPr/>
          <p:nvPr>
            <p:ph idx="2" type="sldImg"/>
          </p:nvPr>
        </p:nvSpPr>
        <p:spPr>
          <a:xfrm>
            <a:off x="457200" y="720725"/>
            <a:ext cx="6400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bfb4e1b45b_0_5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bfb4e1b45b_0_5:notes"/>
          <p:cNvSpPr txBox="1"/>
          <p:nvPr>
            <p:ph idx="12" type="sldNum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beb834509f_0_355:notes"/>
          <p:cNvSpPr/>
          <p:nvPr>
            <p:ph idx="2" type="sldImg"/>
          </p:nvPr>
        </p:nvSpPr>
        <p:spPr>
          <a:xfrm>
            <a:off x="457200" y="720725"/>
            <a:ext cx="6400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beb834509f_0_355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beb834509f_0_355:notes"/>
          <p:cNvSpPr txBox="1"/>
          <p:nvPr>
            <p:ph idx="12" type="sldNum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beb834509f_0_255:notes"/>
          <p:cNvSpPr/>
          <p:nvPr>
            <p:ph idx="2" type="sldImg"/>
          </p:nvPr>
        </p:nvSpPr>
        <p:spPr>
          <a:xfrm>
            <a:off x="457200" y="720725"/>
            <a:ext cx="6400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beb834509f_0_255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beb834509f_0_255:notes"/>
          <p:cNvSpPr txBox="1"/>
          <p:nvPr>
            <p:ph idx="12" type="sldNum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beb834509f_0_263:notes"/>
          <p:cNvSpPr/>
          <p:nvPr>
            <p:ph idx="2" type="sldImg"/>
          </p:nvPr>
        </p:nvSpPr>
        <p:spPr>
          <a:xfrm>
            <a:off x="457200" y="720725"/>
            <a:ext cx="6400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beb834509f_0_263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beb834509f_0_263:notes"/>
          <p:cNvSpPr txBox="1"/>
          <p:nvPr>
            <p:ph idx="12" type="sldNum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/>
          <p:nvPr>
            <p:ph type="ctrTitle"/>
          </p:nvPr>
        </p:nvSpPr>
        <p:spPr>
          <a:xfrm>
            <a:off x="685800" y="1104900"/>
            <a:ext cx="7772400" cy="213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4400"/>
              <a:buFont typeface="Proxima Nova"/>
              <a:buNone/>
              <a:defRPr sz="4400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" type="subTitle"/>
          </p:nvPr>
        </p:nvSpPr>
        <p:spPr>
          <a:xfrm>
            <a:off x="1371600" y="3240900"/>
            <a:ext cx="6400800" cy="10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90000"/>
              </a:buClr>
              <a:buSzPts val="3200"/>
              <a:buFont typeface="Calibri"/>
              <a:buNone/>
              <a:defRPr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1" name="Google Shape;21;p2"/>
          <p:cNvSpPr txBox="1"/>
          <p:nvPr>
            <p:ph idx="2" type="body"/>
          </p:nvPr>
        </p:nvSpPr>
        <p:spPr>
          <a:xfrm>
            <a:off x="7365900" y="0"/>
            <a:ext cx="1778100" cy="33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algn="r"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200"/>
              <a:buChar char="•"/>
              <a:defRPr sz="1200">
                <a:solidFill>
                  <a:srgbClr val="990000"/>
                </a:solidFill>
              </a:defRPr>
            </a:lvl1pPr>
            <a:lvl2pPr indent="-234950" lvl="1" marL="914400" algn="r"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00"/>
              <a:buChar char="–"/>
              <a:defRPr sz="100">
                <a:solidFill>
                  <a:srgbClr val="990000"/>
                </a:solidFill>
              </a:defRPr>
            </a:lvl2pPr>
            <a:lvl3pPr indent="-234950" lvl="2" marL="1371600" algn="r"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00"/>
              <a:buChar char="•"/>
              <a:defRPr sz="100">
                <a:solidFill>
                  <a:srgbClr val="990000"/>
                </a:solidFill>
              </a:defRPr>
            </a:lvl3pPr>
            <a:lvl4pPr indent="-234950" lvl="3" marL="1828800" algn="r"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00"/>
              <a:buChar char="–"/>
              <a:defRPr sz="100">
                <a:solidFill>
                  <a:srgbClr val="990000"/>
                </a:solidFill>
              </a:defRPr>
            </a:lvl4pPr>
            <a:lvl5pPr indent="-234950" lvl="4" marL="2286000" algn="r"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00"/>
              <a:buChar char="»"/>
              <a:defRPr sz="100">
                <a:solidFill>
                  <a:srgbClr val="990000"/>
                </a:solidFill>
              </a:defRPr>
            </a:lvl5pPr>
            <a:lvl6pPr indent="-234950" lvl="5" marL="2743200" algn="r"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00"/>
              <a:buChar char="•"/>
              <a:defRPr sz="100">
                <a:solidFill>
                  <a:srgbClr val="990000"/>
                </a:solidFill>
              </a:defRPr>
            </a:lvl6pPr>
            <a:lvl7pPr indent="-234950" lvl="6" marL="3200400" algn="r"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00"/>
              <a:buChar char="•"/>
              <a:defRPr sz="100">
                <a:solidFill>
                  <a:srgbClr val="990000"/>
                </a:solidFill>
              </a:defRPr>
            </a:lvl7pPr>
            <a:lvl8pPr indent="-234950" lvl="7" marL="3657600" algn="r"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00"/>
              <a:buChar char="•"/>
              <a:defRPr sz="100">
                <a:solidFill>
                  <a:srgbClr val="990000"/>
                </a:solidFill>
              </a:defRPr>
            </a:lvl8pPr>
            <a:lvl9pPr indent="-234950" lvl="8" marL="4114800" algn="r"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00"/>
              <a:buChar char="•"/>
              <a:defRPr sz="100">
                <a:solidFill>
                  <a:srgbClr val="990000"/>
                </a:solidFill>
              </a:defRPr>
            </a:lvl9pPr>
          </a:lstStyle>
          <a:p/>
        </p:txBody>
      </p:sp>
    </p:spTree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title"/>
          </p:nvPr>
        </p:nvSpPr>
        <p:spPr>
          <a:xfrm>
            <a:off x="722313" y="3305175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4000"/>
              <a:buFont typeface="Arial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body"/>
          </p:nvPr>
        </p:nvSpPr>
        <p:spPr>
          <a:xfrm>
            <a:off x="722313" y="2180035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 sz="13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3506788" y="485611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(One Wide)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0" y="84394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4400"/>
              <a:buFont typeface="Arial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3506788" y="485611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40106" y="998794"/>
            <a:ext cx="9066900" cy="3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  <a:defRPr sz="1600"/>
            </a:lvl1pPr>
            <a:lvl2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–"/>
              <a:defRPr sz="1500"/>
            </a:lvl2pPr>
            <a:lvl3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 sz="1400"/>
            </a:lvl3pPr>
            <a:lvl4pPr indent="-311150" lvl="3" marL="1828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–"/>
              <a:defRPr sz="1300"/>
            </a:lvl4pPr>
            <a:lvl5pPr indent="-304800" lvl="4" marL="2286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»"/>
              <a:defRPr sz="1200"/>
            </a:lvl5pPr>
            <a:lvl6pPr indent="-292100" lvl="5" marL="2743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100"/>
            </a:lvl6pPr>
            <a:lvl7pPr indent="-285750" lvl="6" marL="3200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1000"/>
            </a:lvl7pPr>
            <a:lvl8pPr indent="-279400" lvl="7" marL="3657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900"/>
            </a:lvl8pPr>
            <a:lvl9pPr indent="-273050" lvl="8" marL="4114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800"/>
            </a:lvl9pPr>
          </a:lstStyle>
          <a:p/>
        </p:txBody>
      </p:sp>
    </p:spTree>
  </p:cSld>
  <p:clrMapOvr>
    <a:masterClrMapping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- One Left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0" y="84394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4400"/>
              <a:buFont typeface="Arial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3506788" y="485611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40100" y="998800"/>
            <a:ext cx="4456500" cy="3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  <a:defRPr/>
            </a:lvl1pPr>
            <a:lvl2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–"/>
              <a:defRPr/>
            </a:lvl2pPr>
            <a:lvl3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indent="-311150" lvl="3" marL="1828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–"/>
              <a:defRPr/>
            </a:lvl4pPr>
            <a:lvl5pPr indent="-304800" lvl="4" marL="2286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»"/>
              <a:defRPr/>
            </a:lvl5pPr>
            <a:lvl6pPr indent="-292100" lvl="5" marL="2743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6pPr>
            <a:lvl7pPr indent="-285750" lvl="6" marL="3200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79400" lvl="7" marL="3657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8pPr>
            <a:lvl9pPr indent="-273050" lvl="8" marL="4114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</p:spTree>
  </p:cSld>
  <p:clrMapOvr>
    <a:masterClrMapping/>
  </p:clrMapOvr>
  <p:transition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- Two">
  <p:cSld name="TWO_OBJECTS_1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0" y="84394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4400"/>
              <a:buFont typeface="Arial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3506788" y="485611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40100" y="998800"/>
            <a:ext cx="4456500" cy="3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  <a:defRPr/>
            </a:lvl1pPr>
            <a:lvl2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–"/>
              <a:defRPr/>
            </a:lvl2pPr>
            <a:lvl3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indent="-311150" lvl="3" marL="1828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–"/>
              <a:defRPr/>
            </a:lvl4pPr>
            <a:lvl5pPr indent="-304800" lvl="4" marL="2286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»"/>
              <a:defRPr/>
            </a:lvl5pPr>
            <a:lvl6pPr indent="-292100" lvl="5" marL="2743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6pPr>
            <a:lvl7pPr indent="-285750" lvl="6" marL="3200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79400" lvl="7" marL="3657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8pPr>
            <a:lvl9pPr indent="-273050" lvl="8" marL="4114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2" type="body"/>
          </p:nvPr>
        </p:nvSpPr>
        <p:spPr>
          <a:xfrm>
            <a:off x="4650575" y="998800"/>
            <a:ext cx="4456500" cy="3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  <a:defRPr/>
            </a:lvl1pPr>
            <a:lvl2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–"/>
              <a:defRPr/>
            </a:lvl2pPr>
            <a:lvl3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indent="-311150" lvl="3" marL="1828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–"/>
              <a:defRPr/>
            </a:lvl4pPr>
            <a:lvl5pPr indent="-304800" lvl="4" marL="2286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»"/>
              <a:defRPr/>
            </a:lvl5pPr>
            <a:lvl6pPr indent="-292100" lvl="5" marL="2743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6pPr>
            <a:lvl7pPr indent="-285750" lvl="6" marL="3200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79400" lvl="7" marL="3657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8pPr>
            <a:lvl9pPr indent="-273050" lvl="8" marL="4114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</p:spTree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- One Right">
  <p:cSld name="TWO_OBJECTS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/>
          <p:nvPr>
            <p:ph type="title"/>
          </p:nvPr>
        </p:nvSpPr>
        <p:spPr>
          <a:xfrm>
            <a:off x="0" y="84394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4400"/>
              <a:buFont typeface="Arial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3506788" y="485611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650575" y="998800"/>
            <a:ext cx="4456500" cy="3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  <a:defRPr/>
            </a:lvl1pPr>
            <a:lvl2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–"/>
              <a:defRPr/>
            </a:lvl2pPr>
            <a:lvl3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indent="-311150" lvl="3" marL="1828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–"/>
              <a:defRPr/>
            </a:lvl4pPr>
            <a:lvl5pPr indent="-304800" lvl="4" marL="2286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»"/>
              <a:defRPr/>
            </a:lvl5pPr>
            <a:lvl6pPr indent="-292100" lvl="5" marL="2743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6pPr>
            <a:lvl7pPr indent="-285750" lvl="6" marL="3200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79400" lvl="7" marL="3657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8pPr>
            <a:lvl9pPr indent="-273050" lvl="8" marL="4114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</p:spTree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3506788" y="485611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nothing">
  <p:cSld name="Custom Layout_1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0" y="84394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4400"/>
              <a:buFont typeface="Arial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3506788" y="485611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6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4508839"/>
            <a:ext cx="9144000" cy="6336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" name="Google Shape;11;p1"/>
          <p:cNvSpPr txBox="1"/>
          <p:nvPr>
            <p:ph type="title"/>
          </p:nvPr>
        </p:nvSpPr>
        <p:spPr>
          <a:xfrm>
            <a:off x="107950" y="84389"/>
            <a:ext cx="8928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4400"/>
              <a:buFont typeface="Proxima Nova"/>
              <a:buNone/>
              <a:defRPr b="1" i="0" sz="4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None/>
              <a:defRPr i="0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None/>
              <a:defRPr i="0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None/>
              <a:defRPr i="0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None/>
              <a:defRPr i="0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None/>
              <a:defRPr i="0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None/>
              <a:defRPr i="0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None/>
              <a:defRPr i="0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None/>
              <a:defRPr i="0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107950" y="941638"/>
            <a:ext cx="8928000" cy="3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roxima Nova"/>
              <a:buChar char="•"/>
              <a:defRPr i="0" sz="16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238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Proxima Nova"/>
              <a:buChar char="–"/>
              <a:defRPr i="0" sz="15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•"/>
              <a:defRPr i="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1150" lvl="3" marL="1828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roxima Nova"/>
              <a:buChar char="–"/>
              <a:defRPr i="0" sz="13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04800" lvl="4" marL="2286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»"/>
              <a:defRPr i="0" sz="12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roxima Nova"/>
              <a:buChar char="•"/>
              <a:defRPr i="0" sz="11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2100" lvl="6" marL="3200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roxima Nova"/>
              <a:buChar char="•"/>
              <a:defRPr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85750" lvl="7" marL="3657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roxima Nova"/>
              <a:buChar char="•"/>
              <a:defRPr i="0" sz="9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79400" lvl="8" marL="4114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roxima Nova"/>
              <a:buChar char="•"/>
              <a:defRPr i="0" sz="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3506788" y="485611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i="0" sz="12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1-lineWordmark_GoldOnCard_NoBG.eps" id="14" name="Google Shape;14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997700" y="4846522"/>
            <a:ext cx="1366594" cy="1161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l_Viterbi_GoldOnCard_NoBG.eps" id="15" name="Google Shape;15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2102" y="4603732"/>
            <a:ext cx="1306267" cy="352557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"/>
          <p:cNvSpPr/>
          <p:nvPr/>
        </p:nvSpPr>
        <p:spPr>
          <a:xfrm flipH="1" rot="10800000">
            <a:off x="0" y="4470738"/>
            <a:ext cx="9144000" cy="3810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1"/>
          <p:cNvPicPr preferRelativeResize="0"/>
          <p:nvPr/>
        </p:nvPicPr>
        <p:blipFill rotWithShape="1">
          <a:blip r:embed="rId3">
            <a:alphaModFix/>
          </a:blip>
          <a:srcRect b="0" l="0" r="57269" t="0"/>
          <a:stretch/>
        </p:blipFill>
        <p:spPr>
          <a:xfrm>
            <a:off x="107950" y="57150"/>
            <a:ext cx="285751" cy="19764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docs.google.com/presentation/d/1ntGldUG7muSHCASOFZh3PjpqGKVGX2L1TfUOg1jZgBQ/edit?usp=sharing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type="ctrTitle"/>
          </p:nvPr>
        </p:nvSpPr>
        <p:spPr>
          <a:xfrm>
            <a:off x="685800" y="1104900"/>
            <a:ext cx="7772400" cy="2136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/>
              <a:t>Pythonic</a:t>
            </a:r>
            <a:r>
              <a:rPr lang="en-US"/>
              <a:t> Part 1</a:t>
            </a:r>
            <a:r>
              <a:rPr lang="en-US">
                <a:solidFill>
                  <a:schemeClr val="hlink"/>
                </a:solidFill>
              </a:rPr>
              <a:t>: comprehensions, iterators, and generators</a:t>
            </a:r>
            <a:endParaRPr/>
          </a:p>
        </p:txBody>
      </p:sp>
      <p:sp>
        <p:nvSpPr>
          <p:cNvPr id="54" name="Google Shape;54;p10"/>
          <p:cNvSpPr txBox="1"/>
          <p:nvPr>
            <p:ph idx="1" type="subTitle"/>
          </p:nvPr>
        </p:nvSpPr>
        <p:spPr>
          <a:xfrm>
            <a:off x="1371600" y="3240900"/>
            <a:ext cx="6400800" cy="1045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700"/>
              </a:spcBef>
              <a:spcAft>
                <a:spcPts val="0"/>
              </a:spcAft>
              <a:buNone/>
            </a:pPr>
            <a:r>
              <a:rPr lang="en-US"/>
              <a:t>Applied Python</a:t>
            </a:r>
            <a:endParaRPr/>
          </a:p>
        </p:txBody>
      </p:sp>
      <p:sp>
        <p:nvSpPr>
          <p:cNvPr id="55" name="Google Shape;55;p10"/>
          <p:cNvSpPr txBox="1"/>
          <p:nvPr>
            <p:ph idx="2" type="body"/>
          </p:nvPr>
        </p:nvSpPr>
        <p:spPr>
          <a:xfrm>
            <a:off x="7365900" y="0"/>
            <a:ext cx="1778100" cy="33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Link to this document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type="title"/>
          </p:nvPr>
        </p:nvSpPr>
        <p:spPr>
          <a:xfrm>
            <a:off x="0" y="84394"/>
            <a:ext cx="91440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are we doing?</a:t>
            </a:r>
            <a:endParaRPr/>
          </a:p>
        </p:txBody>
      </p:sp>
      <p:sp>
        <p:nvSpPr>
          <p:cNvPr id="62" name="Google Shape;62;p11"/>
          <p:cNvSpPr txBox="1"/>
          <p:nvPr>
            <p:ph idx="12" type="sldNum"/>
          </p:nvPr>
        </p:nvSpPr>
        <p:spPr>
          <a:xfrm>
            <a:off x="3506788" y="485611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40100" y="998800"/>
            <a:ext cx="4456500" cy="341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Learning Objectives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By the end of this week, you should: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>
                <a:solidFill>
                  <a:schemeClr val="dk1"/>
                </a:solidFill>
              </a:rPr>
              <a:t>understand the purpose of iterators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>
                <a:solidFill>
                  <a:schemeClr val="dk1"/>
                </a:solidFill>
              </a:rPr>
              <a:t>identify comprehension syntax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>
                <a:solidFill>
                  <a:schemeClr val="dk1"/>
                </a:solidFill>
              </a:rPr>
              <a:t>know how to use generators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4" name="Google Shape;64;p11"/>
          <p:cNvSpPr txBox="1"/>
          <p:nvPr>
            <p:ph idx="2" type="body"/>
          </p:nvPr>
        </p:nvSpPr>
        <p:spPr>
          <a:xfrm>
            <a:off x="4650575" y="998800"/>
            <a:ext cx="4456500" cy="341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Measurable Outcomes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By the end of this week, you should be able to: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>
                <a:solidFill>
                  <a:schemeClr val="dk1"/>
                </a:solidFill>
              </a:rPr>
              <a:t>use the internal and external iterator functions.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>
                <a:solidFill>
                  <a:schemeClr val="dk1"/>
                </a:solidFill>
              </a:rPr>
              <a:t>write a list comprehension to create a list.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>
                <a:solidFill>
                  <a:schemeClr val="dk1"/>
                </a:solidFill>
              </a:rPr>
              <a:t>use </a:t>
            </a:r>
            <a:r>
              <a:rPr lang="en-US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yield</a:t>
            </a:r>
            <a:r>
              <a:rPr lang="en-US">
                <a:solidFill>
                  <a:schemeClr val="dk1"/>
                </a:solidFill>
              </a:rPr>
              <a:t> to create a generator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/>
          <p:nvPr>
            <p:ph type="title"/>
          </p:nvPr>
        </p:nvSpPr>
        <p:spPr>
          <a:xfrm>
            <a:off x="722313" y="3305175"/>
            <a:ext cx="7772400" cy="1021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COMPREHENSIONS</a:t>
            </a:r>
            <a:endParaRPr/>
          </a:p>
        </p:txBody>
      </p:sp>
      <p:sp>
        <p:nvSpPr>
          <p:cNvPr id="71" name="Google Shape;71;p12"/>
          <p:cNvSpPr txBox="1"/>
          <p:nvPr>
            <p:ph idx="1" type="body"/>
          </p:nvPr>
        </p:nvSpPr>
        <p:spPr>
          <a:xfrm>
            <a:off x="722313" y="2180035"/>
            <a:ext cx="7772400" cy="1125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3506788" y="485611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/>
          <p:cNvSpPr txBox="1"/>
          <p:nvPr>
            <p:ph type="title"/>
          </p:nvPr>
        </p:nvSpPr>
        <p:spPr>
          <a:xfrm>
            <a:off x="0" y="84394"/>
            <a:ext cx="91440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Comprehension</a:t>
            </a:r>
            <a:endParaRPr/>
          </a:p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3506788" y="485611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>
            <a:off x="40100" y="998800"/>
            <a:ext cx="4456500" cy="341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A </a:t>
            </a:r>
            <a:r>
              <a:rPr b="1" lang="en-US">
                <a:solidFill>
                  <a:schemeClr val="dk1"/>
                </a:solidFill>
              </a:rPr>
              <a:t>comprehension</a:t>
            </a:r>
            <a:r>
              <a:rPr lang="en-US">
                <a:solidFill>
                  <a:schemeClr val="dk1"/>
                </a:solidFill>
              </a:rPr>
              <a:t> is the </a:t>
            </a:r>
            <a:r>
              <a:rPr i="1" lang="en-US">
                <a:solidFill>
                  <a:schemeClr val="dk1"/>
                </a:solidFill>
              </a:rPr>
              <a:t>Pythonic</a:t>
            </a:r>
            <a:r>
              <a:rPr lang="en-US">
                <a:solidFill>
                  <a:schemeClr val="dk1"/>
                </a:solidFill>
              </a:rPr>
              <a:t> way of programmatically creating a collection. It's more concise than </a:t>
            </a:r>
            <a:r>
              <a:rPr lang="en-US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for</a:t>
            </a:r>
            <a:r>
              <a:rPr lang="en-US">
                <a:solidFill>
                  <a:schemeClr val="dk1"/>
                </a:solidFill>
              </a:rPr>
              <a:t> and </a:t>
            </a:r>
            <a:r>
              <a:rPr lang="en-US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while</a:t>
            </a:r>
            <a:r>
              <a:rPr lang="en-US">
                <a:solidFill>
                  <a:schemeClr val="dk1"/>
                </a:solidFill>
              </a:rPr>
              <a:t> loops, but provides much of the same functionality. The syntax is as follows: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[expression for item in collection if conditional]</a:t>
            </a:r>
            <a:endParaRPr b="1" sz="11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1" name="Google Shape;81;p13"/>
          <p:cNvSpPr txBox="1"/>
          <p:nvPr>
            <p:ph idx="2" type="body"/>
          </p:nvPr>
        </p:nvSpPr>
        <p:spPr>
          <a:xfrm>
            <a:off x="4650575" y="998800"/>
            <a:ext cx="4456500" cy="341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Notes: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[e</a:t>
            </a:r>
            <a:r>
              <a:rPr lang="en-US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xpression]</a:t>
            </a:r>
            <a:r>
              <a:rPr lang="en-US">
                <a:solidFill>
                  <a:schemeClr val="dk1"/>
                </a:solidFill>
              </a:rPr>
              <a:t> corresponds to what the collection will be populated with.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>
                <a:solidFill>
                  <a:schemeClr val="dk1"/>
                </a:solidFill>
              </a:rPr>
              <a:t>The </a:t>
            </a:r>
            <a:r>
              <a:rPr lang="en-US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for</a:t>
            </a:r>
            <a:r>
              <a:rPr lang="en-US">
                <a:solidFill>
                  <a:schemeClr val="dk1"/>
                </a:solidFill>
              </a:rPr>
              <a:t> loop loops over the collection provided.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>
                <a:solidFill>
                  <a:schemeClr val="dk1"/>
                </a:solidFill>
              </a:rPr>
              <a:t>There is optional filtering with an </a:t>
            </a:r>
            <a:r>
              <a:rPr lang="en-US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if condition</a:t>
            </a:r>
            <a:r>
              <a:rPr lang="en-U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i="1" lang="en-US">
                <a:solidFill>
                  <a:schemeClr val="dk1"/>
                </a:solidFill>
              </a:rPr>
              <a:t>These are very concise, but may not be as clear as their more verbose counterparts.</a:t>
            </a:r>
            <a:endParaRPr i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>
            <a:off x="0" y="84394"/>
            <a:ext cx="91440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Comprehension: example</a:t>
            </a:r>
            <a:endParaRPr/>
          </a:p>
        </p:txBody>
      </p:sp>
      <p:sp>
        <p:nvSpPr>
          <p:cNvPr id="88" name="Google Shape;88;p14"/>
          <p:cNvSpPr txBox="1"/>
          <p:nvPr>
            <p:ph idx="12" type="sldNum"/>
          </p:nvPr>
        </p:nvSpPr>
        <p:spPr>
          <a:xfrm>
            <a:off x="3506788" y="485611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" name="Google Shape;89;p14"/>
          <p:cNvSpPr txBox="1"/>
          <p:nvPr>
            <p:ph idx="1" type="body"/>
          </p:nvPr>
        </p:nvSpPr>
        <p:spPr>
          <a:xfrm>
            <a:off x="40100" y="998800"/>
            <a:ext cx="4456500" cy="341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/>
              <a:t>For example: to create a list with all even numbers from 0 to 10 - this time using list comprehension - simply use the Pythonic approach below: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evens = </a:t>
            </a:r>
            <a:r>
              <a:rPr b="1" lang="en-US" sz="1350">
                <a:solidFill>
                  <a:srgbClr val="FFC000"/>
                </a:solidFill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b="1" lang="en-US" sz="125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b="1" lang="en-US" sz="12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1250">
                <a:solidFill>
                  <a:srgbClr val="00B050"/>
                </a:solidFill>
                <a:latin typeface="Roboto Mono"/>
                <a:ea typeface="Roboto Mono"/>
                <a:cs typeface="Roboto Mono"/>
                <a:sym typeface="Roboto Mono"/>
              </a:rPr>
              <a:t>for i in range(11) </a:t>
            </a:r>
            <a:r>
              <a:rPr b="1" lang="en-US" sz="1250">
                <a:solidFill>
                  <a:srgbClr val="00B0F0"/>
                </a:solidFill>
                <a:latin typeface="Roboto Mono"/>
                <a:ea typeface="Roboto Mono"/>
                <a:cs typeface="Roboto Mono"/>
                <a:sym typeface="Roboto Mono"/>
              </a:rPr>
              <a:t>if i % 2 == 0</a:t>
            </a:r>
            <a:r>
              <a:rPr b="1" lang="en-US" sz="1350">
                <a:solidFill>
                  <a:srgbClr val="FFC000"/>
                </a:solidFill>
                <a:latin typeface="Roboto Mono"/>
                <a:ea typeface="Roboto Mono"/>
                <a:cs typeface="Roboto Mono"/>
                <a:sym typeface="Roboto Mono"/>
              </a:rPr>
              <a:t>]</a:t>
            </a:r>
            <a:endParaRPr b="1" sz="135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0" name="Google Shape;90;p14"/>
          <p:cNvSpPr txBox="1"/>
          <p:nvPr>
            <p:ph idx="2" type="body"/>
          </p:nvPr>
        </p:nvSpPr>
        <p:spPr>
          <a:xfrm>
            <a:off x="4650575" y="998800"/>
            <a:ext cx="4456500" cy="341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</a:rPr>
              <a:t>This piece of code is the equivalent to the non-Pythonic way below: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2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evens = </a:t>
            </a:r>
            <a:r>
              <a:rPr b="1" lang="en-US" sz="1250">
                <a:solidFill>
                  <a:srgbClr val="FFC000"/>
                </a:solidFill>
                <a:latin typeface="Roboto Mono"/>
                <a:ea typeface="Roboto Mono"/>
                <a:cs typeface="Roboto Mono"/>
                <a:sym typeface="Roboto Mono"/>
              </a:rPr>
              <a:t>[]</a:t>
            </a:r>
            <a:endParaRPr b="1" sz="1250">
              <a:solidFill>
                <a:srgbClr val="FFC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250">
                <a:solidFill>
                  <a:srgbClr val="00B050"/>
                </a:solidFill>
                <a:latin typeface="Roboto Mono"/>
                <a:ea typeface="Roboto Mono"/>
                <a:cs typeface="Roboto Mono"/>
                <a:sym typeface="Roboto Mono"/>
              </a:rPr>
              <a:t>for i in range(11):</a:t>
            </a:r>
            <a:endParaRPr b="1" sz="1250">
              <a:solidFill>
                <a:srgbClr val="00B05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250">
                <a:solidFill>
                  <a:srgbClr val="00B0F0"/>
                </a:solidFill>
                <a:latin typeface="Roboto Mono"/>
                <a:ea typeface="Roboto Mono"/>
                <a:cs typeface="Roboto Mono"/>
                <a:sym typeface="Roboto Mono"/>
              </a:rPr>
              <a:t>if i % 2 == 0:</a:t>
            </a:r>
            <a:endParaRPr b="1" sz="1250">
              <a:solidFill>
                <a:srgbClr val="00B0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5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evens.append(i)</a:t>
            </a:r>
            <a:endParaRPr b="1" sz="12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91" name="Google Shape;91;p14"/>
          <p:cNvCxnSpPr/>
          <p:nvPr/>
        </p:nvCxnSpPr>
        <p:spPr>
          <a:xfrm rot="10800000">
            <a:off x="4588200" y="1936124"/>
            <a:ext cx="1022700" cy="313800"/>
          </a:xfrm>
          <a:prstGeom prst="bentConnector3">
            <a:avLst>
              <a:gd fmla="val -990" name="adj1"/>
            </a:avLst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2" name="Google Shape;92;p14"/>
          <p:cNvCxnSpPr/>
          <p:nvPr/>
        </p:nvCxnSpPr>
        <p:spPr>
          <a:xfrm flipH="1">
            <a:off x="4284225" y="1936000"/>
            <a:ext cx="719100" cy="293400"/>
          </a:xfrm>
          <a:prstGeom prst="bentConnector3">
            <a:avLst>
              <a:gd fmla="val 101387" name="adj1"/>
            </a:avLst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3" name="Google Shape;93;p14"/>
          <p:cNvCxnSpPr/>
          <p:nvPr/>
        </p:nvCxnSpPr>
        <p:spPr>
          <a:xfrm flipH="1" rot="10800000">
            <a:off x="1033831" y="3475375"/>
            <a:ext cx="5265900" cy="880800"/>
          </a:xfrm>
          <a:prstGeom prst="bentConnector3">
            <a:avLst>
              <a:gd fmla="val 99996" name="adj1"/>
            </a:avLst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4" name="Google Shape;94;p14"/>
          <p:cNvCxnSpPr/>
          <p:nvPr/>
        </p:nvCxnSpPr>
        <p:spPr>
          <a:xfrm rot="5400000">
            <a:off x="122374" y="3434725"/>
            <a:ext cx="1833000" cy="102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5" name="Google Shape;95;p14"/>
          <p:cNvCxnSpPr/>
          <p:nvPr/>
        </p:nvCxnSpPr>
        <p:spPr>
          <a:xfrm flipH="1" rot="10800000">
            <a:off x="1833825" y="2897750"/>
            <a:ext cx="3149100" cy="445800"/>
          </a:xfrm>
          <a:prstGeom prst="bentConnector3">
            <a:avLst>
              <a:gd fmla="val 100005" name="adj1"/>
            </a:avLst>
          </a:prstGeom>
          <a:noFill/>
          <a:ln cap="flat" cmpd="sng" w="19050">
            <a:solidFill>
              <a:srgbClr val="00B05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6" name="Google Shape;96;p14"/>
          <p:cNvCxnSpPr/>
          <p:nvPr/>
        </p:nvCxnSpPr>
        <p:spPr>
          <a:xfrm flipH="1" rot="-5400000">
            <a:off x="1459125" y="2938550"/>
            <a:ext cx="759600" cy="102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00B05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7" name="Google Shape;97;p14"/>
          <p:cNvCxnSpPr/>
          <p:nvPr/>
        </p:nvCxnSpPr>
        <p:spPr>
          <a:xfrm flipH="1" rot="10800000">
            <a:off x="3433750" y="3141125"/>
            <a:ext cx="2015400" cy="810000"/>
          </a:xfrm>
          <a:prstGeom prst="bentConnector3">
            <a:avLst>
              <a:gd fmla="val 99986" name="adj1"/>
            </a:avLst>
          </a:prstGeom>
          <a:noFill/>
          <a:ln cap="flat" cmpd="sng" w="19050">
            <a:solidFill>
              <a:srgbClr val="00B0F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8" name="Google Shape;98;p14"/>
          <p:cNvCxnSpPr/>
          <p:nvPr/>
        </p:nvCxnSpPr>
        <p:spPr>
          <a:xfrm rot="5400000">
            <a:off x="2729950" y="3257450"/>
            <a:ext cx="1397400" cy="102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00B0F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9" name="Google Shape;99;p14"/>
          <p:cNvCxnSpPr/>
          <p:nvPr/>
        </p:nvCxnSpPr>
        <p:spPr>
          <a:xfrm flipH="1">
            <a:off x="932475" y="1946150"/>
            <a:ext cx="4668300" cy="333900"/>
          </a:xfrm>
          <a:prstGeom prst="bentConnector3">
            <a:avLst>
              <a:gd fmla="val 99998" name="adj1"/>
            </a:avLst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/>
          <p:nvPr>
            <p:ph type="title"/>
          </p:nvPr>
        </p:nvSpPr>
        <p:spPr>
          <a:xfrm>
            <a:off x="0" y="84394"/>
            <a:ext cx="91440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Comprehensions: nesting</a:t>
            </a:r>
            <a:endParaRPr/>
          </a:p>
        </p:txBody>
      </p:sp>
      <p:sp>
        <p:nvSpPr>
          <p:cNvPr id="106" name="Google Shape;106;p15"/>
          <p:cNvSpPr txBox="1"/>
          <p:nvPr>
            <p:ph idx="12" type="sldNum"/>
          </p:nvPr>
        </p:nvSpPr>
        <p:spPr>
          <a:xfrm>
            <a:off x="3506788" y="485611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" name="Google Shape;107;p15"/>
          <p:cNvSpPr txBox="1"/>
          <p:nvPr>
            <p:ph idx="1" type="body"/>
          </p:nvPr>
        </p:nvSpPr>
        <p:spPr>
          <a:xfrm>
            <a:off x="40100" y="998800"/>
            <a:ext cx="4456500" cy="341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/>
              <a:t>You can also nest comprehensions! So, for example: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pairs_comp = </a:t>
            </a:r>
            <a:r>
              <a:rPr b="1" lang="en-US" sz="1300">
                <a:solidFill>
                  <a:srgbClr val="7030A0"/>
                </a:solidFill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b="1" lang="en-US" sz="1300">
                <a:solidFill>
                  <a:srgbClr val="00B0F0"/>
                </a:solidFill>
                <a:latin typeface="Roboto Mono"/>
                <a:ea typeface="Roboto Mono"/>
                <a:cs typeface="Roboto Mono"/>
                <a:sym typeface="Roboto Mono"/>
              </a:rPr>
              <a:t>(i, j) </a:t>
            </a:r>
            <a:r>
              <a:rPr b="1" lang="en-US" sz="1300">
                <a:solidFill>
                  <a:srgbClr val="00B050"/>
                </a:solidFill>
                <a:latin typeface="Roboto Mono"/>
                <a:ea typeface="Roboto Mono"/>
                <a:cs typeface="Roboto Mono"/>
                <a:sym typeface="Roboto Mono"/>
              </a:rPr>
              <a:t>for i in range(4)</a:t>
            </a:r>
            <a:r>
              <a:rPr b="1" lang="en-US" sz="1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13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for j in range(4)</a:t>
            </a:r>
            <a:r>
              <a:rPr b="1" lang="en-US" sz="1300">
                <a:solidFill>
                  <a:srgbClr val="7030A0"/>
                </a:solidFill>
                <a:latin typeface="Roboto Mono"/>
                <a:ea typeface="Roboto Mono"/>
                <a:cs typeface="Roboto Mono"/>
                <a:sym typeface="Roboto Mono"/>
              </a:rPr>
              <a:t>]</a:t>
            </a:r>
            <a:endParaRPr sz="13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latin typeface="Roboto Mono Light"/>
                <a:ea typeface="Roboto Mono Light"/>
                <a:cs typeface="Roboto Mono Light"/>
                <a:sym typeface="Roboto Mono Light"/>
              </a:rPr>
              <a:t>print(pairs_comp)</a:t>
            </a:r>
            <a:endParaRPr sz="13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will create a list of tuples with all combinations of numbers from 0 to 3: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8" name="Google Shape;108;p15"/>
          <p:cNvSpPr txBox="1"/>
          <p:nvPr>
            <p:ph idx="2" type="body"/>
          </p:nvPr>
        </p:nvSpPr>
        <p:spPr>
          <a:xfrm>
            <a:off x="4650575" y="998800"/>
            <a:ext cx="4456500" cy="341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pairs_comp = </a:t>
            </a:r>
            <a:r>
              <a:rPr b="1" lang="en-US" sz="1200">
                <a:solidFill>
                  <a:srgbClr val="7030A0"/>
                </a:solidFill>
                <a:latin typeface="Roboto Mono"/>
                <a:ea typeface="Roboto Mono"/>
                <a:cs typeface="Roboto Mono"/>
                <a:sym typeface="Roboto Mono"/>
              </a:rPr>
              <a:t>[]</a:t>
            </a:r>
            <a:br>
              <a:rPr b="1" lang="en-US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-US" sz="1200">
                <a:solidFill>
                  <a:srgbClr val="00B050"/>
                </a:solidFill>
                <a:latin typeface="Roboto Mono"/>
                <a:ea typeface="Roboto Mono"/>
                <a:cs typeface="Roboto Mono"/>
                <a:sym typeface="Roboto Mono"/>
              </a:rPr>
              <a:t>for i in range(4):</a:t>
            </a:r>
            <a:br>
              <a:rPr b="1" lang="en-US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-US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12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for j in range(4):</a:t>
            </a:r>
            <a:br>
              <a:rPr b="1" lang="en-US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-US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1200">
                <a:solidFill>
                  <a:srgbClr val="00B0F0"/>
                </a:solidFill>
                <a:latin typeface="Roboto Mono"/>
                <a:ea typeface="Roboto Mono"/>
                <a:cs typeface="Roboto Mono"/>
                <a:sym typeface="Roboto Mono"/>
              </a:rPr>
              <a:t>pairs_comp.append((i, j))</a:t>
            </a:r>
            <a:br>
              <a:rPr b="1" lang="en-US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print(pairs_comp)</a:t>
            </a:r>
            <a:endParaRPr sz="1200">
              <a:solidFill>
                <a:schemeClr val="dk1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latin typeface="Roboto Mono Light"/>
                <a:ea typeface="Roboto Mono Light"/>
                <a:cs typeface="Roboto Mono Light"/>
                <a:sym typeface="Roboto Mono Light"/>
              </a:rPr>
              <a:t>&gt;&gt;&gt; </a:t>
            </a:r>
            <a:r>
              <a:rPr lang="en-US" sz="1200">
                <a:latin typeface="Roboto Mono Light"/>
                <a:ea typeface="Roboto Mono Light"/>
                <a:cs typeface="Roboto Mono Light"/>
                <a:sym typeface="Roboto Mono Light"/>
              </a:rPr>
              <a:t>[(0, 0), (0, 1), (0, 2), (0, 3), (1, 0), (1, 1), (1, 2), (1, 3), (2, 0), (2, 1), (2, 2), (2, 3), (3, 0), (3, 1), (3, 2), (3, 3)]</a:t>
            </a:r>
            <a:endParaRPr sz="1200"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>
            <p:ph type="title"/>
          </p:nvPr>
        </p:nvSpPr>
        <p:spPr>
          <a:xfrm>
            <a:off x="0" y="84394"/>
            <a:ext cx="91440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Challenge</a:t>
            </a:r>
            <a:endParaRPr/>
          </a:p>
        </p:txBody>
      </p:sp>
      <p:sp>
        <p:nvSpPr>
          <p:cNvPr id="115" name="Google Shape;115;p16"/>
          <p:cNvSpPr txBox="1"/>
          <p:nvPr>
            <p:ph idx="12" type="sldNum"/>
          </p:nvPr>
        </p:nvSpPr>
        <p:spPr>
          <a:xfrm>
            <a:off x="3506788" y="485611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" name="Google Shape;116;p16"/>
          <p:cNvSpPr txBox="1"/>
          <p:nvPr>
            <p:ph idx="1" type="body"/>
          </p:nvPr>
        </p:nvSpPr>
        <p:spPr>
          <a:xfrm>
            <a:off x="40106" y="998794"/>
            <a:ext cx="9066900" cy="341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What will be contained within </a:t>
            </a:r>
            <a:r>
              <a:rPr b="1" lang="en-US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return_val</a:t>
            </a:r>
            <a:r>
              <a:rPr lang="en-US" sz="1200">
                <a:solidFill>
                  <a:schemeClr val="dk1"/>
                </a:solidFill>
              </a:rPr>
              <a:t>?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return_val = [char for char in 'u7H.l0PoIue[#894' if char.isalnum() and not char.islower()]</a:t>
            </a:r>
            <a:endParaRPr b="1"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-304800" lvl="0" marL="4572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 Light"/>
              <a:buAutoNum type="alphaUcPeriod"/>
            </a:pPr>
            <a:r>
              <a:rPr lang="en-US" sz="12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['u', '7', 'H', 'l', '0', 'P', 'o', 'I', 'u', 'e', '8', '9', '4']</a:t>
            </a:r>
            <a:endParaRPr sz="1200">
              <a:solidFill>
                <a:schemeClr val="dk1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 Light"/>
              <a:buAutoNum type="alphaUcPeriod"/>
            </a:pPr>
            <a:r>
              <a:rPr lang="en-US" sz="12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['H', 'P', 'I']</a:t>
            </a:r>
            <a:endParaRPr sz="1200">
              <a:solidFill>
                <a:schemeClr val="dk1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 Light"/>
              <a:buAutoNum type="alphaUcPeriod"/>
            </a:pPr>
            <a:r>
              <a:rPr lang="en-US" sz="12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['u', '7', 'l', '0', 'o', 'u', 'e', '8', '9', '4']</a:t>
            </a:r>
            <a:endParaRPr sz="1200">
              <a:solidFill>
                <a:schemeClr val="dk1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 Light"/>
              <a:buAutoNum type="alphaUcPeriod"/>
            </a:pPr>
            <a:r>
              <a:rPr lang="en-US" sz="12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['7', 'H', '0', 'P', 'I', '8', '9', '4']</a:t>
            </a:r>
            <a:endParaRPr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/>
          <p:nvPr>
            <p:ph type="title"/>
          </p:nvPr>
        </p:nvSpPr>
        <p:spPr>
          <a:xfrm>
            <a:off x="0" y="84394"/>
            <a:ext cx="91440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Comprehensions: dictionaries</a:t>
            </a:r>
            <a:endParaRPr/>
          </a:p>
        </p:txBody>
      </p:sp>
      <p:sp>
        <p:nvSpPr>
          <p:cNvPr id="123" name="Google Shape;123;p17"/>
          <p:cNvSpPr txBox="1"/>
          <p:nvPr>
            <p:ph idx="12" type="sldNum"/>
          </p:nvPr>
        </p:nvSpPr>
        <p:spPr>
          <a:xfrm>
            <a:off x="3506788" y="485611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p17"/>
          <p:cNvSpPr txBox="1"/>
          <p:nvPr>
            <p:ph idx="1" type="body"/>
          </p:nvPr>
        </p:nvSpPr>
        <p:spPr>
          <a:xfrm>
            <a:off x="40100" y="998800"/>
            <a:ext cx="4456500" cy="341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Comprehensions are not just limited to lists: you can use them to create dictionaries.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To the right: e</a:t>
            </a:r>
            <a:r>
              <a:rPr lang="en-US" sz="1400">
                <a:solidFill>
                  <a:schemeClr val="dk1"/>
                </a:solidFill>
              </a:rPr>
              <a:t>ach individual name in the names list with the hero in the heroes list. In this case, the name will be the key, and the hero will be the value.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</a:rPr>
              <a:t>Note: The </a:t>
            </a:r>
            <a:r>
              <a:rPr b="1" lang="en-US" sz="1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zip()</a:t>
            </a:r>
            <a:r>
              <a:rPr lang="en-US" sz="1400">
                <a:solidFill>
                  <a:schemeClr val="dk1"/>
                </a:solidFill>
              </a:rPr>
              <a:t> function groups elements to easily loop over them concurrently.</a:t>
            </a:r>
            <a:endParaRPr sz="1400"/>
          </a:p>
        </p:txBody>
      </p:sp>
      <p:sp>
        <p:nvSpPr>
          <p:cNvPr id="125" name="Google Shape;125;p17"/>
          <p:cNvSpPr txBox="1"/>
          <p:nvPr>
            <p:ph idx="2" type="body"/>
          </p:nvPr>
        </p:nvSpPr>
        <p:spPr>
          <a:xfrm>
            <a:off x="4650575" y="998800"/>
            <a:ext cx="4456500" cy="341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names = ['Bruce', 'Clark']</a:t>
            </a:r>
            <a:endParaRPr sz="1200">
              <a:solidFill>
                <a:schemeClr val="dk1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heroes = ['Batman', 'Superman']</a:t>
            </a:r>
            <a:endParaRPr sz="1200">
              <a:solidFill>
                <a:schemeClr val="dk1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# dict comprehension</a:t>
            </a:r>
            <a:endParaRPr sz="1200">
              <a:solidFill>
                <a:schemeClr val="dk1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my_dict = </a:t>
            </a:r>
            <a:r>
              <a:rPr b="1" lang="en-US" sz="1200">
                <a:solidFill>
                  <a:srgbClr val="00B050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b="1" lang="en-US" sz="1200">
                <a:solidFill>
                  <a:srgbClr val="0070C0"/>
                </a:solidFill>
                <a:latin typeface="Roboto Mono"/>
                <a:ea typeface="Roboto Mono"/>
                <a:cs typeface="Roboto Mono"/>
                <a:sym typeface="Roboto Mono"/>
              </a:rPr>
              <a:t>name: hero</a:t>
            </a:r>
            <a:r>
              <a:rPr b="1" lang="en-US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12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for name, hero in zip(names, heroes)</a:t>
            </a:r>
            <a:r>
              <a:rPr b="1" lang="en-US" sz="1200">
                <a:solidFill>
                  <a:srgbClr val="00B05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b="1"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# equivalent to this</a:t>
            </a:r>
            <a:endParaRPr sz="1200">
              <a:solidFill>
                <a:schemeClr val="dk1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my_dict = </a:t>
            </a:r>
            <a:r>
              <a:rPr lang="en-US" sz="1200">
                <a:solidFill>
                  <a:srgbClr val="00B050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{}</a:t>
            </a:r>
            <a:endParaRPr sz="1200">
              <a:solidFill>
                <a:schemeClr val="dk1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200">
                <a:solidFill>
                  <a:srgbClr val="FF0000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for name, hero in zip(names, heroes)</a:t>
            </a:r>
            <a:r>
              <a:rPr lang="en-US" sz="12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:</a:t>
            </a:r>
            <a:endParaRPr sz="1200">
              <a:solidFill>
                <a:schemeClr val="dk1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     </a:t>
            </a:r>
            <a:r>
              <a:rPr lang="en-US" sz="1200">
                <a:solidFill>
                  <a:srgbClr val="0070C0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my_dict[name] = hero</a:t>
            </a:r>
            <a:endParaRPr sz="1200">
              <a:solidFill>
                <a:schemeClr val="dk1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     # my_dict.update(name, hero)</a:t>
            </a:r>
            <a:endParaRPr sz="1200">
              <a:solidFill>
                <a:schemeClr val="dk1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>
            <p:ph type="title"/>
          </p:nvPr>
        </p:nvSpPr>
        <p:spPr>
          <a:xfrm>
            <a:off x="722313" y="3305175"/>
            <a:ext cx="7772400" cy="1021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ITERATORS</a:t>
            </a:r>
            <a:endParaRPr/>
          </a:p>
        </p:txBody>
      </p:sp>
      <p:sp>
        <p:nvSpPr>
          <p:cNvPr id="132" name="Google Shape;132;p18"/>
          <p:cNvSpPr txBox="1"/>
          <p:nvPr>
            <p:ph idx="1" type="body"/>
          </p:nvPr>
        </p:nvSpPr>
        <p:spPr>
          <a:xfrm>
            <a:off x="722313" y="2180035"/>
            <a:ext cx="7772400" cy="1125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8"/>
          <p:cNvSpPr txBox="1"/>
          <p:nvPr>
            <p:ph idx="12" type="sldNum"/>
          </p:nvPr>
        </p:nvSpPr>
        <p:spPr>
          <a:xfrm>
            <a:off x="3506788" y="485611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>
            <p:ph type="title"/>
          </p:nvPr>
        </p:nvSpPr>
        <p:spPr>
          <a:xfrm>
            <a:off x="0" y="84394"/>
            <a:ext cx="91440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Iterable</a:t>
            </a:r>
            <a:r>
              <a:rPr lang="en-US"/>
              <a:t> objects: you've used 'em</a:t>
            </a:r>
            <a:endParaRPr/>
          </a:p>
        </p:txBody>
      </p:sp>
      <p:sp>
        <p:nvSpPr>
          <p:cNvPr id="140" name="Google Shape;140;p19"/>
          <p:cNvSpPr txBox="1"/>
          <p:nvPr>
            <p:ph idx="12" type="sldNum"/>
          </p:nvPr>
        </p:nvSpPr>
        <p:spPr>
          <a:xfrm>
            <a:off x="3506788" y="485611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" name="Google Shape;141;p19"/>
          <p:cNvSpPr txBox="1"/>
          <p:nvPr>
            <p:ph idx="1" type="body"/>
          </p:nvPr>
        </p:nvSpPr>
        <p:spPr>
          <a:xfrm>
            <a:off x="40100" y="998800"/>
            <a:ext cx="4456500" cy="341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An </a:t>
            </a:r>
            <a:r>
              <a:rPr b="1" lang="en-US"/>
              <a:t>i</a:t>
            </a:r>
            <a:r>
              <a:rPr b="1" lang="en-US"/>
              <a:t>terable object</a:t>
            </a:r>
            <a:r>
              <a:rPr lang="en-US"/>
              <a:t> is one that you can iterate through. You've certainly used them before! All collections (string, list, tuple, dictionary, set), range, and files are iterables, among many other objects.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2" name="Google Shape;142;p19"/>
          <p:cNvSpPr txBox="1"/>
          <p:nvPr>
            <p:ph idx="2" type="body"/>
          </p:nvPr>
        </p:nvSpPr>
        <p:spPr>
          <a:xfrm>
            <a:off x="4650575" y="998800"/>
            <a:ext cx="4456500" cy="341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Roboto Mono Light"/>
                <a:ea typeface="Roboto Mono Light"/>
                <a:cs typeface="Roboto Mono Light"/>
                <a:sym typeface="Roboto Mono Light"/>
              </a:rPr>
              <a:t>my_str = 'USC'</a:t>
            </a:r>
            <a:endParaRPr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Roboto Mono Light"/>
                <a:ea typeface="Roboto Mono Light"/>
                <a:cs typeface="Roboto Mono Light"/>
                <a:sym typeface="Roboto Mono Light"/>
              </a:rPr>
              <a:t>for item in my_str:</a:t>
            </a:r>
            <a:endParaRPr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Roboto Mono Light"/>
                <a:ea typeface="Roboto Mono Light"/>
                <a:cs typeface="Roboto Mono Light"/>
                <a:sym typeface="Roboto Mono Light"/>
              </a:rPr>
              <a:t>print(item)</a:t>
            </a:r>
            <a:endParaRPr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Roboto Mono Light"/>
                <a:ea typeface="Roboto Mono Light"/>
                <a:cs typeface="Roboto Mono Light"/>
                <a:sym typeface="Roboto Mono Light"/>
              </a:rPr>
              <a:t>&gt;&gt;&gt; U</a:t>
            </a:r>
            <a:endParaRPr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Roboto Mono Light"/>
                <a:ea typeface="Roboto Mono Light"/>
                <a:cs typeface="Roboto Mono Light"/>
                <a:sym typeface="Roboto Mono Light"/>
              </a:rPr>
              <a:t>&gt;&gt;&gt; S</a:t>
            </a:r>
            <a:endParaRPr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 Light"/>
                <a:ea typeface="Roboto Mono Light"/>
                <a:cs typeface="Roboto Mono Light"/>
                <a:sym typeface="Roboto Mono Light"/>
              </a:rPr>
              <a:t>&gt;&gt;&gt; C</a:t>
            </a:r>
            <a:endParaRPr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 txBox="1"/>
          <p:nvPr>
            <p:ph type="title"/>
          </p:nvPr>
        </p:nvSpPr>
        <p:spPr>
          <a:xfrm>
            <a:off x="0" y="84394"/>
            <a:ext cx="91440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Iterators: the basics</a:t>
            </a:r>
            <a:endParaRPr/>
          </a:p>
        </p:txBody>
      </p:sp>
      <p:sp>
        <p:nvSpPr>
          <p:cNvPr id="149" name="Google Shape;149;p20"/>
          <p:cNvSpPr txBox="1"/>
          <p:nvPr>
            <p:ph idx="12" type="sldNum"/>
          </p:nvPr>
        </p:nvSpPr>
        <p:spPr>
          <a:xfrm>
            <a:off x="3506788" y="485611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" name="Google Shape;150;p20"/>
          <p:cNvSpPr txBox="1"/>
          <p:nvPr>
            <p:ph idx="1" type="body"/>
          </p:nvPr>
        </p:nvSpPr>
        <p:spPr>
          <a:xfrm>
            <a:off x="40106" y="998794"/>
            <a:ext cx="9066900" cy="341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An </a:t>
            </a:r>
            <a:r>
              <a:rPr b="1" lang="en-US" sz="1500"/>
              <a:t>iterator</a:t>
            </a:r>
            <a:r>
              <a:rPr lang="en-US" sz="1500"/>
              <a:t> is an object that contains a countable number of items which can be iterated upon - meaning that you can traverse through them.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Internally</a:t>
            </a:r>
            <a:r>
              <a:rPr lang="en-US" sz="1500"/>
              <a:t>, the iterator system contains the methods: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Roboto Mono Light"/>
              <a:buChar char="•"/>
            </a:pPr>
            <a:r>
              <a:rPr lang="en-US" sz="1500">
                <a:latin typeface="Roboto Mono Light"/>
                <a:ea typeface="Roboto Mono Light"/>
                <a:cs typeface="Roboto Mono Light"/>
                <a:sym typeface="Roboto Mono Light"/>
              </a:rPr>
              <a:t>__iter__()</a:t>
            </a:r>
            <a:endParaRPr sz="15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Roboto Mono Light"/>
              <a:buChar char="•"/>
            </a:pPr>
            <a:r>
              <a:rPr lang="en-US" sz="1500">
                <a:latin typeface="Roboto Mono Light"/>
                <a:ea typeface="Roboto Mono Light"/>
                <a:cs typeface="Roboto Mono Light"/>
                <a:sym typeface="Roboto Mono Light"/>
              </a:rPr>
              <a:t>__next__()</a:t>
            </a:r>
            <a:endParaRPr sz="15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Externally, they can be accessed via the built in functions:</a:t>
            </a:r>
            <a:endParaRPr sz="1500"/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 Mono Light"/>
              <a:buChar char="•"/>
            </a:pPr>
            <a:r>
              <a:rPr lang="en-US" sz="1500">
                <a:latin typeface="Roboto Mono Light"/>
                <a:ea typeface="Roboto Mono Light"/>
                <a:cs typeface="Roboto Mono Light"/>
                <a:sym typeface="Roboto Mono Light"/>
              </a:rPr>
              <a:t>iter()</a:t>
            </a:r>
            <a:endParaRPr sz="15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 Mono Light"/>
              <a:buChar char="•"/>
            </a:pPr>
            <a:r>
              <a:rPr lang="en-US" sz="1500">
                <a:latin typeface="Roboto Mono Light"/>
                <a:ea typeface="Roboto Mono Light"/>
                <a:cs typeface="Roboto Mono Light"/>
                <a:sym typeface="Roboto Mono Light"/>
              </a:rPr>
              <a:t>next()</a:t>
            </a:r>
            <a:endParaRPr sz="1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 txBox="1"/>
          <p:nvPr>
            <p:ph type="title"/>
          </p:nvPr>
        </p:nvSpPr>
        <p:spPr>
          <a:xfrm>
            <a:off x="0" y="84394"/>
            <a:ext cx="91440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Iterators: 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iter()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7" name="Google Shape;157;p21"/>
          <p:cNvSpPr txBox="1"/>
          <p:nvPr>
            <p:ph idx="12" type="sldNum"/>
          </p:nvPr>
        </p:nvSpPr>
        <p:spPr>
          <a:xfrm>
            <a:off x="3506788" y="485611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8" name="Google Shape;158;p21"/>
          <p:cNvSpPr txBox="1"/>
          <p:nvPr>
            <p:ph idx="1" type="body"/>
          </p:nvPr>
        </p:nvSpPr>
        <p:spPr>
          <a:xfrm>
            <a:off x="40100" y="998800"/>
            <a:ext cx="4456500" cy="341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Since s</a:t>
            </a:r>
            <a:r>
              <a:rPr lang="en-US"/>
              <a:t>trings, lists, tuples, dictionaries, and sets are all iterable objects, you can get an iterator from them and iterate through the data.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You use the </a:t>
            </a:r>
            <a:r>
              <a:rPr b="1" lang="en-US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iter()</a:t>
            </a:r>
            <a:r>
              <a:rPr lang="en-US">
                <a:solidFill>
                  <a:schemeClr val="dk1"/>
                </a:solidFill>
              </a:rPr>
              <a:t> function to get back an iterator from the iterable object. </a:t>
            </a:r>
            <a:r>
              <a:rPr i="1" lang="en-US">
                <a:solidFill>
                  <a:schemeClr val="dk1"/>
                </a:solidFill>
              </a:rPr>
              <a:t>Note that an iterator is not the same as the iterable object: you get an </a:t>
            </a:r>
            <a:r>
              <a:rPr b="1" i="1" lang="en-US">
                <a:solidFill>
                  <a:schemeClr val="dk1"/>
                </a:solidFill>
              </a:rPr>
              <a:t>iterator</a:t>
            </a:r>
            <a:r>
              <a:rPr i="1" lang="en-US">
                <a:solidFill>
                  <a:schemeClr val="dk1"/>
                </a:solidFill>
              </a:rPr>
              <a:t> from an </a:t>
            </a:r>
            <a:r>
              <a:rPr b="1" i="1" lang="en-US">
                <a:solidFill>
                  <a:schemeClr val="dk1"/>
                </a:solidFill>
              </a:rPr>
              <a:t>iterable object</a:t>
            </a:r>
            <a:r>
              <a:rPr i="1" lang="en-U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59" name="Google Shape;159;p21"/>
          <p:cNvSpPr txBox="1"/>
          <p:nvPr>
            <p:ph idx="2" type="body"/>
          </p:nvPr>
        </p:nvSpPr>
        <p:spPr>
          <a:xfrm>
            <a:off x="4650575" y="998800"/>
            <a:ext cx="4456500" cy="341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tupl = ('USC', 'TAC', 'Applied Python’)</a:t>
            </a:r>
            <a:endParaRPr sz="1200">
              <a:solidFill>
                <a:schemeClr val="dk1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for item in tupl:</a:t>
            </a:r>
            <a:endParaRPr sz="1200">
              <a:solidFill>
                <a:schemeClr val="dk1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    print(item)</a:t>
            </a:r>
            <a:endParaRPr sz="1200">
              <a:solidFill>
                <a:schemeClr val="dk1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# iterator = iter(iterable_object)</a:t>
            </a:r>
            <a:endParaRPr sz="1200">
              <a:solidFill>
                <a:schemeClr val="dk1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iter_obj = </a:t>
            </a:r>
            <a:r>
              <a:rPr b="1" lang="en-US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iter(</a:t>
            </a:r>
            <a:r>
              <a:rPr lang="en-US" sz="12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tupl</a:t>
            </a:r>
            <a:r>
              <a:rPr b="1" lang="en-US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-US" sz="12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 # tupl.__iter__()</a:t>
            </a:r>
            <a:endParaRPr sz="1200">
              <a:solidFill>
                <a:schemeClr val="dk1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"/>
          <p:cNvSpPr txBox="1"/>
          <p:nvPr>
            <p:ph type="title"/>
          </p:nvPr>
        </p:nvSpPr>
        <p:spPr>
          <a:xfrm>
            <a:off x="0" y="84394"/>
            <a:ext cx="91440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Iterators: 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next()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66" name="Google Shape;166;p22"/>
          <p:cNvSpPr txBox="1"/>
          <p:nvPr>
            <p:ph idx="12" type="sldNum"/>
          </p:nvPr>
        </p:nvSpPr>
        <p:spPr>
          <a:xfrm>
            <a:off x="3506788" y="485611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7" name="Google Shape;167;p22"/>
          <p:cNvSpPr txBox="1"/>
          <p:nvPr>
            <p:ph idx="1" type="body"/>
          </p:nvPr>
        </p:nvSpPr>
        <p:spPr>
          <a:xfrm>
            <a:off x="40100" y="998800"/>
            <a:ext cx="4456500" cy="341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The </a:t>
            </a:r>
            <a:r>
              <a:rPr b="1" lang="en-US" sz="1200">
                <a:latin typeface="Roboto Mono"/>
                <a:ea typeface="Roboto Mono"/>
                <a:cs typeface="Roboto Mono"/>
                <a:sym typeface="Roboto Mono"/>
              </a:rPr>
              <a:t>next()</a:t>
            </a:r>
            <a:r>
              <a:rPr lang="en-US" sz="1200"/>
              <a:t> function grabs items up to the end of an iterable. It will error if used after the end of the iterable data: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latin typeface="Roboto Mono Light"/>
                <a:ea typeface="Roboto Mono Light"/>
                <a:cs typeface="Roboto Mono Light"/>
                <a:sym typeface="Roboto Mono Light"/>
              </a:rPr>
              <a:t>m</a:t>
            </a:r>
            <a:r>
              <a:rPr lang="en-US" sz="12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y_str = "USC”</a:t>
            </a:r>
            <a:endParaRPr sz="1200">
              <a:solidFill>
                <a:schemeClr val="dk1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# iterator = iter(iterable_object)</a:t>
            </a:r>
            <a:endParaRPr sz="1200">
              <a:solidFill>
                <a:schemeClr val="dk1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iter_obj = iter(my_str)</a:t>
            </a:r>
            <a:endParaRPr sz="1200">
              <a:solidFill>
                <a:schemeClr val="dk1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#     next(iterator)</a:t>
            </a:r>
            <a:endParaRPr sz="1200">
              <a:solidFill>
                <a:schemeClr val="dk1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print(</a:t>
            </a:r>
            <a:r>
              <a:rPr b="1" lang="en-US" sz="1200">
                <a:latin typeface="Roboto Mono"/>
                <a:ea typeface="Roboto Mono"/>
                <a:cs typeface="Roboto Mono"/>
                <a:sym typeface="Roboto Mono"/>
              </a:rPr>
              <a:t>next(</a:t>
            </a:r>
            <a:r>
              <a:rPr lang="en-US" sz="12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iter_obj</a:t>
            </a:r>
            <a:r>
              <a:rPr b="1" lang="en-US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-US" sz="12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)</a:t>
            </a:r>
            <a:endParaRPr sz="1200">
              <a:solidFill>
                <a:schemeClr val="dk1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print(</a:t>
            </a:r>
            <a:r>
              <a:rPr b="1" lang="en-US" sz="1200">
                <a:latin typeface="Roboto Mono"/>
                <a:ea typeface="Roboto Mono"/>
                <a:cs typeface="Roboto Mono"/>
                <a:sym typeface="Roboto Mono"/>
              </a:rPr>
              <a:t>next(</a:t>
            </a:r>
            <a:r>
              <a:rPr lang="en-US" sz="12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iter_obj</a:t>
            </a:r>
            <a:r>
              <a:rPr b="1" lang="en-US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-US" sz="12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)</a:t>
            </a:r>
            <a:endParaRPr sz="1200">
              <a:solidFill>
                <a:schemeClr val="dk1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print(</a:t>
            </a:r>
            <a:r>
              <a:rPr b="1" lang="en-US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next(</a:t>
            </a:r>
            <a:r>
              <a:rPr lang="en-US" sz="12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iter_obj</a:t>
            </a:r>
            <a:r>
              <a:rPr b="1" lang="en-US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-US" sz="12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)</a:t>
            </a:r>
            <a:endParaRPr sz="1200">
              <a:solidFill>
                <a:schemeClr val="dk1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print(</a:t>
            </a:r>
            <a:r>
              <a:rPr b="1" lang="en-US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next(</a:t>
            </a:r>
            <a:r>
              <a:rPr lang="en-US" sz="12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iter_obj</a:t>
            </a:r>
            <a:r>
              <a:rPr b="1" lang="en-US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-US" sz="12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)</a:t>
            </a:r>
            <a:endParaRPr sz="1200"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168" name="Google Shape;168;p22"/>
          <p:cNvSpPr txBox="1"/>
          <p:nvPr>
            <p:ph idx="2" type="body"/>
          </p:nvPr>
        </p:nvSpPr>
        <p:spPr>
          <a:xfrm>
            <a:off x="4650575" y="998800"/>
            <a:ext cx="4456500" cy="341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latin typeface="Roboto Mono Light"/>
                <a:ea typeface="Roboto Mono Light"/>
                <a:cs typeface="Roboto Mono Light"/>
                <a:sym typeface="Roboto Mono Light"/>
              </a:rPr>
              <a:t>&gt;&gt;&gt; U</a:t>
            </a:r>
            <a:endParaRPr sz="12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latin typeface="Roboto Mono Light"/>
                <a:ea typeface="Roboto Mono Light"/>
                <a:cs typeface="Roboto Mono Light"/>
                <a:sym typeface="Roboto Mono Light"/>
              </a:rPr>
              <a:t>&gt;&gt;&gt; S</a:t>
            </a:r>
            <a:endParaRPr sz="12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latin typeface="Roboto Mono Light"/>
                <a:ea typeface="Roboto Mono Light"/>
                <a:cs typeface="Roboto Mono Light"/>
                <a:sym typeface="Roboto Mono Light"/>
              </a:rPr>
              <a:t>&gt;&gt;&gt; C</a:t>
            </a:r>
            <a:endParaRPr sz="12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Roboto Mono Light"/>
                <a:ea typeface="Roboto Mono Light"/>
                <a:cs typeface="Roboto Mono Light"/>
                <a:sym typeface="Roboto Mono Light"/>
              </a:rPr>
              <a:t>&gt;&gt;&gt; exception: StopIteration</a:t>
            </a:r>
            <a:endParaRPr sz="1200"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 txBox="1"/>
          <p:nvPr>
            <p:ph type="title"/>
          </p:nvPr>
        </p:nvSpPr>
        <p:spPr>
          <a:xfrm>
            <a:off x="722313" y="3305175"/>
            <a:ext cx="7772400" cy="1021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GENERATORS</a:t>
            </a:r>
            <a:endParaRPr/>
          </a:p>
        </p:txBody>
      </p:sp>
      <p:sp>
        <p:nvSpPr>
          <p:cNvPr id="175" name="Google Shape;175;p23"/>
          <p:cNvSpPr txBox="1"/>
          <p:nvPr>
            <p:ph idx="1" type="body"/>
          </p:nvPr>
        </p:nvSpPr>
        <p:spPr>
          <a:xfrm>
            <a:off x="722313" y="2180035"/>
            <a:ext cx="7772400" cy="1125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3"/>
          <p:cNvSpPr txBox="1"/>
          <p:nvPr>
            <p:ph idx="12" type="sldNum"/>
          </p:nvPr>
        </p:nvSpPr>
        <p:spPr>
          <a:xfrm>
            <a:off x="3506788" y="485611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4"/>
          <p:cNvSpPr txBox="1"/>
          <p:nvPr>
            <p:ph type="title"/>
          </p:nvPr>
        </p:nvSpPr>
        <p:spPr>
          <a:xfrm>
            <a:off x="0" y="84394"/>
            <a:ext cx="91440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 begin: how 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-US"/>
              <a:t> works</a:t>
            </a:r>
            <a:endParaRPr/>
          </a:p>
        </p:txBody>
      </p:sp>
      <p:sp>
        <p:nvSpPr>
          <p:cNvPr id="183" name="Google Shape;183;p24"/>
          <p:cNvSpPr txBox="1"/>
          <p:nvPr>
            <p:ph idx="12" type="sldNum"/>
          </p:nvPr>
        </p:nvSpPr>
        <p:spPr>
          <a:xfrm>
            <a:off x="3506788" y="485611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4" name="Google Shape;184;p24"/>
          <p:cNvSpPr txBox="1"/>
          <p:nvPr>
            <p:ph idx="1" type="body"/>
          </p:nvPr>
        </p:nvSpPr>
        <p:spPr>
          <a:xfrm>
            <a:off x="40100" y="998800"/>
            <a:ext cx="4456500" cy="341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When the interpreter hits a </a:t>
            </a:r>
            <a:r>
              <a:rPr lang="en-US" sz="1500">
                <a:latin typeface="Roboto Mono Light"/>
                <a:ea typeface="Roboto Mono Light"/>
                <a:cs typeface="Roboto Mono Light"/>
                <a:sym typeface="Roboto Mono Light"/>
              </a:rPr>
              <a:t>return</a:t>
            </a:r>
            <a:r>
              <a:rPr lang="en-US" sz="1500"/>
              <a:t> statement, it's a cue to do three things: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US" sz="1500"/>
              <a:t>Send back something (indicated by whatever follows the </a:t>
            </a:r>
            <a:r>
              <a:rPr lang="en-US" sz="1500">
                <a:latin typeface="Roboto Mono Light"/>
                <a:ea typeface="Roboto Mono Light"/>
                <a:cs typeface="Roboto Mono Light"/>
                <a:sym typeface="Roboto Mono Light"/>
              </a:rPr>
              <a:t>return</a:t>
            </a:r>
            <a:r>
              <a:rPr lang="en-US" sz="1500"/>
              <a:t> keyword) to the caller.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US" sz="1500"/>
              <a:t>Exit the function.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US" sz="1500"/>
              <a:t>Clear the function local state (i.e. remove from memory all the stuff the function created)</a:t>
            </a:r>
            <a:endParaRPr sz="1500"/>
          </a:p>
        </p:txBody>
      </p:sp>
      <p:sp>
        <p:nvSpPr>
          <p:cNvPr id="185" name="Google Shape;185;p24"/>
          <p:cNvSpPr txBox="1"/>
          <p:nvPr>
            <p:ph idx="2" type="body"/>
          </p:nvPr>
        </p:nvSpPr>
        <p:spPr>
          <a:xfrm>
            <a:off x="4650575" y="998800"/>
            <a:ext cx="4456500" cy="341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For example, here's a function which will open a file, dump its contents into a list, and then return that list.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latin typeface="Roboto Mono Light"/>
                <a:ea typeface="Roboto Mono Light"/>
                <a:cs typeface="Roboto Mono Light"/>
                <a:sym typeface="Roboto Mono Light"/>
              </a:rPr>
              <a:t>def file_reader(fn):</a:t>
            </a:r>
            <a:endParaRPr sz="15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Roboto Mono Light"/>
                <a:ea typeface="Roboto Mono Light"/>
                <a:cs typeface="Roboto Mono Light"/>
                <a:sym typeface="Roboto Mono Light"/>
              </a:rPr>
              <a:t>file = open(fn, 'r')</a:t>
            </a:r>
            <a:endParaRPr sz="15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Roboto Mono Light"/>
                <a:ea typeface="Roboto Mono Light"/>
                <a:cs typeface="Roboto Mono Light"/>
                <a:sym typeface="Roboto Mono Light"/>
              </a:rPr>
              <a:t>result = file.read().split('\n')</a:t>
            </a:r>
            <a:endParaRPr sz="15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Roboto Mono Light"/>
                <a:ea typeface="Roboto Mono Light"/>
                <a:cs typeface="Roboto Mono Light"/>
                <a:sym typeface="Roboto Mono Light"/>
              </a:rPr>
              <a:t>file.close()</a:t>
            </a:r>
            <a:endParaRPr sz="15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500"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-US" sz="1500">
                <a:latin typeface="Roboto Mono Light"/>
                <a:ea typeface="Roboto Mono Light"/>
                <a:cs typeface="Roboto Mono Light"/>
                <a:sym typeface="Roboto Mono Light"/>
              </a:rPr>
              <a:t> result</a:t>
            </a:r>
            <a:endParaRPr sz="1500"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5"/>
          <p:cNvSpPr txBox="1"/>
          <p:nvPr>
            <p:ph type="title"/>
          </p:nvPr>
        </p:nvSpPr>
        <p:spPr>
          <a:xfrm>
            <a:off x="0" y="84394"/>
            <a:ext cx="91440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hypothetical</a:t>
            </a:r>
            <a:endParaRPr/>
          </a:p>
        </p:txBody>
      </p:sp>
      <p:sp>
        <p:nvSpPr>
          <p:cNvPr id="192" name="Google Shape;192;p25"/>
          <p:cNvSpPr txBox="1"/>
          <p:nvPr>
            <p:ph idx="12" type="sldNum"/>
          </p:nvPr>
        </p:nvSpPr>
        <p:spPr>
          <a:xfrm>
            <a:off x="3506788" y="485611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3" name="Google Shape;193;p25"/>
          <p:cNvSpPr txBox="1"/>
          <p:nvPr>
            <p:ph idx="1" type="body"/>
          </p:nvPr>
        </p:nvSpPr>
        <p:spPr>
          <a:xfrm>
            <a:off x="40100" y="998800"/>
            <a:ext cx="4456500" cy="341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So let's say, for the sake of argument, that you are creating a program which needs to read in a csv file and iterate through the rows.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You might do something similar to the process on the right, using the function from the previous slide.</a:t>
            </a:r>
            <a:endParaRPr/>
          </a:p>
        </p:txBody>
      </p:sp>
      <p:sp>
        <p:nvSpPr>
          <p:cNvPr id="194" name="Google Shape;194;p25"/>
          <p:cNvSpPr txBox="1"/>
          <p:nvPr>
            <p:ph idx="2" type="body"/>
          </p:nvPr>
        </p:nvSpPr>
        <p:spPr>
          <a:xfrm>
            <a:off x="4650575" y="998800"/>
            <a:ext cx="4456500" cy="341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latin typeface="Roboto Mono Light"/>
                <a:ea typeface="Roboto Mono Light"/>
                <a:cs typeface="Roboto Mono Light"/>
                <a:sym typeface="Roboto Mono Light"/>
              </a:rPr>
              <a:t>def file_reader(fn):</a:t>
            </a:r>
            <a:endParaRPr sz="14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latin typeface="Roboto Mono Light"/>
                <a:ea typeface="Roboto Mono Light"/>
                <a:cs typeface="Roboto Mono Light"/>
                <a:sym typeface="Roboto Mono Light"/>
              </a:rPr>
              <a:t>file = open(fn, 'r')</a:t>
            </a:r>
            <a:endParaRPr sz="14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>
                <a:latin typeface="Roboto Mono"/>
                <a:ea typeface="Roboto Mono"/>
                <a:cs typeface="Roboto Mono"/>
                <a:sym typeface="Roboto Mono"/>
              </a:rPr>
              <a:t>result</a:t>
            </a:r>
            <a:r>
              <a:rPr b="1" lang="en-US" sz="1400"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b="1" lang="en-US" sz="1400">
                <a:latin typeface="Roboto Mono"/>
                <a:ea typeface="Roboto Mono"/>
                <a:cs typeface="Roboto Mono"/>
                <a:sym typeface="Roboto Mono"/>
              </a:rPr>
              <a:t>file.read().split('\n')</a:t>
            </a:r>
            <a:endParaRPr b="1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latin typeface="Roboto Mono Light"/>
                <a:ea typeface="Roboto Mono Light"/>
                <a:cs typeface="Roboto Mono Light"/>
                <a:sym typeface="Roboto Mono Light"/>
              </a:rPr>
              <a:t>file.close()</a:t>
            </a:r>
            <a:endParaRPr sz="14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latin typeface="Roboto Mono Light"/>
                <a:ea typeface="Roboto Mono Light"/>
                <a:cs typeface="Roboto Mono Light"/>
                <a:sym typeface="Roboto Mono Light"/>
              </a:rPr>
              <a:t>return result</a:t>
            </a:r>
            <a:endParaRPr sz="14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latin typeface="Roboto Mono Light"/>
                <a:ea typeface="Roboto Mono Light"/>
                <a:cs typeface="Roboto Mono Light"/>
                <a:sym typeface="Roboto Mono Light"/>
              </a:rPr>
              <a:t>file_name = </a:t>
            </a:r>
            <a:r>
              <a:rPr b="1" lang="en-US" sz="1400">
                <a:latin typeface="Roboto Mono"/>
                <a:ea typeface="Roboto Mono"/>
                <a:cs typeface="Roboto Mono"/>
                <a:sym typeface="Roboto Mono"/>
              </a:rPr>
              <a:t>'</a:t>
            </a:r>
            <a:r>
              <a:rPr b="1" lang="en-US" sz="14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small</a:t>
            </a:r>
            <a:r>
              <a:rPr b="1" lang="en-US" sz="1400">
                <a:latin typeface="Roboto Mono"/>
                <a:ea typeface="Roboto Mono"/>
                <a:cs typeface="Roboto Mono"/>
                <a:sym typeface="Roboto Mono"/>
              </a:rPr>
              <a:t>_data_set.csv'</a:t>
            </a:r>
            <a:endParaRPr b="1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latin typeface="Roboto Mono Light"/>
                <a:ea typeface="Roboto Mono Light"/>
                <a:cs typeface="Roboto Mono Light"/>
                <a:sym typeface="Roboto Mono Light"/>
              </a:rPr>
              <a:t>contents = file_reader(file_name)</a:t>
            </a:r>
            <a:endParaRPr sz="14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latin typeface="Roboto Mono Light"/>
                <a:ea typeface="Roboto Mono Light"/>
                <a:cs typeface="Roboto Mono Light"/>
                <a:sym typeface="Roboto Mono Light"/>
              </a:rPr>
              <a:t>for row in contents:</a:t>
            </a:r>
            <a:endParaRPr sz="14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Roboto Mono Light"/>
                <a:ea typeface="Roboto Mono Light"/>
                <a:cs typeface="Roboto Mono Light"/>
                <a:sym typeface="Roboto Mono Light"/>
              </a:rPr>
              <a:t># do something here</a:t>
            </a:r>
            <a:endParaRPr sz="1400"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6"/>
          <p:cNvSpPr txBox="1"/>
          <p:nvPr>
            <p:ph type="title"/>
          </p:nvPr>
        </p:nvSpPr>
        <p:spPr>
          <a:xfrm>
            <a:off x="0" y="84394"/>
            <a:ext cx="91440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Issues with the hypothetical</a:t>
            </a:r>
            <a:endParaRPr/>
          </a:p>
        </p:txBody>
      </p:sp>
      <p:sp>
        <p:nvSpPr>
          <p:cNvPr id="201" name="Google Shape;201;p26"/>
          <p:cNvSpPr txBox="1"/>
          <p:nvPr>
            <p:ph idx="12" type="sldNum"/>
          </p:nvPr>
        </p:nvSpPr>
        <p:spPr>
          <a:xfrm>
            <a:off x="3506788" y="485611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2" name="Google Shape;202;p26"/>
          <p:cNvSpPr txBox="1"/>
          <p:nvPr>
            <p:ph idx="1" type="body"/>
          </p:nvPr>
        </p:nvSpPr>
        <p:spPr>
          <a:xfrm>
            <a:off x="40106" y="998794"/>
            <a:ext cx="9066900" cy="341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So why are we talking about </a:t>
            </a:r>
            <a:r>
              <a:rPr lang="en-US">
                <a:latin typeface="Roboto Mono Light"/>
                <a:ea typeface="Roboto Mono Light"/>
                <a:cs typeface="Roboto Mono Light"/>
                <a:sym typeface="Roboto Mono Light"/>
              </a:rPr>
              <a:t>return</a:t>
            </a:r>
            <a:r>
              <a:rPr lang="en-US"/>
              <a:t>? And what's the deal with this hypothetical? It turns out that the hypothetical works just fine and dandy for smaller files. But what if you tried the same process on </a:t>
            </a:r>
            <a:r>
              <a:rPr b="1" lang="en-US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super_big_</a:t>
            </a:r>
            <a:r>
              <a:rPr b="1" lang="en-US">
                <a:latin typeface="Roboto Mono"/>
                <a:ea typeface="Roboto Mono"/>
                <a:cs typeface="Roboto Mono"/>
                <a:sym typeface="Roboto Mono"/>
              </a:rPr>
              <a:t>data_set.csv</a:t>
            </a:r>
            <a:r>
              <a:rPr lang="en-US"/>
              <a:t>, which you know has at least 1,000,000 rows in it?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/>
              <a:t>The call to </a:t>
            </a:r>
            <a:r>
              <a:rPr b="1" i="1" lang="en-US">
                <a:latin typeface="Roboto Mono"/>
                <a:ea typeface="Roboto Mono"/>
                <a:cs typeface="Roboto Mono"/>
                <a:sym typeface="Roboto Mono"/>
              </a:rPr>
              <a:t>file.read().split('\n')</a:t>
            </a:r>
            <a:r>
              <a:rPr i="1" lang="en-US"/>
              <a:t> dumps </a:t>
            </a:r>
            <a:r>
              <a:rPr i="1" lang="en-US"/>
              <a:t>everything</a:t>
            </a:r>
            <a:r>
              <a:rPr i="1" lang="en-US"/>
              <a:t> from the file into memory at once.</a:t>
            </a:r>
            <a:r>
              <a:rPr lang="en-US"/>
              <a:t> This is no good. You will likely find that well before you hit the end of the file, you'll encounter a </a:t>
            </a:r>
            <a:r>
              <a:rPr b="1" lang="en-US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MemoryError</a:t>
            </a:r>
            <a:r>
              <a:rPr lang="en-US"/>
              <a:t> - because you've run out of it!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7"/>
          <p:cNvSpPr txBox="1"/>
          <p:nvPr>
            <p:ph type="title"/>
          </p:nvPr>
        </p:nvSpPr>
        <p:spPr>
          <a:xfrm>
            <a:off x="0" y="84394"/>
            <a:ext cx="91440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When blinking yellow</a:t>
            </a:r>
            <a:endParaRPr/>
          </a:p>
        </p:txBody>
      </p:sp>
      <p:sp>
        <p:nvSpPr>
          <p:cNvPr id="209" name="Google Shape;209;p27"/>
          <p:cNvSpPr txBox="1"/>
          <p:nvPr>
            <p:ph idx="12" type="sldNum"/>
          </p:nvPr>
        </p:nvSpPr>
        <p:spPr>
          <a:xfrm>
            <a:off x="3506788" y="485611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0" name="Google Shape;210;p27"/>
          <p:cNvSpPr txBox="1"/>
          <p:nvPr>
            <p:ph idx="1" type="body"/>
          </p:nvPr>
        </p:nvSpPr>
        <p:spPr>
          <a:xfrm>
            <a:off x="40100" y="998800"/>
            <a:ext cx="4456500" cy="341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Let's rewrite the </a:t>
            </a:r>
            <a:r>
              <a:rPr lang="en-US">
                <a:latin typeface="Roboto Mono Light"/>
                <a:ea typeface="Roboto Mono Light"/>
                <a:cs typeface="Roboto Mono Light"/>
                <a:sym typeface="Roboto Mono Light"/>
              </a:rPr>
              <a:t>file_reader()</a:t>
            </a:r>
            <a:r>
              <a:rPr lang="en-US"/>
              <a:t> function with a slightly different format, as well as a new keyword: </a:t>
            </a:r>
            <a:r>
              <a:rPr b="1" lang="en-US">
                <a:latin typeface="Roboto Mono"/>
                <a:ea typeface="Roboto Mono"/>
                <a:cs typeface="Roboto Mono"/>
                <a:sym typeface="Roboto Mono"/>
              </a:rPr>
              <a:t>yield</a:t>
            </a:r>
            <a:r>
              <a:rPr lang="en-US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 understand why this is a solution to the problem, you're going to have to understand that keyword. And to understand that keyboard, let's hop into slightly-familiar territory.</a:t>
            </a:r>
            <a:endParaRPr/>
          </a:p>
        </p:txBody>
      </p:sp>
      <p:sp>
        <p:nvSpPr>
          <p:cNvPr id="211" name="Google Shape;211;p27"/>
          <p:cNvSpPr txBox="1"/>
          <p:nvPr>
            <p:ph idx="2" type="body"/>
          </p:nvPr>
        </p:nvSpPr>
        <p:spPr>
          <a:xfrm>
            <a:off x="4650575" y="998800"/>
            <a:ext cx="4456500" cy="341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def file_reader(fn):</a:t>
            </a:r>
            <a:endParaRPr sz="1200">
              <a:solidFill>
                <a:schemeClr val="dk1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for row in open(fn, 'r'):</a:t>
            </a:r>
            <a:endParaRPr sz="1200">
              <a:solidFill>
                <a:schemeClr val="dk1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yield</a:t>
            </a:r>
            <a:r>
              <a:rPr lang="en-US" sz="12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 row</a:t>
            </a:r>
            <a:endParaRPr sz="1200">
              <a:solidFill>
                <a:schemeClr val="dk1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file_name = 'small_data_set.csv'</a:t>
            </a:r>
            <a:endParaRPr sz="1200">
              <a:solidFill>
                <a:schemeClr val="dk1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contents = file_reader(file_name)</a:t>
            </a:r>
            <a:endParaRPr sz="1200">
              <a:solidFill>
                <a:schemeClr val="dk1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for row in contents:</a:t>
            </a:r>
            <a:endParaRPr sz="1200">
              <a:solidFill>
                <a:schemeClr val="dk1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# do something here</a:t>
            </a:r>
            <a:endParaRPr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 txBox="1"/>
          <p:nvPr>
            <p:ph type="title"/>
          </p:nvPr>
        </p:nvSpPr>
        <p:spPr>
          <a:xfrm>
            <a:off x="0" y="84394"/>
            <a:ext cx="91440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Generators: nature's iterator</a:t>
            </a:r>
            <a:endParaRPr/>
          </a:p>
        </p:txBody>
      </p:sp>
      <p:sp>
        <p:nvSpPr>
          <p:cNvPr id="218" name="Google Shape;218;p28"/>
          <p:cNvSpPr txBox="1"/>
          <p:nvPr>
            <p:ph idx="12" type="sldNum"/>
          </p:nvPr>
        </p:nvSpPr>
        <p:spPr>
          <a:xfrm>
            <a:off x="3506788" y="485611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9" name="Google Shape;219;p28"/>
          <p:cNvSpPr txBox="1"/>
          <p:nvPr>
            <p:ph idx="1" type="body"/>
          </p:nvPr>
        </p:nvSpPr>
        <p:spPr>
          <a:xfrm>
            <a:off x="40100" y="998800"/>
            <a:ext cx="4456500" cy="341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A </a:t>
            </a:r>
            <a:r>
              <a:rPr b="1" lang="en-US" sz="1500"/>
              <a:t>generator</a:t>
            </a:r>
            <a:r>
              <a:rPr lang="en-US" sz="1500"/>
              <a:t> is Python's easy way of creating </a:t>
            </a:r>
            <a:r>
              <a:rPr b="1" lang="en-US" sz="1500"/>
              <a:t>lazy iterator</a:t>
            </a:r>
            <a:r>
              <a:rPr lang="en-US" sz="1500"/>
              <a:t>. Wait, what? Didn't we just talk about iterators?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A </a:t>
            </a:r>
            <a:r>
              <a:rPr b="1" lang="en-US" sz="1500"/>
              <a:t>generator function</a:t>
            </a:r>
            <a:r>
              <a:rPr lang="en-US" sz="1500"/>
              <a:t> is just like an iterator function in that it is a function that sends back an object which you can iterate over - but instead of </a:t>
            </a:r>
            <a:r>
              <a:rPr lang="en-US" sz="1500">
                <a:latin typeface="Roboto Mono Light"/>
                <a:ea typeface="Roboto Mono Light"/>
                <a:cs typeface="Roboto Mono Light"/>
                <a:sym typeface="Roboto Mono Light"/>
              </a:rPr>
              <a:t>return</a:t>
            </a:r>
            <a:r>
              <a:rPr lang="en-US" sz="1500"/>
              <a:t>ing, it will </a:t>
            </a:r>
            <a:r>
              <a:rPr lang="en-US" sz="1500">
                <a:latin typeface="Roboto Mono Light"/>
                <a:ea typeface="Roboto Mono Light"/>
                <a:cs typeface="Roboto Mono Light"/>
                <a:sym typeface="Roboto Mono Light"/>
              </a:rPr>
              <a:t>yield</a:t>
            </a:r>
            <a:r>
              <a:rPr lang="en-US" sz="1500"/>
              <a:t>. The object the yield sends back is called the </a:t>
            </a:r>
            <a:r>
              <a:rPr b="1" lang="en-US" sz="1500"/>
              <a:t>generator object</a:t>
            </a:r>
            <a:r>
              <a:rPr lang="en-US" sz="1500"/>
              <a:t>.</a:t>
            </a:r>
            <a:endParaRPr sz="1500"/>
          </a:p>
        </p:txBody>
      </p:sp>
      <p:sp>
        <p:nvSpPr>
          <p:cNvPr id="220" name="Google Shape;220;p28"/>
          <p:cNvSpPr txBox="1"/>
          <p:nvPr>
            <p:ph idx="2" type="body"/>
          </p:nvPr>
        </p:nvSpPr>
        <p:spPr>
          <a:xfrm>
            <a:off x="4650575" y="998800"/>
            <a:ext cx="4456500" cy="341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A </a:t>
            </a:r>
            <a:r>
              <a:rPr b="1" lang="en-US" sz="1500">
                <a:latin typeface="Roboto Mono"/>
                <a:ea typeface="Roboto Mono"/>
                <a:cs typeface="Roboto Mono"/>
                <a:sym typeface="Roboto Mono"/>
              </a:rPr>
              <a:t>yield</a:t>
            </a:r>
            <a:r>
              <a:rPr lang="en-US" sz="1500"/>
              <a:t> is similar to a </a:t>
            </a:r>
            <a:r>
              <a:rPr lang="en-US" sz="1500">
                <a:latin typeface="Roboto Mono Light"/>
                <a:ea typeface="Roboto Mono Light"/>
                <a:cs typeface="Roboto Mono Light"/>
                <a:sym typeface="Roboto Mono Light"/>
              </a:rPr>
              <a:t>return</a:t>
            </a:r>
            <a:r>
              <a:rPr lang="en-US" sz="1500"/>
              <a:t> in that it indicates when a value should be sent back to the caller. However, while</a:t>
            </a:r>
            <a:r>
              <a:rPr b="1" lang="en-US" sz="1500"/>
              <a:t> </a:t>
            </a:r>
            <a:r>
              <a:rPr b="1" lang="en-US" sz="1500"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b="1" lang="en-US" sz="1500"/>
              <a:t> exits </a:t>
            </a:r>
            <a:r>
              <a:rPr lang="en-US" sz="1500"/>
              <a:t>the</a:t>
            </a:r>
            <a:r>
              <a:rPr b="1" lang="en-US" sz="1500"/>
              <a:t> function, </a:t>
            </a:r>
            <a:r>
              <a:rPr b="1" lang="en-US" sz="1500">
                <a:latin typeface="Roboto Mono"/>
                <a:ea typeface="Roboto Mono"/>
                <a:cs typeface="Roboto Mono"/>
                <a:sym typeface="Roboto Mono"/>
              </a:rPr>
              <a:t>yield</a:t>
            </a:r>
            <a:r>
              <a:rPr b="1" lang="en-US" sz="1500"/>
              <a:t> </a:t>
            </a:r>
            <a:r>
              <a:rPr lang="en-US" sz="1500"/>
              <a:t>merely</a:t>
            </a:r>
            <a:r>
              <a:rPr b="1" lang="en-US" sz="1500"/>
              <a:t> saves </a:t>
            </a:r>
            <a:r>
              <a:rPr lang="en-US" sz="1500"/>
              <a:t>the</a:t>
            </a:r>
            <a:r>
              <a:rPr b="1" lang="en-US" sz="1500"/>
              <a:t> </a:t>
            </a:r>
            <a:r>
              <a:rPr b="1" i="1" lang="en-US" sz="1500"/>
              <a:t>state</a:t>
            </a:r>
            <a:r>
              <a:rPr b="1" lang="en-US" sz="1500"/>
              <a:t> </a:t>
            </a:r>
            <a:r>
              <a:rPr lang="en-US" sz="1500"/>
              <a:t>of</a:t>
            </a:r>
            <a:r>
              <a:rPr b="1" lang="en-US" sz="1500"/>
              <a:t> </a:t>
            </a:r>
            <a:r>
              <a:rPr lang="en-US" sz="1500"/>
              <a:t>the</a:t>
            </a:r>
            <a:r>
              <a:rPr b="1" lang="en-US" sz="1500"/>
              <a:t> function - </a:t>
            </a:r>
            <a:r>
              <a:rPr lang="en-US" sz="1500"/>
              <a:t>it</a:t>
            </a:r>
            <a:r>
              <a:rPr b="1" lang="en-US" sz="1500"/>
              <a:t> does not exit </a:t>
            </a:r>
            <a:r>
              <a:rPr lang="en-US" sz="1500"/>
              <a:t>the function</a:t>
            </a:r>
            <a:r>
              <a:rPr b="1" lang="en-US" sz="1500"/>
              <a:t>.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Why is this awesome? Let's head back to the hypothetical.</a:t>
            </a:r>
            <a:endParaRPr sz="15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9"/>
          <p:cNvSpPr txBox="1"/>
          <p:nvPr>
            <p:ph type="title"/>
          </p:nvPr>
        </p:nvSpPr>
        <p:spPr>
          <a:xfrm>
            <a:off x="0" y="84394"/>
            <a:ext cx="91440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Generators: analyzing 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yield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27" name="Google Shape;227;p29"/>
          <p:cNvSpPr txBox="1"/>
          <p:nvPr>
            <p:ph idx="12" type="sldNum"/>
          </p:nvPr>
        </p:nvSpPr>
        <p:spPr>
          <a:xfrm>
            <a:off x="3506788" y="485611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8" name="Google Shape;228;p29"/>
          <p:cNvSpPr txBox="1"/>
          <p:nvPr>
            <p:ph idx="1" type="body"/>
          </p:nvPr>
        </p:nvSpPr>
        <p:spPr>
          <a:xfrm>
            <a:off x="40100" y="998800"/>
            <a:ext cx="4456500" cy="341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Let's break the process down just a little more: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US" sz="1100"/>
              <a:t>When </a:t>
            </a:r>
            <a:r>
              <a:rPr lang="en-US" sz="1100">
                <a:latin typeface="Roboto Mono Light"/>
                <a:ea typeface="Roboto Mono Light"/>
                <a:cs typeface="Roboto Mono Light"/>
                <a:sym typeface="Roboto Mono Light"/>
              </a:rPr>
              <a:t>file_reader()</a:t>
            </a:r>
            <a:r>
              <a:rPr lang="en-US" sz="1100"/>
              <a:t> is called, it: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-US" sz="1100">
                <a:latin typeface="Roboto Mono Light"/>
                <a:ea typeface="Roboto Mono Light"/>
                <a:cs typeface="Roboto Mono Light"/>
                <a:sym typeface="Roboto Mono Light"/>
              </a:rPr>
              <a:t>open</a:t>
            </a:r>
            <a:r>
              <a:rPr lang="en-US" sz="1100"/>
              <a:t>s the file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-US" sz="1100">
                <a:latin typeface="Roboto Mono Light"/>
                <a:ea typeface="Roboto Mono Light"/>
                <a:cs typeface="Roboto Mono Light"/>
                <a:sym typeface="Roboto Mono Light"/>
              </a:rPr>
              <a:t>read</a:t>
            </a:r>
            <a:r>
              <a:rPr lang="en-US" sz="1100"/>
              <a:t>s the first row </a:t>
            </a:r>
            <a:r>
              <a:rPr lang="en-US" sz="1100">
                <a:solidFill>
                  <a:schemeClr val="dk1"/>
                </a:solidFill>
              </a:rPr>
              <a:t>using its for loop (a way to access iterators)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-US" sz="1100">
                <a:latin typeface="Roboto Mono Light"/>
                <a:ea typeface="Roboto Mono Light"/>
                <a:cs typeface="Roboto Mono Light"/>
                <a:sym typeface="Roboto Mono Light"/>
              </a:rPr>
              <a:t>yield</a:t>
            </a:r>
            <a:r>
              <a:rPr lang="en-US" sz="1100"/>
              <a:t>s the iterator object (with the first line) back to the caller </a:t>
            </a:r>
            <a:r>
              <a:rPr lang="en-US" sz="1100">
                <a:solidFill>
                  <a:schemeClr val="dk1"/>
                </a:solidFill>
              </a:rPr>
              <a:t>(</a:t>
            </a:r>
            <a:r>
              <a:rPr lang="en-US" sz="1100">
                <a:latin typeface="Roboto Mono Light"/>
                <a:ea typeface="Roboto Mono Light"/>
                <a:cs typeface="Roboto Mono Light"/>
                <a:sym typeface="Roboto Mono Light"/>
              </a:rPr>
              <a:t>contents</a:t>
            </a:r>
            <a:r>
              <a:rPr lang="en-US" sz="1100">
                <a:solidFill>
                  <a:schemeClr val="dk1"/>
                </a:solidFill>
              </a:rPr>
              <a:t>)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US" sz="1100"/>
              <a:t>The program then: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-US" sz="1100"/>
              <a:t>iterates over that iterator object (</a:t>
            </a:r>
            <a:r>
              <a:rPr lang="en-US" sz="1100">
                <a:latin typeface="Roboto Mono Light"/>
                <a:ea typeface="Roboto Mono Light"/>
                <a:cs typeface="Roboto Mono Light"/>
                <a:sym typeface="Roboto Mono Light"/>
              </a:rPr>
              <a:t>contents</a:t>
            </a:r>
            <a:r>
              <a:rPr lang="en-US" sz="1100"/>
              <a:t>) via the </a:t>
            </a:r>
            <a:r>
              <a:rPr lang="en-US" sz="1100">
                <a:latin typeface="Roboto Mono Light"/>
                <a:ea typeface="Roboto Mono Light"/>
                <a:cs typeface="Roboto Mono Light"/>
                <a:sym typeface="Roboto Mono Light"/>
              </a:rPr>
              <a:t>for</a:t>
            </a:r>
            <a:r>
              <a:rPr lang="en-US" sz="1100"/>
              <a:t> loop, and for </a:t>
            </a:r>
            <a:r>
              <a:rPr i="1" lang="en-US" sz="1100"/>
              <a:t>each</a:t>
            </a:r>
            <a:r>
              <a:rPr lang="en-US" sz="1100"/>
              <a:t> iteration:</a:t>
            </a:r>
            <a:endParaRPr sz="1100"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AutoNum type="romanLcPeriod"/>
            </a:pPr>
            <a:r>
              <a:rPr lang="en-US" sz="1100"/>
              <a:t>uses the value which was yielded back, and</a:t>
            </a:r>
            <a:endParaRPr sz="1100"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AutoNum type="romanLcPeriod"/>
            </a:pPr>
            <a:r>
              <a:rPr lang="en-US" sz="1100"/>
              <a:t>re-engages </a:t>
            </a:r>
            <a:r>
              <a:rPr lang="en-US" sz="1100">
                <a:latin typeface="Roboto Mono Light"/>
                <a:ea typeface="Roboto Mono Light"/>
                <a:cs typeface="Roboto Mono Light"/>
                <a:sym typeface="Roboto Mono Light"/>
              </a:rPr>
              <a:t>file_reader()</a:t>
            </a:r>
            <a:r>
              <a:rPr lang="en-US" sz="1100"/>
              <a:t> to get the next value!</a:t>
            </a:r>
            <a:endParaRPr sz="1100"/>
          </a:p>
        </p:txBody>
      </p:sp>
      <p:sp>
        <p:nvSpPr>
          <p:cNvPr id="229" name="Google Shape;229;p29"/>
          <p:cNvSpPr txBox="1"/>
          <p:nvPr>
            <p:ph idx="2" type="body"/>
          </p:nvPr>
        </p:nvSpPr>
        <p:spPr>
          <a:xfrm>
            <a:off x="4650575" y="998800"/>
            <a:ext cx="4456500" cy="341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latin typeface="Roboto Mono Light"/>
                <a:ea typeface="Roboto Mono Light"/>
                <a:cs typeface="Roboto Mono Light"/>
                <a:sym typeface="Roboto Mono Light"/>
              </a:rPr>
              <a:t>def file_reader(fn):</a:t>
            </a:r>
            <a:endParaRPr sz="13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latin typeface="Roboto Mono Light"/>
                <a:ea typeface="Roboto Mono Light"/>
                <a:cs typeface="Roboto Mono Light"/>
                <a:sym typeface="Roboto Mono Light"/>
              </a:rPr>
              <a:t>	</a:t>
            </a:r>
            <a:r>
              <a:rPr lang="en-US" sz="14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file = open(fn, 'r')</a:t>
            </a:r>
            <a:endParaRPr sz="13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latin typeface="Roboto Mono Light"/>
                <a:ea typeface="Roboto Mono Light"/>
                <a:cs typeface="Roboto Mono Light"/>
                <a:sym typeface="Roboto Mono Light"/>
              </a:rPr>
              <a:t>for row in </a:t>
            </a:r>
            <a:r>
              <a:rPr lang="en-US" sz="14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file</a:t>
            </a:r>
            <a:r>
              <a:rPr lang="en-US" sz="1300">
                <a:latin typeface="Roboto Mono Light"/>
                <a:ea typeface="Roboto Mono Light"/>
                <a:cs typeface="Roboto Mono Light"/>
                <a:sym typeface="Roboto Mono Light"/>
              </a:rPr>
              <a:t>:</a:t>
            </a:r>
            <a:endParaRPr sz="13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Roboto Mono"/>
                <a:ea typeface="Roboto Mono"/>
                <a:cs typeface="Roboto Mono"/>
                <a:sym typeface="Roboto Mono"/>
              </a:rPr>
              <a:t>yield</a:t>
            </a:r>
            <a:r>
              <a:rPr lang="en-US" sz="1300">
                <a:latin typeface="Roboto Mono Light"/>
                <a:ea typeface="Roboto Mono Light"/>
                <a:cs typeface="Roboto Mono Light"/>
                <a:sym typeface="Roboto Mono Light"/>
              </a:rPr>
              <a:t> row</a:t>
            </a:r>
            <a:endParaRPr sz="13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latin typeface="Roboto Mono Light"/>
                <a:ea typeface="Roboto Mono Light"/>
                <a:cs typeface="Roboto Mono Light"/>
                <a:sym typeface="Roboto Mono Light"/>
              </a:rPr>
              <a:t>file_name = 'small_data_set.csv'</a:t>
            </a:r>
            <a:endParaRPr sz="13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latin typeface="Roboto Mono Light"/>
                <a:ea typeface="Roboto Mono Light"/>
                <a:cs typeface="Roboto Mono Light"/>
                <a:sym typeface="Roboto Mono Light"/>
              </a:rPr>
              <a:t>contents = file_reader(file_name)</a:t>
            </a:r>
            <a:endParaRPr sz="13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latin typeface="Roboto Mono Light"/>
                <a:ea typeface="Roboto Mono Light"/>
                <a:cs typeface="Roboto Mono Light"/>
                <a:sym typeface="Roboto Mono Light"/>
              </a:rPr>
              <a:t>for row in contents:</a:t>
            </a:r>
            <a:endParaRPr sz="13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Roboto Mono Light"/>
                <a:ea typeface="Roboto Mono Light"/>
                <a:cs typeface="Roboto Mono Light"/>
                <a:sym typeface="Roboto Mono Light"/>
              </a:rPr>
              <a:t># do something here</a:t>
            </a:r>
            <a:endParaRPr sz="1300"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0"/>
          <p:cNvSpPr txBox="1"/>
          <p:nvPr>
            <p:ph type="title"/>
          </p:nvPr>
        </p:nvSpPr>
        <p:spPr>
          <a:xfrm>
            <a:off x="0" y="84394"/>
            <a:ext cx="91440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Generators: the guts</a:t>
            </a:r>
            <a:endParaRPr/>
          </a:p>
        </p:txBody>
      </p:sp>
      <p:sp>
        <p:nvSpPr>
          <p:cNvPr id="236" name="Google Shape;236;p30"/>
          <p:cNvSpPr txBox="1"/>
          <p:nvPr>
            <p:ph idx="12" type="sldNum"/>
          </p:nvPr>
        </p:nvSpPr>
        <p:spPr>
          <a:xfrm>
            <a:off x="3506788" y="485611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7" name="Google Shape;237;p30"/>
          <p:cNvSpPr txBox="1"/>
          <p:nvPr>
            <p:ph idx="1" type="body"/>
          </p:nvPr>
        </p:nvSpPr>
        <p:spPr>
          <a:xfrm>
            <a:off x="40100" y="998800"/>
            <a:ext cx="4456500" cy="341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/>
              <a:t>You can see the execution of a generator function by implementing and calling the following: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latin typeface="Roboto Mono Light"/>
                <a:ea typeface="Roboto Mono Light"/>
                <a:cs typeface="Roboto Mono Light"/>
                <a:sym typeface="Roboto Mono Light"/>
              </a:rPr>
              <a:t>def see_yield(n):</a:t>
            </a:r>
            <a:endParaRPr sz="13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latin typeface="Roboto Mono Light"/>
                <a:ea typeface="Roboto Mono Light"/>
                <a:cs typeface="Roboto Mono Light"/>
                <a:sym typeface="Roboto Mono Light"/>
              </a:rPr>
              <a:t>print('begin')</a:t>
            </a:r>
            <a:endParaRPr sz="13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latin typeface="Roboto Mono Light"/>
                <a:ea typeface="Roboto Mono Light"/>
                <a:cs typeface="Roboto Mono Light"/>
                <a:sym typeface="Roboto Mono Light"/>
              </a:rPr>
              <a:t>for j in range(n):</a:t>
            </a:r>
            <a:endParaRPr sz="13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latin typeface="Roboto Mono Light"/>
                <a:ea typeface="Roboto Mono Light"/>
                <a:cs typeface="Roboto Mono Light"/>
                <a:sym typeface="Roboto Mono Light"/>
              </a:rPr>
              <a:t>print('before yield', j)</a:t>
            </a:r>
            <a:endParaRPr sz="13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Roboto Mono"/>
                <a:ea typeface="Roboto Mono"/>
                <a:cs typeface="Roboto Mono"/>
                <a:sym typeface="Roboto Mono"/>
              </a:rPr>
              <a:t>yield</a:t>
            </a:r>
            <a:r>
              <a:rPr lang="en-US" sz="1300">
                <a:latin typeface="Roboto Mono Light"/>
                <a:ea typeface="Roboto Mono Light"/>
                <a:cs typeface="Roboto Mono Light"/>
                <a:sym typeface="Roboto Mono Light"/>
              </a:rPr>
              <a:t> j</a:t>
            </a:r>
            <a:endParaRPr sz="13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latin typeface="Roboto Mono Light"/>
                <a:ea typeface="Roboto Mono Light"/>
                <a:cs typeface="Roboto Mono Light"/>
                <a:sym typeface="Roboto Mono Light"/>
              </a:rPr>
              <a:t>print('after yield', j)</a:t>
            </a:r>
            <a:endParaRPr sz="13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Roboto Mono Light"/>
                <a:ea typeface="Roboto Mono Light"/>
                <a:cs typeface="Roboto Mono Light"/>
                <a:sym typeface="Roboto Mono Light"/>
              </a:rPr>
              <a:t>print('end')</a:t>
            </a:r>
            <a:endParaRPr sz="1300"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238" name="Google Shape;238;p30"/>
          <p:cNvSpPr txBox="1"/>
          <p:nvPr>
            <p:ph idx="2" type="body"/>
          </p:nvPr>
        </p:nvSpPr>
        <p:spPr>
          <a:xfrm>
            <a:off x="4650575" y="998800"/>
            <a:ext cx="4456500" cy="341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latin typeface="Roboto Mono Light"/>
                <a:ea typeface="Roboto Mono Light"/>
                <a:cs typeface="Roboto Mono Light"/>
                <a:sym typeface="Roboto Mono Light"/>
              </a:rPr>
              <a:t>num_iters = 3</a:t>
            </a:r>
            <a:endParaRPr sz="13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gen_obj = see_yield(num_iters)</a:t>
            </a:r>
            <a:endParaRPr sz="13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Roboto Mono Light"/>
                <a:ea typeface="Roboto Mono Light"/>
                <a:cs typeface="Roboto Mono Light"/>
                <a:sym typeface="Roboto Mono Light"/>
              </a:rPr>
              <a:t>for i in gen_obj:</a:t>
            </a:r>
            <a:endParaRPr sz="13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latin typeface="Roboto Mono Light"/>
                <a:ea typeface="Roboto Mono Light"/>
                <a:cs typeface="Roboto Mono Light"/>
                <a:sym typeface="Roboto Mono Light"/>
              </a:rPr>
              <a:t>print('in for loop', i)</a:t>
            </a:r>
            <a:endParaRPr sz="13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latin typeface="Roboto Mono Light"/>
                <a:ea typeface="Roboto Mono Light"/>
                <a:cs typeface="Roboto Mono Light"/>
                <a:sym typeface="Roboto Mono Light"/>
              </a:rPr>
              <a:t>&gt;&gt;&gt; begin</a:t>
            </a:r>
            <a:endParaRPr sz="13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latin typeface="Roboto Mono Light"/>
                <a:ea typeface="Roboto Mono Light"/>
                <a:cs typeface="Roboto Mono Light"/>
                <a:sym typeface="Roboto Mono Light"/>
              </a:rPr>
              <a:t>&gt;&gt;&gt; before yield 0</a:t>
            </a:r>
            <a:endParaRPr sz="13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latin typeface="Roboto Mono Light"/>
                <a:ea typeface="Roboto Mono Light"/>
                <a:cs typeface="Roboto Mono Light"/>
                <a:sym typeface="Roboto Mono Light"/>
              </a:rPr>
              <a:t>&gt;&gt;&gt; in for loop 0</a:t>
            </a:r>
            <a:endParaRPr sz="13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latin typeface="Roboto Mono Light"/>
                <a:ea typeface="Roboto Mono Light"/>
                <a:cs typeface="Roboto Mono Light"/>
                <a:sym typeface="Roboto Mono Light"/>
              </a:rPr>
              <a:t>&gt;&gt;&gt; after yield 0</a:t>
            </a:r>
            <a:endParaRPr sz="13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latin typeface="Roboto Mono Light"/>
                <a:ea typeface="Roboto Mono Light"/>
                <a:cs typeface="Roboto Mono Light"/>
                <a:sym typeface="Roboto Mono Light"/>
              </a:rPr>
              <a:t>&gt;&gt;&gt; before yield 1</a:t>
            </a:r>
            <a:endParaRPr sz="13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Roboto Mono Light"/>
                <a:ea typeface="Roboto Mono Light"/>
                <a:cs typeface="Roboto Mono Light"/>
                <a:sym typeface="Roboto Mono Light"/>
              </a:rPr>
              <a:t>&gt;&gt;&gt; ...</a:t>
            </a:r>
            <a:endParaRPr sz="1300"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1"/>
          <p:cNvSpPr txBox="1"/>
          <p:nvPr>
            <p:ph type="title"/>
          </p:nvPr>
        </p:nvSpPr>
        <p:spPr>
          <a:xfrm>
            <a:off x="0" y="84394"/>
            <a:ext cx="91440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Challenge</a:t>
            </a:r>
            <a:endParaRPr/>
          </a:p>
        </p:txBody>
      </p:sp>
      <p:sp>
        <p:nvSpPr>
          <p:cNvPr id="245" name="Google Shape;245;p31"/>
          <p:cNvSpPr txBox="1"/>
          <p:nvPr>
            <p:ph idx="12" type="sldNum"/>
          </p:nvPr>
        </p:nvSpPr>
        <p:spPr>
          <a:xfrm>
            <a:off x="3506788" y="485611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6" name="Google Shape;246;p31"/>
          <p:cNvSpPr txBox="1"/>
          <p:nvPr>
            <p:ph idx="1" type="body"/>
          </p:nvPr>
        </p:nvSpPr>
        <p:spPr>
          <a:xfrm>
            <a:off x="40106" y="998794"/>
            <a:ext cx="9066900" cy="341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Write a program which will, </a:t>
            </a:r>
            <a:r>
              <a:rPr b="1" lang="en-US"/>
              <a:t>using a generator function with no side-effects</a:t>
            </a:r>
            <a:r>
              <a:rPr lang="en-US"/>
              <a:t>, print </a:t>
            </a:r>
            <a:r>
              <a:rPr lang="en-US">
                <a:solidFill>
                  <a:schemeClr val="dk1"/>
                </a:solidFill>
              </a:rPr>
              <a:t>the squares of the numbers from 0 to 10</a:t>
            </a:r>
            <a:r>
              <a:rPr lang="en-US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Example output: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 Mono Light"/>
                <a:ea typeface="Roboto Mono Light"/>
                <a:cs typeface="Roboto Mono Light"/>
                <a:sym typeface="Roboto Mono Light"/>
              </a:rPr>
              <a:t>&gt;&gt;&gt; 0, 1, 4, 9, 16, 25, 36, 49, 64, 81, 100</a:t>
            </a:r>
            <a:endParaRPr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2"/>
          <p:cNvSpPr txBox="1"/>
          <p:nvPr>
            <p:ph type="title"/>
          </p:nvPr>
        </p:nvSpPr>
        <p:spPr>
          <a:xfrm>
            <a:off x="0" y="84394"/>
            <a:ext cx="91440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Challenge: solution</a:t>
            </a:r>
            <a:endParaRPr/>
          </a:p>
        </p:txBody>
      </p:sp>
      <p:sp>
        <p:nvSpPr>
          <p:cNvPr id="253" name="Google Shape;253;p32"/>
          <p:cNvSpPr txBox="1"/>
          <p:nvPr>
            <p:ph idx="12" type="sldNum"/>
          </p:nvPr>
        </p:nvSpPr>
        <p:spPr>
          <a:xfrm>
            <a:off x="3506788" y="485611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4" name="Google Shape;254;p32"/>
          <p:cNvSpPr txBox="1"/>
          <p:nvPr>
            <p:ph idx="1" type="body"/>
          </p:nvPr>
        </p:nvSpPr>
        <p:spPr>
          <a:xfrm>
            <a:off x="40106" y="998794"/>
            <a:ext cx="9066900" cy="341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def square_it(n):</a:t>
            </a:r>
            <a:endParaRPr sz="1400">
              <a:solidFill>
                <a:schemeClr val="dk1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for i in range(n):</a:t>
            </a:r>
            <a:endParaRPr sz="1400">
              <a:solidFill>
                <a:schemeClr val="dk1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yield i*i  # or i**2</a:t>
            </a:r>
            <a:endParaRPr sz="1400">
              <a:solidFill>
                <a:schemeClr val="dk1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def main():</a:t>
            </a:r>
            <a:endParaRPr sz="1400">
              <a:solidFill>
                <a:schemeClr val="dk1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for sq in square_it(11):</a:t>
            </a:r>
            <a:endParaRPr sz="1400">
              <a:solidFill>
                <a:schemeClr val="dk1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print(sq, end=',')</a:t>
            </a:r>
            <a:endParaRPr sz="1400">
              <a:solidFill>
                <a:schemeClr val="dk1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		if __name__ == '__main__':</a:t>
            </a:r>
            <a:endParaRPr sz="1400">
              <a:solidFill>
                <a:schemeClr val="dk1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			main()</a:t>
            </a:r>
            <a:endParaRPr sz="1400">
              <a:solidFill>
                <a:schemeClr val="dk1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3"/>
          <p:cNvSpPr txBox="1"/>
          <p:nvPr>
            <p:ph type="title"/>
          </p:nvPr>
        </p:nvSpPr>
        <p:spPr>
          <a:xfrm>
            <a:off x="0" y="84394"/>
            <a:ext cx="91440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Generators: express yourself</a:t>
            </a:r>
            <a:endParaRPr/>
          </a:p>
        </p:txBody>
      </p:sp>
      <p:sp>
        <p:nvSpPr>
          <p:cNvPr id="261" name="Google Shape;261;p33"/>
          <p:cNvSpPr txBox="1"/>
          <p:nvPr>
            <p:ph idx="12" type="sldNum"/>
          </p:nvPr>
        </p:nvSpPr>
        <p:spPr>
          <a:xfrm>
            <a:off x="3506788" y="485611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2" name="Google Shape;262;p33"/>
          <p:cNvSpPr txBox="1"/>
          <p:nvPr>
            <p:ph idx="1" type="body"/>
          </p:nvPr>
        </p:nvSpPr>
        <p:spPr>
          <a:xfrm>
            <a:off x="40106" y="998794"/>
            <a:ext cx="9066900" cy="341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/>
              <a:t>It turns out that, because they can be iterated over, you can also use the same construct that you use to create a comprehension to create a generator object! These are called </a:t>
            </a:r>
            <a:r>
              <a:rPr b="1" lang="en-US" sz="1400"/>
              <a:t>generator expressions</a:t>
            </a:r>
            <a:r>
              <a:rPr lang="en-US" sz="1400"/>
              <a:t>. You could, for instance, replace the entirety of the </a:t>
            </a:r>
            <a:r>
              <a:rPr lang="en-US" sz="1400">
                <a:latin typeface="Roboto Mono Light"/>
                <a:ea typeface="Roboto Mono Light"/>
                <a:cs typeface="Roboto Mono Light"/>
                <a:sym typeface="Roboto Mono Light"/>
              </a:rPr>
              <a:t>square_it()</a:t>
            </a:r>
            <a:r>
              <a:rPr lang="en-US" sz="1400"/>
              <a:t> function with the following: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latin typeface="Roboto Mono Light"/>
                <a:ea typeface="Roboto Mono Light"/>
                <a:cs typeface="Roboto Mono Light"/>
                <a:sym typeface="Roboto Mono Light"/>
              </a:rPr>
              <a:t>square_it = </a:t>
            </a:r>
            <a:r>
              <a:rPr b="1" lang="en-US" sz="14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14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i*i for i in </a:t>
            </a:r>
            <a:r>
              <a:rPr lang="en-US" sz="13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range(11)</a:t>
            </a:r>
            <a:r>
              <a:rPr b="1" lang="en-US" sz="14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b="1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Notice that: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 sz="1400"/>
              <a:t>the only syntactical difference between this and a comprehension is parentheses rather than square brackets.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 sz="1400">
                <a:latin typeface="Roboto Mono Light"/>
                <a:ea typeface="Roboto Mono Light"/>
                <a:cs typeface="Roboto Mono Light"/>
                <a:sym typeface="Roboto Mono Light"/>
              </a:rPr>
              <a:t>yield</a:t>
            </a:r>
            <a:r>
              <a:rPr lang="en-US" sz="1400"/>
              <a:t> is implicit in this construct.</a:t>
            </a:r>
            <a:endParaRPr sz="1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4"/>
          <p:cNvSpPr txBox="1"/>
          <p:nvPr>
            <p:ph type="title"/>
          </p:nvPr>
        </p:nvSpPr>
        <p:spPr>
          <a:xfrm>
            <a:off x="0" y="84394"/>
            <a:ext cx="91440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Generators: memory performance</a:t>
            </a:r>
            <a:endParaRPr/>
          </a:p>
        </p:txBody>
      </p:sp>
      <p:sp>
        <p:nvSpPr>
          <p:cNvPr id="269" name="Google Shape;269;p34"/>
          <p:cNvSpPr txBox="1"/>
          <p:nvPr>
            <p:ph idx="12" type="sldNum"/>
          </p:nvPr>
        </p:nvSpPr>
        <p:spPr>
          <a:xfrm>
            <a:off x="3506788" y="485611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0" name="Google Shape;270;p34"/>
          <p:cNvSpPr txBox="1"/>
          <p:nvPr>
            <p:ph idx="1" type="body"/>
          </p:nvPr>
        </p:nvSpPr>
        <p:spPr>
          <a:xfrm>
            <a:off x="40100" y="998800"/>
            <a:ext cx="4456500" cy="341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/>
              <a:t>Performance was mentioned, but let's properly characterize it - specifically in terms of memory. The </a:t>
            </a:r>
            <a:r>
              <a:rPr b="1" lang="en-US" sz="1400">
                <a:latin typeface="Roboto Mono"/>
                <a:ea typeface="Roboto Mono"/>
                <a:cs typeface="Roboto Mono"/>
                <a:sym typeface="Roboto Mono"/>
              </a:rPr>
              <a:t>sys</a:t>
            </a:r>
            <a:r>
              <a:rPr lang="en-US" sz="1400"/>
              <a:t> package provides a way to see the memory usage via its </a:t>
            </a:r>
            <a:r>
              <a:rPr b="1" lang="en-US" sz="1400">
                <a:latin typeface="Roboto Mono"/>
                <a:ea typeface="Roboto Mono"/>
                <a:cs typeface="Roboto Mono"/>
                <a:sym typeface="Roboto Mono"/>
              </a:rPr>
              <a:t>getsizeof()</a:t>
            </a:r>
            <a:r>
              <a:rPr lang="en-US" sz="1400"/>
              <a:t> method.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As you can see on the right, the comprehension generates the entire list at once, which eats an enormous amount of memory! The generator expression, however, only create a generator object. (These numbers are in bytes.)</a:t>
            </a:r>
            <a:endParaRPr sz="1400"/>
          </a:p>
        </p:txBody>
      </p:sp>
      <p:sp>
        <p:nvSpPr>
          <p:cNvPr id="271" name="Google Shape;271;p34"/>
          <p:cNvSpPr txBox="1"/>
          <p:nvPr>
            <p:ph idx="2" type="body"/>
          </p:nvPr>
        </p:nvSpPr>
        <p:spPr>
          <a:xfrm>
            <a:off x="4650575" y="998800"/>
            <a:ext cx="4456500" cy="341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>
                <a:latin typeface="Roboto Mono"/>
                <a:ea typeface="Roboto Mono"/>
                <a:cs typeface="Roboto Mono"/>
                <a:sym typeface="Roboto Mono"/>
              </a:rPr>
              <a:t>import sys</a:t>
            </a:r>
            <a:endParaRPr b="1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latin typeface="Roboto Mono Light"/>
                <a:ea typeface="Roboto Mono Light"/>
                <a:cs typeface="Roboto Mono Light"/>
                <a:sym typeface="Roboto Mono Light"/>
              </a:rPr>
              <a:t>sq_comp = [i*i for i in range(100000)]</a:t>
            </a:r>
            <a:endParaRPr sz="14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latin typeface="Roboto Mono Light"/>
                <a:ea typeface="Roboto Mono Light"/>
                <a:cs typeface="Roboto Mono Light"/>
                <a:sym typeface="Roboto Mono Light"/>
              </a:rPr>
              <a:t>sq_gen = (i*i for i in range(100000))</a:t>
            </a:r>
            <a:endParaRPr sz="14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latin typeface="Roboto Mono Light"/>
                <a:ea typeface="Roboto Mono Light"/>
                <a:cs typeface="Roboto Mono Light"/>
                <a:sym typeface="Roboto Mono Light"/>
              </a:rPr>
              <a:t>print(</a:t>
            </a:r>
            <a:r>
              <a:rPr b="1" lang="en-US" sz="1400">
                <a:latin typeface="Roboto Mono"/>
                <a:ea typeface="Roboto Mono"/>
                <a:cs typeface="Roboto Mono"/>
                <a:sym typeface="Roboto Mono"/>
              </a:rPr>
              <a:t>sys.getsizeof(</a:t>
            </a:r>
            <a:r>
              <a:rPr lang="en-US" sz="1400">
                <a:latin typeface="Roboto Mono Light"/>
                <a:ea typeface="Roboto Mono Light"/>
                <a:cs typeface="Roboto Mono Light"/>
                <a:sym typeface="Roboto Mono Light"/>
              </a:rPr>
              <a:t>sq_comp</a:t>
            </a:r>
            <a:r>
              <a:rPr b="1" lang="en-US" sz="140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-US" sz="1400">
                <a:latin typeface="Roboto Mono Light"/>
                <a:ea typeface="Roboto Mono Light"/>
                <a:cs typeface="Roboto Mono Light"/>
                <a:sym typeface="Roboto Mono Light"/>
              </a:rPr>
              <a:t>)</a:t>
            </a:r>
            <a:endParaRPr sz="14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latin typeface="Roboto Mono Light"/>
                <a:ea typeface="Roboto Mono Light"/>
                <a:cs typeface="Roboto Mono Light"/>
                <a:sym typeface="Roboto Mono Light"/>
              </a:rPr>
              <a:t>print(</a:t>
            </a:r>
            <a:r>
              <a:rPr b="1" lang="en-US" sz="1400">
                <a:latin typeface="Roboto Mono"/>
                <a:ea typeface="Roboto Mono"/>
                <a:cs typeface="Roboto Mono"/>
                <a:sym typeface="Roboto Mono"/>
              </a:rPr>
              <a:t>sys.getsizeof(</a:t>
            </a:r>
            <a:r>
              <a:rPr lang="en-US" sz="1400">
                <a:latin typeface="Roboto Mono Light"/>
                <a:ea typeface="Roboto Mono Light"/>
                <a:cs typeface="Roboto Mono Light"/>
                <a:sym typeface="Roboto Mono Light"/>
              </a:rPr>
              <a:t>sq_gen</a:t>
            </a:r>
            <a:r>
              <a:rPr b="1" lang="en-US" sz="140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-US" sz="1400">
                <a:latin typeface="Roboto Mono Light"/>
                <a:ea typeface="Roboto Mono Light"/>
                <a:cs typeface="Roboto Mono Light"/>
                <a:sym typeface="Roboto Mono Light"/>
              </a:rPr>
              <a:t>)</a:t>
            </a:r>
            <a:endParaRPr sz="14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latin typeface="Roboto Mono Light"/>
                <a:ea typeface="Roboto Mono Light"/>
                <a:cs typeface="Roboto Mono Light"/>
                <a:sym typeface="Roboto Mono Light"/>
              </a:rPr>
              <a:t>&gt;&gt;&gt; 824456</a:t>
            </a:r>
            <a:endParaRPr sz="14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Roboto Mono Light"/>
                <a:ea typeface="Roboto Mono Light"/>
                <a:cs typeface="Roboto Mono Light"/>
                <a:sym typeface="Roboto Mono Light"/>
              </a:rPr>
              <a:t>&gt;&gt;&gt; 112</a:t>
            </a:r>
            <a:endParaRPr sz="1400"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5"/>
          <p:cNvSpPr txBox="1"/>
          <p:nvPr>
            <p:ph type="title"/>
          </p:nvPr>
        </p:nvSpPr>
        <p:spPr>
          <a:xfrm>
            <a:off x="0" y="84394"/>
            <a:ext cx="91440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Summary of terms</a:t>
            </a:r>
            <a:endParaRPr/>
          </a:p>
        </p:txBody>
      </p:sp>
      <p:sp>
        <p:nvSpPr>
          <p:cNvPr id="278" name="Google Shape;278;p35"/>
          <p:cNvSpPr txBox="1"/>
          <p:nvPr>
            <p:ph idx="12" type="sldNum"/>
          </p:nvPr>
        </p:nvSpPr>
        <p:spPr>
          <a:xfrm>
            <a:off x="3506788" y="485611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9" name="Google Shape;279;p35"/>
          <p:cNvSpPr txBox="1"/>
          <p:nvPr>
            <p:ph idx="1" type="body"/>
          </p:nvPr>
        </p:nvSpPr>
        <p:spPr>
          <a:xfrm>
            <a:off x="40100" y="998800"/>
            <a:ext cx="4456500" cy="341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Terminology: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 sz="1200"/>
              <a:t>iterable</a:t>
            </a:r>
            <a:r>
              <a:rPr lang="en-US" sz="1200"/>
              <a:t> object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 sz="1200"/>
              <a:t>iterator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 sz="1200"/>
              <a:t>comprehension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 sz="1200"/>
              <a:t>generator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 sz="1200"/>
              <a:t>state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 sz="1200"/>
              <a:t>generator object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 sz="1200"/>
              <a:t>generator expression</a:t>
            </a:r>
            <a:endParaRPr sz="1200"/>
          </a:p>
        </p:txBody>
      </p:sp>
      <p:sp>
        <p:nvSpPr>
          <p:cNvPr id="280" name="Google Shape;280;p35"/>
          <p:cNvSpPr txBox="1"/>
          <p:nvPr>
            <p:ph idx="2" type="body"/>
          </p:nvPr>
        </p:nvSpPr>
        <p:spPr>
          <a:xfrm>
            <a:off x="4650575" y="998800"/>
            <a:ext cx="4456500" cy="341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Specific vocab/syntax: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oboto Mono Light"/>
              <a:buChar char="•"/>
            </a:pPr>
            <a:r>
              <a:rPr lang="en-US" sz="1200">
                <a:latin typeface="Roboto Mono Light"/>
                <a:ea typeface="Roboto Mono Light"/>
                <a:cs typeface="Roboto Mono Light"/>
                <a:sym typeface="Roboto Mono Light"/>
              </a:rPr>
              <a:t>__iter__</a:t>
            </a:r>
            <a:endParaRPr sz="12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oboto Mono Light"/>
              <a:buChar char="•"/>
            </a:pPr>
            <a:r>
              <a:rPr lang="en-US" sz="1200">
                <a:latin typeface="Roboto Mono Light"/>
                <a:ea typeface="Roboto Mono Light"/>
                <a:cs typeface="Roboto Mono Light"/>
                <a:sym typeface="Roboto Mono Light"/>
              </a:rPr>
              <a:t>__next__</a:t>
            </a:r>
            <a:endParaRPr sz="12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oboto Mono Light"/>
              <a:buChar char="•"/>
            </a:pPr>
            <a:r>
              <a:rPr lang="en-US" sz="1200">
                <a:latin typeface="Roboto Mono Light"/>
                <a:ea typeface="Roboto Mono Light"/>
                <a:cs typeface="Roboto Mono Light"/>
                <a:sym typeface="Roboto Mono Light"/>
              </a:rPr>
              <a:t>iter()</a:t>
            </a:r>
            <a:endParaRPr sz="12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oboto Mono Light"/>
              <a:buChar char="•"/>
            </a:pPr>
            <a:r>
              <a:rPr lang="en-US" sz="1200">
                <a:latin typeface="Roboto Mono Light"/>
                <a:ea typeface="Roboto Mono Light"/>
                <a:cs typeface="Roboto Mono Light"/>
                <a:sym typeface="Roboto Mono Light"/>
              </a:rPr>
              <a:t>next()</a:t>
            </a:r>
            <a:endParaRPr sz="12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oboto Mono Light"/>
              <a:buChar char="•"/>
            </a:pPr>
            <a:r>
              <a:rPr lang="en-US" sz="1200">
                <a:latin typeface="Roboto Mono Light"/>
                <a:ea typeface="Roboto Mono Light"/>
                <a:cs typeface="Roboto Mono Light"/>
                <a:sym typeface="Roboto Mono Light"/>
              </a:rPr>
              <a:t>StopIteration</a:t>
            </a:r>
            <a:endParaRPr sz="12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oboto Mono Light"/>
              <a:buChar char="•"/>
            </a:pPr>
            <a:r>
              <a:rPr lang="en-US" sz="1200">
                <a:latin typeface="Roboto Mono Light"/>
                <a:ea typeface="Roboto Mono Light"/>
                <a:cs typeface="Roboto Mono Light"/>
                <a:sym typeface="Roboto Mono Light"/>
              </a:rPr>
              <a:t>yield</a:t>
            </a:r>
            <a:endParaRPr sz="1200"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USC Viterbi Theme Aldenderfer">
  <a:themeElements>
    <a:clrScheme name="Custom 1">
      <a:dk1>
        <a:srgbClr val="000000"/>
      </a:dk1>
      <a:lt1>
        <a:srgbClr val="FFFFFF"/>
      </a:lt1>
      <a:dk2>
        <a:srgbClr val="830000"/>
      </a:dk2>
      <a:lt2>
        <a:srgbClr val="999999"/>
      </a:lt2>
      <a:accent1>
        <a:srgbClr val="CCCCCC"/>
      </a:accent1>
      <a:accent2>
        <a:srgbClr val="FFCC00"/>
      </a:accent2>
      <a:accent3>
        <a:srgbClr val="FFFFFF"/>
      </a:accent3>
      <a:accent4>
        <a:srgbClr val="000000"/>
      </a:accent4>
      <a:accent5>
        <a:srgbClr val="D9D9D9"/>
      </a:accent5>
      <a:accent6>
        <a:srgbClr val="FFCC00"/>
      </a:accent6>
      <a:hlink>
        <a:srgbClr val="990000"/>
      </a:hlink>
      <a:folHlink>
        <a:srgbClr val="99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