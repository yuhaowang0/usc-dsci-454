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6"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Lst>
  <p:sldSz cy="5143500" cx="9144000"/>
  <p:notesSz cx="7315200" cy="9601200"/>
  <p:embeddedFontLst>
    <p:embeddedFont>
      <p:font typeface="Proxima Nova"/>
      <p:regular r:id="rId47"/>
      <p:bold r:id="rId48"/>
      <p:italic r:id="rId49"/>
      <p:boldItalic r:id="rId50"/>
    </p:embeddedFont>
    <p:embeddedFont>
      <p:font typeface="Roboto Mono Light"/>
      <p:regular r:id="rId51"/>
      <p:bold r:id="rId52"/>
      <p:italic r:id="rId53"/>
      <p:boldItalic r:id="rId54"/>
    </p:embeddedFont>
    <p:embeddedFont>
      <p:font typeface="Roboto Mono"/>
      <p:regular r:id="rId55"/>
      <p:bold r:id="rId56"/>
      <p:italic r:id="rId57"/>
      <p:boldItalic r:id="rId58"/>
    </p:embeddedFont>
    <p:embeddedFont>
      <p:font typeface="Open Sans"/>
      <p:regular r:id="rId59"/>
      <p:bold r:id="rId60"/>
      <p:italic r:id="rId61"/>
      <p:boldItalic r:id="rId6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ProximaNova-bold.fntdata"/><Relationship Id="rId47" Type="http://schemas.openxmlformats.org/officeDocument/2006/relationships/font" Target="fonts/ProximaNova-regular.fntdata"/><Relationship Id="rId49" Type="http://schemas.openxmlformats.org/officeDocument/2006/relationships/font" Target="fonts/ProximaNova-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OpenSans-boldItalic.fntdata"/><Relationship Id="rId61" Type="http://schemas.openxmlformats.org/officeDocument/2006/relationships/font" Target="fonts/OpenSans-italic.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font" Target="fonts/OpenSans-bold.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RobotoMonoLight-regular.fntdata"/><Relationship Id="rId50" Type="http://schemas.openxmlformats.org/officeDocument/2006/relationships/font" Target="fonts/ProximaNova-boldItalic.fntdata"/><Relationship Id="rId53" Type="http://schemas.openxmlformats.org/officeDocument/2006/relationships/font" Target="fonts/RobotoMonoLight-italic.fntdata"/><Relationship Id="rId52" Type="http://schemas.openxmlformats.org/officeDocument/2006/relationships/font" Target="fonts/RobotoMonoLight-bold.fntdata"/><Relationship Id="rId11" Type="http://schemas.openxmlformats.org/officeDocument/2006/relationships/slide" Target="slides/slide6.xml"/><Relationship Id="rId55" Type="http://schemas.openxmlformats.org/officeDocument/2006/relationships/font" Target="fonts/RobotoMono-regular.fntdata"/><Relationship Id="rId10" Type="http://schemas.openxmlformats.org/officeDocument/2006/relationships/slide" Target="slides/slide5.xml"/><Relationship Id="rId54" Type="http://schemas.openxmlformats.org/officeDocument/2006/relationships/font" Target="fonts/RobotoMonoLight-boldItalic.fntdata"/><Relationship Id="rId13" Type="http://schemas.openxmlformats.org/officeDocument/2006/relationships/slide" Target="slides/slide8.xml"/><Relationship Id="rId57" Type="http://schemas.openxmlformats.org/officeDocument/2006/relationships/font" Target="fonts/RobotoMono-italic.fntdata"/><Relationship Id="rId12" Type="http://schemas.openxmlformats.org/officeDocument/2006/relationships/slide" Target="slides/slide7.xml"/><Relationship Id="rId56" Type="http://schemas.openxmlformats.org/officeDocument/2006/relationships/font" Target="fonts/RobotoMono-bold.fntdata"/><Relationship Id="rId15" Type="http://schemas.openxmlformats.org/officeDocument/2006/relationships/slide" Target="slides/slide10.xml"/><Relationship Id="rId59" Type="http://schemas.openxmlformats.org/officeDocument/2006/relationships/font" Target="fonts/OpenSans-regular.fntdata"/><Relationship Id="rId14" Type="http://schemas.openxmlformats.org/officeDocument/2006/relationships/slide" Target="slides/slide9.xml"/><Relationship Id="rId58" Type="http://schemas.openxmlformats.org/officeDocument/2006/relationships/font" Target="fonts/RobotoMono-bold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170238" cy="4794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4143375" y="0"/>
            <a:ext cx="3170238" cy="479425"/>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731838" y="4560888"/>
            <a:ext cx="5851525" cy="43195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9120188"/>
            <a:ext cx="3170238" cy="479425"/>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4143375" y="9120188"/>
            <a:ext cx="3170238" cy="479425"/>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gce6b5ee401_0_50: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51" name="Google Shape;51;gce6b5ee401_0_50: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52" name="Google Shape;52;gce6b5ee401_0_50: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ce6b5ee401_0_57: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60" name="Google Shape;60;gce6b5ee401_0_57: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61" name="Google Shape;61;gce6b5ee401_0_57: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ce6b5ee401_0_66: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69" name="Google Shape;69;gce6b5ee401_0_66: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70" name="Google Shape;70;gce6b5ee401_0_66: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ce6b5ee401_0_188: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77" name="Google Shape;77;gce6b5ee401_0_188: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78" name="Google Shape;78;gce6b5ee401_0_188: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ce6b5ee401_0_209: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85" name="Google Shape;85;gce6b5ee401_0_209: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86" name="Google Shape;86;gce6b5ee401_0_209: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ce6b5ee401_0_202: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94" name="Google Shape;94;gce6b5ee401_0_202: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95" name="Google Shape;95;gce6b5ee401_0_202: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ce6b5ee401_0_216: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ce6b5ee401_0_216: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04" name="Google Shape;104;gce6b5ee401_0_216: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ce6b5ee401_0_354: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ce6b5ee401_0_354: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13" name="Google Shape;113;gce6b5ee401_0_354: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ce6b5ee401_0_223: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ce6b5ee401_0_223: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21" name="Google Shape;121;gce6b5ee401_0_223: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ce6b5ee401_0_244: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ce6b5ee401_0_244: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30" name="Google Shape;130;gce6b5ee401_0_244: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332e7f659e_0_5: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332e7f659e_0_5: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39" name="Google Shape;139;g3332e7f659e_0_5: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ce6b5ee401_0_251: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ce6b5ee401_0_251: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48" name="Google Shape;148;gce6b5ee401_0_251: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ce6b5ee401_0_258: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ce6b5ee401_0_258: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57" name="Google Shape;157;gce6b5ee401_0_258: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ce6b5ee401_0_265: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ce6b5ee401_0_265: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66" name="Google Shape;166;gce6b5ee401_0_265: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ce6b5ee401_0_279: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ce6b5ee401_0_279: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75" name="Google Shape;175;gce6b5ee401_0_279: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ce6b5ee401_0_272: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ce6b5ee401_0_272: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84" name="Google Shape;184;gce6b5ee401_0_272: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ce6b5ee401_0_405: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ce6b5ee401_0_405: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93" name="Google Shape;193;gce6b5ee401_0_405: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ce6b5ee401_0_72: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ce6b5ee401_0_72: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02" name="Google Shape;202;gce6b5ee401_0_72: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ce6b5ee401_0_360: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ce6b5ee401_0_360: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10" name="Google Shape;210;gce6b5ee401_0_360: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ce6b5ee401_0_348: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ce6b5ee401_0_348: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18" name="Google Shape;218;gce6b5ee401_0_348: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ce6b5ee401_0_427: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ce6b5ee401_0_427: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27" name="Google Shape;227;gce6b5ee401_0_427: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ce6b5ee401_0_293: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ce6b5ee401_0_293: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36" name="Google Shape;236;gce6b5ee401_0_293: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332e7f659e_0_16:notes"/>
          <p:cNvSpPr/>
          <p:nvPr>
            <p:ph idx="2" type="sldImg"/>
          </p:nvPr>
        </p:nvSpPr>
        <p:spPr>
          <a:xfrm>
            <a:off x="731520" y="1200150"/>
            <a:ext cx="5852100" cy="32403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3332e7f659e_0_16:notes"/>
          <p:cNvSpPr txBox="1"/>
          <p:nvPr>
            <p:ph idx="1" type="body"/>
          </p:nvPr>
        </p:nvSpPr>
        <p:spPr>
          <a:xfrm>
            <a:off x="731520" y="4620578"/>
            <a:ext cx="5852100" cy="378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45" name="Google Shape;245;g3332e7f659e_0_16:notes"/>
          <p:cNvSpPr txBox="1"/>
          <p:nvPr>
            <p:ph idx="12" type="sldNum"/>
          </p:nvPr>
        </p:nvSpPr>
        <p:spPr>
          <a:xfrm>
            <a:off x="4143587" y="9119474"/>
            <a:ext cx="3169800" cy="4815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ce6b5ee401_0_342: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ce6b5ee401_0_342: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53" name="Google Shape;253;gce6b5ee401_0_342: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332e7f659e_0_23:notes"/>
          <p:cNvSpPr/>
          <p:nvPr>
            <p:ph idx="2" type="sldImg"/>
          </p:nvPr>
        </p:nvSpPr>
        <p:spPr>
          <a:xfrm>
            <a:off x="731520" y="1200150"/>
            <a:ext cx="5852100" cy="32403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3332e7f659e_0_23:notes"/>
          <p:cNvSpPr txBox="1"/>
          <p:nvPr>
            <p:ph idx="1" type="body"/>
          </p:nvPr>
        </p:nvSpPr>
        <p:spPr>
          <a:xfrm>
            <a:off x="731520" y="4620578"/>
            <a:ext cx="5852100" cy="378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62" name="Google Shape;262;g3332e7f659e_0_23:notes"/>
          <p:cNvSpPr txBox="1"/>
          <p:nvPr>
            <p:ph idx="12" type="sldNum"/>
          </p:nvPr>
        </p:nvSpPr>
        <p:spPr>
          <a:xfrm>
            <a:off x="4143587" y="9119474"/>
            <a:ext cx="3169800" cy="4815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332e7f659e_0_30:notes"/>
          <p:cNvSpPr/>
          <p:nvPr>
            <p:ph idx="2" type="sldImg"/>
          </p:nvPr>
        </p:nvSpPr>
        <p:spPr>
          <a:xfrm>
            <a:off x="731520" y="1200150"/>
            <a:ext cx="5852100" cy="32403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3332e7f659e_0_30:notes"/>
          <p:cNvSpPr txBox="1"/>
          <p:nvPr>
            <p:ph idx="1" type="body"/>
          </p:nvPr>
        </p:nvSpPr>
        <p:spPr>
          <a:xfrm>
            <a:off x="731520" y="4620578"/>
            <a:ext cx="5852100" cy="378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70" name="Google Shape;270;g3332e7f659e_0_30:notes"/>
          <p:cNvSpPr txBox="1"/>
          <p:nvPr>
            <p:ph idx="12" type="sldNum"/>
          </p:nvPr>
        </p:nvSpPr>
        <p:spPr>
          <a:xfrm>
            <a:off x="4143587" y="9119474"/>
            <a:ext cx="3169800" cy="4815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3332e7f659e_0_37:notes"/>
          <p:cNvSpPr/>
          <p:nvPr>
            <p:ph idx="2" type="sldImg"/>
          </p:nvPr>
        </p:nvSpPr>
        <p:spPr>
          <a:xfrm>
            <a:off x="457200" y="720725"/>
            <a:ext cx="6401100" cy="36006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3332e7f659e_0_37: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78" name="Google Shape;278;g3332e7f659e_0_37: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332e7f659e_0_45:notes"/>
          <p:cNvSpPr/>
          <p:nvPr>
            <p:ph idx="2" type="sldImg"/>
          </p:nvPr>
        </p:nvSpPr>
        <p:spPr>
          <a:xfrm>
            <a:off x="457200" y="720725"/>
            <a:ext cx="6401100" cy="36006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3332e7f659e_0_45: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87" name="Google Shape;287;g3332e7f659e_0_45: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332e7f659e_0_53:notes"/>
          <p:cNvSpPr/>
          <p:nvPr>
            <p:ph idx="2" type="sldImg"/>
          </p:nvPr>
        </p:nvSpPr>
        <p:spPr>
          <a:xfrm>
            <a:off x="731520" y="1200150"/>
            <a:ext cx="5852100" cy="32403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3332e7f659e_0_53:notes"/>
          <p:cNvSpPr txBox="1"/>
          <p:nvPr>
            <p:ph idx="1" type="body"/>
          </p:nvPr>
        </p:nvSpPr>
        <p:spPr>
          <a:xfrm>
            <a:off x="731520" y="4620578"/>
            <a:ext cx="5852100" cy="378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96" name="Google Shape;296;g3332e7f659e_0_53:notes"/>
          <p:cNvSpPr txBox="1"/>
          <p:nvPr>
            <p:ph idx="12" type="sldNum"/>
          </p:nvPr>
        </p:nvSpPr>
        <p:spPr>
          <a:xfrm>
            <a:off x="4143587" y="9119474"/>
            <a:ext cx="3169800" cy="4815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332e7f659e_0_61:notes"/>
          <p:cNvSpPr/>
          <p:nvPr>
            <p:ph idx="2" type="sldImg"/>
          </p:nvPr>
        </p:nvSpPr>
        <p:spPr>
          <a:xfrm>
            <a:off x="731520" y="1200150"/>
            <a:ext cx="5852100" cy="32403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3332e7f659e_0_61:notes"/>
          <p:cNvSpPr txBox="1"/>
          <p:nvPr>
            <p:ph idx="1" type="body"/>
          </p:nvPr>
        </p:nvSpPr>
        <p:spPr>
          <a:xfrm>
            <a:off x="731520" y="4620578"/>
            <a:ext cx="5852100" cy="378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05" name="Google Shape;305;g3332e7f659e_0_61:notes"/>
          <p:cNvSpPr txBox="1"/>
          <p:nvPr>
            <p:ph idx="12" type="sldNum"/>
          </p:nvPr>
        </p:nvSpPr>
        <p:spPr>
          <a:xfrm>
            <a:off x="4143587" y="9119474"/>
            <a:ext cx="3169800" cy="4815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3332e7f659e_0_68:notes"/>
          <p:cNvSpPr/>
          <p:nvPr>
            <p:ph idx="2" type="sldImg"/>
          </p:nvPr>
        </p:nvSpPr>
        <p:spPr>
          <a:xfrm>
            <a:off x="731520" y="1200150"/>
            <a:ext cx="5852100" cy="32403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3332e7f659e_0_68:notes"/>
          <p:cNvSpPr txBox="1"/>
          <p:nvPr>
            <p:ph idx="1" type="body"/>
          </p:nvPr>
        </p:nvSpPr>
        <p:spPr>
          <a:xfrm>
            <a:off x="731520" y="4620578"/>
            <a:ext cx="5852100" cy="378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13" name="Google Shape;313;g3332e7f659e_0_68:notes"/>
          <p:cNvSpPr txBox="1"/>
          <p:nvPr>
            <p:ph idx="12" type="sldNum"/>
          </p:nvPr>
        </p:nvSpPr>
        <p:spPr>
          <a:xfrm>
            <a:off x="4143587" y="9119474"/>
            <a:ext cx="3169800" cy="4815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3332e7f659e_0_76:notes"/>
          <p:cNvSpPr/>
          <p:nvPr>
            <p:ph idx="2" type="sldImg"/>
          </p:nvPr>
        </p:nvSpPr>
        <p:spPr>
          <a:xfrm>
            <a:off x="457200" y="720725"/>
            <a:ext cx="6401100" cy="3600600"/>
          </a:xfrm>
          <a:custGeom>
            <a:rect b="b" l="l" r="r" t="t"/>
            <a:pathLst>
              <a:path extrusionOk="0" h="120000" w="120000">
                <a:moveTo>
                  <a:pt x="0" y="0"/>
                </a:moveTo>
                <a:lnTo>
                  <a:pt x="120000" y="0"/>
                </a:lnTo>
                <a:lnTo>
                  <a:pt x="120000" y="120000"/>
                </a:lnTo>
                <a:lnTo>
                  <a:pt x="0" y="120000"/>
                </a:lnTo>
                <a:close/>
              </a:path>
            </a:pathLst>
          </a:custGeom>
        </p:spPr>
      </p:sp>
      <p:sp>
        <p:nvSpPr>
          <p:cNvPr id="321" name="Google Shape;321;g3332e7f659e_0_76: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22" name="Google Shape;322;g3332e7f659e_0_76: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ce6b5ee401_0_366: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ce6b5ee401_0_366: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31" name="Google Shape;331;gce6b5ee401_0_366: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ce6b5ee401_0_230: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ce6b5ee401_0_230: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39" name="Google Shape;339;gce6b5ee401_0_230: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ce6b5ee401_0_237: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347" name="Google Shape;347;gce6b5ee401_0_237: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48" name="Google Shape;348;gce6b5ee401_0_237: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3332e7f659e_0_298: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3332e7f659e_0_298: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57" name="Google Shape;357;g3332e7f659e_0_298: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3332e7f659e_0_172:notes"/>
          <p:cNvSpPr/>
          <p:nvPr>
            <p:ph idx="2" type="sldImg"/>
          </p:nvPr>
        </p:nvSpPr>
        <p:spPr>
          <a:xfrm>
            <a:off x="731520" y="1200150"/>
            <a:ext cx="5852100" cy="32403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3332e7f659e_0_172:notes"/>
          <p:cNvSpPr txBox="1"/>
          <p:nvPr>
            <p:ph idx="1" type="body"/>
          </p:nvPr>
        </p:nvSpPr>
        <p:spPr>
          <a:xfrm>
            <a:off x="731520" y="4620578"/>
            <a:ext cx="5852100" cy="378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66" name="Google Shape;366;g3332e7f659e_0_172:notes"/>
          <p:cNvSpPr txBox="1"/>
          <p:nvPr>
            <p:ph idx="12" type="sldNum"/>
          </p:nvPr>
        </p:nvSpPr>
        <p:spPr>
          <a:xfrm>
            <a:off x="4143587" y="9119474"/>
            <a:ext cx="3169800" cy="4815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3332e7f659e_0_179:notes"/>
          <p:cNvSpPr/>
          <p:nvPr>
            <p:ph idx="2" type="sldImg"/>
          </p:nvPr>
        </p:nvSpPr>
        <p:spPr>
          <a:xfrm>
            <a:off x="457200" y="720725"/>
            <a:ext cx="6401100" cy="3600600"/>
          </a:xfrm>
          <a:custGeom>
            <a:rect b="b" l="l" r="r" t="t"/>
            <a:pathLst>
              <a:path extrusionOk="0" h="120000" w="120000">
                <a:moveTo>
                  <a:pt x="0" y="0"/>
                </a:moveTo>
                <a:lnTo>
                  <a:pt x="120000" y="0"/>
                </a:lnTo>
                <a:lnTo>
                  <a:pt x="120000" y="120000"/>
                </a:lnTo>
                <a:lnTo>
                  <a:pt x="0" y="120000"/>
                </a:lnTo>
                <a:close/>
              </a:path>
            </a:pathLst>
          </a:custGeom>
        </p:spPr>
      </p:sp>
      <p:sp>
        <p:nvSpPr>
          <p:cNvPr id="373" name="Google Shape;373;g3332e7f659e_0_179: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74" name="Google Shape;374;g3332e7f659e_0_179: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3332e7f659e_0_187:notes"/>
          <p:cNvSpPr/>
          <p:nvPr>
            <p:ph idx="2" type="sldImg"/>
          </p:nvPr>
        </p:nvSpPr>
        <p:spPr>
          <a:xfrm>
            <a:off x="731520" y="1200150"/>
            <a:ext cx="5852100" cy="3240300"/>
          </a:xfrm>
          <a:custGeom>
            <a:rect b="b" l="l" r="r" t="t"/>
            <a:pathLst>
              <a:path extrusionOk="0" h="120000" w="120000">
                <a:moveTo>
                  <a:pt x="0" y="0"/>
                </a:moveTo>
                <a:lnTo>
                  <a:pt x="120000" y="0"/>
                </a:lnTo>
                <a:lnTo>
                  <a:pt x="120000" y="120000"/>
                </a:lnTo>
                <a:lnTo>
                  <a:pt x="0" y="120000"/>
                </a:lnTo>
                <a:close/>
              </a:path>
            </a:pathLst>
          </a:custGeom>
        </p:spPr>
      </p:sp>
      <p:sp>
        <p:nvSpPr>
          <p:cNvPr id="382" name="Google Shape;382;g3332e7f659e_0_187:notes"/>
          <p:cNvSpPr txBox="1"/>
          <p:nvPr>
            <p:ph idx="1" type="body"/>
          </p:nvPr>
        </p:nvSpPr>
        <p:spPr>
          <a:xfrm>
            <a:off x="731520" y="4620578"/>
            <a:ext cx="5852100" cy="378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83" name="Google Shape;383;g3332e7f659e_0_187:notes"/>
          <p:cNvSpPr txBox="1"/>
          <p:nvPr>
            <p:ph idx="12" type="sldNum"/>
          </p:nvPr>
        </p:nvSpPr>
        <p:spPr>
          <a:xfrm>
            <a:off x="4143587" y="9119474"/>
            <a:ext cx="3169800" cy="4815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3332e7f659e_0_195:notes"/>
          <p:cNvSpPr/>
          <p:nvPr>
            <p:ph idx="2" type="sldImg"/>
          </p:nvPr>
        </p:nvSpPr>
        <p:spPr>
          <a:xfrm>
            <a:off x="731520" y="1200150"/>
            <a:ext cx="5852100" cy="3240300"/>
          </a:xfrm>
          <a:custGeom>
            <a:rect b="b" l="l" r="r" t="t"/>
            <a:pathLst>
              <a:path extrusionOk="0" h="120000" w="120000">
                <a:moveTo>
                  <a:pt x="0" y="0"/>
                </a:moveTo>
                <a:lnTo>
                  <a:pt x="120000" y="0"/>
                </a:lnTo>
                <a:lnTo>
                  <a:pt x="120000" y="120000"/>
                </a:lnTo>
                <a:lnTo>
                  <a:pt x="0" y="120000"/>
                </a:lnTo>
                <a:close/>
              </a:path>
            </a:pathLst>
          </a:custGeom>
        </p:spPr>
      </p:sp>
      <p:sp>
        <p:nvSpPr>
          <p:cNvPr id="391" name="Google Shape;391;g3332e7f659e_0_195:notes"/>
          <p:cNvSpPr txBox="1"/>
          <p:nvPr>
            <p:ph idx="1" type="body"/>
          </p:nvPr>
        </p:nvSpPr>
        <p:spPr>
          <a:xfrm>
            <a:off x="731520" y="4620578"/>
            <a:ext cx="5852100" cy="378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92" name="Google Shape;392;g3332e7f659e_0_195:notes"/>
          <p:cNvSpPr txBox="1"/>
          <p:nvPr>
            <p:ph idx="12" type="sldNum"/>
          </p:nvPr>
        </p:nvSpPr>
        <p:spPr>
          <a:xfrm>
            <a:off x="4143587" y="9119474"/>
            <a:ext cx="3169800" cy="4815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ce6b5ee401_0_372: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400" name="Google Shape;400;gce6b5ee401_0_372: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01" name="Google Shape;401;gce6b5ee401_0_372: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8" name="Shape 18"/>
        <p:cNvGrpSpPr/>
        <p:nvPr/>
      </p:nvGrpSpPr>
      <p:grpSpPr>
        <a:xfrm>
          <a:off x="0" y="0"/>
          <a:ext cx="0" cy="0"/>
          <a:chOff x="0" y="0"/>
          <a:chExt cx="0" cy="0"/>
        </a:xfrm>
      </p:grpSpPr>
      <p:sp>
        <p:nvSpPr>
          <p:cNvPr id="19" name="Google Shape;19;p2"/>
          <p:cNvSpPr txBox="1"/>
          <p:nvPr>
            <p:ph type="ctrTitle"/>
          </p:nvPr>
        </p:nvSpPr>
        <p:spPr>
          <a:xfrm>
            <a:off x="685800" y="1104900"/>
            <a:ext cx="7772400" cy="2136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990000"/>
              </a:buClr>
              <a:buSzPts val="4400"/>
              <a:buFont typeface="Proxima Nova"/>
              <a:buNone/>
              <a:defRPr sz="4400">
                <a:solidFill>
                  <a:srgbClr val="990000"/>
                </a:solidFill>
                <a:latin typeface="Proxima Nova"/>
                <a:ea typeface="Proxima Nova"/>
                <a:cs typeface="Proxima Nova"/>
                <a:sym typeface="Proxima Nov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
          <p:cNvSpPr txBox="1"/>
          <p:nvPr>
            <p:ph idx="1" type="subTitle"/>
          </p:nvPr>
        </p:nvSpPr>
        <p:spPr>
          <a:xfrm>
            <a:off x="1371600" y="3240900"/>
            <a:ext cx="6400800" cy="10455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700"/>
              </a:spcBef>
              <a:spcAft>
                <a:spcPts val="0"/>
              </a:spcAft>
              <a:buClr>
                <a:srgbClr val="990000"/>
              </a:buClr>
              <a:buSzPts val="3200"/>
              <a:buFont typeface="Calibri"/>
              <a:buNone/>
              <a:defRPr>
                <a:solidFill>
                  <a:srgbClr val="990000"/>
                </a:solidFill>
                <a:latin typeface="Calibri"/>
                <a:ea typeface="Calibri"/>
                <a:cs typeface="Calibri"/>
                <a:sym typeface="Calibri"/>
              </a:defRPr>
            </a:lvl1pPr>
            <a:lvl2pPr lvl="1" algn="ctr">
              <a:lnSpc>
                <a:spcPct val="100000"/>
              </a:lnSpc>
              <a:spcBef>
                <a:spcPts val="500"/>
              </a:spcBef>
              <a:spcAft>
                <a:spcPts val="0"/>
              </a:spcAft>
              <a:buClr>
                <a:srgbClr val="888888"/>
              </a:buClr>
              <a:buSzPts val="2800"/>
              <a:buNone/>
              <a:defRPr>
                <a:solidFill>
                  <a:srgbClr val="888888"/>
                </a:solidFill>
              </a:defRPr>
            </a:lvl2pPr>
            <a:lvl3pPr lvl="2" algn="ctr">
              <a:lnSpc>
                <a:spcPct val="100000"/>
              </a:lnSpc>
              <a:spcBef>
                <a:spcPts val="50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1" name="Google Shape;21;p2"/>
          <p:cNvSpPr txBox="1"/>
          <p:nvPr>
            <p:ph idx="2" type="body"/>
          </p:nvPr>
        </p:nvSpPr>
        <p:spPr>
          <a:xfrm>
            <a:off x="7365900" y="0"/>
            <a:ext cx="1778100" cy="332700"/>
          </a:xfrm>
          <a:prstGeom prst="rect">
            <a:avLst/>
          </a:prstGeom>
        </p:spPr>
        <p:txBody>
          <a:bodyPr anchorCtr="0" anchor="t" bIns="45700" lIns="91425" spcFirstLastPara="1" rIns="91425" wrap="square" tIns="45700">
            <a:noAutofit/>
          </a:bodyPr>
          <a:lstStyle>
            <a:lvl1pPr indent="-304800" lvl="0" marL="457200" algn="r">
              <a:spcBef>
                <a:spcPts val="0"/>
              </a:spcBef>
              <a:spcAft>
                <a:spcPts val="0"/>
              </a:spcAft>
              <a:buClr>
                <a:srgbClr val="990000"/>
              </a:buClr>
              <a:buSzPts val="1200"/>
              <a:buChar char="•"/>
              <a:defRPr sz="1200">
                <a:solidFill>
                  <a:srgbClr val="990000"/>
                </a:solidFill>
              </a:defRPr>
            </a:lvl1pPr>
            <a:lvl2pPr indent="-234950" lvl="1" marL="914400" algn="r">
              <a:spcBef>
                <a:spcPts val="0"/>
              </a:spcBef>
              <a:spcAft>
                <a:spcPts val="0"/>
              </a:spcAft>
              <a:buClr>
                <a:srgbClr val="990000"/>
              </a:buClr>
              <a:buSzPts val="100"/>
              <a:buChar char="–"/>
              <a:defRPr sz="100">
                <a:solidFill>
                  <a:srgbClr val="990000"/>
                </a:solidFill>
              </a:defRPr>
            </a:lvl2pPr>
            <a:lvl3pPr indent="-234950" lvl="2" marL="1371600" algn="r">
              <a:spcBef>
                <a:spcPts val="0"/>
              </a:spcBef>
              <a:spcAft>
                <a:spcPts val="0"/>
              </a:spcAft>
              <a:buClr>
                <a:srgbClr val="990000"/>
              </a:buClr>
              <a:buSzPts val="100"/>
              <a:buChar char="•"/>
              <a:defRPr sz="100">
                <a:solidFill>
                  <a:srgbClr val="990000"/>
                </a:solidFill>
              </a:defRPr>
            </a:lvl3pPr>
            <a:lvl4pPr indent="-234950" lvl="3" marL="1828800" algn="r">
              <a:spcBef>
                <a:spcPts val="0"/>
              </a:spcBef>
              <a:spcAft>
                <a:spcPts val="0"/>
              </a:spcAft>
              <a:buClr>
                <a:srgbClr val="990000"/>
              </a:buClr>
              <a:buSzPts val="100"/>
              <a:buChar char="–"/>
              <a:defRPr sz="100">
                <a:solidFill>
                  <a:srgbClr val="990000"/>
                </a:solidFill>
              </a:defRPr>
            </a:lvl4pPr>
            <a:lvl5pPr indent="-234950" lvl="4" marL="2286000" algn="r">
              <a:spcBef>
                <a:spcPts val="0"/>
              </a:spcBef>
              <a:spcAft>
                <a:spcPts val="0"/>
              </a:spcAft>
              <a:buClr>
                <a:srgbClr val="990000"/>
              </a:buClr>
              <a:buSzPts val="100"/>
              <a:buChar char="»"/>
              <a:defRPr sz="100">
                <a:solidFill>
                  <a:srgbClr val="990000"/>
                </a:solidFill>
              </a:defRPr>
            </a:lvl5pPr>
            <a:lvl6pPr indent="-234950" lvl="5" marL="2743200" algn="r">
              <a:spcBef>
                <a:spcPts val="0"/>
              </a:spcBef>
              <a:spcAft>
                <a:spcPts val="0"/>
              </a:spcAft>
              <a:buClr>
                <a:srgbClr val="990000"/>
              </a:buClr>
              <a:buSzPts val="100"/>
              <a:buChar char="•"/>
              <a:defRPr sz="100">
                <a:solidFill>
                  <a:srgbClr val="990000"/>
                </a:solidFill>
              </a:defRPr>
            </a:lvl6pPr>
            <a:lvl7pPr indent="-234950" lvl="6" marL="3200400" algn="r">
              <a:spcBef>
                <a:spcPts val="0"/>
              </a:spcBef>
              <a:spcAft>
                <a:spcPts val="0"/>
              </a:spcAft>
              <a:buClr>
                <a:srgbClr val="990000"/>
              </a:buClr>
              <a:buSzPts val="100"/>
              <a:buChar char="•"/>
              <a:defRPr sz="100">
                <a:solidFill>
                  <a:srgbClr val="990000"/>
                </a:solidFill>
              </a:defRPr>
            </a:lvl7pPr>
            <a:lvl8pPr indent="-234950" lvl="7" marL="3657600" algn="r">
              <a:spcBef>
                <a:spcPts val="0"/>
              </a:spcBef>
              <a:spcAft>
                <a:spcPts val="0"/>
              </a:spcAft>
              <a:buClr>
                <a:srgbClr val="990000"/>
              </a:buClr>
              <a:buSzPts val="100"/>
              <a:buChar char="•"/>
              <a:defRPr sz="100">
                <a:solidFill>
                  <a:srgbClr val="990000"/>
                </a:solidFill>
              </a:defRPr>
            </a:lvl8pPr>
            <a:lvl9pPr indent="-234950" lvl="8" marL="4114800" algn="r">
              <a:spcBef>
                <a:spcPts val="0"/>
              </a:spcBef>
              <a:spcAft>
                <a:spcPts val="0"/>
              </a:spcAft>
              <a:buClr>
                <a:srgbClr val="990000"/>
              </a:buClr>
              <a:buSzPts val="100"/>
              <a:buChar char="•"/>
              <a:defRPr sz="100">
                <a:solidFill>
                  <a:srgbClr val="990000"/>
                </a:solidFill>
              </a:defRPr>
            </a:lvl9pPr>
          </a:lstStyle>
          <a:p/>
        </p:txBody>
      </p:sp>
      <p:sp>
        <p:nvSpPr>
          <p:cNvPr id="22" name="Google Shape;22;p2"/>
          <p:cNvSpPr txBox="1"/>
          <p:nvPr>
            <p:ph idx="12" type="sldNum"/>
          </p:nvPr>
        </p:nvSpPr>
        <p:spPr>
          <a:xfrm>
            <a:off x="8556784" y="4749851"/>
            <a:ext cx="548700" cy="393600"/>
          </a:xfrm>
          <a:prstGeom prst="rect">
            <a:avLst/>
          </a:prstGeom>
        </p:spPr>
        <p:txBody>
          <a:bodyPr anchorCtr="0" anchor="t" bIns="45700" lIns="91425" spcFirstLastPara="1" rIns="91425" wrap="square" tIns="45700">
            <a:noAutofit/>
          </a:bodyPr>
          <a:lstStyle>
            <a:lvl1pPr lvl="0" algn="r">
              <a:buNone/>
              <a:defRPr sz="1300">
                <a:solidFill>
                  <a:srgbClr val="990000"/>
                </a:solidFill>
              </a:defRPr>
            </a:lvl1pPr>
            <a:lvl2pPr lvl="1" algn="r">
              <a:buNone/>
              <a:defRPr sz="1300">
                <a:solidFill>
                  <a:srgbClr val="990000"/>
                </a:solidFill>
              </a:defRPr>
            </a:lvl2pPr>
            <a:lvl3pPr lvl="2" algn="r">
              <a:buNone/>
              <a:defRPr sz="1300">
                <a:solidFill>
                  <a:srgbClr val="990000"/>
                </a:solidFill>
              </a:defRPr>
            </a:lvl3pPr>
            <a:lvl4pPr lvl="3" algn="r">
              <a:buNone/>
              <a:defRPr sz="1300">
                <a:solidFill>
                  <a:srgbClr val="990000"/>
                </a:solidFill>
              </a:defRPr>
            </a:lvl4pPr>
            <a:lvl5pPr lvl="4" algn="r">
              <a:buNone/>
              <a:defRPr sz="1300">
                <a:solidFill>
                  <a:srgbClr val="990000"/>
                </a:solidFill>
              </a:defRPr>
            </a:lvl5pPr>
            <a:lvl6pPr lvl="5" algn="r">
              <a:buNone/>
              <a:defRPr sz="1300">
                <a:solidFill>
                  <a:srgbClr val="990000"/>
                </a:solidFill>
              </a:defRPr>
            </a:lvl6pPr>
            <a:lvl7pPr lvl="6" algn="r">
              <a:buNone/>
              <a:defRPr sz="1300">
                <a:solidFill>
                  <a:srgbClr val="990000"/>
                </a:solidFill>
              </a:defRPr>
            </a:lvl7pPr>
            <a:lvl8pPr lvl="7" algn="r">
              <a:buNone/>
              <a:defRPr sz="1300">
                <a:solidFill>
                  <a:srgbClr val="990000"/>
                </a:solidFill>
              </a:defRPr>
            </a:lvl8pPr>
            <a:lvl9pPr lvl="8" algn="r">
              <a:buNone/>
              <a:defRPr sz="1300">
                <a:solidFill>
                  <a:srgbClr val="990000"/>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p:fade thruBlk="1"/>
  </p:transition>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3"/>
          <p:cNvSpPr txBox="1"/>
          <p:nvPr>
            <p:ph type="title"/>
          </p:nvPr>
        </p:nvSpPr>
        <p:spPr>
          <a:xfrm>
            <a:off x="722313" y="3305175"/>
            <a:ext cx="7772400" cy="10215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rgbClr val="990000"/>
              </a:buClr>
              <a:buSzPts val="4000"/>
              <a:buFont typeface="Arial"/>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3"/>
          <p:cNvSpPr txBox="1"/>
          <p:nvPr>
            <p:ph idx="1" type="body"/>
          </p:nvPr>
        </p:nvSpPr>
        <p:spPr>
          <a:xfrm>
            <a:off x="722313" y="2180035"/>
            <a:ext cx="7772400" cy="1125000"/>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00"/>
              </a:spcBef>
              <a:spcAft>
                <a:spcPts val="0"/>
              </a:spcAft>
              <a:buClr>
                <a:srgbClr val="888888"/>
              </a:buClr>
              <a:buSzPts val="1600"/>
              <a:buNone/>
              <a:defRPr sz="1600">
                <a:solidFill>
                  <a:srgbClr val="888888"/>
                </a:solidFill>
              </a:defRPr>
            </a:lvl1pPr>
            <a:lvl2pPr indent="-228600" lvl="1" marL="914400" algn="l">
              <a:lnSpc>
                <a:spcPct val="100000"/>
              </a:lnSpc>
              <a:spcBef>
                <a:spcPts val="400"/>
              </a:spcBef>
              <a:spcAft>
                <a:spcPts val="0"/>
              </a:spcAft>
              <a:buClr>
                <a:srgbClr val="888888"/>
              </a:buClr>
              <a:buSzPts val="1500"/>
              <a:buNone/>
              <a:defRPr sz="1500">
                <a:solidFill>
                  <a:srgbClr val="888888"/>
                </a:solidFill>
              </a:defRPr>
            </a:lvl2pPr>
            <a:lvl3pPr indent="-228600" lvl="2" marL="1371600" algn="l">
              <a:lnSpc>
                <a:spcPct val="100000"/>
              </a:lnSpc>
              <a:spcBef>
                <a:spcPts val="300"/>
              </a:spcBef>
              <a:spcAft>
                <a:spcPts val="0"/>
              </a:spcAft>
              <a:buClr>
                <a:srgbClr val="888888"/>
              </a:buClr>
              <a:buSzPts val="1400"/>
              <a:buNone/>
              <a:defRPr sz="1400">
                <a:solidFill>
                  <a:srgbClr val="888888"/>
                </a:solidFill>
              </a:defRPr>
            </a:lvl3pPr>
            <a:lvl4pPr indent="-228600" lvl="3" marL="1828800" algn="l">
              <a:lnSpc>
                <a:spcPct val="100000"/>
              </a:lnSpc>
              <a:spcBef>
                <a:spcPts val="300"/>
              </a:spcBef>
              <a:spcAft>
                <a:spcPts val="0"/>
              </a:spcAft>
              <a:buClr>
                <a:srgbClr val="888888"/>
              </a:buClr>
              <a:buSzPts val="1300"/>
              <a:buNone/>
              <a:defRPr sz="1300">
                <a:solidFill>
                  <a:srgbClr val="888888"/>
                </a:solidFill>
              </a:defRPr>
            </a:lvl4pPr>
            <a:lvl5pPr indent="-228600" lvl="4" marL="2286000" algn="l">
              <a:lnSpc>
                <a:spcPct val="100000"/>
              </a:lnSpc>
              <a:spcBef>
                <a:spcPts val="300"/>
              </a:spcBef>
              <a:spcAft>
                <a:spcPts val="0"/>
              </a:spcAft>
              <a:buClr>
                <a:srgbClr val="888888"/>
              </a:buClr>
              <a:buSzPts val="1200"/>
              <a:buNone/>
              <a:defRPr sz="1200">
                <a:solidFill>
                  <a:srgbClr val="888888"/>
                </a:solidFill>
              </a:defRPr>
            </a:lvl5pPr>
            <a:lvl6pPr indent="-228600" lvl="5" marL="2743200" algn="l">
              <a:lnSpc>
                <a:spcPct val="100000"/>
              </a:lnSpc>
              <a:spcBef>
                <a:spcPts val="300"/>
              </a:spcBef>
              <a:spcAft>
                <a:spcPts val="0"/>
              </a:spcAft>
              <a:buClr>
                <a:srgbClr val="888888"/>
              </a:buClr>
              <a:buSzPts val="1100"/>
              <a:buNone/>
              <a:defRPr sz="1100">
                <a:solidFill>
                  <a:srgbClr val="888888"/>
                </a:solidFill>
              </a:defRPr>
            </a:lvl6pPr>
            <a:lvl7pPr indent="-228600" lvl="6" marL="3200400" algn="l">
              <a:lnSpc>
                <a:spcPct val="100000"/>
              </a:lnSpc>
              <a:spcBef>
                <a:spcPts val="300"/>
              </a:spcBef>
              <a:spcAft>
                <a:spcPts val="0"/>
              </a:spcAft>
              <a:buClr>
                <a:srgbClr val="888888"/>
              </a:buClr>
              <a:buSzPts val="1000"/>
              <a:buNone/>
              <a:defRPr sz="1000">
                <a:solidFill>
                  <a:srgbClr val="888888"/>
                </a:solidFill>
              </a:defRPr>
            </a:lvl7pPr>
            <a:lvl8pPr indent="-228600" lvl="7" marL="3657600" algn="l">
              <a:lnSpc>
                <a:spcPct val="100000"/>
              </a:lnSpc>
              <a:spcBef>
                <a:spcPts val="300"/>
              </a:spcBef>
              <a:spcAft>
                <a:spcPts val="0"/>
              </a:spcAft>
              <a:buClr>
                <a:srgbClr val="888888"/>
              </a:buClr>
              <a:buSzPts val="900"/>
              <a:buNone/>
              <a:defRPr sz="900">
                <a:solidFill>
                  <a:srgbClr val="888888"/>
                </a:solidFill>
              </a:defRPr>
            </a:lvl8pPr>
            <a:lvl9pPr indent="-228600" lvl="8" marL="4114800" algn="l">
              <a:lnSpc>
                <a:spcPct val="100000"/>
              </a:lnSpc>
              <a:spcBef>
                <a:spcPts val="300"/>
              </a:spcBef>
              <a:spcAft>
                <a:spcPts val="0"/>
              </a:spcAft>
              <a:buClr>
                <a:srgbClr val="888888"/>
              </a:buClr>
              <a:buSzPts val="800"/>
              <a:buNone/>
              <a:defRPr sz="800">
                <a:solidFill>
                  <a:srgbClr val="888888"/>
                </a:solidFill>
              </a:defRPr>
            </a:lvl9pPr>
          </a:lstStyle>
          <a:p/>
        </p:txBody>
      </p:sp>
      <p:sp>
        <p:nvSpPr>
          <p:cNvPr id="26" name="Google Shape;26;p3"/>
          <p:cNvSpPr txBox="1"/>
          <p:nvPr>
            <p:ph idx="12" type="sldNum"/>
          </p:nvPr>
        </p:nvSpPr>
        <p:spPr>
          <a:xfrm>
            <a:off x="3506788" y="4856113"/>
            <a:ext cx="2133600" cy="2739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1pPr>
            <a:lvl2pPr indent="0" lvl="1"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2pPr>
            <a:lvl3pPr indent="0" lvl="2"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3pPr>
            <a:lvl4pPr indent="0" lvl="3"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4pPr>
            <a:lvl5pPr indent="0" lvl="4"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5pPr>
            <a:lvl6pPr indent="0" lvl="5"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6pPr>
            <a:lvl7pPr indent="0" lvl="6"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7pPr>
            <a:lvl8pPr indent="0" lvl="7"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8pPr>
            <a:lvl9pPr indent="0" lvl="8"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One Wide)" type="obj">
  <p:cSld name="OBJECT">
    <p:spTree>
      <p:nvGrpSpPr>
        <p:cNvPr id="27" name="Shape 27"/>
        <p:cNvGrpSpPr/>
        <p:nvPr/>
      </p:nvGrpSpPr>
      <p:grpSpPr>
        <a:xfrm>
          <a:off x="0" y="0"/>
          <a:ext cx="0" cy="0"/>
          <a:chOff x="0" y="0"/>
          <a:chExt cx="0" cy="0"/>
        </a:xfrm>
      </p:grpSpPr>
      <p:sp>
        <p:nvSpPr>
          <p:cNvPr id="28" name="Google Shape;28;p4"/>
          <p:cNvSpPr txBox="1"/>
          <p:nvPr>
            <p:ph type="title"/>
          </p:nvPr>
        </p:nvSpPr>
        <p:spPr>
          <a:xfrm>
            <a:off x="0" y="84394"/>
            <a:ext cx="9144000" cy="8574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990000"/>
              </a:buClr>
              <a:buSzPts val="4400"/>
              <a:buFont typeface="Arial"/>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29" name="Google Shape;29;p4"/>
          <p:cNvSpPr txBox="1"/>
          <p:nvPr>
            <p:ph idx="12" type="sldNum"/>
          </p:nvPr>
        </p:nvSpPr>
        <p:spPr>
          <a:xfrm>
            <a:off x="3506788" y="4856113"/>
            <a:ext cx="2133600" cy="2739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1pPr>
            <a:lvl2pPr indent="0" lvl="1"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2pPr>
            <a:lvl3pPr indent="0" lvl="2"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3pPr>
            <a:lvl4pPr indent="0" lvl="3"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4pPr>
            <a:lvl5pPr indent="0" lvl="4"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5pPr>
            <a:lvl6pPr indent="0" lvl="5"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6pPr>
            <a:lvl7pPr indent="0" lvl="6"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7pPr>
            <a:lvl8pPr indent="0" lvl="7"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8pPr>
            <a:lvl9pPr indent="0" lvl="8"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9pPr>
          </a:lstStyle>
          <a:p>
            <a:pPr indent="0" lvl="0" marL="0" rtl="0" algn="ctr">
              <a:spcBef>
                <a:spcPts val="0"/>
              </a:spcBef>
              <a:spcAft>
                <a:spcPts val="0"/>
              </a:spcAft>
              <a:buNone/>
            </a:pPr>
            <a:fld id="{00000000-1234-1234-1234-123412341234}" type="slidenum">
              <a:rPr lang="en-US"/>
              <a:t>‹#›</a:t>
            </a:fld>
            <a:endParaRPr/>
          </a:p>
        </p:txBody>
      </p:sp>
      <p:sp>
        <p:nvSpPr>
          <p:cNvPr id="30" name="Google Shape;30;p4"/>
          <p:cNvSpPr txBox="1"/>
          <p:nvPr>
            <p:ph idx="1" type="body"/>
          </p:nvPr>
        </p:nvSpPr>
        <p:spPr>
          <a:xfrm>
            <a:off x="40106" y="998794"/>
            <a:ext cx="9066900" cy="3414600"/>
          </a:xfrm>
          <a:prstGeom prst="rect">
            <a:avLst/>
          </a:prstGeom>
          <a:noFill/>
          <a:ln>
            <a:noFill/>
          </a:ln>
        </p:spPr>
        <p:txBody>
          <a:bodyPr anchorCtr="0" anchor="t" bIns="45700" lIns="91425" spcFirstLastPara="1" rIns="91425" wrap="square" tIns="45700">
            <a:noAutofit/>
          </a:bodyPr>
          <a:lstStyle>
            <a:lvl1pPr indent="-330200" lvl="0" marL="457200" rtl="0" algn="l">
              <a:lnSpc>
                <a:spcPct val="150000"/>
              </a:lnSpc>
              <a:spcBef>
                <a:spcPts val="0"/>
              </a:spcBef>
              <a:spcAft>
                <a:spcPts val="0"/>
              </a:spcAft>
              <a:buClr>
                <a:srgbClr val="000000"/>
              </a:buClr>
              <a:buSzPts val="1600"/>
              <a:buChar char="•"/>
              <a:defRPr sz="1600"/>
            </a:lvl1pPr>
            <a:lvl2pPr indent="-323850" lvl="1" marL="914400" rtl="0" algn="l">
              <a:lnSpc>
                <a:spcPct val="150000"/>
              </a:lnSpc>
              <a:spcBef>
                <a:spcPts val="0"/>
              </a:spcBef>
              <a:spcAft>
                <a:spcPts val="0"/>
              </a:spcAft>
              <a:buClr>
                <a:srgbClr val="000000"/>
              </a:buClr>
              <a:buSzPts val="1500"/>
              <a:buChar char="–"/>
              <a:defRPr sz="1500"/>
            </a:lvl2pPr>
            <a:lvl3pPr indent="-317500" lvl="2" marL="1371600" rtl="0" algn="l">
              <a:lnSpc>
                <a:spcPct val="150000"/>
              </a:lnSpc>
              <a:spcBef>
                <a:spcPts val="0"/>
              </a:spcBef>
              <a:spcAft>
                <a:spcPts val="0"/>
              </a:spcAft>
              <a:buClr>
                <a:srgbClr val="000000"/>
              </a:buClr>
              <a:buSzPts val="1400"/>
              <a:buChar char="•"/>
              <a:defRPr sz="1400"/>
            </a:lvl3pPr>
            <a:lvl4pPr indent="-311150" lvl="3" marL="1828800" rtl="0" algn="l">
              <a:lnSpc>
                <a:spcPct val="150000"/>
              </a:lnSpc>
              <a:spcBef>
                <a:spcPts val="0"/>
              </a:spcBef>
              <a:spcAft>
                <a:spcPts val="0"/>
              </a:spcAft>
              <a:buClr>
                <a:srgbClr val="000000"/>
              </a:buClr>
              <a:buSzPts val="1300"/>
              <a:buChar char="–"/>
              <a:defRPr sz="1300"/>
            </a:lvl4pPr>
            <a:lvl5pPr indent="-304800" lvl="4" marL="2286000" rtl="0" algn="l">
              <a:lnSpc>
                <a:spcPct val="150000"/>
              </a:lnSpc>
              <a:spcBef>
                <a:spcPts val="0"/>
              </a:spcBef>
              <a:spcAft>
                <a:spcPts val="0"/>
              </a:spcAft>
              <a:buClr>
                <a:srgbClr val="000000"/>
              </a:buClr>
              <a:buSzPts val="1200"/>
              <a:buChar char="»"/>
              <a:defRPr sz="1200"/>
            </a:lvl5pPr>
            <a:lvl6pPr indent="-292100" lvl="5" marL="2743200" rtl="0" algn="l">
              <a:lnSpc>
                <a:spcPct val="150000"/>
              </a:lnSpc>
              <a:spcBef>
                <a:spcPts val="0"/>
              </a:spcBef>
              <a:spcAft>
                <a:spcPts val="0"/>
              </a:spcAft>
              <a:buClr>
                <a:schemeClr val="dk1"/>
              </a:buClr>
              <a:buSzPts val="1000"/>
              <a:buChar char="•"/>
              <a:defRPr sz="1100"/>
            </a:lvl6pPr>
            <a:lvl7pPr indent="-285750" lvl="6" marL="3200400" rtl="0" algn="l">
              <a:lnSpc>
                <a:spcPct val="150000"/>
              </a:lnSpc>
              <a:spcBef>
                <a:spcPts val="0"/>
              </a:spcBef>
              <a:spcAft>
                <a:spcPts val="0"/>
              </a:spcAft>
              <a:buClr>
                <a:schemeClr val="dk1"/>
              </a:buClr>
              <a:buSzPts val="900"/>
              <a:buChar char="•"/>
              <a:defRPr sz="1000"/>
            </a:lvl7pPr>
            <a:lvl8pPr indent="-279400" lvl="7" marL="3657600" rtl="0" algn="l">
              <a:lnSpc>
                <a:spcPct val="150000"/>
              </a:lnSpc>
              <a:spcBef>
                <a:spcPts val="0"/>
              </a:spcBef>
              <a:spcAft>
                <a:spcPts val="0"/>
              </a:spcAft>
              <a:buClr>
                <a:schemeClr val="dk1"/>
              </a:buClr>
              <a:buSzPts val="800"/>
              <a:buChar char="•"/>
              <a:defRPr sz="900"/>
            </a:lvl8pPr>
            <a:lvl9pPr indent="-273050" lvl="8" marL="4114800" rtl="0" algn="l">
              <a:lnSpc>
                <a:spcPct val="150000"/>
              </a:lnSpc>
              <a:spcBef>
                <a:spcPts val="0"/>
              </a:spcBef>
              <a:spcAft>
                <a:spcPts val="0"/>
              </a:spcAft>
              <a:buClr>
                <a:schemeClr val="dk1"/>
              </a:buClr>
              <a:buSzPts val="700"/>
              <a:buChar char="•"/>
              <a:defRPr sz="800"/>
            </a:lvl9pPr>
          </a:lstStyle>
          <a:p/>
        </p:txBody>
      </p:sp>
    </p:spTree>
  </p:cSld>
  <p:clrMapOvr>
    <a:masterClrMapping/>
  </p:clrMapOvr>
  <p:transition>
    <p:fade thruBlk="1"/>
  </p:transition>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 One Left" type="twoObj">
  <p:cSld name="TWO_OBJECTS">
    <p:spTree>
      <p:nvGrpSpPr>
        <p:cNvPr id="31" name="Shape 31"/>
        <p:cNvGrpSpPr/>
        <p:nvPr/>
      </p:nvGrpSpPr>
      <p:grpSpPr>
        <a:xfrm>
          <a:off x="0" y="0"/>
          <a:ext cx="0" cy="0"/>
          <a:chOff x="0" y="0"/>
          <a:chExt cx="0" cy="0"/>
        </a:xfrm>
      </p:grpSpPr>
      <p:sp>
        <p:nvSpPr>
          <p:cNvPr id="32" name="Google Shape;32;p5"/>
          <p:cNvSpPr txBox="1"/>
          <p:nvPr>
            <p:ph type="title"/>
          </p:nvPr>
        </p:nvSpPr>
        <p:spPr>
          <a:xfrm>
            <a:off x="0" y="84394"/>
            <a:ext cx="9144000" cy="8574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990000"/>
              </a:buClr>
              <a:buSzPts val="4400"/>
              <a:buFont typeface="Arial"/>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33" name="Google Shape;33;p5"/>
          <p:cNvSpPr txBox="1"/>
          <p:nvPr>
            <p:ph idx="12" type="sldNum"/>
          </p:nvPr>
        </p:nvSpPr>
        <p:spPr>
          <a:xfrm>
            <a:off x="3506788" y="4856113"/>
            <a:ext cx="2133600" cy="2739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1pPr>
            <a:lvl2pPr indent="0" lvl="1"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2pPr>
            <a:lvl3pPr indent="0" lvl="2"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3pPr>
            <a:lvl4pPr indent="0" lvl="3"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4pPr>
            <a:lvl5pPr indent="0" lvl="4"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5pPr>
            <a:lvl6pPr indent="0" lvl="5"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6pPr>
            <a:lvl7pPr indent="0" lvl="6"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7pPr>
            <a:lvl8pPr indent="0" lvl="7"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8pPr>
            <a:lvl9pPr indent="0" lvl="8"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9pPr>
          </a:lstStyle>
          <a:p>
            <a:pPr indent="0" lvl="0" marL="0" rtl="0" algn="ctr">
              <a:spcBef>
                <a:spcPts val="0"/>
              </a:spcBef>
              <a:spcAft>
                <a:spcPts val="0"/>
              </a:spcAft>
              <a:buNone/>
            </a:pPr>
            <a:fld id="{00000000-1234-1234-1234-123412341234}" type="slidenum">
              <a:rPr lang="en-US"/>
              <a:t>‹#›</a:t>
            </a:fld>
            <a:endParaRPr/>
          </a:p>
        </p:txBody>
      </p:sp>
      <p:sp>
        <p:nvSpPr>
          <p:cNvPr id="34" name="Google Shape;34;p5"/>
          <p:cNvSpPr txBox="1"/>
          <p:nvPr>
            <p:ph idx="1" type="body"/>
          </p:nvPr>
        </p:nvSpPr>
        <p:spPr>
          <a:xfrm>
            <a:off x="40100" y="998800"/>
            <a:ext cx="4456500" cy="3414600"/>
          </a:xfrm>
          <a:prstGeom prst="rect">
            <a:avLst/>
          </a:prstGeom>
          <a:noFill/>
          <a:ln>
            <a:noFill/>
          </a:ln>
        </p:spPr>
        <p:txBody>
          <a:bodyPr anchorCtr="0" anchor="t" bIns="45700" lIns="91425" spcFirstLastPara="1" rIns="91425" wrap="square" tIns="45700">
            <a:noAutofit/>
          </a:bodyPr>
          <a:lstStyle>
            <a:lvl1pPr indent="-330200" lvl="0" marL="457200" rtl="0" algn="l">
              <a:lnSpc>
                <a:spcPct val="150000"/>
              </a:lnSpc>
              <a:spcBef>
                <a:spcPts val="0"/>
              </a:spcBef>
              <a:spcAft>
                <a:spcPts val="0"/>
              </a:spcAft>
              <a:buClr>
                <a:srgbClr val="000000"/>
              </a:buClr>
              <a:buSzPts val="1600"/>
              <a:buChar char="•"/>
              <a:defRPr/>
            </a:lvl1pPr>
            <a:lvl2pPr indent="-323850" lvl="1" marL="914400" rtl="0" algn="l">
              <a:lnSpc>
                <a:spcPct val="150000"/>
              </a:lnSpc>
              <a:spcBef>
                <a:spcPts val="0"/>
              </a:spcBef>
              <a:spcAft>
                <a:spcPts val="0"/>
              </a:spcAft>
              <a:buClr>
                <a:srgbClr val="000000"/>
              </a:buClr>
              <a:buSzPts val="1500"/>
              <a:buChar char="–"/>
              <a:defRPr/>
            </a:lvl2pPr>
            <a:lvl3pPr indent="-317500" lvl="2" marL="1371600" rtl="0" algn="l">
              <a:lnSpc>
                <a:spcPct val="150000"/>
              </a:lnSpc>
              <a:spcBef>
                <a:spcPts val="0"/>
              </a:spcBef>
              <a:spcAft>
                <a:spcPts val="0"/>
              </a:spcAft>
              <a:buClr>
                <a:srgbClr val="000000"/>
              </a:buClr>
              <a:buSzPts val="1400"/>
              <a:buChar char="•"/>
              <a:defRPr/>
            </a:lvl3pPr>
            <a:lvl4pPr indent="-311150" lvl="3" marL="1828800" rtl="0" algn="l">
              <a:lnSpc>
                <a:spcPct val="150000"/>
              </a:lnSpc>
              <a:spcBef>
                <a:spcPts val="0"/>
              </a:spcBef>
              <a:spcAft>
                <a:spcPts val="0"/>
              </a:spcAft>
              <a:buClr>
                <a:srgbClr val="000000"/>
              </a:buClr>
              <a:buSzPts val="1300"/>
              <a:buChar char="–"/>
              <a:defRPr/>
            </a:lvl4pPr>
            <a:lvl5pPr indent="-304800" lvl="4" marL="2286000" rtl="0" algn="l">
              <a:lnSpc>
                <a:spcPct val="150000"/>
              </a:lnSpc>
              <a:spcBef>
                <a:spcPts val="0"/>
              </a:spcBef>
              <a:spcAft>
                <a:spcPts val="0"/>
              </a:spcAft>
              <a:buClr>
                <a:srgbClr val="000000"/>
              </a:buClr>
              <a:buSzPts val="1200"/>
              <a:buChar char="»"/>
              <a:defRPr/>
            </a:lvl5pPr>
            <a:lvl6pPr indent="-292100" lvl="5" marL="2743200" rtl="0" algn="l">
              <a:lnSpc>
                <a:spcPct val="150000"/>
              </a:lnSpc>
              <a:spcBef>
                <a:spcPts val="0"/>
              </a:spcBef>
              <a:spcAft>
                <a:spcPts val="0"/>
              </a:spcAft>
              <a:buClr>
                <a:schemeClr val="dk1"/>
              </a:buClr>
              <a:buSzPts val="1000"/>
              <a:buChar char="•"/>
              <a:defRPr/>
            </a:lvl6pPr>
            <a:lvl7pPr indent="-285750" lvl="6" marL="3200400" rtl="0" algn="l">
              <a:lnSpc>
                <a:spcPct val="150000"/>
              </a:lnSpc>
              <a:spcBef>
                <a:spcPts val="0"/>
              </a:spcBef>
              <a:spcAft>
                <a:spcPts val="0"/>
              </a:spcAft>
              <a:buClr>
                <a:schemeClr val="dk1"/>
              </a:buClr>
              <a:buSzPts val="900"/>
              <a:buChar char="•"/>
              <a:defRPr/>
            </a:lvl7pPr>
            <a:lvl8pPr indent="-279400" lvl="7" marL="3657600" rtl="0" algn="l">
              <a:lnSpc>
                <a:spcPct val="150000"/>
              </a:lnSpc>
              <a:spcBef>
                <a:spcPts val="0"/>
              </a:spcBef>
              <a:spcAft>
                <a:spcPts val="0"/>
              </a:spcAft>
              <a:buClr>
                <a:schemeClr val="dk1"/>
              </a:buClr>
              <a:buSzPts val="800"/>
              <a:buChar char="•"/>
              <a:defRPr/>
            </a:lvl8pPr>
            <a:lvl9pPr indent="-273050" lvl="8" marL="4114800" rtl="0" algn="l">
              <a:lnSpc>
                <a:spcPct val="150000"/>
              </a:lnSpc>
              <a:spcBef>
                <a:spcPts val="0"/>
              </a:spcBef>
              <a:spcAft>
                <a:spcPts val="0"/>
              </a:spcAft>
              <a:buClr>
                <a:schemeClr val="dk1"/>
              </a:buClr>
              <a:buSzPts val="700"/>
              <a:buChar char="•"/>
              <a:defRPr/>
            </a:lvl9pPr>
          </a:lstStyle>
          <a:p/>
        </p:txBody>
      </p:sp>
    </p:spTree>
  </p:cSld>
  <p:clrMapOvr>
    <a:masterClrMapping/>
  </p:clrMapOvr>
  <p:transition>
    <p:fade thruBlk="1"/>
  </p:transition>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 Two">
  <p:cSld name="TWO_OBJECTS_1">
    <p:spTree>
      <p:nvGrpSpPr>
        <p:cNvPr id="35" name="Shape 35"/>
        <p:cNvGrpSpPr/>
        <p:nvPr/>
      </p:nvGrpSpPr>
      <p:grpSpPr>
        <a:xfrm>
          <a:off x="0" y="0"/>
          <a:ext cx="0" cy="0"/>
          <a:chOff x="0" y="0"/>
          <a:chExt cx="0" cy="0"/>
        </a:xfrm>
      </p:grpSpPr>
      <p:sp>
        <p:nvSpPr>
          <p:cNvPr id="36" name="Google Shape;36;p6"/>
          <p:cNvSpPr txBox="1"/>
          <p:nvPr>
            <p:ph type="title"/>
          </p:nvPr>
        </p:nvSpPr>
        <p:spPr>
          <a:xfrm>
            <a:off x="0" y="84394"/>
            <a:ext cx="9144000" cy="8574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Clr>
                <a:srgbClr val="990000"/>
              </a:buClr>
              <a:buSzPts val="4400"/>
              <a:buFont typeface="Arial"/>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37" name="Google Shape;37;p6"/>
          <p:cNvSpPr txBox="1"/>
          <p:nvPr>
            <p:ph idx="12" type="sldNum"/>
          </p:nvPr>
        </p:nvSpPr>
        <p:spPr>
          <a:xfrm>
            <a:off x="3506788" y="4856113"/>
            <a:ext cx="2133600" cy="273900"/>
          </a:xfrm>
          <a:prstGeom prst="rect">
            <a:avLst/>
          </a:prstGeom>
          <a:noFill/>
          <a:ln>
            <a:noFill/>
          </a:ln>
        </p:spPr>
        <p:txBody>
          <a:bodyPr anchorCtr="0" anchor="ctr" bIns="45700" lIns="91425" spcFirstLastPara="1" rIns="91425" wrap="square" tIns="45700">
            <a:noAutofit/>
          </a:bodyPr>
          <a:lstStyle>
            <a:lvl1pPr indent="0" lvl="0"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1pPr>
            <a:lvl2pPr indent="0" lvl="1"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2pPr>
            <a:lvl3pPr indent="0" lvl="2"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3pPr>
            <a:lvl4pPr indent="0" lvl="3"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4pPr>
            <a:lvl5pPr indent="0" lvl="4"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5pPr>
            <a:lvl6pPr indent="0" lvl="5"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6pPr>
            <a:lvl7pPr indent="0" lvl="6"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7pPr>
            <a:lvl8pPr indent="0" lvl="7"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8pPr>
            <a:lvl9pPr indent="0" lvl="8"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9pPr>
          </a:lstStyle>
          <a:p>
            <a:pPr indent="0" lvl="0" marL="0" rtl="0" algn="ctr">
              <a:spcBef>
                <a:spcPts val="0"/>
              </a:spcBef>
              <a:spcAft>
                <a:spcPts val="0"/>
              </a:spcAft>
              <a:buNone/>
            </a:pPr>
            <a:fld id="{00000000-1234-1234-1234-123412341234}" type="slidenum">
              <a:rPr lang="en-US"/>
              <a:t>‹#›</a:t>
            </a:fld>
            <a:endParaRPr/>
          </a:p>
        </p:txBody>
      </p:sp>
      <p:sp>
        <p:nvSpPr>
          <p:cNvPr id="38" name="Google Shape;38;p6"/>
          <p:cNvSpPr txBox="1"/>
          <p:nvPr>
            <p:ph idx="1" type="body"/>
          </p:nvPr>
        </p:nvSpPr>
        <p:spPr>
          <a:xfrm>
            <a:off x="40100" y="998800"/>
            <a:ext cx="4456500" cy="3414600"/>
          </a:xfrm>
          <a:prstGeom prst="rect">
            <a:avLst/>
          </a:prstGeom>
          <a:noFill/>
          <a:ln>
            <a:noFill/>
          </a:ln>
        </p:spPr>
        <p:txBody>
          <a:bodyPr anchorCtr="0" anchor="t" bIns="45700" lIns="91425" spcFirstLastPara="1" rIns="91425" wrap="square" tIns="45700">
            <a:noAutofit/>
          </a:bodyPr>
          <a:lstStyle>
            <a:lvl1pPr indent="-330200" lvl="0" marL="457200" rtl="0" algn="l">
              <a:lnSpc>
                <a:spcPct val="150000"/>
              </a:lnSpc>
              <a:spcBef>
                <a:spcPts val="0"/>
              </a:spcBef>
              <a:spcAft>
                <a:spcPts val="0"/>
              </a:spcAft>
              <a:buClr>
                <a:srgbClr val="000000"/>
              </a:buClr>
              <a:buSzPts val="1600"/>
              <a:buChar char="•"/>
              <a:defRPr/>
            </a:lvl1pPr>
            <a:lvl2pPr indent="-323850" lvl="1" marL="914400" rtl="0" algn="l">
              <a:lnSpc>
                <a:spcPct val="150000"/>
              </a:lnSpc>
              <a:spcBef>
                <a:spcPts val="0"/>
              </a:spcBef>
              <a:spcAft>
                <a:spcPts val="0"/>
              </a:spcAft>
              <a:buClr>
                <a:srgbClr val="000000"/>
              </a:buClr>
              <a:buSzPts val="1500"/>
              <a:buChar char="–"/>
              <a:defRPr/>
            </a:lvl2pPr>
            <a:lvl3pPr indent="-317500" lvl="2" marL="1371600" rtl="0" algn="l">
              <a:lnSpc>
                <a:spcPct val="150000"/>
              </a:lnSpc>
              <a:spcBef>
                <a:spcPts val="0"/>
              </a:spcBef>
              <a:spcAft>
                <a:spcPts val="0"/>
              </a:spcAft>
              <a:buClr>
                <a:srgbClr val="000000"/>
              </a:buClr>
              <a:buSzPts val="1400"/>
              <a:buChar char="•"/>
              <a:defRPr/>
            </a:lvl3pPr>
            <a:lvl4pPr indent="-311150" lvl="3" marL="1828800" rtl="0" algn="l">
              <a:lnSpc>
                <a:spcPct val="150000"/>
              </a:lnSpc>
              <a:spcBef>
                <a:spcPts val="0"/>
              </a:spcBef>
              <a:spcAft>
                <a:spcPts val="0"/>
              </a:spcAft>
              <a:buClr>
                <a:srgbClr val="000000"/>
              </a:buClr>
              <a:buSzPts val="1300"/>
              <a:buChar char="–"/>
              <a:defRPr/>
            </a:lvl4pPr>
            <a:lvl5pPr indent="-304800" lvl="4" marL="2286000" rtl="0" algn="l">
              <a:lnSpc>
                <a:spcPct val="150000"/>
              </a:lnSpc>
              <a:spcBef>
                <a:spcPts val="0"/>
              </a:spcBef>
              <a:spcAft>
                <a:spcPts val="0"/>
              </a:spcAft>
              <a:buClr>
                <a:srgbClr val="000000"/>
              </a:buClr>
              <a:buSzPts val="1200"/>
              <a:buChar char="»"/>
              <a:defRPr/>
            </a:lvl5pPr>
            <a:lvl6pPr indent="-292100" lvl="5" marL="2743200" rtl="0" algn="l">
              <a:lnSpc>
                <a:spcPct val="150000"/>
              </a:lnSpc>
              <a:spcBef>
                <a:spcPts val="0"/>
              </a:spcBef>
              <a:spcAft>
                <a:spcPts val="0"/>
              </a:spcAft>
              <a:buClr>
                <a:schemeClr val="dk1"/>
              </a:buClr>
              <a:buSzPts val="1000"/>
              <a:buChar char="•"/>
              <a:defRPr/>
            </a:lvl6pPr>
            <a:lvl7pPr indent="-285750" lvl="6" marL="3200400" rtl="0" algn="l">
              <a:lnSpc>
                <a:spcPct val="150000"/>
              </a:lnSpc>
              <a:spcBef>
                <a:spcPts val="0"/>
              </a:spcBef>
              <a:spcAft>
                <a:spcPts val="0"/>
              </a:spcAft>
              <a:buClr>
                <a:schemeClr val="dk1"/>
              </a:buClr>
              <a:buSzPts val="900"/>
              <a:buChar char="•"/>
              <a:defRPr/>
            </a:lvl7pPr>
            <a:lvl8pPr indent="-279400" lvl="7" marL="3657600" rtl="0" algn="l">
              <a:lnSpc>
                <a:spcPct val="150000"/>
              </a:lnSpc>
              <a:spcBef>
                <a:spcPts val="0"/>
              </a:spcBef>
              <a:spcAft>
                <a:spcPts val="0"/>
              </a:spcAft>
              <a:buClr>
                <a:schemeClr val="dk1"/>
              </a:buClr>
              <a:buSzPts val="800"/>
              <a:buChar char="•"/>
              <a:defRPr/>
            </a:lvl8pPr>
            <a:lvl9pPr indent="-273050" lvl="8" marL="4114800" rtl="0" algn="l">
              <a:lnSpc>
                <a:spcPct val="150000"/>
              </a:lnSpc>
              <a:spcBef>
                <a:spcPts val="0"/>
              </a:spcBef>
              <a:spcAft>
                <a:spcPts val="0"/>
              </a:spcAft>
              <a:buClr>
                <a:schemeClr val="dk1"/>
              </a:buClr>
              <a:buSzPts val="700"/>
              <a:buChar char="•"/>
              <a:defRPr/>
            </a:lvl9pPr>
          </a:lstStyle>
          <a:p/>
        </p:txBody>
      </p:sp>
      <p:sp>
        <p:nvSpPr>
          <p:cNvPr id="39" name="Google Shape;39;p6"/>
          <p:cNvSpPr txBox="1"/>
          <p:nvPr>
            <p:ph idx="2" type="body"/>
          </p:nvPr>
        </p:nvSpPr>
        <p:spPr>
          <a:xfrm>
            <a:off x="4650575" y="998800"/>
            <a:ext cx="4456500" cy="3414600"/>
          </a:xfrm>
          <a:prstGeom prst="rect">
            <a:avLst/>
          </a:prstGeom>
          <a:noFill/>
          <a:ln>
            <a:noFill/>
          </a:ln>
        </p:spPr>
        <p:txBody>
          <a:bodyPr anchorCtr="0" anchor="t" bIns="45700" lIns="91425" spcFirstLastPara="1" rIns="91425" wrap="square" tIns="45700">
            <a:noAutofit/>
          </a:bodyPr>
          <a:lstStyle>
            <a:lvl1pPr indent="-330200" lvl="0" marL="457200" rtl="0" algn="l">
              <a:lnSpc>
                <a:spcPct val="150000"/>
              </a:lnSpc>
              <a:spcBef>
                <a:spcPts val="0"/>
              </a:spcBef>
              <a:spcAft>
                <a:spcPts val="0"/>
              </a:spcAft>
              <a:buClr>
                <a:srgbClr val="000000"/>
              </a:buClr>
              <a:buSzPts val="1600"/>
              <a:buChar char="•"/>
              <a:defRPr/>
            </a:lvl1pPr>
            <a:lvl2pPr indent="-323850" lvl="1" marL="914400" rtl="0" algn="l">
              <a:lnSpc>
                <a:spcPct val="150000"/>
              </a:lnSpc>
              <a:spcBef>
                <a:spcPts val="0"/>
              </a:spcBef>
              <a:spcAft>
                <a:spcPts val="0"/>
              </a:spcAft>
              <a:buClr>
                <a:srgbClr val="000000"/>
              </a:buClr>
              <a:buSzPts val="1500"/>
              <a:buChar char="–"/>
              <a:defRPr/>
            </a:lvl2pPr>
            <a:lvl3pPr indent="-317500" lvl="2" marL="1371600" rtl="0" algn="l">
              <a:lnSpc>
                <a:spcPct val="150000"/>
              </a:lnSpc>
              <a:spcBef>
                <a:spcPts val="0"/>
              </a:spcBef>
              <a:spcAft>
                <a:spcPts val="0"/>
              </a:spcAft>
              <a:buClr>
                <a:srgbClr val="000000"/>
              </a:buClr>
              <a:buSzPts val="1400"/>
              <a:buChar char="•"/>
              <a:defRPr/>
            </a:lvl3pPr>
            <a:lvl4pPr indent="-311150" lvl="3" marL="1828800" rtl="0" algn="l">
              <a:lnSpc>
                <a:spcPct val="150000"/>
              </a:lnSpc>
              <a:spcBef>
                <a:spcPts val="0"/>
              </a:spcBef>
              <a:spcAft>
                <a:spcPts val="0"/>
              </a:spcAft>
              <a:buClr>
                <a:srgbClr val="000000"/>
              </a:buClr>
              <a:buSzPts val="1300"/>
              <a:buChar char="–"/>
              <a:defRPr/>
            </a:lvl4pPr>
            <a:lvl5pPr indent="-304800" lvl="4" marL="2286000" rtl="0" algn="l">
              <a:lnSpc>
                <a:spcPct val="150000"/>
              </a:lnSpc>
              <a:spcBef>
                <a:spcPts val="0"/>
              </a:spcBef>
              <a:spcAft>
                <a:spcPts val="0"/>
              </a:spcAft>
              <a:buClr>
                <a:srgbClr val="000000"/>
              </a:buClr>
              <a:buSzPts val="1200"/>
              <a:buChar char="»"/>
              <a:defRPr/>
            </a:lvl5pPr>
            <a:lvl6pPr indent="-292100" lvl="5" marL="2743200" rtl="0" algn="l">
              <a:lnSpc>
                <a:spcPct val="150000"/>
              </a:lnSpc>
              <a:spcBef>
                <a:spcPts val="0"/>
              </a:spcBef>
              <a:spcAft>
                <a:spcPts val="0"/>
              </a:spcAft>
              <a:buClr>
                <a:schemeClr val="dk1"/>
              </a:buClr>
              <a:buSzPts val="1000"/>
              <a:buChar char="•"/>
              <a:defRPr/>
            </a:lvl6pPr>
            <a:lvl7pPr indent="-285750" lvl="6" marL="3200400" rtl="0" algn="l">
              <a:lnSpc>
                <a:spcPct val="150000"/>
              </a:lnSpc>
              <a:spcBef>
                <a:spcPts val="0"/>
              </a:spcBef>
              <a:spcAft>
                <a:spcPts val="0"/>
              </a:spcAft>
              <a:buClr>
                <a:schemeClr val="dk1"/>
              </a:buClr>
              <a:buSzPts val="900"/>
              <a:buChar char="•"/>
              <a:defRPr/>
            </a:lvl7pPr>
            <a:lvl8pPr indent="-279400" lvl="7" marL="3657600" rtl="0" algn="l">
              <a:lnSpc>
                <a:spcPct val="150000"/>
              </a:lnSpc>
              <a:spcBef>
                <a:spcPts val="0"/>
              </a:spcBef>
              <a:spcAft>
                <a:spcPts val="0"/>
              </a:spcAft>
              <a:buClr>
                <a:schemeClr val="dk1"/>
              </a:buClr>
              <a:buSzPts val="800"/>
              <a:buChar char="•"/>
              <a:defRPr/>
            </a:lvl8pPr>
            <a:lvl9pPr indent="-273050" lvl="8" marL="4114800" rtl="0" algn="l">
              <a:lnSpc>
                <a:spcPct val="150000"/>
              </a:lnSpc>
              <a:spcBef>
                <a:spcPts val="0"/>
              </a:spcBef>
              <a:spcAft>
                <a:spcPts val="0"/>
              </a:spcAft>
              <a:buClr>
                <a:schemeClr val="dk1"/>
              </a:buClr>
              <a:buSzPts val="700"/>
              <a:buChar char="•"/>
              <a:defRPr/>
            </a:lvl9pPr>
          </a:lstStyle>
          <a:p/>
        </p:txBody>
      </p:sp>
    </p:spTree>
  </p:cSld>
  <p:clrMapOvr>
    <a:masterClrMapping/>
  </p:clrMapOvr>
  <p:transition>
    <p:fade thruBlk="1"/>
  </p:transition>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 One Right">
  <p:cSld name="TWO_OBJECTS_1_1">
    <p:spTree>
      <p:nvGrpSpPr>
        <p:cNvPr id="40" name="Shape 40"/>
        <p:cNvGrpSpPr/>
        <p:nvPr/>
      </p:nvGrpSpPr>
      <p:grpSpPr>
        <a:xfrm>
          <a:off x="0" y="0"/>
          <a:ext cx="0" cy="0"/>
          <a:chOff x="0" y="0"/>
          <a:chExt cx="0" cy="0"/>
        </a:xfrm>
      </p:grpSpPr>
      <p:sp>
        <p:nvSpPr>
          <p:cNvPr id="41" name="Google Shape;41;p7"/>
          <p:cNvSpPr txBox="1"/>
          <p:nvPr>
            <p:ph type="title"/>
          </p:nvPr>
        </p:nvSpPr>
        <p:spPr>
          <a:xfrm>
            <a:off x="0" y="84394"/>
            <a:ext cx="9144000" cy="8574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Clr>
                <a:srgbClr val="990000"/>
              </a:buClr>
              <a:buSzPts val="4400"/>
              <a:buFont typeface="Arial"/>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42" name="Google Shape;42;p7"/>
          <p:cNvSpPr txBox="1"/>
          <p:nvPr>
            <p:ph idx="12" type="sldNum"/>
          </p:nvPr>
        </p:nvSpPr>
        <p:spPr>
          <a:xfrm>
            <a:off x="3506788" y="4856113"/>
            <a:ext cx="2133600" cy="273900"/>
          </a:xfrm>
          <a:prstGeom prst="rect">
            <a:avLst/>
          </a:prstGeom>
          <a:noFill/>
          <a:ln>
            <a:noFill/>
          </a:ln>
        </p:spPr>
        <p:txBody>
          <a:bodyPr anchorCtr="0" anchor="ctr" bIns="45700" lIns="91425" spcFirstLastPara="1" rIns="91425" wrap="square" tIns="45700">
            <a:noAutofit/>
          </a:bodyPr>
          <a:lstStyle>
            <a:lvl1pPr indent="0" lvl="0"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1pPr>
            <a:lvl2pPr indent="0" lvl="1"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2pPr>
            <a:lvl3pPr indent="0" lvl="2"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3pPr>
            <a:lvl4pPr indent="0" lvl="3"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4pPr>
            <a:lvl5pPr indent="0" lvl="4"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5pPr>
            <a:lvl6pPr indent="0" lvl="5"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6pPr>
            <a:lvl7pPr indent="0" lvl="6"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7pPr>
            <a:lvl8pPr indent="0" lvl="7"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8pPr>
            <a:lvl9pPr indent="0" lvl="8"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9pPr>
          </a:lstStyle>
          <a:p>
            <a:pPr indent="0" lvl="0" marL="0" rtl="0" algn="ctr">
              <a:spcBef>
                <a:spcPts val="0"/>
              </a:spcBef>
              <a:spcAft>
                <a:spcPts val="0"/>
              </a:spcAft>
              <a:buNone/>
            </a:pPr>
            <a:fld id="{00000000-1234-1234-1234-123412341234}" type="slidenum">
              <a:rPr lang="en-US"/>
              <a:t>‹#›</a:t>
            </a:fld>
            <a:endParaRPr/>
          </a:p>
        </p:txBody>
      </p:sp>
      <p:sp>
        <p:nvSpPr>
          <p:cNvPr id="43" name="Google Shape;43;p7"/>
          <p:cNvSpPr txBox="1"/>
          <p:nvPr>
            <p:ph idx="1" type="body"/>
          </p:nvPr>
        </p:nvSpPr>
        <p:spPr>
          <a:xfrm>
            <a:off x="4650575" y="998800"/>
            <a:ext cx="4456500" cy="3414600"/>
          </a:xfrm>
          <a:prstGeom prst="rect">
            <a:avLst/>
          </a:prstGeom>
          <a:noFill/>
          <a:ln>
            <a:noFill/>
          </a:ln>
        </p:spPr>
        <p:txBody>
          <a:bodyPr anchorCtr="0" anchor="t" bIns="45700" lIns="91425" spcFirstLastPara="1" rIns="91425" wrap="square" tIns="45700">
            <a:noAutofit/>
          </a:bodyPr>
          <a:lstStyle>
            <a:lvl1pPr indent="-330200" lvl="0" marL="457200" rtl="0" algn="l">
              <a:lnSpc>
                <a:spcPct val="150000"/>
              </a:lnSpc>
              <a:spcBef>
                <a:spcPts val="0"/>
              </a:spcBef>
              <a:spcAft>
                <a:spcPts val="0"/>
              </a:spcAft>
              <a:buClr>
                <a:srgbClr val="000000"/>
              </a:buClr>
              <a:buSzPts val="1600"/>
              <a:buChar char="•"/>
              <a:defRPr/>
            </a:lvl1pPr>
            <a:lvl2pPr indent="-323850" lvl="1" marL="914400" rtl="0" algn="l">
              <a:lnSpc>
                <a:spcPct val="150000"/>
              </a:lnSpc>
              <a:spcBef>
                <a:spcPts val="0"/>
              </a:spcBef>
              <a:spcAft>
                <a:spcPts val="0"/>
              </a:spcAft>
              <a:buClr>
                <a:srgbClr val="000000"/>
              </a:buClr>
              <a:buSzPts val="1500"/>
              <a:buChar char="–"/>
              <a:defRPr/>
            </a:lvl2pPr>
            <a:lvl3pPr indent="-317500" lvl="2" marL="1371600" rtl="0" algn="l">
              <a:lnSpc>
                <a:spcPct val="150000"/>
              </a:lnSpc>
              <a:spcBef>
                <a:spcPts val="0"/>
              </a:spcBef>
              <a:spcAft>
                <a:spcPts val="0"/>
              </a:spcAft>
              <a:buClr>
                <a:srgbClr val="000000"/>
              </a:buClr>
              <a:buSzPts val="1400"/>
              <a:buChar char="•"/>
              <a:defRPr/>
            </a:lvl3pPr>
            <a:lvl4pPr indent="-311150" lvl="3" marL="1828800" rtl="0" algn="l">
              <a:lnSpc>
                <a:spcPct val="150000"/>
              </a:lnSpc>
              <a:spcBef>
                <a:spcPts val="0"/>
              </a:spcBef>
              <a:spcAft>
                <a:spcPts val="0"/>
              </a:spcAft>
              <a:buClr>
                <a:srgbClr val="000000"/>
              </a:buClr>
              <a:buSzPts val="1300"/>
              <a:buChar char="–"/>
              <a:defRPr/>
            </a:lvl4pPr>
            <a:lvl5pPr indent="-304800" lvl="4" marL="2286000" rtl="0" algn="l">
              <a:lnSpc>
                <a:spcPct val="150000"/>
              </a:lnSpc>
              <a:spcBef>
                <a:spcPts val="0"/>
              </a:spcBef>
              <a:spcAft>
                <a:spcPts val="0"/>
              </a:spcAft>
              <a:buClr>
                <a:srgbClr val="000000"/>
              </a:buClr>
              <a:buSzPts val="1200"/>
              <a:buChar char="»"/>
              <a:defRPr/>
            </a:lvl5pPr>
            <a:lvl6pPr indent="-292100" lvl="5" marL="2743200" rtl="0" algn="l">
              <a:lnSpc>
                <a:spcPct val="150000"/>
              </a:lnSpc>
              <a:spcBef>
                <a:spcPts val="0"/>
              </a:spcBef>
              <a:spcAft>
                <a:spcPts val="0"/>
              </a:spcAft>
              <a:buClr>
                <a:schemeClr val="dk1"/>
              </a:buClr>
              <a:buSzPts val="1000"/>
              <a:buChar char="•"/>
              <a:defRPr/>
            </a:lvl6pPr>
            <a:lvl7pPr indent="-285750" lvl="6" marL="3200400" rtl="0" algn="l">
              <a:lnSpc>
                <a:spcPct val="150000"/>
              </a:lnSpc>
              <a:spcBef>
                <a:spcPts val="0"/>
              </a:spcBef>
              <a:spcAft>
                <a:spcPts val="0"/>
              </a:spcAft>
              <a:buClr>
                <a:schemeClr val="dk1"/>
              </a:buClr>
              <a:buSzPts val="900"/>
              <a:buChar char="•"/>
              <a:defRPr/>
            </a:lvl7pPr>
            <a:lvl8pPr indent="-279400" lvl="7" marL="3657600" rtl="0" algn="l">
              <a:lnSpc>
                <a:spcPct val="150000"/>
              </a:lnSpc>
              <a:spcBef>
                <a:spcPts val="0"/>
              </a:spcBef>
              <a:spcAft>
                <a:spcPts val="0"/>
              </a:spcAft>
              <a:buClr>
                <a:schemeClr val="dk1"/>
              </a:buClr>
              <a:buSzPts val="800"/>
              <a:buChar char="•"/>
              <a:defRPr/>
            </a:lvl8pPr>
            <a:lvl9pPr indent="-273050" lvl="8" marL="4114800" rtl="0" algn="l">
              <a:lnSpc>
                <a:spcPct val="150000"/>
              </a:lnSpc>
              <a:spcBef>
                <a:spcPts val="0"/>
              </a:spcBef>
              <a:spcAft>
                <a:spcPts val="0"/>
              </a:spcAft>
              <a:buClr>
                <a:schemeClr val="dk1"/>
              </a:buClr>
              <a:buSzPts val="700"/>
              <a:buChar char="•"/>
              <a:defRPr/>
            </a:lvl9pPr>
          </a:lstStyle>
          <a:p/>
        </p:txBody>
      </p:sp>
    </p:spTree>
  </p:cSld>
  <p:clrMapOvr>
    <a:masterClrMapping/>
  </p:clrMapOvr>
  <p:transition>
    <p:fade thruBlk="1"/>
  </p:transition>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4" name="Shape 44"/>
        <p:cNvGrpSpPr/>
        <p:nvPr/>
      </p:nvGrpSpPr>
      <p:grpSpPr>
        <a:xfrm>
          <a:off x="0" y="0"/>
          <a:ext cx="0" cy="0"/>
          <a:chOff x="0" y="0"/>
          <a:chExt cx="0" cy="0"/>
        </a:xfrm>
      </p:grpSpPr>
      <p:sp>
        <p:nvSpPr>
          <p:cNvPr id="45" name="Google Shape;45;p8"/>
          <p:cNvSpPr txBox="1"/>
          <p:nvPr>
            <p:ph idx="12" type="sldNum"/>
          </p:nvPr>
        </p:nvSpPr>
        <p:spPr>
          <a:xfrm>
            <a:off x="3506788" y="4856113"/>
            <a:ext cx="2133600" cy="2739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1pPr>
            <a:lvl2pPr indent="0" lvl="1"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2pPr>
            <a:lvl3pPr indent="0" lvl="2"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3pPr>
            <a:lvl4pPr indent="0" lvl="3"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4pPr>
            <a:lvl5pPr indent="0" lvl="4"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5pPr>
            <a:lvl6pPr indent="0" lvl="5"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6pPr>
            <a:lvl7pPr indent="0" lvl="6"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7pPr>
            <a:lvl8pPr indent="0" lvl="7"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8pPr>
            <a:lvl9pPr indent="0" lvl="8"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ransition>
    <p:fade thruBlk="1"/>
  </p:transition>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nothing">
  <p:cSld name="Custom Layout_1">
    <p:spTree>
      <p:nvGrpSpPr>
        <p:cNvPr id="46" name="Shape 46"/>
        <p:cNvGrpSpPr/>
        <p:nvPr/>
      </p:nvGrpSpPr>
      <p:grpSpPr>
        <a:xfrm>
          <a:off x="0" y="0"/>
          <a:ext cx="0" cy="0"/>
          <a:chOff x="0" y="0"/>
          <a:chExt cx="0" cy="0"/>
        </a:xfrm>
      </p:grpSpPr>
      <p:sp>
        <p:nvSpPr>
          <p:cNvPr id="47" name="Google Shape;47;p9"/>
          <p:cNvSpPr txBox="1"/>
          <p:nvPr>
            <p:ph type="title"/>
          </p:nvPr>
        </p:nvSpPr>
        <p:spPr>
          <a:xfrm>
            <a:off x="0" y="84394"/>
            <a:ext cx="9144000" cy="8574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Clr>
                <a:srgbClr val="990000"/>
              </a:buClr>
              <a:buSzPts val="4400"/>
              <a:buFont typeface="Arial"/>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48" name="Google Shape;48;p9"/>
          <p:cNvSpPr txBox="1"/>
          <p:nvPr>
            <p:ph idx="12" type="sldNum"/>
          </p:nvPr>
        </p:nvSpPr>
        <p:spPr>
          <a:xfrm>
            <a:off x="3506788" y="4856113"/>
            <a:ext cx="2133600" cy="273900"/>
          </a:xfrm>
          <a:prstGeom prst="rect">
            <a:avLst/>
          </a:prstGeom>
          <a:noFill/>
          <a:ln>
            <a:noFill/>
          </a:ln>
        </p:spPr>
        <p:txBody>
          <a:bodyPr anchorCtr="0" anchor="ctr" bIns="45700" lIns="91425" spcFirstLastPara="1" rIns="91425" wrap="square" tIns="45700">
            <a:noAutofit/>
          </a:bodyPr>
          <a:lstStyle>
            <a:lvl1pPr indent="0" lvl="0"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1pPr>
            <a:lvl2pPr indent="0" lvl="1"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2pPr>
            <a:lvl3pPr indent="0" lvl="2"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3pPr>
            <a:lvl4pPr indent="0" lvl="3"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4pPr>
            <a:lvl5pPr indent="0" lvl="4"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5pPr>
            <a:lvl6pPr indent="0" lvl="5"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6pPr>
            <a:lvl7pPr indent="0" lvl="6"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7pPr>
            <a:lvl8pPr indent="0" lvl="7"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8pPr>
            <a:lvl9pPr indent="0" lvl="8"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slideLayout" Target="../slideLayouts/slideLayout1.xml"/><Relationship Id="rId11" Type="http://schemas.openxmlformats.org/officeDocument/2006/relationships/slideLayout" Target="../slideLayouts/slideLayout8.xml"/><Relationship Id="rId10" Type="http://schemas.openxmlformats.org/officeDocument/2006/relationships/slideLayout" Target="../slideLayouts/slideLayout7.xml"/><Relationship Id="rId12" Type="http://schemas.openxmlformats.org/officeDocument/2006/relationships/theme" Target="../theme/theme2.xml"/><Relationship Id="rId9" Type="http://schemas.openxmlformats.org/officeDocument/2006/relationships/slideLayout" Target="../slideLayouts/slideLayout6.xml"/><Relationship Id="rId5" Type="http://schemas.openxmlformats.org/officeDocument/2006/relationships/slideLayout" Target="../slideLayouts/slideLayout2.xml"/><Relationship Id="rId6" Type="http://schemas.openxmlformats.org/officeDocument/2006/relationships/slideLayout" Target="../slideLayouts/slideLayout3.xml"/><Relationship Id="rId7" Type="http://schemas.openxmlformats.org/officeDocument/2006/relationships/slideLayout" Target="../slideLayouts/slideLayout4.xml"/><Relationship Id="rId8"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p:nvPr/>
        </p:nvSpPr>
        <p:spPr>
          <a:xfrm>
            <a:off x="0" y="4508839"/>
            <a:ext cx="9144000" cy="633600"/>
          </a:xfrm>
          <a:prstGeom prst="rect">
            <a:avLst/>
          </a:prstGeom>
          <a:solidFill>
            <a:schemeClr val="dk2"/>
          </a:solidFill>
          <a:ln>
            <a:noFill/>
          </a:ln>
          <a:effectLst>
            <a:outerShdw blurRad="40000" rotWithShape="0" dir="5400000" dist="23000">
              <a:srgbClr val="000000">
                <a:alpha val="33725"/>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Open Sans"/>
              <a:ea typeface="Open Sans"/>
              <a:cs typeface="Open Sans"/>
              <a:sym typeface="Open Sans"/>
            </a:endParaRPr>
          </a:p>
        </p:txBody>
      </p:sp>
      <p:sp>
        <p:nvSpPr>
          <p:cNvPr id="11" name="Google Shape;11;p1"/>
          <p:cNvSpPr txBox="1"/>
          <p:nvPr>
            <p:ph type="title"/>
          </p:nvPr>
        </p:nvSpPr>
        <p:spPr>
          <a:xfrm>
            <a:off x="107950" y="84389"/>
            <a:ext cx="8928000" cy="857400"/>
          </a:xfrm>
          <a:prstGeom prst="rect">
            <a:avLst/>
          </a:prstGeom>
          <a:noFill/>
          <a:ln>
            <a:noFill/>
          </a:ln>
        </p:spPr>
        <p:txBody>
          <a:bodyPr anchorCtr="0" anchor="ctr" bIns="45700" lIns="91425" spcFirstLastPara="1" rIns="91425" wrap="square" tIns="45700">
            <a:noAutofit/>
          </a:bodyPr>
          <a:lstStyle>
            <a:lvl1pPr lvl="0" marR="0" rtl="0">
              <a:lnSpc>
                <a:spcPct val="100000"/>
              </a:lnSpc>
              <a:spcBef>
                <a:spcPts val="0"/>
              </a:spcBef>
              <a:spcAft>
                <a:spcPts val="0"/>
              </a:spcAft>
              <a:buClr>
                <a:srgbClr val="990000"/>
              </a:buClr>
              <a:buSzPts val="4400"/>
              <a:buFont typeface="Proxima Nova"/>
              <a:buNone/>
              <a:defRPr b="1" i="0" sz="4400" u="none" cap="none" strike="noStrike">
                <a:solidFill>
                  <a:srgbClr val="990000"/>
                </a:solidFill>
                <a:latin typeface="Proxima Nova"/>
                <a:ea typeface="Proxima Nova"/>
                <a:cs typeface="Proxima Nova"/>
                <a:sym typeface="Proxima Nova"/>
              </a:defRPr>
            </a:lvl1pPr>
            <a:lvl2pPr lvl="1" marR="0" rtl="0">
              <a:lnSpc>
                <a:spcPct val="100000"/>
              </a:lnSpc>
              <a:spcBef>
                <a:spcPts val="0"/>
              </a:spcBef>
              <a:spcAft>
                <a:spcPts val="0"/>
              </a:spcAft>
              <a:buClr>
                <a:srgbClr val="000000"/>
              </a:buClr>
              <a:buSzPts val="1400"/>
              <a:buFont typeface="Proxima Nova"/>
              <a:buNone/>
              <a:defRPr i="0" sz="1800" u="none" cap="none" strike="noStrike">
                <a:solidFill>
                  <a:srgbClr val="000000"/>
                </a:solidFill>
                <a:latin typeface="Proxima Nova"/>
                <a:ea typeface="Proxima Nova"/>
                <a:cs typeface="Proxima Nova"/>
                <a:sym typeface="Proxima Nova"/>
              </a:defRPr>
            </a:lvl2pPr>
            <a:lvl3pPr lvl="2" marR="0" rtl="0">
              <a:lnSpc>
                <a:spcPct val="100000"/>
              </a:lnSpc>
              <a:spcBef>
                <a:spcPts val="0"/>
              </a:spcBef>
              <a:spcAft>
                <a:spcPts val="0"/>
              </a:spcAft>
              <a:buClr>
                <a:srgbClr val="000000"/>
              </a:buClr>
              <a:buSzPts val="1400"/>
              <a:buFont typeface="Proxima Nova"/>
              <a:buNone/>
              <a:defRPr i="0" sz="1800" u="none" cap="none" strike="noStrike">
                <a:solidFill>
                  <a:srgbClr val="000000"/>
                </a:solidFill>
                <a:latin typeface="Proxima Nova"/>
                <a:ea typeface="Proxima Nova"/>
                <a:cs typeface="Proxima Nova"/>
                <a:sym typeface="Proxima Nova"/>
              </a:defRPr>
            </a:lvl3pPr>
            <a:lvl4pPr lvl="3" marR="0" rtl="0">
              <a:lnSpc>
                <a:spcPct val="100000"/>
              </a:lnSpc>
              <a:spcBef>
                <a:spcPts val="0"/>
              </a:spcBef>
              <a:spcAft>
                <a:spcPts val="0"/>
              </a:spcAft>
              <a:buClr>
                <a:srgbClr val="000000"/>
              </a:buClr>
              <a:buSzPts val="1400"/>
              <a:buFont typeface="Proxima Nova"/>
              <a:buNone/>
              <a:defRPr i="0" sz="1800" u="none" cap="none" strike="noStrike">
                <a:solidFill>
                  <a:srgbClr val="000000"/>
                </a:solidFill>
                <a:latin typeface="Proxima Nova"/>
                <a:ea typeface="Proxima Nova"/>
                <a:cs typeface="Proxima Nova"/>
                <a:sym typeface="Proxima Nova"/>
              </a:defRPr>
            </a:lvl4pPr>
            <a:lvl5pPr lvl="4" marR="0" rtl="0">
              <a:lnSpc>
                <a:spcPct val="100000"/>
              </a:lnSpc>
              <a:spcBef>
                <a:spcPts val="0"/>
              </a:spcBef>
              <a:spcAft>
                <a:spcPts val="0"/>
              </a:spcAft>
              <a:buClr>
                <a:srgbClr val="000000"/>
              </a:buClr>
              <a:buSzPts val="1400"/>
              <a:buFont typeface="Proxima Nova"/>
              <a:buNone/>
              <a:defRPr i="0" sz="1800" u="none" cap="none" strike="noStrike">
                <a:solidFill>
                  <a:srgbClr val="000000"/>
                </a:solidFill>
                <a:latin typeface="Proxima Nova"/>
                <a:ea typeface="Proxima Nova"/>
                <a:cs typeface="Proxima Nova"/>
                <a:sym typeface="Proxima Nova"/>
              </a:defRPr>
            </a:lvl5pPr>
            <a:lvl6pPr lvl="5" marR="0" rtl="0">
              <a:lnSpc>
                <a:spcPct val="100000"/>
              </a:lnSpc>
              <a:spcBef>
                <a:spcPts val="0"/>
              </a:spcBef>
              <a:spcAft>
                <a:spcPts val="0"/>
              </a:spcAft>
              <a:buClr>
                <a:srgbClr val="000000"/>
              </a:buClr>
              <a:buSzPts val="1400"/>
              <a:buFont typeface="Proxima Nova"/>
              <a:buNone/>
              <a:defRPr i="0" sz="1800" u="none" cap="none" strike="noStrike">
                <a:solidFill>
                  <a:srgbClr val="000000"/>
                </a:solidFill>
                <a:latin typeface="Proxima Nova"/>
                <a:ea typeface="Proxima Nova"/>
                <a:cs typeface="Proxima Nova"/>
                <a:sym typeface="Proxima Nova"/>
              </a:defRPr>
            </a:lvl6pPr>
            <a:lvl7pPr lvl="6" marR="0" rtl="0">
              <a:lnSpc>
                <a:spcPct val="100000"/>
              </a:lnSpc>
              <a:spcBef>
                <a:spcPts val="0"/>
              </a:spcBef>
              <a:spcAft>
                <a:spcPts val="0"/>
              </a:spcAft>
              <a:buClr>
                <a:srgbClr val="000000"/>
              </a:buClr>
              <a:buSzPts val="1400"/>
              <a:buFont typeface="Proxima Nova"/>
              <a:buNone/>
              <a:defRPr i="0" sz="1800" u="none" cap="none" strike="noStrike">
                <a:solidFill>
                  <a:srgbClr val="000000"/>
                </a:solidFill>
                <a:latin typeface="Proxima Nova"/>
                <a:ea typeface="Proxima Nova"/>
                <a:cs typeface="Proxima Nova"/>
                <a:sym typeface="Proxima Nova"/>
              </a:defRPr>
            </a:lvl7pPr>
            <a:lvl8pPr lvl="7" marR="0" rtl="0">
              <a:lnSpc>
                <a:spcPct val="100000"/>
              </a:lnSpc>
              <a:spcBef>
                <a:spcPts val="0"/>
              </a:spcBef>
              <a:spcAft>
                <a:spcPts val="0"/>
              </a:spcAft>
              <a:buClr>
                <a:srgbClr val="000000"/>
              </a:buClr>
              <a:buSzPts val="1400"/>
              <a:buFont typeface="Proxima Nova"/>
              <a:buNone/>
              <a:defRPr i="0" sz="1800" u="none" cap="none" strike="noStrike">
                <a:solidFill>
                  <a:srgbClr val="000000"/>
                </a:solidFill>
                <a:latin typeface="Proxima Nova"/>
                <a:ea typeface="Proxima Nova"/>
                <a:cs typeface="Proxima Nova"/>
                <a:sym typeface="Proxima Nova"/>
              </a:defRPr>
            </a:lvl8pPr>
            <a:lvl9pPr lvl="8" marR="0" rtl="0">
              <a:lnSpc>
                <a:spcPct val="100000"/>
              </a:lnSpc>
              <a:spcBef>
                <a:spcPts val="0"/>
              </a:spcBef>
              <a:spcAft>
                <a:spcPts val="0"/>
              </a:spcAft>
              <a:buClr>
                <a:srgbClr val="000000"/>
              </a:buClr>
              <a:buSzPts val="1400"/>
              <a:buFont typeface="Proxima Nova"/>
              <a:buNone/>
              <a:defRPr i="0" sz="1800" u="none" cap="none" strike="noStrike">
                <a:solidFill>
                  <a:srgbClr val="000000"/>
                </a:solidFill>
                <a:latin typeface="Proxima Nova"/>
                <a:ea typeface="Proxima Nova"/>
                <a:cs typeface="Proxima Nova"/>
                <a:sym typeface="Proxima Nova"/>
              </a:defRPr>
            </a:lvl9pPr>
          </a:lstStyle>
          <a:p/>
        </p:txBody>
      </p:sp>
      <p:sp>
        <p:nvSpPr>
          <p:cNvPr id="12" name="Google Shape;12;p1"/>
          <p:cNvSpPr txBox="1"/>
          <p:nvPr>
            <p:ph idx="1" type="body"/>
          </p:nvPr>
        </p:nvSpPr>
        <p:spPr>
          <a:xfrm>
            <a:off x="107950" y="941638"/>
            <a:ext cx="8928000" cy="3506100"/>
          </a:xfrm>
          <a:prstGeom prst="rect">
            <a:avLst/>
          </a:prstGeom>
          <a:noFill/>
          <a:ln>
            <a:noFill/>
          </a:ln>
        </p:spPr>
        <p:txBody>
          <a:bodyPr anchorCtr="0" anchor="t" bIns="45700" lIns="91425" spcFirstLastPara="1" rIns="91425" wrap="square" tIns="45700">
            <a:noAutofit/>
          </a:bodyPr>
          <a:lstStyle>
            <a:lvl1pPr indent="-330200" lvl="0" marL="457200" marR="0" rtl="0" algn="l">
              <a:lnSpc>
                <a:spcPct val="150000"/>
              </a:lnSpc>
              <a:spcBef>
                <a:spcPts val="0"/>
              </a:spcBef>
              <a:spcAft>
                <a:spcPts val="0"/>
              </a:spcAft>
              <a:buClr>
                <a:srgbClr val="000000"/>
              </a:buClr>
              <a:buSzPts val="1600"/>
              <a:buFont typeface="Proxima Nova"/>
              <a:buChar char="•"/>
              <a:defRPr i="0" sz="1600" u="none" cap="none" strike="noStrike">
                <a:solidFill>
                  <a:srgbClr val="000000"/>
                </a:solidFill>
                <a:latin typeface="Proxima Nova"/>
                <a:ea typeface="Proxima Nova"/>
                <a:cs typeface="Proxima Nova"/>
                <a:sym typeface="Proxima Nova"/>
              </a:defRPr>
            </a:lvl1pPr>
            <a:lvl2pPr indent="-323850" lvl="1" marL="914400" marR="0" rtl="0" algn="l">
              <a:lnSpc>
                <a:spcPct val="150000"/>
              </a:lnSpc>
              <a:spcBef>
                <a:spcPts val="0"/>
              </a:spcBef>
              <a:spcAft>
                <a:spcPts val="0"/>
              </a:spcAft>
              <a:buClr>
                <a:srgbClr val="000000"/>
              </a:buClr>
              <a:buSzPts val="1500"/>
              <a:buFont typeface="Proxima Nova"/>
              <a:buChar char="–"/>
              <a:defRPr i="0" sz="1500" u="none" cap="none" strike="noStrike">
                <a:solidFill>
                  <a:srgbClr val="000000"/>
                </a:solidFill>
                <a:latin typeface="Proxima Nova"/>
                <a:ea typeface="Proxima Nova"/>
                <a:cs typeface="Proxima Nova"/>
                <a:sym typeface="Proxima Nova"/>
              </a:defRPr>
            </a:lvl2pPr>
            <a:lvl3pPr indent="-317500" lvl="2" marL="1371600" marR="0" rtl="0" algn="l">
              <a:lnSpc>
                <a:spcPct val="150000"/>
              </a:lnSpc>
              <a:spcBef>
                <a:spcPts val="0"/>
              </a:spcBef>
              <a:spcAft>
                <a:spcPts val="0"/>
              </a:spcAft>
              <a:buClr>
                <a:srgbClr val="000000"/>
              </a:buClr>
              <a:buSzPts val="1400"/>
              <a:buFont typeface="Proxima Nova"/>
              <a:buChar char="•"/>
              <a:defRPr i="0" u="none" cap="none" strike="noStrike">
                <a:solidFill>
                  <a:srgbClr val="000000"/>
                </a:solidFill>
                <a:latin typeface="Proxima Nova"/>
                <a:ea typeface="Proxima Nova"/>
                <a:cs typeface="Proxima Nova"/>
                <a:sym typeface="Proxima Nova"/>
              </a:defRPr>
            </a:lvl3pPr>
            <a:lvl4pPr indent="-311150" lvl="3" marL="1828800" marR="0" rtl="0" algn="l">
              <a:lnSpc>
                <a:spcPct val="150000"/>
              </a:lnSpc>
              <a:spcBef>
                <a:spcPts val="0"/>
              </a:spcBef>
              <a:spcAft>
                <a:spcPts val="0"/>
              </a:spcAft>
              <a:buClr>
                <a:srgbClr val="000000"/>
              </a:buClr>
              <a:buSzPts val="1300"/>
              <a:buFont typeface="Proxima Nova"/>
              <a:buChar char="–"/>
              <a:defRPr i="0" sz="1300" u="none" cap="none" strike="noStrike">
                <a:solidFill>
                  <a:srgbClr val="000000"/>
                </a:solidFill>
                <a:latin typeface="Proxima Nova"/>
                <a:ea typeface="Proxima Nova"/>
                <a:cs typeface="Proxima Nova"/>
                <a:sym typeface="Proxima Nova"/>
              </a:defRPr>
            </a:lvl4pPr>
            <a:lvl5pPr indent="-304800" lvl="4" marL="2286000" marR="0" rtl="0" algn="l">
              <a:lnSpc>
                <a:spcPct val="150000"/>
              </a:lnSpc>
              <a:spcBef>
                <a:spcPts val="0"/>
              </a:spcBef>
              <a:spcAft>
                <a:spcPts val="0"/>
              </a:spcAft>
              <a:buClr>
                <a:srgbClr val="000000"/>
              </a:buClr>
              <a:buSzPts val="1200"/>
              <a:buFont typeface="Proxima Nova"/>
              <a:buChar char="»"/>
              <a:defRPr i="0" sz="1200" u="none" cap="none" strike="noStrike">
                <a:solidFill>
                  <a:srgbClr val="000000"/>
                </a:solidFill>
                <a:latin typeface="Proxima Nova"/>
                <a:ea typeface="Proxima Nova"/>
                <a:cs typeface="Proxima Nova"/>
                <a:sym typeface="Proxima Nova"/>
              </a:defRPr>
            </a:lvl5pPr>
            <a:lvl6pPr indent="-298450" lvl="5" marL="2743200" marR="0" rtl="0" algn="l">
              <a:lnSpc>
                <a:spcPct val="150000"/>
              </a:lnSpc>
              <a:spcBef>
                <a:spcPts val="0"/>
              </a:spcBef>
              <a:spcAft>
                <a:spcPts val="0"/>
              </a:spcAft>
              <a:buClr>
                <a:schemeClr val="dk1"/>
              </a:buClr>
              <a:buSzPts val="1100"/>
              <a:buFont typeface="Proxima Nova"/>
              <a:buChar char="•"/>
              <a:defRPr i="0" sz="1100" u="none" cap="none" strike="noStrike">
                <a:solidFill>
                  <a:schemeClr val="dk1"/>
                </a:solidFill>
                <a:latin typeface="Proxima Nova"/>
                <a:ea typeface="Proxima Nova"/>
                <a:cs typeface="Proxima Nova"/>
                <a:sym typeface="Proxima Nova"/>
              </a:defRPr>
            </a:lvl6pPr>
            <a:lvl7pPr indent="-292100" lvl="6" marL="3200400" marR="0" rtl="0" algn="l">
              <a:lnSpc>
                <a:spcPct val="150000"/>
              </a:lnSpc>
              <a:spcBef>
                <a:spcPts val="0"/>
              </a:spcBef>
              <a:spcAft>
                <a:spcPts val="0"/>
              </a:spcAft>
              <a:buClr>
                <a:schemeClr val="dk1"/>
              </a:buClr>
              <a:buSzPts val="1000"/>
              <a:buFont typeface="Proxima Nova"/>
              <a:buChar char="•"/>
              <a:defRPr i="0" sz="1000" u="none" cap="none" strike="noStrike">
                <a:solidFill>
                  <a:schemeClr val="dk1"/>
                </a:solidFill>
                <a:latin typeface="Proxima Nova"/>
                <a:ea typeface="Proxima Nova"/>
                <a:cs typeface="Proxima Nova"/>
                <a:sym typeface="Proxima Nova"/>
              </a:defRPr>
            </a:lvl7pPr>
            <a:lvl8pPr indent="-285750" lvl="7" marL="3657600" marR="0" rtl="0" algn="l">
              <a:lnSpc>
                <a:spcPct val="150000"/>
              </a:lnSpc>
              <a:spcBef>
                <a:spcPts val="0"/>
              </a:spcBef>
              <a:spcAft>
                <a:spcPts val="0"/>
              </a:spcAft>
              <a:buClr>
                <a:schemeClr val="dk1"/>
              </a:buClr>
              <a:buSzPts val="900"/>
              <a:buFont typeface="Proxima Nova"/>
              <a:buChar char="•"/>
              <a:defRPr i="0" sz="900" u="none" cap="none" strike="noStrike">
                <a:solidFill>
                  <a:schemeClr val="dk1"/>
                </a:solidFill>
                <a:latin typeface="Proxima Nova"/>
                <a:ea typeface="Proxima Nova"/>
                <a:cs typeface="Proxima Nova"/>
                <a:sym typeface="Proxima Nova"/>
              </a:defRPr>
            </a:lvl8pPr>
            <a:lvl9pPr indent="-279400" lvl="8" marL="4114800" marR="0" rtl="0" algn="l">
              <a:lnSpc>
                <a:spcPct val="150000"/>
              </a:lnSpc>
              <a:spcBef>
                <a:spcPts val="0"/>
              </a:spcBef>
              <a:spcAft>
                <a:spcPts val="0"/>
              </a:spcAft>
              <a:buClr>
                <a:schemeClr val="dk1"/>
              </a:buClr>
              <a:buSzPts val="800"/>
              <a:buFont typeface="Proxima Nova"/>
              <a:buChar char="•"/>
              <a:defRPr i="0" sz="800" u="none" cap="none" strike="noStrike">
                <a:solidFill>
                  <a:schemeClr val="dk1"/>
                </a:solidFill>
                <a:latin typeface="Proxima Nova"/>
                <a:ea typeface="Proxima Nova"/>
                <a:cs typeface="Proxima Nova"/>
                <a:sym typeface="Proxima Nova"/>
              </a:defRPr>
            </a:lvl9pPr>
          </a:lstStyle>
          <a:p/>
        </p:txBody>
      </p:sp>
      <p:sp>
        <p:nvSpPr>
          <p:cNvPr id="13" name="Google Shape;13;p1"/>
          <p:cNvSpPr txBox="1"/>
          <p:nvPr>
            <p:ph idx="12" type="sldNum"/>
          </p:nvPr>
        </p:nvSpPr>
        <p:spPr>
          <a:xfrm>
            <a:off x="3506788" y="4856113"/>
            <a:ext cx="2133600" cy="273900"/>
          </a:xfrm>
          <a:prstGeom prst="rect">
            <a:avLst/>
          </a:prstGeom>
          <a:noFill/>
          <a:ln>
            <a:noFill/>
          </a:ln>
        </p:spPr>
        <p:txBody>
          <a:bodyPr anchorCtr="0" anchor="ctr" bIns="45700" lIns="91425" spcFirstLastPara="1" rIns="91425" wrap="square" tIns="45700">
            <a:noAutofit/>
          </a:bodyPr>
          <a:lstStyle>
            <a:lvl1pPr indent="0" lvl="0"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1pPr>
            <a:lvl2pPr indent="0" lvl="1"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2pPr>
            <a:lvl3pPr indent="0" lvl="2"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3pPr>
            <a:lvl4pPr indent="0" lvl="3"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4pPr>
            <a:lvl5pPr indent="0" lvl="4"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5pPr>
            <a:lvl6pPr indent="0" lvl="5"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6pPr>
            <a:lvl7pPr indent="0" lvl="6"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7pPr>
            <a:lvl8pPr indent="0" lvl="7"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8pPr>
            <a:lvl9pPr indent="0" lvl="8"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9pPr>
          </a:lstStyle>
          <a:p>
            <a:pPr indent="0" lvl="0" marL="0" rtl="0" algn="ctr">
              <a:spcBef>
                <a:spcPts val="0"/>
              </a:spcBef>
              <a:spcAft>
                <a:spcPts val="0"/>
              </a:spcAft>
              <a:buNone/>
            </a:pPr>
            <a:fld id="{00000000-1234-1234-1234-123412341234}" type="slidenum">
              <a:rPr lang="en-US"/>
              <a:t>‹#›</a:t>
            </a:fld>
            <a:endParaRPr/>
          </a:p>
        </p:txBody>
      </p:sp>
      <p:pic>
        <p:nvPicPr>
          <p:cNvPr descr="1-lineWordmark_GoldOnCard_NoBG.eps" id="14" name="Google Shape;14;p1"/>
          <p:cNvPicPr preferRelativeResize="0"/>
          <p:nvPr/>
        </p:nvPicPr>
        <p:blipFill rotWithShape="1">
          <a:blip r:embed="rId1">
            <a:alphaModFix/>
          </a:blip>
          <a:srcRect b="0" l="0" r="0" t="0"/>
          <a:stretch/>
        </p:blipFill>
        <p:spPr>
          <a:xfrm>
            <a:off x="6997700" y="4846522"/>
            <a:ext cx="1366594" cy="116116"/>
          </a:xfrm>
          <a:prstGeom prst="rect">
            <a:avLst/>
          </a:prstGeom>
          <a:noFill/>
          <a:ln>
            <a:noFill/>
          </a:ln>
        </p:spPr>
      </p:pic>
      <p:pic>
        <p:nvPicPr>
          <p:cNvPr descr="Formal_Viterbi_GoldOnCard_NoBG.eps" id="15" name="Google Shape;15;p1"/>
          <p:cNvPicPr preferRelativeResize="0"/>
          <p:nvPr/>
        </p:nvPicPr>
        <p:blipFill rotWithShape="1">
          <a:blip r:embed="rId2">
            <a:alphaModFix/>
          </a:blip>
          <a:srcRect b="0" l="0" r="0" t="0"/>
          <a:stretch/>
        </p:blipFill>
        <p:spPr>
          <a:xfrm>
            <a:off x="292102" y="4603732"/>
            <a:ext cx="1306267" cy="352557"/>
          </a:xfrm>
          <a:prstGeom prst="rect">
            <a:avLst/>
          </a:prstGeom>
          <a:noFill/>
          <a:ln>
            <a:noFill/>
          </a:ln>
        </p:spPr>
      </p:pic>
      <p:sp>
        <p:nvSpPr>
          <p:cNvPr id="16" name="Google Shape;16;p1"/>
          <p:cNvSpPr/>
          <p:nvPr/>
        </p:nvSpPr>
        <p:spPr>
          <a:xfrm flipH="1" rot="10800000">
            <a:off x="0" y="4470738"/>
            <a:ext cx="9144000" cy="38100"/>
          </a:xfrm>
          <a:prstGeom prst="rect">
            <a:avLst/>
          </a:prstGeom>
          <a:solidFill>
            <a:srgbClr val="FFCC00"/>
          </a:solidFill>
          <a:ln>
            <a:noFill/>
          </a:ln>
          <a:effectLst>
            <a:outerShdw blurRad="40000" rotWithShape="0" dir="5400000" dist="20000">
              <a:srgbClr val="000000">
                <a:alpha val="3647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pic>
        <p:nvPicPr>
          <p:cNvPr id="17" name="Google Shape;17;p1"/>
          <p:cNvPicPr preferRelativeResize="0"/>
          <p:nvPr/>
        </p:nvPicPr>
        <p:blipFill rotWithShape="1">
          <a:blip r:embed="rId3">
            <a:alphaModFix/>
          </a:blip>
          <a:srcRect b="0" l="0" r="57269" t="0"/>
          <a:stretch/>
        </p:blipFill>
        <p:spPr>
          <a:xfrm>
            <a:off x="107950" y="57150"/>
            <a:ext cx="285751" cy="197643"/>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4"/>
    <p:sldLayoutId id="2147483649" r:id="rId5"/>
    <p:sldLayoutId id="2147483650" r:id="rId6"/>
    <p:sldLayoutId id="2147483651" r:id="rId7"/>
    <p:sldLayoutId id="2147483652" r:id="rId8"/>
    <p:sldLayoutId id="2147483653" r:id="rId9"/>
    <p:sldLayoutId id="2147483654" r:id="rId10"/>
    <p:sldLayoutId id="2147483655" r:id="rId11"/>
  </p:sldLayoutIdLst>
  <p:transition>
    <p:fade thruBlk="1"/>
  </p:transition>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docs.google.com/presentation/d/1XxM6VSX8bNYkLCqZ4vs8YppFJckuKQa5zLLtRiIdduo/edit?usp=sharing"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image" Target="../media/image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 Id="rId3" Type="http://schemas.openxmlformats.org/officeDocument/2006/relationships/hyperlink" Target="https://matplotlib.org/stable/gallery/style_sheets/style_sheets_reference.html"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0"/>
          <p:cNvSpPr txBox="1"/>
          <p:nvPr>
            <p:ph type="ctrTitle"/>
          </p:nvPr>
        </p:nvSpPr>
        <p:spPr>
          <a:xfrm>
            <a:off x="685800" y="1104900"/>
            <a:ext cx="7772400" cy="21360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lang="en-US"/>
              <a:t>Scientific Computation and Data Visualization, Part 1</a:t>
            </a:r>
            <a:endParaRPr/>
          </a:p>
        </p:txBody>
      </p:sp>
      <p:sp>
        <p:nvSpPr>
          <p:cNvPr id="55" name="Google Shape;55;p10"/>
          <p:cNvSpPr txBox="1"/>
          <p:nvPr>
            <p:ph idx="1" type="subTitle"/>
          </p:nvPr>
        </p:nvSpPr>
        <p:spPr>
          <a:xfrm>
            <a:off x="1371600" y="3240900"/>
            <a:ext cx="6400800" cy="1045500"/>
          </a:xfrm>
          <a:prstGeom prst="rect">
            <a:avLst/>
          </a:prstGeom>
        </p:spPr>
        <p:txBody>
          <a:bodyPr anchorCtr="0" anchor="ctr" bIns="45700" lIns="91425" spcFirstLastPara="1" rIns="91425" wrap="square" tIns="45700">
            <a:noAutofit/>
          </a:bodyPr>
          <a:lstStyle/>
          <a:p>
            <a:pPr indent="0" lvl="0" marL="0" rtl="0" algn="ctr">
              <a:spcBef>
                <a:spcPts val="700"/>
              </a:spcBef>
              <a:spcAft>
                <a:spcPts val="0"/>
              </a:spcAft>
              <a:buNone/>
            </a:pPr>
            <a:r>
              <a:rPr lang="en-US"/>
              <a:t>Applied Python</a:t>
            </a:r>
            <a:endParaRPr/>
          </a:p>
        </p:txBody>
      </p:sp>
      <p:sp>
        <p:nvSpPr>
          <p:cNvPr id="56" name="Google Shape;56;p10"/>
          <p:cNvSpPr txBox="1"/>
          <p:nvPr>
            <p:ph idx="2" type="body"/>
          </p:nvPr>
        </p:nvSpPr>
        <p:spPr>
          <a:xfrm>
            <a:off x="7365900" y="0"/>
            <a:ext cx="1778100" cy="3327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r>
              <a:rPr lang="en-US" u="sng">
                <a:solidFill>
                  <a:schemeClr val="hlink"/>
                </a:solidFill>
                <a:hlinkClick r:id="rId3"/>
              </a:rPr>
              <a:t>Link to this document</a:t>
            </a:r>
            <a:endParaRPr/>
          </a:p>
        </p:txBody>
      </p:sp>
      <p:sp>
        <p:nvSpPr>
          <p:cNvPr id="57" name="Google Shape;57;p10"/>
          <p:cNvSpPr txBox="1"/>
          <p:nvPr>
            <p:ph idx="12" type="sldNum"/>
          </p:nvPr>
        </p:nvSpPr>
        <p:spPr>
          <a:xfrm>
            <a:off x="8556784" y="4749851"/>
            <a:ext cx="548700" cy="3936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1"/>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What are we doing?</a:t>
            </a:r>
            <a:endParaRPr/>
          </a:p>
        </p:txBody>
      </p:sp>
      <p:sp>
        <p:nvSpPr>
          <p:cNvPr id="64" name="Google Shape;64;p11"/>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b="1" lang="en-US"/>
              <a:t>Learning Objectives</a:t>
            </a:r>
            <a:endParaRPr b="1"/>
          </a:p>
          <a:p>
            <a:pPr indent="0" lvl="0" marL="0" rtl="0" algn="l">
              <a:spcBef>
                <a:spcPts val="0"/>
              </a:spcBef>
              <a:spcAft>
                <a:spcPts val="0"/>
              </a:spcAft>
              <a:buClr>
                <a:schemeClr val="dk1"/>
              </a:buClr>
              <a:buSzPts val="1100"/>
              <a:buFont typeface="Arial"/>
              <a:buNone/>
            </a:pPr>
            <a:r>
              <a:rPr lang="en-US"/>
              <a:t>By the end of this week, you should:</a:t>
            </a:r>
            <a:endParaRPr/>
          </a:p>
          <a:p>
            <a:pPr indent="0" lvl="0" marL="0" rtl="0" algn="l">
              <a:spcBef>
                <a:spcPts val="0"/>
              </a:spcBef>
              <a:spcAft>
                <a:spcPts val="0"/>
              </a:spcAft>
              <a:buClr>
                <a:schemeClr val="dk1"/>
              </a:buClr>
              <a:buSzPts val="1100"/>
              <a:buFont typeface="Arial"/>
              <a:buNone/>
            </a:pPr>
            <a:r>
              <a:t/>
            </a:r>
            <a:endParaRPr/>
          </a:p>
          <a:p>
            <a:pPr indent="-330200" lvl="0" marL="457200" rtl="0" algn="l">
              <a:spcBef>
                <a:spcPts val="0"/>
              </a:spcBef>
              <a:spcAft>
                <a:spcPts val="0"/>
              </a:spcAft>
              <a:buSzPts val="1600"/>
              <a:buChar char="•"/>
            </a:pPr>
            <a:r>
              <a:rPr lang="en-US"/>
              <a:t>understand the purpose of scientific computation</a:t>
            </a:r>
            <a:endParaRPr/>
          </a:p>
          <a:p>
            <a:pPr indent="-330200" lvl="0" marL="457200" rtl="0" algn="l">
              <a:spcBef>
                <a:spcPts val="0"/>
              </a:spcBef>
              <a:spcAft>
                <a:spcPts val="0"/>
              </a:spcAft>
              <a:buSzPts val="1600"/>
              <a:buChar char="•"/>
            </a:pPr>
            <a:r>
              <a:rPr lang="en-US"/>
              <a:t>identify features of a plot</a:t>
            </a:r>
            <a:endParaRPr/>
          </a:p>
          <a:p>
            <a:pPr indent="-330200" lvl="0" marL="457200" rtl="0" algn="l">
              <a:spcBef>
                <a:spcPts val="0"/>
              </a:spcBef>
              <a:spcAft>
                <a:spcPts val="0"/>
              </a:spcAft>
              <a:buSzPts val="1600"/>
              <a:buChar char="•"/>
            </a:pPr>
            <a:r>
              <a:rPr lang="en-US"/>
              <a:t>know why data visualization is an excellent way to communicate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65" name="Google Shape;65;p11"/>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b="1" lang="en-US"/>
              <a:t>Measurable Outcomes</a:t>
            </a:r>
            <a:endParaRPr b="1"/>
          </a:p>
          <a:p>
            <a:pPr indent="0" lvl="0" marL="0" rtl="0" algn="l">
              <a:spcBef>
                <a:spcPts val="0"/>
              </a:spcBef>
              <a:spcAft>
                <a:spcPts val="0"/>
              </a:spcAft>
              <a:buClr>
                <a:schemeClr val="dk1"/>
              </a:buClr>
              <a:buSzPts val="1100"/>
              <a:buFont typeface="Arial"/>
              <a:buNone/>
            </a:pPr>
            <a:r>
              <a:rPr lang="en-US"/>
              <a:t>By the end of this week, you should be able to:</a:t>
            </a:r>
            <a:endParaRPr/>
          </a:p>
          <a:p>
            <a:pPr indent="0" lvl="0" marL="0" rtl="0" algn="l">
              <a:spcBef>
                <a:spcPts val="0"/>
              </a:spcBef>
              <a:spcAft>
                <a:spcPts val="0"/>
              </a:spcAft>
              <a:buClr>
                <a:schemeClr val="dk1"/>
              </a:buClr>
              <a:buSzPts val="1100"/>
              <a:buFont typeface="Arial"/>
              <a:buNone/>
            </a:pPr>
            <a:r>
              <a:t/>
            </a:r>
            <a:endParaRPr/>
          </a:p>
          <a:p>
            <a:pPr indent="-330200" lvl="0" marL="457200" rtl="0" algn="l">
              <a:spcBef>
                <a:spcPts val="0"/>
              </a:spcBef>
              <a:spcAft>
                <a:spcPts val="0"/>
              </a:spcAft>
              <a:buSzPts val="1600"/>
              <a:buChar char="•"/>
            </a:pPr>
            <a:r>
              <a:rPr lang="en-US"/>
              <a:t>create an ndarray</a:t>
            </a:r>
            <a:endParaRPr/>
          </a:p>
          <a:p>
            <a:pPr indent="-330200" lvl="0" marL="457200" rtl="0" algn="l">
              <a:spcBef>
                <a:spcPts val="0"/>
              </a:spcBef>
              <a:spcAft>
                <a:spcPts val="0"/>
              </a:spcAft>
              <a:buSzPts val="1600"/>
              <a:buChar char="•"/>
            </a:pPr>
            <a:r>
              <a:rPr lang="en-US"/>
              <a:t>create a figure with matplotlib and add subplots</a:t>
            </a:r>
            <a:endParaRPr/>
          </a:p>
          <a:p>
            <a:pPr indent="-330200" lvl="0" marL="457200" rtl="0" algn="l">
              <a:spcBef>
                <a:spcPts val="0"/>
              </a:spcBef>
              <a:spcAft>
                <a:spcPts val="0"/>
              </a:spcAft>
              <a:buSzPts val="1600"/>
              <a:buChar char="•"/>
            </a:pPr>
            <a:r>
              <a:rPr lang="en-US"/>
              <a:t>modify the features of a subplot</a:t>
            </a:r>
            <a:endParaRPr/>
          </a:p>
        </p:txBody>
      </p:sp>
      <p:sp>
        <p:nvSpPr>
          <p:cNvPr id="66" name="Google Shape;66;p11"/>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2"/>
          <p:cNvSpPr txBox="1"/>
          <p:nvPr>
            <p:ph type="title"/>
          </p:nvPr>
        </p:nvSpPr>
        <p:spPr>
          <a:xfrm>
            <a:off x="722313" y="3305175"/>
            <a:ext cx="7772400" cy="10215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SCIENTIFIC COMPUTATION</a:t>
            </a:r>
            <a:endParaRPr/>
          </a:p>
        </p:txBody>
      </p:sp>
      <p:sp>
        <p:nvSpPr>
          <p:cNvPr id="73" name="Google Shape;73;p12"/>
          <p:cNvSpPr txBox="1"/>
          <p:nvPr>
            <p:ph idx="1" type="body"/>
          </p:nvPr>
        </p:nvSpPr>
        <p:spPr>
          <a:xfrm>
            <a:off x="722313" y="2180035"/>
            <a:ext cx="7772400" cy="1125000"/>
          </a:xfrm>
          <a:prstGeom prst="rect">
            <a:avLst/>
          </a:prstGeom>
        </p:spPr>
        <p:txBody>
          <a:bodyPr anchorCtr="0" anchor="b" bIns="45700" lIns="91425" spcFirstLastPara="1" rIns="91425" wrap="square" tIns="45700">
            <a:noAutofit/>
          </a:bodyPr>
          <a:lstStyle/>
          <a:p>
            <a:pPr indent="0" lvl="0" marL="0" rtl="0" algn="l">
              <a:spcBef>
                <a:spcPts val="400"/>
              </a:spcBef>
              <a:spcAft>
                <a:spcPts val="0"/>
              </a:spcAft>
              <a:buNone/>
            </a:pPr>
            <a:r>
              <a:t/>
            </a:r>
            <a:endParaRPr/>
          </a:p>
        </p:txBody>
      </p:sp>
      <p:sp>
        <p:nvSpPr>
          <p:cNvPr id="74" name="Google Shape;74;p12"/>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3"/>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NumPy: Numeric Python</a:t>
            </a:r>
            <a:endParaRPr/>
          </a:p>
        </p:txBody>
      </p:sp>
      <p:sp>
        <p:nvSpPr>
          <p:cNvPr id="81" name="Google Shape;81;p13"/>
          <p:cNvSpPr txBox="1"/>
          <p:nvPr>
            <p:ph idx="1" type="body"/>
          </p:nvPr>
        </p:nvSpPr>
        <p:spPr>
          <a:xfrm>
            <a:off x="40106" y="998794"/>
            <a:ext cx="90669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b="1" lang="en-US"/>
              <a:t>NumPy</a:t>
            </a:r>
            <a:r>
              <a:rPr lang="en-US"/>
              <a:t> is a general-purpose array-processing package. It provides a high-performance multidimensional array objects, as well as tools for working with these arrays. It is the fundamental package for scientific computing with Python.</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n-US"/>
              <a:t>Besides its obvious scientific uses, NumPy can also be used as an efficient multi-dimensional container of generic data.</a:t>
            </a:r>
            <a:endParaRPr/>
          </a:p>
        </p:txBody>
      </p:sp>
      <p:sp>
        <p:nvSpPr>
          <p:cNvPr id="82" name="Google Shape;82;p13"/>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4"/>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NumPy: wait but why?</a:t>
            </a:r>
            <a:endParaRPr/>
          </a:p>
        </p:txBody>
      </p:sp>
      <p:sp>
        <p:nvSpPr>
          <p:cNvPr id="89" name="Google Shape;89;p14"/>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300"/>
              <a:t>It turns out that, while Python is awesome at a lot of things, there are some places where it is not very efficient. Specifically, it's not great with storage and manipulation of large sets of numbers.</a:t>
            </a:r>
            <a:endParaRPr sz="1300"/>
          </a:p>
          <a:p>
            <a:pPr indent="0" lvl="0" marL="0" rtl="0" algn="l">
              <a:spcBef>
                <a:spcPts val="0"/>
              </a:spcBef>
              <a:spcAft>
                <a:spcPts val="0"/>
              </a:spcAft>
              <a:buClr>
                <a:schemeClr val="dk1"/>
              </a:buClr>
              <a:buSzPts val="1100"/>
              <a:buFont typeface="Arial"/>
              <a:buNone/>
            </a:pPr>
            <a:r>
              <a:t/>
            </a:r>
            <a:endParaRPr sz="1300"/>
          </a:p>
          <a:p>
            <a:pPr indent="0" lvl="0" marL="0" rtl="0" algn="l">
              <a:spcBef>
                <a:spcPts val="0"/>
              </a:spcBef>
              <a:spcAft>
                <a:spcPts val="0"/>
              </a:spcAft>
              <a:buNone/>
            </a:pPr>
            <a:r>
              <a:rPr lang="en-US" sz="1300"/>
              <a:t>You could choose to, for instance, hold a large data set in a list. But each item in that list has quite a lot more information, including header info, pointer info, et al. So generally, a similar number of entries in a Python list to a NumPy array will be on the order of 3 to 4 times larger.</a:t>
            </a:r>
            <a:endParaRPr sz="1300"/>
          </a:p>
        </p:txBody>
      </p:sp>
      <p:sp>
        <p:nvSpPr>
          <p:cNvPr id="90" name="Google Shape;90;p14"/>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300"/>
              <a:t>You will get the same effective results with actual manipulation of those numbers. Multiplying two large equally-sized lists in Python is going to take significantly longer than multiplying two large equally-sized NumPy arrays.</a:t>
            </a:r>
            <a:endParaRPr sz="1300"/>
          </a:p>
        </p:txBody>
      </p:sp>
      <p:sp>
        <p:nvSpPr>
          <p:cNvPr id="91" name="Google Shape;91;p14"/>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5"/>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NumPy: including</a:t>
            </a:r>
            <a:endParaRPr/>
          </a:p>
        </p:txBody>
      </p:sp>
      <p:sp>
        <p:nvSpPr>
          <p:cNvPr id="98" name="Google Shape;98;p15"/>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Including NumPy in your codebase is as easy as importing it. It is usually given a local name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n-US"/>
              <a:t>Don't forget that if you haven't used it in this particular project before, you'll need to install it first! NOTE: Ed Stem workspaces already have numpy installed</a:t>
            </a:r>
            <a:endParaRPr/>
          </a:p>
        </p:txBody>
      </p:sp>
      <p:sp>
        <p:nvSpPr>
          <p:cNvPr id="99" name="Google Shape;99;p15"/>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b="1">
              <a:latin typeface="Roboto Mono"/>
              <a:ea typeface="Roboto Mono"/>
              <a:cs typeface="Roboto Mono"/>
              <a:sym typeface="Roboto Mono"/>
            </a:endParaRPr>
          </a:p>
          <a:p>
            <a:pPr indent="0" lvl="0" marL="0" rtl="0" algn="l">
              <a:spcBef>
                <a:spcPts val="0"/>
              </a:spcBef>
              <a:spcAft>
                <a:spcPts val="0"/>
              </a:spcAft>
              <a:buNone/>
            </a:pPr>
            <a:r>
              <a:rPr b="1" lang="en-US">
                <a:latin typeface="Roboto Mono"/>
                <a:ea typeface="Roboto Mono"/>
                <a:cs typeface="Roboto Mono"/>
                <a:sym typeface="Roboto Mono"/>
              </a:rPr>
              <a:t>import numpy as np</a:t>
            </a:r>
            <a:endParaRPr b="1">
              <a:latin typeface="Roboto Mono"/>
              <a:ea typeface="Roboto Mono"/>
              <a:cs typeface="Roboto Mono"/>
              <a:sym typeface="Roboto Mono"/>
            </a:endParaRPr>
          </a:p>
        </p:txBody>
      </p:sp>
      <p:sp>
        <p:nvSpPr>
          <p:cNvPr id="100" name="Google Shape;100;p15"/>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6"/>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NumPy: arrays</a:t>
            </a:r>
            <a:endParaRPr/>
          </a:p>
        </p:txBody>
      </p:sp>
      <p:sp>
        <p:nvSpPr>
          <p:cNvPr id="107" name="Google Shape;107;p16"/>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400"/>
              <a:t>An </a:t>
            </a:r>
            <a:r>
              <a:rPr b="1" lang="en-US" sz="1400"/>
              <a:t>array</a:t>
            </a:r>
            <a:r>
              <a:rPr lang="en-US" sz="1400"/>
              <a:t> in NumPy is a table of elements (usually numbers), all of the same type, indexed by a tuple of positive integers. Technically the object type is called the </a:t>
            </a:r>
            <a:r>
              <a:rPr b="1" lang="en-US" sz="1400"/>
              <a:t>ndarray</a:t>
            </a:r>
            <a:r>
              <a:rPr lang="en-US" sz="1400"/>
              <a:t>, for n-dimensional array. The number of dimensions of the array is called the </a:t>
            </a:r>
            <a:r>
              <a:rPr b="1" lang="en-US" sz="1400"/>
              <a:t>rank</a:t>
            </a:r>
            <a:r>
              <a:rPr lang="en-US" sz="1400"/>
              <a:t> of the array.</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US" sz="1400"/>
              <a:t>Elements in NumPy arrays are accessed by using square brackets and can be initialized by using Python lists, but can also be created in a number of other ways.</a:t>
            </a:r>
            <a:endParaRPr sz="1400"/>
          </a:p>
        </p:txBody>
      </p:sp>
      <p:sp>
        <p:nvSpPr>
          <p:cNvPr id="108" name="Google Shape;108;p16"/>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200">
                <a:latin typeface="Roboto Mono Light"/>
                <a:ea typeface="Roboto Mono Light"/>
                <a:cs typeface="Roboto Mono Light"/>
                <a:sym typeface="Roboto Mono Light"/>
              </a:rPr>
              <a:t>import numpy as np</a:t>
            </a:r>
            <a:endParaRPr sz="12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t/>
            </a:r>
            <a:endParaRPr sz="12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1200">
                <a:latin typeface="Roboto Mono Light"/>
                <a:ea typeface="Roboto Mono Light"/>
                <a:cs typeface="Roboto Mono Light"/>
                <a:sym typeface="Roboto Mono Light"/>
              </a:rPr>
              <a:t>arr = </a:t>
            </a:r>
            <a:r>
              <a:rPr b="1" lang="en-US" sz="1200">
                <a:latin typeface="Roboto Mono"/>
                <a:ea typeface="Roboto Mono"/>
                <a:cs typeface="Roboto Mono"/>
                <a:sym typeface="Roboto Mono"/>
              </a:rPr>
              <a:t>np.array</a:t>
            </a:r>
            <a:r>
              <a:rPr lang="en-US" sz="1200">
                <a:latin typeface="Roboto Mono Light"/>
                <a:ea typeface="Roboto Mono Light"/>
                <a:cs typeface="Roboto Mono Light"/>
                <a:sym typeface="Roboto Mono Light"/>
              </a:rPr>
              <a:t>([1, 2, 3])</a:t>
            </a:r>
            <a:endParaRPr sz="12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1200">
                <a:latin typeface="Roboto Mono Light"/>
                <a:ea typeface="Roboto Mono Light"/>
                <a:cs typeface="Roboto Mono Light"/>
                <a:sym typeface="Roboto Mono Light"/>
              </a:rPr>
              <a:t>print("Array with Rank 1: \n", arr)</a:t>
            </a:r>
            <a:endParaRPr sz="12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t/>
            </a:r>
            <a:endParaRPr sz="12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1200">
                <a:latin typeface="Roboto Mono Light"/>
                <a:ea typeface="Roboto Mono Light"/>
                <a:cs typeface="Roboto Mono Light"/>
                <a:sym typeface="Roboto Mono Light"/>
              </a:rPr>
              <a:t>arr = </a:t>
            </a:r>
            <a:r>
              <a:rPr b="1" lang="en-US" sz="1200">
                <a:latin typeface="Roboto Mono"/>
                <a:ea typeface="Roboto Mono"/>
                <a:cs typeface="Roboto Mono"/>
                <a:sym typeface="Roboto Mono"/>
              </a:rPr>
              <a:t>np.array</a:t>
            </a:r>
            <a:r>
              <a:rPr lang="en-US" sz="1200">
                <a:latin typeface="Roboto Mono Light"/>
                <a:ea typeface="Roboto Mono Light"/>
                <a:cs typeface="Roboto Mono Light"/>
                <a:sym typeface="Roboto Mono Light"/>
              </a:rPr>
              <a:t>([[1, 2, 3], [4, 5, 6]])</a:t>
            </a:r>
            <a:endParaRPr sz="12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1200">
                <a:latin typeface="Roboto Mono Light"/>
                <a:ea typeface="Roboto Mono Light"/>
                <a:cs typeface="Roboto Mono Light"/>
                <a:sym typeface="Roboto Mono Light"/>
              </a:rPr>
              <a:t>print("Array with Rank 2: \n", arr)</a:t>
            </a:r>
            <a:endParaRPr sz="12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t/>
            </a:r>
            <a:endParaRPr sz="12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1200">
                <a:latin typeface="Roboto Mono Light"/>
                <a:ea typeface="Roboto Mono Light"/>
                <a:cs typeface="Roboto Mono Light"/>
                <a:sym typeface="Roboto Mono Light"/>
              </a:rPr>
              <a:t>arr = </a:t>
            </a:r>
            <a:r>
              <a:rPr b="1" lang="en-US" sz="1200">
                <a:latin typeface="Roboto Mono"/>
                <a:ea typeface="Roboto Mono"/>
                <a:cs typeface="Roboto Mono"/>
                <a:sym typeface="Roboto Mono"/>
              </a:rPr>
              <a:t>np.array</a:t>
            </a:r>
            <a:r>
              <a:rPr lang="en-US" sz="1200">
                <a:latin typeface="Roboto Mono Light"/>
                <a:ea typeface="Roboto Mono Light"/>
                <a:cs typeface="Roboto Mono Light"/>
                <a:sym typeface="Roboto Mono Light"/>
              </a:rPr>
              <a:t>((1, 3, 2))</a:t>
            </a:r>
            <a:endParaRPr sz="1200">
              <a:latin typeface="Roboto Mono Light"/>
              <a:ea typeface="Roboto Mono Light"/>
              <a:cs typeface="Roboto Mono Light"/>
              <a:sym typeface="Roboto Mono Light"/>
            </a:endParaRPr>
          </a:p>
          <a:p>
            <a:pPr indent="0" lvl="0" marL="0" rtl="0" algn="l">
              <a:spcBef>
                <a:spcPts val="0"/>
              </a:spcBef>
              <a:spcAft>
                <a:spcPts val="0"/>
              </a:spcAft>
              <a:buNone/>
            </a:pPr>
            <a:r>
              <a:rPr lang="en-US" sz="1200">
                <a:latin typeface="Roboto Mono Light"/>
                <a:ea typeface="Roboto Mono Light"/>
                <a:cs typeface="Roboto Mono Light"/>
                <a:sym typeface="Roboto Mono Light"/>
              </a:rPr>
              <a:t>print("\nArray created using tuple:\n", arr)</a:t>
            </a:r>
            <a:endParaRPr sz="1200">
              <a:latin typeface="Roboto Mono Light"/>
              <a:ea typeface="Roboto Mono Light"/>
              <a:cs typeface="Roboto Mono Light"/>
              <a:sym typeface="Roboto Mono Light"/>
            </a:endParaRPr>
          </a:p>
        </p:txBody>
      </p:sp>
      <p:sp>
        <p:nvSpPr>
          <p:cNvPr id="109" name="Google Shape;109;p16"/>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14" name="Shape 114"/>
        <p:cNvGrpSpPr/>
        <p:nvPr/>
      </p:nvGrpSpPr>
      <p:grpSpPr>
        <a:xfrm>
          <a:off x="0" y="0"/>
          <a:ext cx="0" cy="0"/>
          <a:chOff x="0" y="0"/>
          <a:chExt cx="0" cy="0"/>
        </a:xfrm>
      </p:grpSpPr>
      <p:sp>
        <p:nvSpPr>
          <p:cNvPr id="115" name="Google Shape;115;p17"/>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NumPy: datatypes</a:t>
            </a:r>
            <a:endParaRPr/>
          </a:p>
        </p:txBody>
      </p:sp>
      <p:sp>
        <p:nvSpPr>
          <p:cNvPr id="116" name="Google Shape;116;p17"/>
          <p:cNvSpPr txBox="1"/>
          <p:nvPr>
            <p:ph idx="1" type="body"/>
          </p:nvPr>
        </p:nvSpPr>
        <p:spPr>
          <a:xfrm>
            <a:off x="40106" y="998794"/>
            <a:ext cx="90669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300"/>
              <a:t>NumPy supports a significantly greater number of numeric datatypes than Python does. Each are specified by a type followed by the number of bits. These include but are not limited to:</a:t>
            </a:r>
            <a:endParaRPr sz="1300"/>
          </a:p>
          <a:p>
            <a:pPr indent="0" lvl="0" marL="0" rtl="0" algn="l">
              <a:spcBef>
                <a:spcPts val="0"/>
              </a:spcBef>
              <a:spcAft>
                <a:spcPts val="0"/>
              </a:spcAft>
              <a:buClr>
                <a:schemeClr val="dk1"/>
              </a:buClr>
              <a:buSzPts val="1100"/>
              <a:buFont typeface="Arial"/>
              <a:buNone/>
            </a:pPr>
            <a:r>
              <a:t/>
            </a:r>
            <a:endParaRPr sz="1300"/>
          </a:p>
          <a:p>
            <a:pPr indent="-311150" lvl="0" marL="457200" rtl="0" algn="l">
              <a:spcBef>
                <a:spcPts val="0"/>
              </a:spcBef>
              <a:spcAft>
                <a:spcPts val="0"/>
              </a:spcAft>
              <a:buSzPts val="1300"/>
              <a:buChar char="•"/>
            </a:pPr>
            <a:r>
              <a:rPr lang="en-US" sz="1300"/>
              <a:t>int8, int16, int32, int64: signed integers			</a:t>
            </a:r>
            <a:r>
              <a:rPr i="1" lang="en-US" sz="1300"/>
              <a:t>e.g. int8: -127 to 128</a:t>
            </a:r>
            <a:endParaRPr i="1" sz="1300"/>
          </a:p>
          <a:p>
            <a:pPr indent="-311150" lvl="0" marL="457200" rtl="0" algn="l">
              <a:spcBef>
                <a:spcPts val="0"/>
              </a:spcBef>
              <a:spcAft>
                <a:spcPts val="0"/>
              </a:spcAft>
              <a:buSzPts val="1300"/>
              <a:buChar char="•"/>
            </a:pPr>
            <a:r>
              <a:rPr lang="en-US" sz="1300"/>
              <a:t>uint8, uint16, uint32, uint64: unsigned integers		</a:t>
            </a:r>
            <a:r>
              <a:rPr i="1" lang="en-US" sz="1300"/>
              <a:t>e.g. uint8: 0 to 255</a:t>
            </a:r>
            <a:endParaRPr i="1" sz="1300"/>
          </a:p>
          <a:p>
            <a:pPr indent="-311150" lvl="0" marL="457200" rtl="0" algn="l">
              <a:spcBef>
                <a:spcPts val="0"/>
              </a:spcBef>
              <a:spcAft>
                <a:spcPts val="0"/>
              </a:spcAft>
              <a:buSzPts val="1300"/>
              <a:buChar char="•"/>
            </a:pPr>
            <a:r>
              <a:rPr lang="en-US" sz="1300"/>
              <a:t>float16, float32, float64: floats					</a:t>
            </a:r>
            <a:r>
              <a:rPr i="1" lang="en-US" sz="1300"/>
              <a:t>e.g. float16: sign bit, 5 bits exponent, 10 bits mantissa</a:t>
            </a:r>
            <a:endParaRPr i="1" sz="1300"/>
          </a:p>
          <a:p>
            <a:pPr indent="-311150" lvl="0" marL="457200" rtl="0" algn="l">
              <a:spcBef>
                <a:spcPts val="0"/>
              </a:spcBef>
              <a:spcAft>
                <a:spcPts val="0"/>
              </a:spcAft>
              <a:buSzPts val="1300"/>
              <a:buChar char="•"/>
            </a:pPr>
            <a:r>
              <a:rPr lang="en-US" sz="1300"/>
              <a:t>complex64, complex128: complex numbers			</a:t>
            </a:r>
            <a:r>
              <a:rPr i="1" lang="en-US" sz="1300"/>
              <a:t>e.g. complex64: two float32s (one real, one imaginary)</a:t>
            </a:r>
            <a:endParaRPr i="1" sz="1300"/>
          </a:p>
          <a:p>
            <a:pPr indent="0" lvl="0" marL="0" rtl="0" algn="l">
              <a:spcBef>
                <a:spcPts val="0"/>
              </a:spcBef>
              <a:spcAft>
                <a:spcPts val="0"/>
              </a:spcAft>
              <a:buClr>
                <a:schemeClr val="dk1"/>
              </a:buClr>
              <a:buSzPts val="1100"/>
              <a:buFont typeface="Arial"/>
              <a:buNone/>
            </a:pPr>
            <a:r>
              <a:t/>
            </a:r>
            <a:endParaRPr sz="1300"/>
          </a:p>
          <a:p>
            <a:pPr indent="0" lvl="0" marL="0" rtl="0" algn="l">
              <a:spcBef>
                <a:spcPts val="0"/>
              </a:spcBef>
              <a:spcAft>
                <a:spcPts val="0"/>
              </a:spcAft>
              <a:buClr>
                <a:schemeClr val="dk1"/>
              </a:buClr>
              <a:buSzPts val="1100"/>
              <a:buFont typeface="Arial"/>
              <a:buNone/>
            </a:pPr>
            <a:r>
              <a:rPr lang="en-US" sz="1300"/>
              <a:t>You can specify the datatype of the ndarray by passing the keyword argument </a:t>
            </a:r>
            <a:r>
              <a:rPr b="1" lang="en-US" sz="1300"/>
              <a:t>dtype</a:t>
            </a:r>
            <a:r>
              <a:rPr lang="en-US" sz="1300"/>
              <a:t>:</a:t>
            </a:r>
            <a:endParaRPr sz="1300"/>
          </a:p>
          <a:p>
            <a:pPr indent="0" lvl="0" marL="0" rtl="0" algn="l">
              <a:spcBef>
                <a:spcPts val="0"/>
              </a:spcBef>
              <a:spcAft>
                <a:spcPts val="0"/>
              </a:spcAft>
              <a:buClr>
                <a:schemeClr val="dk1"/>
              </a:buClr>
              <a:buSzPts val="1100"/>
              <a:buFont typeface="Arial"/>
              <a:buNone/>
            </a:pPr>
            <a:r>
              <a:t/>
            </a:r>
            <a:endParaRPr sz="1300"/>
          </a:p>
          <a:p>
            <a:pPr indent="0" lvl="0" marL="0" rtl="0" algn="l">
              <a:spcBef>
                <a:spcPts val="0"/>
              </a:spcBef>
              <a:spcAft>
                <a:spcPts val="0"/>
              </a:spcAft>
              <a:buNone/>
            </a:pPr>
            <a:r>
              <a:rPr lang="en-US" sz="1300">
                <a:latin typeface="Roboto Mono Light"/>
                <a:ea typeface="Roboto Mono Light"/>
                <a:cs typeface="Roboto Mono Light"/>
                <a:sym typeface="Roboto Mono Light"/>
              </a:rPr>
              <a:t>	arr = np.ndarray([1, 2, 3], </a:t>
            </a:r>
            <a:r>
              <a:rPr b="1" lang="en-US" sz="1300">
                <a:latin typeface="Roboto Mono"/>
                <a:ea typeface="Roboto Mono"/>
                <a:cs typeface="Roboto Mono"/>
                <a:sym typeface="Roboto Mono"/>
              </a:rPr>
              <a:t>dtype = 'uint64'</a:t>
            </a:r>
            <a:r>
              <a:rPr lang="en-US" sz="1300">
                <a:latin typeface="Roboto Mono Light"/>
                <a:ea typeface="Roboto Mono Light"/>
                <a:cs typeface="Roboto Mono Light"/>
                <a:sym typeface="Roboto Mono Light"/>
              </a:rPr>
              <a:t>) # 64-bit unsigned int</a:t>
            </a:r>
            <a:endParaRPr sz="1300">
              <a:latin typeface="Roboto Mono Light"/>
              <a:ea typeface="Roboto Mono Light"/>
              <a:cs typeface="Roboto Mono Light"/>
              <a:sym typeface="Roboto Mono Light"/>
            </a:endParaRPr>
          </a:p>
        </p:txBody>
      </p:sp>
      <p:sp>
        <p:nvSpPr>
          <p:cNvPr id="117" name="Google Shape;117;p17"/>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18"/>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NumPy: creating and manipulating</a:t>
            </a:r>
            <a:endParaRPr/>
          </a:p>
        </p:txBody>
      </p:sp>
      <p:sp>
        <p:nvSpPr>
          <p:cNvPr id="124" name="Google Shape;124;p18"/>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200"/>
              <a:t>Ndarrays in NumPy can be created in multiple ways, with various number of ranks defining the size of the array. For instance:</a:t>
            </a:r>
            <a:endParaRPr sz="1200"/>
          </a:p>
          <a:p>
            <a:pPr indent="0" lvl="0" marL="0" rtl="0" algn="l">
              <a:spcBef>
                <a:spcPts val="0"/>
              </a:spcBef>
              <a:spcAft>
                <a:spcPts val="0"/>
              </a:spcAft>
              <a:buClr>
                <a:schemeClr val="dk1"/>
              </a:buClr>
              <a:buSzPts val="1100"/>
              <a:buFont typeface="Arial"/>
              <a:buNone/>
            </a:pPr>
            <a:r>
              <a:t/>
            </a:r>
            <a:endParaRPr sz="1200"/>
          </a:p>
          <a:p>
            <a:pPr indent="457200" lvl="0" marL="0" rtl="0" algn="l">
              <a:spcBef>
                <a:spcPts val="0"/>
              </a:spcBef>
              <a:spcAft>
                <a:spcPts val="0"/>
              </a:spcAft>
              <a:buClr>
                <a:schemeClr val="dk1"/>
              </a:buClr>
              <a:buSzPts val="1100"/>
              <a:buFont typeface="Arial"/>
              <a:buNone/>
            </a:pPr>
            <a:r>
              <a:rPr lang="en-US" sz="1200">
                <a:latin typeface="Roboto Mono Light"/>
                <a:ea typeface="Roboto Mono Light"/>
                <a:cs typeface="Roboto Mono Light"/>
                <a:sym typeface="Roboto Mono Light"/>
              </a:rPr>
              <a:t>a = </a:t>
            </a:r>
            <a:r>
              <a:rPr b="1" lang="en-US" sz="1200">
                <a:latin typeface="Roboto Mono"/>
                <a:ea typeface="Roboto Mono"/>
                <a:cs typeface="Roboto Mono"/>
                <a:sym typeface="Roboto Mono"/>
              </a:rPr>
              <a:t>np.arange</a:t>
            </a:r>
            <a:r>
              <a:rPr lang="en-US" sz="1200">
                <a:latin typeface="Roboto Mono Light"/>
                <a:ea typeface="Roboto Mono Light"/>
                <a:cs typeface="Roboto Mono Light"/>
                <a:sym typeface="Roboto Mono Light"/>
              </a:rPr>
              <a:t>(8)</a:t>
            </a:r>
            <a:endParaRPr sz="12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t/>
            </a:r>
            <a:endParaRPr sz="1200"/>
          </a:p>
          <a:p>
            <a:pPr indent="0" lvl="0" marL="0" rtl="0" algn="l">
              <a:spcBef>
                <a:spcPts val="0"/>
              </a:spcBef>
              <a:spcAft>
                <a:spcPts val="0"/>
              </a:spcAft>
              <a:buClr>
                <a:schemeClr val="dk1"/>
              </a:buClr>
              <a:buSzPts val="1100"/>
              <a:buFont typeface="Arial"/>
              <a:buNone/>
            </a:pPr>
            <a:r>
              <a:rPr lang="en-US" sz="1200"/>
              <a:t>is the same as:</a:t>
            </a:r>
            <a:endParaRPr sz="1200"/>
          </a:p>
          <a:p>
            <a:pPr indent="0" lvl="0" marL="0" rtl="0" algn="l">
              <a:spcBef>
                <a:spcPts val="0"/>
              </a:spcBef>
              <a:spcAft>
                <a:spcPts val="0"/>
              </a:spcAft>
              <a:buClr>
                <a:schemeClr val="dk1"/>
              </a:buClr>
              <a:buSzPts val="1100"/>
              <a:buFont typeface="Arial"/>
              <a:buNone/>
            </a:pPr>
            <a:r>
              <a:t/>
            </a:r>
            <a:endParaRPr sz="1200"/>
          </a:p>
          <a:p>
            <a:pPr indent="457200" lvl="0" marL="0" rtl="0" algn="l">
              <a:spcBef>
                <a:spcPts val="0"/>
              </a:spcBef>
              <a:spcAft>
                <a:spcPts val="0"/>
              </a:spcAft>
              <a:buNone/>
            </a:pPr>
            <a:r>
              <a:rPr lang="en-US" sz="1200">
                <a:latin typeface="Roboto Mono Light"/>
                <a:ea typeface="Roboto Mono Light"/>
                <a:cs typeface="Roboto Mono Light"/>
                <a:sym typeface="Roboto Mono Light"/>
              </a:rPr>
              <a:t>a = np.array(range(0, 8))</a:t>
            </a:r>
            <a:endParaRPr sz="1200"/>
          </a:p>
        </p:txBody>
      </p:sp>
      <p:sp>
        <p:nvSpPr>
          <p:cNvPr id="125" name="Google Shape;125;p18"/>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200"/>
              <a:t>You can get the number of dimensions of an ndarray:</a:t>
            </a:r>
            <a:endParaRPr sz="1200"/>
          </a:p>
          <a:p>
            <a:pPr indent="0" lvl="0" marL="0" rtl="0" algn="l">
              <a:spcBef>
                <a:spcPts val="0"/>
              </a:spcBef>
              <a:spcAft>
                <a:spcPts val="0"/>
              </a:spcAft>
              <a:buClr>
                <a:schemeClr val="dk1"/>
              </a:buClr>
              <a:buSzPts val="1100"/>
              <a:buFont typeface="Arial"/>
              <a:buNone/>
            </a:pPr>
            <a:r>
              <a:t/>
            </a:r>
            <a:endParaRPr sz="1200"/>
          </a:p>
          <a:p>
            <a:pPr indent="457200" lvl="0" marL="0" rtl="0" algn="l">
              <a:spcBef>
                <a:spcPts val="0"/>
              </a:spcBef>
              <a:spcAft>
                <a:spcPts val="0"/>
              </a:spcAft>
              <a:buClr>
                <a:schemeClr val="dk1"/>
              </a:buClr>
              <a:buSzPts val="1100"/>
              <a:buFont typeface="Arial"/>
              <a:buNone/>
            </a:pPr>
            <a:r>
              <a:rPr lang="en-US" sz="1200">
                <a:latin typeface="Roboto Mono Light"/>
                <a:ea typeface="Roboto Mono Light"/>
                <a:cs typeface="Roboto Mono Light"/>
                <a:sym typeface="Roboto Mono Light"/>
              </a:rPr>
              <a:t>a.</a:t>
            </a:r>
            <a:r>
              <a:rPr b="1" lang="en-US" sz="1200">
                <a:latin typeface="Roboto Mono"/>
                <a:ea typeface="Roboto Mono"/>
                <a:cs typeface="Roboto Mono"/>
                <a:sym typeface="Roboto Mono"/>
              </a:rPr>
              <a:t>ndim</a:t>
            </a:r>
            <a:endParaRPr b="1" sz="12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1200"/>
          </a:p>
          <a:p>
            <a:pPr indent="0" lvl="0" marL="0" rtl="0" algn="l">
              <a:spcBef>
                <a:spcPts val="0"/>
              </a:spcBef>
              <a:spcAft>
                <a:spcPts val="0"/>
              </a:spcAft>
              <a:buClr>
                <a:schemeClr val="dk1"/>
              </a:buClr>
              <a:buSzPts val="1100"/>
              <a:buFont typeface="Arial"/>
              <a:buNone/>
            </a:pPr>
            <a:r>
              <a:rPr lang="en-US" sz="1200"/>
              <a:t>You can get the shape of the ndarray:</a:t>
            </a:r>
            <a:endParaRPr sz="1200"/>
          </a:p>
          <a:p>
            <a:pPr indent="0" lvl="0" marL="0" rtl="0" algn="l">
              <a:spcBef>
                <a:spcPts val="0"/>
              </a:spcBef>
              <a:spcAft>
                <a:spcPts val="0"/>
              </a:spcAft>
              <a:buClr>
                <a:schemeClr val="dk1"/>
              </a:buClr>
              <a:buSzPts val="1100"/>
              <a:buFont typeface="Arial"/>
              <a:buNone/>
            </a:pPr>
            <a:r>
              <a:t/>
            </a:r>
            <a:endParaRPr sz="1200"/>
          </a:p>
          <a:p>
            <a:pPr indent="457200" lvl="0" marL="0" rtl="0" algn="l">
              <a:spcBef>
                <a:spcPts val="0"/>
              </a:spcBef>
              <a:spcAft>
                <a:spcPts val="0"/>
              </a:spcAft>
              <a:buClr>
                <a:schemeClr val="dk1"/>
              </a:buClr>
              <a:buSzPts val="1100"/>
              <a:buFont typeface="Arial"/>
              <a:buNone/>
            </a:pPr>
            <a:r>
              <a:rPr lang="en-US" sz="1200">
                <a:latin typeface="Roboto Mono Light"/>
                <a:ea typeface="Roboto Mono Light"/>
                <a:cs typeface="Roboto Mono Light"/>
                <a:sym typeface="Roboto Mono Light"/>
              </a:rPr>
              <a:t>a.</a:t>
            </a:r>
            <a:r>
              <a:rPr b="1" lang="en-US" sz="1200">
                <a:latin typeface="Roboto Mono"/>
                <a:ea typeface="Roboto Mono"/>
                <a:cs typeface="Roboto Mono"/>
                <a:sym typeface="Roboto Mono"/>
              </a:rPr>
              <a:t>shape</a:t>
            </a:r>
            <a:endParaRPr b="1" sz="12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1200"/>
          </a:p>
          <a:p>
            <a:pPr indent="0" lvl="0" marL="0" rtl="0" algn="l">
              <a:spcBef>
                <a:spcPts val="0"/>
              </a:spcBef>
              <a:spcAft>
                <a:spcPts val="0"/>
              </a:spcAft>
              <a:buClr>
                <a:schemeClr val="dk1"/>
              </a:buClr>
              <a:buSzPts val="1100"/>
              <a:buFont typeface="Arial"/>
              <a:buNone/>
            </a:pPr>
            <a:r>
              <a:rPr lang="en-US" sz="1200"/>
              <a:t>and you can reshape the dimensions using:</a:t>
            </a:r>
            <a:endParaRPr sz="1200"/>
          </a:p>
          <a:p>
            <a:pPr indent="0" lvl="0" marL="0" rtl="0" algn="l">
              <a:spcBef>
                <a:spcPts val="0"/>
              </a:spcBef>
              <a:spcAft>
                <a:spcPts val="0"/>
              </a:spcAft>
              <a:buClr>
                <a:schemeClr val="dk1"/>
              </a:buClr>
              <a:buSzPts val="1100"/>
              <a:buFont typeface="Arial"/>
              <a:buNone/>
            </a:pPr>
            <a:r>
              <a:t/>
            </a:r>
            <a:endParaRPr sz="1200"/>
          </a:p>
          <a:p>
            <a:pPr indent="457200" lvl="0" marL="0" rtl="0" algn="l">
              <a:spcBef>
                <a:spcPts val="0"/>
              </a:spcBef>
              <a:spcAft>
                <a:spcPts val="0"/>
              </a:spcAft>
              <a:buClr>
                <a:schemeClr val="dk1"/>
              </a:buClr>
              <a:buSzPts val="1100"/>
              <a:buFont typeface="Arial"/>
              <a:buNone/>
            </a:pPr>
            <a:r>
              <a:rPr lang="en-US" sz="1200">
                <a:latin typeface="Roboto Mono Light"/>
                <a:ea typeface="Roboto Mono Light"/>
                <a:cs typeface="Roboto Mono Light"/>
                <a:sym typeface="Roboto Mono Light"/>
              </a:rPr>
              <a:t>a = a</a:t>
            </a:r>
            <a:r>
              <a:rPr b="1" lang="en-US" sz="1200">
                <a:latin typeface="Roboto Mono"/>
                <a:ea typeface="Roboto Mono"/>
                <a:cs typeface="Roboto Mono"/>
                <a:sym typeface="Roboto Mono"/>
              </a:rPr>
              <a:t>.reshape</a:t>
            </a:r>
            <a:r>
              <a:rPr lang="en-US" sz="1200">
                <a:latin typeface="Roboto Mono Light"/>
                <a:ea typeface="Roboto Mono Light"/>
                <a:cs typeface="Roboto Mono Light"/>
                <a:sym typeface="Roboto Mono Light"/>
              </a:rPr>
              <a:t>(x, y)</a:t>
            </a:r>
            <a:endParaRPr sz="12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t/>
            </a:r>
            <a:endParaRPr sz="1200"/>
          </a:p>
          <a:p>
            <a:pPr indent="0" lvl="0" marL="0" rtl="0" algn="l">
              <a:spcBef>
                <a:spcPts val="0"/>
              </a:spcBef>
              <a:spcAft>
                <a:spcPts val="0"/>
              </a:spcAft>
              <a:buNone/>
            </a:pPr>
            <a:r>
              <a:t/>
            </a:r>
            <a:endParaRPr sz="1200"/>
          </a:p>
        </p:txBody>
      </p:sp>
      <p:sp>
        <p:nvSpPr>
          <p:cNvPr id="126" name="Google Shape;126;p18"/>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19"/>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NumPy: selecting</a:t>
            </a:r>
            <a:endParaRPr/>
          </a:p>
        </p:txBody>
      </p:sp>
      <p:sp>
        <p:nvSpPr>
          <p:cNvPr id="133" name="Google Shape;133;p19"/>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As previously mentioned, ndarrays can be accessed in the same way as Python's built-in collections. To </a:t>
            </a:r>
            <a:r>
              <a:rPr b="1" lang="en-US"/>
              <a:t>select</a:t>
            </a:r>
            <a:r>
              <a:rPr lang="en-US"/>
              <a:t> from an array, you use a simple extension of standard python sequence selection syntax.</a:t>
            </a:r>
            <a:endParaRPr>
              <a:latin typeface="Courier New"/>
              <a:ea typeface="Courier New"/>
              <a:cs typeface="Courier New"/>
              <a:sym typeface="Courier New"/>
            </a:endParaRPr>
          </a:p>
        </p:txBody>
      </p:sp>
      <p:sp>
        <p:nvSpPr>
          <p:cNvPr id="134" name="Google Shape;134;p19"/>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135" name="Google Shape;135;p19"/>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200">
                <a:latin typeface="Roboto Mono Light"/>
                <a:ea typeface="Roboto Mono Light"/>
                <a:cs typeface="Roboto Mono Light"/>
                <a:sym typeface="Roboto Mono Light"/>
              </a:rPr>
              <a:t>ndarr = np.array([[1, 2, 3], [4, 5, 6]])</a:t>
            </a:r>
            <a:endParaRPr sz="12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1200">
                <a:latin typeface="Roboto Mono Light"/>
                <a:ea typeface="Roboto Mono Light"/>
                <a:cs typeface="Roboto Mono Light"/>
                <a:sym typeface="Roboto Mono Light"/>
              </a:rPr>
              <a:t>print(ndarr)</a:t>
            </a:r>
            <a:endParaRPr sz="12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1200">
                <a:latin typeface="Roboto Mono Light"/>
                <a:ea typeface="Roboto Mono Light"/>
                <a:cs typeface="Roboto Mono Light"/>
                <a:sym typeface="Roboto Mono Light"/>
              </a:rPr>
              <a:t>print(ndarr[</a:t>
            </a:r>
            <a:r>
              <a:rPr b="1" lang="en-US" sz="1200">
                <a:latin typeface="Roboto Mono"/>
                <a:ea typeface="Roboto Mono"/>
                <a:cs typeface="Roboto Mono"/>
                <a:sym typeface="Roboto Mono"/>
              </a:rPr>
              <a:t>0</a:t>
            </a:r>
            <a:r>
              <a:rPr lang="en-US" sz="1200">
                <a:latin typeface="Roboto Mono Light"/>
                <a:ea typeface="Roboto Mono Light"/>
                <a:cs typeface="Roboto Mono Light"/>
                <a:sym typeface="Roboto Mono Light"/>
              </a:rPr>
              <a:t>]) # select 0th row</a:t>
            </a:r>
            <a:endParaRPr sz="12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1200">
                <a:latin typeface="Roboto Mono Light"/>
                <a:ea typeface="Roboto Mono Light"/>
                <a:cs typeface="Roboto Mono Light"/>
                <a:sym typeface="Roboto Mono Light"/>
              </a:rPr>
              <a:t>print(ndarr[</a:t>
            </a:r>
            <a:r>
              <a:rPr b="1" lang="en-US" sz="1200">
                <a:latin typeface="Roboto Mono"/>
                <a:ea typeface="Roboto Mono"/>
                <a:cs typeface="Roboto Mono"/>
                <a:sym typeface="Roboto Mono"/>
              </a:rPr>
              <a:t>0, 2</a:t>
            </a:r>
            <a:r>
              <a:rPr lang="en-US" sz="1200">
                <a:latin typeface="Roboto Mono Light"/>
                <a:ea typeface="Roboto Mono Light"/>
                <a:cs typeface="Roboto Mono Light"/>
                <a:sym typeface="Roboto Mono Light"/>
              </a:rPr>
              <a:t>]) # select 0th row 2nd column</a:t>
            </a:r>
            <a:endParaRPr sz="12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t/>
            </a:r>
            <a:endParaRPr sz="12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1200">
                <a:latin typeface="Roboto Mono Light"/>
                <a:ea typeface="Roboto Mono Light"/>
                <a:cs typeface="Roboto Mono Light"/>
                <a:sym typeface="Roboto Mono Light"/>
              </a:rPr>
              <a:t>&gt;&gt;&gt; [[1 2 3]</a:t>
            </a:r>
            <a:endParaRPr sz="12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1200">
                <a:latin typeface="Roboto Mono Light"/>
                <a:ea typeface="Roboto Mono Light"/>
                <a:cs typeface="Roboto Mono Light"/>
                <a:sym typeface="Roboto Mono Light"/>
              </a:rPr>
              <a:t>     [4 5 6]]</a:t>
            </a:r>
            <a:endParaRPr sz="1200">
              <a:latin typeface="Roboto Mono Light"/>
              <a:ea typeface="Roboto Mono Light"/>
              <a:cs typeface="Roboto Mono Light"/>
              <a:sym typeface="Roboto Mono Light"/>
            </a:endParaRPr>
          </a:p>
          <a:p>
            <a:pPr indent="0" lvl="0" marL="0" rtl="0" algn="l">
              <a:spcBef>
                <a:spcPts val="0"/>
              </a:spcBef>
              <a:spcAft>
                <a:spcPts val="0"/>
              </a:spcAft>
              <a:buNone/>
            </a:pPr>
            <a:r>
              <a:rPr lang="en-US" sz="1200">
                <a:latin typeface="Roboto Mono Light"/>
                <a:ea typeface="Roboto Mono Light"/>
                <a:cs typeface="Roboto Mono Light"/>
                <a:sym typeface="Roboto Mono Light"/>
              </a:rPr>
              <a:t>&gt;&gt;&gt; [1 2 3]</a:t>
            </a:r>
            <a:endParaRPr sz="12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1200">
                <a:latin typeface="Roboto Mono Light"/>
                <a:ea typeface="Roboto Mono Light"/>
                <a:cs typeface="Roboto Mono Light"/>
                <a:sym typeface="Roboto Mono Light"/>
              </a:rPr>
              <a:t>&gt;&gt;&gt; 3</a:t>
            </a:r>
            <a:endParaRPr sz="1200">
              <a:latin typeface="Roboto Mono Light"/>
              <a:ea typeface="Roboto Mono Light"/>
              <a:cs typeface="Roboto Mono Light"/>
              <a:sym typeface="Roboto Mono Ligh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0"/>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NumPy: slicing</a:t>
            </a:r>
            <a:endParaRPr/>
          </a:p>
        </p:txBody>
      </p:sp>
      <p:sp>
        <p:nvSpPr>
          <p:cNvPr id="142" name="Google Shape;142;p20"/>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200"/>
              <a:t>To </a:t>
            </a:r>
            <a:r>
              <a:rPr b="1" lang="en-US" sz="1200"/>
              <a:t>slice</a:t>
            </a:r>
            <a:r>
              <a:rPr lang="en-US" sz="1200"/>
              <a:t> an array, you have two options. The first is the </a:t>
            </a:r>
            <a:r>
              <a:rPr lang="en-US" sz="1200">
                <a:latin typeface="Roboto Mono Light"/>
                <a:ea typeface="Roboto Mono Light"/>
                <a:cs typeface="Roboto Mono Light"/>
                <a:sym typeface="Roboto Mono Light"/>
              </a:rPr>
              <a:t>slice()</a:t>
            </a:r>
            <a:r>
              <a:rPr lang="en-US" sz="1200"/>
              <a:t> function, remembering that slicing follows </a:t>
            </a:r>
            <a:r>
              <a:rPr b="1" lang="en-US" sz="1200">
                <a:latin typeface="Roboto Mono"/>
                <a:ea typeface="Roboto Mono"/>
                <a:cs typeface="Roboto Mono"/>
                <a:sym typeface="Roboto Mono"/>
              </a:rPr>
              <a:t>start:stop:step</a:t>
            </a:r>
            <a:r>
              <a:rPr lang="en-US" sz="1200"/>
              <a:t> format.</a:t>
            </a:r>
            <a:endParaRPr sz="1200"/>
          </a:p>
          <a:p>
            <a:pPr indent="0" lvl="0" marL="0" rtl="0" algn="l">
              <a:spcBef>
                <a:spcPts val="0"/>
              </a:spcBef>
              <a:spcAft>
                <a:spcPts val="0"/>
              </a:spcAft>
              <a:buClr>
                <a:schemeClr val="dk1"/>
              </a:buClr>
              <a:buSzPts val="1100"/>
              <a:buFont typeface="Arial"/>
              <a:buNone/>
            </a:pPr>
            <a:r>
              <a:t/>
            </a:r>
            <a:endParaRPr sz="1200"/>
          </a:p>
          <a:p>
            <a:pPr indent="0" lvl="0" marL="457200" rtl="0" algn="l">
              <a:spcBef>
                <a:spcPts val="0"/>
              </a:spcBef>
              <a:spcAft>
                <a:spcPts val="0"/>
              </a:spcAft>
              <a:buClr>
                <a:schemeClr val="dk1"/>
              </a:buClr>
              <a:buSzPts val="1100"/>
              <a:buFont typeface="Arial"/>
              <a:buNone/>
            </a:pPr>
            <a:r>
              <a:rPr lang="en-US" sz="1200">
                <a:latin typeface="Roboto Mono Light"/>
                <a:ea typeface="Roboto Mono Light"/>
                <a:cs typeface="Roboto Mono Light"/>
                <a:sym typeface="Roboto Mono Light"/>
              </a:rPr>
              <a:t>ndarr = np.array([[1, 2, 3], [4, 5, 6]])</a:t>
            </a:r>
            <a:endParaRPr sz="1200">
              <a:latin typeface="Roboto Mono Light"/>
              <a:ea typeface="Roboto Mono Light"/>
              <a:cs typeface="Roboto Mono Light"/>
              <a:sym typeface="Roboto Mono Light"/>
            </a:endParaRPr>
          </a:p>
          <a:p>
            <a:pPr indent="0" lvl="0" marL="457200" rtl="0" algn="l">
              <a:spcBef>
                <a:spcPts val="0"/>
              </a:spcBef>
              <a:spcAft>
                <a:spcPts val="0"/>
              </a:spcAft>
              <a:buClr>
                <a:schemeClr val="dk1"/>
              </a:buClr>
              <a:buSzPts val="1100"/>
              <a:buFont typeface="Arial"/>
              <a:buNone/>
            </a:pPr>
            <a:r>
              <a:rPr lang="en-US" sz="1200">
                <a:latin typeface="Roboto Mono Light"/>
                <a:ea typeface="Roboto Mono Light"/>
                <a:cs typeface="Roboto Mono Light"/>
                <a:sym typeface="Roboto Mono Light"/>
              </a:rPr>
              <a:t>print(ndarr)</a:t>
            </a:r>
            <a:endParaRPr sz="1200">
              <a:latin typeface="Roboto Mono Light"/>
              <a:ea typeface="Roboto Mono Light"/>
              <a:cs typeface="Roboto Mono Light"/>
              <a:sym typeface="Roboto Mono Light"/>
            </a:endParaRPr>
          </a:p>
          <a:p>
            <a:pPr indent="0" lvl="0" marL="457200" rtl="0" algn="l">
              <a:spcBef>
                <a:spcPts val="0"/>
              </a:spcBef>
              <a:spcAft>
                <a:spcPts val="0"/>
              </a:spcAft>
              <a:buClr>
                <a:schemeClr val="dk1"/>
              </a:buClr>
              <a:buSzPts val="1100"/>
              <a:buFont typeface="Arial"/>
              <a:buNone/>
            </a:pPr>
            <a:r>
              <a:rPr lang="en-US" sz="1200">
                <a:latin typeface="Roboto Mono Light"/>
                <a:ea typeface="Roboto Mono Light"/>
                <a:cs typeface="Roboto Mono Light"/>
                <a:sym typeface="Roboto Mono Light"/>
              </a:rPr>
              <a:t>print(ndarr[</a:t>
            </a:r>
            <a:r>
              <a:rPr b="1" lang="en-US" sz="1200">
                <a:latin typeface="Roboto Mono"/>
                <a:ea typeface="Roboto Mono"/>
                <a:cs typeface="Roboto Mono"/>
                <a:sym typeface="Roboto Mono"/>
              </a:rPr>
              <a:t>slice</a:t>
            </a:r>
            <a:r>
              <a:rPr lang="en-US" sz="1200">
                <a:latin typeface="Roboto Mono Light"/>
                <a:ea typeface="Roboto Mono Light"/>
                <a:cs typeface="Roboto Mono Light"/>
                <a:sym typeface="Roboto Mono Light"/>
              </a:rPr>
              <a:t>(0, 1, 1)])</a:t>
            </a:r>
            <a:endParaRPr sz="1200">
              <a:latin typeface="Roboto Mono Light"/>
              <a:ea typeface="Roboto Mono Light"/>
              <a:cs typeface="Roboto Mono Light"/>
              <a:sym typeface="Roboto Mono Light"/>
            </a:endParaRPr>
          </a:p>
          <a:p>
            <a:pPr indent="0" lvl="0" marL="457200" rtl="0" algn="l">
              <a:spcBef>
                <a:spcPts val="0"/>
              </a:spcBef>
              <a:spcAft>
                <a:spcPts val="0"/>
              </a:spcAft>
              <a:buClr>
                <a:schemeClr val="dk1"/>
              </a:buClr>
              <a:buSzPts val="1100"/>
              <a:buFont typeface="Arial"/>
              <a:buNone/>
            </a:pPr>
            <a:r>
              <a:t/>
            </a:r>
            <a:endParaRPr sz="1200">
              <a:latin typeface="Roboto Mono Light"/>
              <a:ea typeface="Roboto Mono Light"/>
              <a:cs typeface="Roboto Mono Light"/>
              <a:sym typeface="Roboto Mono Light"/>
            </a:endParaRPr>
          </a:p>
          <a:p>
            <a:pPr indent="0" lvl="0" marL="457200" rtl="0" algn="l">
              <a:spcBef>
                <a:spcPts val="0"/>
              </a:spcBef>
              <a:spcAft>
                <a:spcPts val="0"/>
              </a:spcAft>
              <a:buClr>
                <a:schemeClr val="dk1"/>
              </a:buClr>
              <a:buSzPts val="1100"/>
              <a:buFont typeface="Arial"/>
              <a:buNone/>
            </a:pPr>
            <a:r>
              <a:rPr lang="en-US" sz="1200">
                <a:latin typeface="Roboto Mono Light"/>
                <a:ea typeface="Roboto Mono Light"/>
                <a:cs typeface="Roboto Mono Light"/>
                <a:sym typeface="Roboto Mono Light"/>
              </a:rPr>
              <a:t>&gt;&gt;&gt; [[1 2 3]</a:t>
            </a:r>
            <a:endParaRPr sz="1200">
              <a:latin typeface="Roboto Mono Light"/>
              <a:ea typeface="Roboto Mono Light"/>
              <a:cs typeface="Roboto Mono Light"/>
              <a:sym typeface="Roboto Mono Light"/>
            </a:endParaRPr>
          </a:p>
          <a:p>
            <a:pPr indent="0" lvl="0" marL="457200" rtl="0" algn="l">
              <a:spcBef>
                <a:spcPts val="0"/>
              </a:spcBef>
              <a:spcAft>
                <a:spcPts val="0"/>
              </a:spcAft>
              <a:buClr>
                <a:schemeClr val="dk1"/>
              </a:buClr>
              <a:buSzPts val="1100"/>
              <a:buFont typeface="Arial"/>
              <a:buNone/>
            </a:pPr>
            <a:r>
              <a:rPr lang="en-US" sz="1200">
                <a:latin typeface="Roboto Mono Light"/>
                <a:ea typeface="Roboto Mono Light"/>
                <a:cs typeface="Roboto Mono Light"/>
                <a:sym typeface="Roboto Mono Light"/>
              </a:rPr>
              <a:t>     [4 5 6]]</a:t>
            </a:r>
            <a:endParaRPr sz="1200">
              <a:latin typeface="Roboto Mono Light"/>
              <a:ea typeface="Roboto Mono Light"/>
              <a:cs typeface="Roboto Mono Light"/>
              <a:sym typeface="Roboto Mono Light"/>
            </a:endParaRPr>
          </a:p>
          <a:p>
            <a:pPr indent="0" lvl="0" marL="457200" rtl="0" algn="l">
              <a:spcBef>
                <a:spcPts val="0"/>
              </a:spcBef>
              <a:spcAft>
                <a:spcPts val="0"/>
              </a:spcAft>
              <a:buNone/>
            </a:pPr>
            <a:r>
              <a:rPr lang="en-US" sz="1200">
                <a:latin typeface="Roboto Mono Light"/>
                <a:ea typeface="Roboto Mono Light"/>
                <a:cs typeface="Roboto Mono Light"/>
                <a:sym typeface="Roboto Mono Light"/>
              </a:rPr>
              <a:t>&gt;&gt;&gt; [[1 2 3]]</a:t>
            </a:r>
            <a:endParaRPr sz="1200">
              <a:latin typeface="Courier New"/>
              <a:ea typeface="Courier New"/>
              <a:cs typeface="Courier New"/>
              <a:sym typeface="Courier New"/>
            </a:endParaRPr>
          </a:p>
        </p:txBody>
      </p:sp>
      <p:sp>
        <p:nvSpPr>
          <p:cNvPr id="143" name="Google Shape;143;p20"/>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100">
                <a:solidFill>
                  <a:schemeClr val="dk1"/>
                </a:solidFill>
              </a:rPr>
              <a:t>As in any other sliceable Python collection, you can use square brackets with colons in between the start, stop, and step options:</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457200" lvl="0" marL="0" rtl="0" algn="l">
              <a:spcBef>
                <a:spcPts val="0"/>
              </a:spcBef>
              <a:spcAft>
                <a:spcPts val="0"/>
              </a:spcAft>
              <a:buNone/>
            </a:pPr>
            <a:r>
              <a:rPr lang="en-US" sz="1100">
                <a:latin typeface="Roboto Mono Light"/>
                <a:ea typeface="Roboto Mono Light"/>
                <a:cs typeface="Roboto Mono Light"/>
                <a:sym typeface="Roboto Mono Light"/>
              </a:rPr>
              <a:t>print(ndarr[</a:t>
            </a:r>
            <a:r>
              <a:rPr b="1" lang="en-US" sz="1100">
                <a:latin typeface="Roboto Mono"/>
                <a:ea typeface="Roboto Mono"/>
                <a:cs typeface="Roboto Mono"/>
                <a:sym typeface="Roboto Mono"/>
              </a:rPr>
              <a:t>0:1:1</a:t>
            </a:r>
            <a:r>
              <a:rPr lang="en-US" sz="1100">
                <a:latin typeface="Roboto Mono Light"/>
                <a:ea typeface="Roboto Mono Light"/>
                <a:cs typeface="Roboto Mono Light"/>
                <a:sym typeface="Roboto Mono Light"/>
              </a:rPr>
              <a:t>])</a:t>
            </a:r>
            <a:endParaRPr sz="1000"/>
          </a:p>
          <a:p>
            <a:pPr indent="0" lvl="0" marL="0" rtl="0" algn="l">
              <a:spcBef>
                <a:spcPts val="0"/>
              </a:spcBef>
              <a:spcAft>
                <a:spcPts val="0"/>
              </a:spcAft>
              <a:buClr>
                <a:schemeClr val="dk1"/>
              </a:buClr>
              <a:buSzPts val="1100"/>
              <a:buFont typeface="Arial"/>
              <a:buNone/>
            </a:pPr>
            <a:r>
              <a:rPr lang="en-US" sz="1100"/>
              <a:t>The colon approach is actually more versatile and therefore preferred. For instance, to access all elements before a particular element, just omit the first number but keep the colon:</a:t>
            </a:r>
            <a:endParaRPr sz="1100"/>
          </a:p>
          <a:p>
            <a:pPr indent="0" lvl="0" marL="0" rtl="0" algn="l">
              <a:spcBef>
                <a:spcPts val="0"/>
              </a:spcBef>
              <a:spcAft>
                <a:spcPts val="0"/>
              </a:spcAft>
              <a:buClr>
                <a:schemeClr val="dk1"/>
              </a:buClr>
              <a:buSzPts val="1100"/>
              <a:buFont typeface="Arial"/>
              <a:buNone/>
            </a:pPr>
            <a:r>
              <a:t/>
            </a:r>
            <a:endParaRPr sz="1100"/>
          </a:p>
          <a:p>
            <a:pPr indent="0" lvl="0" marL="457200" rtl="0" algn="l">
              <a:spcBef>
                <a:spcPts val="0"/>
              </a:spcBef>
              <a:spcAft>
                <a:spcPts val="0"/>
              </a:spcAft>
              <a:buClr>
                <a:schemeClr val="dk1"/>
              </a:buClr>
              <a:buSzPts val="1100"/>
              <a:buFont typeface="Arial"/>
              <a:buNone/>
            </a:pPr>
            <a:r>
              <a:rPr lang="en-US" sz="1100">
                <a:latin typeface="Roboto Mono Light"/>
                <a:ea typeface="Roboto Mono Light"/>
                <a:cs typeface="Roboto Mono Light"/>
                <a:sym typeface="Roboto Mono Light"/>
              </a:rPr>
              <a:t>print(ndarr[</a:t>
            </a:r>
            <a:r>
              <a:rPr b="1" lang="en-US" sz="1100">
                <a:latin typeface="Roboto Mono"/>
                <a:ea typeface="Roboto Mono"/>
                <a:cs typeface="Roboto Mono"/>
                <a:sym typeface="Roboto Mono"/>
              </a:rPr>
              <a:t>:1</a:t>
            </a:r>
            <a:r>
              <a:rPr lang="en-US" sz="1100">
                <a:latin typeface="Roboto Mono Light"/>
                <a:ea typeface="Roboto Mono Light"/>
                <a:cs typeface="Roboto Mono Light"/>
                <a:sym typeface="Roboto Mono Light"/>
              </a:rPr>
              <a:t>])</a:t>
            </a:r>
            <a:endParaRPr sz="10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1100"/>
          </a:p>
          <a:p>
            <a:pPr indent="0" lvl="0" marL="0" rtl="0" algn="l">
              <a:spcBef>
                <a:spcPts val="0"/>
              </a:spcBef>
              <a:spcAft>
                <a:spcPts val="0"/>
              </a:spcAft>
              <a:buClr>
                <a:schemeClr val="dk1"/>
              </a:buClr>
              <a:buSzPts val="1100"/>
              <a:buFont typeface="Arial"/>
              <a:buNone/>
            </a:pPr>
            <a:r>
              <a:rPr lang="en-US" sz="1100"/>
              <a:t>To access all elements after a particular element, just omit the second number but keep the colon:</a:t>
            </a:r>
            <a:endParaRPr sz="1100"/>
          </a:p>
          <a:p>
            <a:pPr indent="0" lvl="0" marL="0" rtl="0" algn="l">
              <a:spcBef>
                <a:spcPts val="0"/>
              </a:spcBef>
              <a:spcAft>
                <a:spcPts val="0"/>
              </a:spcAft>
              <a:buClr>
                <a:schemeClr val="dk1"/>
              </a:buClr>
              <a:buSzPts val="1100"/>
              <a:buFont typeface="Arial"/>
              <a:buNone/>
            </a:pPr>
            <a:r>
              <a:t/>
            </a:r>
            <a:endParaRPr sz="1100"/>
          </a:p>
          <a:p>
            <a:pPr indent="0" lvl="0" marL="0" rtl="0" algn="l">
              <a:spcBef>
                <a:spcPts val="0"/>
              </a:spcBef>
              <a:spcAft>
                <a:spcPts val="0"/>
              </a:spcAft>
              <a:buNone/>
            </a:pPr>
            <a:r>
              <a:rPr lang="en-US" sz="1100"/>
              <a:t>	</a:t>
            </a:r>
            <a:r>
              <a:rPr lang="en-US" sz="1100">
                <a:latin typeface="Roboto Mono Light"/>
                <a:ea typeface="Roboto Mono Light"/>
                <a:cs typeface="Roboto Mono Light"/>
                <a:sym typeface="Roboto Mono Light"/>
              </a:rPr>
              <a:t>print(ndarr[</a:t>
            </a:r>
            <a:r>
              <a:rPr b="1" lang="en-US" sz="1100">
                <a:latin typeface="Roboto Mono"/>
                <a:ea typeface="Roboto Mono"/>
                <a:cs typeface="Roboto Mono"/>
                <a:sym typeface="Roboto Mono"/>
              </a:rPr>
              <a:t>1:</a:t>
            </a:r>
            <a:r>
              <a:rPr lang="en-US" sz="1100">
                <a:latin typeface="Roboto Mono Light"/>
                <a:ea typeface="Roboto Mono Light"/>
                <a:cs typeface="Roboto Mono Light"/>
                <a:sym typeface="Roboto Mono Light"/>
              </a:rPr>
              <a:t>])</a:t>
            </a:r>
            <a:endParaRPr sz="1000">
              <a:latin typeface="Courier New"/>
              <a:ea typeface="Courier New"/>
              <a:cs typeface="Courier New"/>
              <a:sym typeface="Courier New"/>
            </a:endParaRPr>
          </a:p>
        </p:txBody>
      </p:sp>
      <p:sp>
        <p:nvSpPr>
          <p:cNvPr id="144" name="Google Shape;144;p20"/>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1"/>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NumPy: more slicing and booleans</a:t>
            </a:r>
            <a:endParaRPr/>
          </a:p>
        </p:txBody>
      </p:sp>
      <p:sp>
        <p:nvSpPr>
          <p:cNvPr id="151" name="Google Shape;151;p21"/>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400"/>
              <a:t>You can access and slice into other dimensions of an array in a very similar way! For instance, this example will slice in both the row and the column dimensions:</a:t>
            </a:r>
            <a:endParaRPr sz="1400"/>
          </a:p>
          <a:p>
            <a:pPr indent="0" lvl="0" marL="0" rtl="0" algn="l">
              <a:spcBef>
                <a:spcPts val="0"/>
              </a:spcBef>
              <a:spcAft>
                <a:spcPts val="0"/>
              </a:spcAft>
              <a:buClr>
                <a:schemeClr val="dk1"/>
              </a:buClr>
              <a:buSzPts val="1100"/>
              <a:buFont typeface="Arial"/>
              <a:buNone/>
            </a:pPr>
            <a:r>
              <a:t/>
            </a:r>
            <a:endParaRPr sz="1400">
              <a:latin typeface="Courier New"/>
              <a:ea typeface="Courier New"/>
              <a:cs typeface="Courier New"/>
              <a:sym typeface="Courier New"/>
            </a:endParaRPr>
          </a:p>
          <a:p>
            <a:pPr indent="0" lvl="0" marL="457200" rtl="0" algn="l">
              <a:spcBef>
                <a:spcPts val="0"/>
              </a:spcBef>
              <a:spcAft>
                <a:spcPts val="0"/>
              </a:spcAft>
              <a:buClr>
                <a:schemeClr val="dk1"/>
              </a:buClr>
              <a:buSzPts val="1100"/>
              <a:buFont typeface="Arial"/>
              <a:buNone/>
            </a:pPr>
            <a:r>
              <a:rPr lang="en-US" sz="1400">
                <a:solidFill>
                  <a:schemeClr val="dk1"/>
                </a:solidFill>
                <a:latin typeface="Roboto Mono Light"/>
                <a:ea typeface="Roboto Mono Light"/>
                <a:cs typeface="Roboto Mono Light"/>
                <a:sym typeface="Roboto Mono Light"/>
              </a:rPr>
              <a:t># get 0th – 2nd row, and every other column</a:t>
            </a:r>
            <a:endParaRPr sz="1400">
              <a:latin typeface="Roboto Mono Light"/>
              <a:ea typeface="Roboto Mono Light"/>
              <a:cs typeface="Roboto Mono Light"/>
              <a:sym typeface="Roboto Mono Light"/>
            </a:endParaRPr>
          </a:p>
          <a:p>
            <a:pPr indent="0" lvl="0" marL="457200" rtl="0" algn="l">
              <a:spcBef>
                <a:spcPts val="0"/>
              </a:spcBef>
              <a:spcAft>
                <a:spcPts val="0"/>
              </a:spcAft>
              <a:buClr>
                <a:schemeClr val="dk1"/>
              </a:buClr>
              <a:buSzPts val="1100"/>
              <a:buFont typeface="Arial"/>
              <a:buNone/>
            </a:pPr>
            <a:r>
              <a:rPr lang="en-US" sz="1400">
                <a:latin typeface="Roboto Mono Light"/>
                <a:ea typeface="Roboto Mono Light"/>
                <a:cs typeface="Roboto Mono Light"/>
                <a:sym typeface="Roboto Mono Light"/>
              </a:rPr>
              <a:t>print(ndarr[</a:t>
            </a:r>
            <a:r>
              <a:rPr b="1" lang="en-US" sz="1400">
                <a:latin typeface="Roboto Mono"/>
                <a:ea typeface="Roboto Mono"/>
                <a:cs typeface="Roboto Mono"/>
                <a:sym typeface="Roboto Mono"/>
              </a:rPr>
              <a:t>:</a:t>
            </a:r>
            <a:r>
              <a:rPr b="1" lang="en-US" sz="1400">
                <a:latin typeface="Roboto Mono"/>
                <a:ea typeface="Roboto Mono"/>
                <a:cs typeface="Roboto Mono"/>
                <a:sym typeface="Roboto Mono"/>
              </a:rPr>
              <a:t>3</a:t>
            </a:r>
            <a:r>
              <a:rPr lang="en-US" sz="1400">
                <a:latin typeface="Roboto Mono Light"/>
                <a:ea typeface="Roboto Mono Light"/>
                <a:cs typeface="Roboto Mono Light"/>
                <a:sym typeface="Roboto Mono Light"/>
              </a:rPr>
              <a:t>, </a:t>
            </a:r>
            <a:r>
              <a:rPr b="1" lang="en-US" sz="1400">
                <a:latin typeface="Roboto Mono"/>
                <a:ea typeface="Roboto Mono"/>
                <a:cs typeface="Roboto Mono"/>
                <a:sym typeface="Roboto Mono"/>
              </a:rPr>
              <a:t>::2</a:t>
            </a:r>
            <a:r>
              <a:rPr lang="en-US" sz="1400">
                <a:latin typeface="Roboto Mono Light"/>
                <a:ea typeface="Roboto Mono Light"/>
                <a:cs typeface="Roboto Mono Light"/>
                <a:sym typeface="Roboto Mono Light"/>
              </a:rPr>
              <a:t>])</a:t>
            </a:r>
            <a:endParaRPr sz="1400">
              <a:latin typeface="Roboto Mono Light"/>
              <a:ea typeface="Roboto Mono Light"/>
              <a:cs typeface="Roboto Mono Light"/>
              <a:sym typeface="Roboto Mono Light"/>
            </a:endParaRPr>
          </a:p>
          <a:p>
            <a:pPr indent="457200" lvl="0" marL="0" rtl="0" algn="l">
              <a:spcBef>
                <a:spcPts val="0"/>
              </a:spcBef>
              <a:spcAft>
                <a:spcPts val="0"/>
              </a:spcAft>
              <a:buClr>
                <a:schemeClr val="dk1"/>
              </a:buClr>
              <a:buSzPts val="1100"/>
              <a:buFont typeface="Arial"/>
              <a:buNone/>
            </a:pPr>
            <a:r>
              <a:rPr lang="en-US" sz="1400">
                <a:latin typeface="Roboto Mono Light"/>
                <a:ea typeface="Roboto Mono Light"/>
                <a:cs typeface="Roboto Mono Light"/>
                <a:sym typeface="Roboto Mono Light"/>
              </a:rPr>
              <a:t>&gt;&gt;&gt; [[1 3]</a:t>
            </a:r>
            <a:endParaRPr sz="1400">
              <a:latin typeface="Roboto Mono Light"/>
              <a:ea typeface="Roboto Mono Light"/>
              <a:cs typeface="Roboto Mono Light"/>
              <a:sym typeface="Roboto Mono Light"/>
            </a:endParaRPr>
          </a:p>
          <a:p>
            <a:pPr indent="0" lvl="0" marL="457200" rtl="0" algn="l">
              <a:spcBef>
                <a:spcPts val="0"/>
              </a:spcBef>
              <a:spcAft>
                <a:spcPts val="0"/>
              </a:spcAft>
              <a:buClr>
                <a:schemeClr val="dk1"/>
              </a:buClr>
              <a:buSzPts val="1100"/>
              <a:buFont typeface="Arial"/>
              <a:buNone/>
            </a:pPr>
            <a:r>
              <a:rPr lang="en-US" sz="1400">
                <a:latin typeface="Roboto Mono Light"/>
                <a:ea typeface="Roboto Mono Light"/>
                <a:cs typeface="Roboto Mono Light"/>
                <a:sym typeface="Roboto Mono Light"/>
              </a:rPr>
              <a:t>	[4 6]]</a:t>
            </a:r>
            <a:endParaRPr sz="1400">
              <a:latin typeface="Roboto Mono Light"/>
              <a:ea typeface="Roboto Mono Light"/>
              <a:cs typeface="Roboto Mono Light"/>
              <a:sym typeface="Roboto Mono Light"/>
            </a:endParaRPr>
          </a:p>
        </p:txBody>
      </p:sp>
      <p:sp>
        <p:nvSpPr>
          <p:cNvPr id="152" name="Google Shape;152;p21"/>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400"/>
              <a:t>You can also apply a boolean condition to slice an array. For instance, to return all items greater than 2 in an ndarray, use:</a:t>
            </a:r>
            <a:endParaRPr sz="1400"/>
          </a:p>
          <a:p>
            <a:pPr indent="0" lvl="0" marL="0" rtl="0" algn="l">
              <a:spcBef>
                <a:spcPts val="0"/>
              </a:spcBef>
              <a:spcAft>
                <a:spcPts val="0"/>
              </a:spcAft>
              <a:buClr>
                <a:schemeClr val="dk1"/>
              </a:buClr>
              <a:buSzPts val="1100"/>
              <a:buFont typeface="Arial"/>
              <a:buNone/>
            </a:pPr>
            <a:r>
              <a:t/>
            </a:r>
            <a:endParaRPr sz="1400"/>
          </a:p>
          <a:p>
            <a:pPr indent="0" lvl="0" marL="457200" rtl="0" algn="l">
              <a:spcBef>
                <a:spcPts val="0"/>
              </a:spcBef>
              <a:spcAft>
                <a:spcPts val="0"/>
              </a:spcAft>
              <a:buClr>
                <a:schemeClr val="dk1"/>
              </a:buClr>
              <a:buSzPts val="1100"/>
              <a:buFont typeface="Arial"/>
              <a:buNone/>
            </a:pPr>
            <a:r>
              <a:rPr lang="en-US" sz="1400">
                <a:solidFill>
                  <a:schemeClr val="dk1"/>
                </a:solidFill>
                <a:latin typeface="Roboto Mono Light"/>
                <a:ea typeface="Roboto Mono Light"/>
                <a:cs typeface="Roboto Mono Light"/>
                <a:sym typeface="Roboto Mono Light"/>
              </a:rPr>
              <a:t>print(ndarr[ndarr &gt; 2])</a:t>
            </a:r>
            <a:endParaRPr sz="1400">
              <a:solidFill>
                <a:schemeClr val="dk1"/>
              </a:solidFill>
              <a:latin typeface="Roboto Mono Light"/>
              <a:ea typeface="Roboto Mono Light"/>
              <a:cs typeface="Roboto Mono Light"/>
              <a:sym typeface="Roboto Mono Light"/>
            </a:endParaRPr>
          </a:p>
          <a:p>
            <a:pPr indent="0" lvl="0" marL="457200" rtl="0" algn="l">
              <a:spcBef>
                <a:spcPts val="0"/>
              </a:spcBef>
              <a:spcAft>
                <a:spcPts val="0"/>
              </a:spcAft>
              <a:buClr>
                <a:schemeClr val="dk1"/>
              </a:buClr>
              <a:buSzPts val="1100"/>
              <a:buFont typeface="Arial"/>
              <a:buNone/>
            </a:pPr>
            <a:r>
              <a:t/>
            </a:r>
            <a:endParaRPr sz="1400">
              <a:solidFill>
                <a:schemeClr val="dk1"/>
              </a:solidFill>
              <a:latin typeface="Roboto Mono Light"/>
              <a:ea typeface="Roboto Mono Light"/>
              <a:cs typeface="Roboto Mono Light"/>
              <a:sym typeface="Roboto Mono Light"/>
            </a:endParaRPr>
          </a:p>
          <a:p>
            <a:pPr indent="0" lvl="0" marL="457200" rtl="0" algn="l">
              <a:spcBef>
                <a:spcPts val="0"/>
              </a:spcBef>
              <a:spcAft>
                <a:spcPts val="0"/>
              </a:spcAft>
              <a:buNone/>
            </a:pPr>
            <a:r>
              <a:rPr lang="en-US" sz="1400">
                <a:solidFill>
                  <a:schemeClr val="dk1"/>
                </a:solidFill>
                <a:latin typeface="Roboto Mono Light"/>
                <a:ea typeface="Roboto Mono Light"/>
                <a:cs typeface="Roboto Mono Light"/>
                <a:sym typeface="Roboto Mono Light"/>
              </a:rPr>
              <a:t>&gt;&gt;&gt; [3 4 5 6]</a:t>
            </a:r>
            <a:endParaRPr sz="1400">
              <a:solidFill>
                <a:schemeClr val="dk1"/>
              </a:solidFill>
              <a:latin typeface="Roboto Mono Light"/>
              <a:ea typeface="Roboto Mono Light"/>
              <a:cs typeface="Roboto Mono Light"/>
              <a:sym typeface="Roboto Mono Light"/>
            </a:endParaRPr>
          </a:p>
        </p:txBody>
      </p:sp>
      <p:sp>
        <p:nvSpPr>
          <p:cNvPr id="153" name="Google Shape;153;p21"/>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2"/>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NumPy: broadcasting</a:t>
            </a:r>
            <a:endParaRPr/>
          </a:p>
        </p:txBody>
      </p:sp>
      <p:sp>
        <p:nvSpPr>
          <p:cNvPr id="160" name="Google Shape;160;p22"/>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200"/>
              <a:t>NumPy's ability to operate on arrays of different shapes during arithmetic operations is called </a:t>
            </a:r>
            <a:r>
              <a:rPr b="1" lang="en-US" sz="1200"/>
              <a:t>broadcasting</a:t>
            </a:r>
            <a:r>
              <a:rPr lang="en-US" sz="1200"/>
              <a:t>; ndarrays are broadcastable. So combining the following two arrays will absolutely work:</a:t>
            </a:r>
            <a:endParaRPr sz="1200"/>
          </a:p>
          <a:p>
            <a:pPr indent="0" lvl="0" marL="0" rtl="0" algn="l">
              <a:spcBef>
                <a:spcPts val="0"/>
              </a:spcBef>
              <a:spcAft>
                <a:spcPts val="0"/>
              </a:spcAft>
              <a:buClr>
                <a:schemeClr val="dk1"/>
              </a:buClr>
              <a:buSzPts val="1100"/>
              <a:buFont typeface="Arial"/>
              <a:buNone/>
            </a:pPr>
            <a:r>
              <a:t/>
            </a:r>
            <a:endParaRPr sz="1200"/>
          </a:p>
          <a:p>
            <a:pPr indent="0" lvl="0" marL="457200" rtl="0" algn="l">
              <a:spcBef>
                <a:spcPts val="0"/>
              </a:spcBef>
              <a:spcAft>
                <a:spcPts val="0"/>
              </a:spcAft>
              <a:buClr>
                <a:schemeClr val="dk1"/>
              </a:buClr>
              <a:buSzPts val="1100"/>
              <a:buFont typeface="Arial"/>
              <a:buNone/>
            </a:pPr>
            <a:r>
              <a:rPr lang="en-US" sz="1200">
                <a:latin typeface="Roboto Mono Light"/>
                <a:ea typeface="Roboto Mono Light"/>
                <a:cs typeface="Roboto Mono Light"/>
                <a:sym typeface="Roboto Mono Light"/>
              </a:rPr>
              <a:t>a = np.array([[0, 0, 0], [1, 1, 1], [2, 2, 2]])</a:t>
            </a:r>
            <a:endParaRPr sz="1200">
              <a:latin typeface="Roboto Mono Light"/>
              <a:ea typeface="Roboto Mono Light"/>
              <a:cs typeface="Roboto Mono Light"/>
              <a:sym typeface="Roboto Mono Light"/>
            </a:endParaRPr>
          </a:p>
          <a:p>
            <a:pPr indent="0" lvl="0" marL="457200" rtl="0" algn="l">
              <a:spcBef>
                <a:spcPts val="0"/>
              </a:spcBef>
              <a:spcAft>
                <a:spcPts val="0"/>
              </a:spcAft>
              <a:buClr>
                <a:schemeClr val="dk1"/>
              </a:buClr>
              <a:buSzPts val="1100"/>
              <a:buFont typeface="Arial"/>
              <a:buNone/>
            </a:pPr>
            <a:r>
              <a:rPr lang="en-US" sz="1200">
                <a:latin typeface="Roboto Mono Light"/>
                <a:ea typeface="Roboto Mono Light"/>
                <a:cs typeface="Roboto Mono Light"/>
                <a:sym typeface="Roboto Mono Light"/>
              </a:rPr>
              <a:t>b = np.array([0.1, 0.2, 0.3])</a:t>
            </a:r>
            <a:endParaRPr sz="1200">
              <a:latin typeface="Roboto Mono Light"/>
              <a:ea typeface="Roboto Mono Light"/>
              <a:cs typeface="Roboto Mono Light"/>
              <a:sym typeface="Roboto Mono Light"/>
            </a:endParaRPr>
          </a:p>
          <a:p>
            <a:pPr indent="0" lvl="0" marL="457200" rtl="0" algn="l">
              <a:spcBef>
                <a:spcPts val="0"/>
              </a:spcBef>
              <a:spcAft>
                <a:spcPts val="0"/>
              </a:spcAft>
              <a:buClr>
                <a:schemeClr val="dk1"/>
              </a:buClr>
              <a:buSzPts val="1100"/>
              <a:buFont typeface="Arial"/>
              <a:buNone/>
            </a:pPr>
            <a:r>
              <a:rPr lang="en-US" sz="1200">
                <a:latin typeface="Roboto Mono Light"/>
                <a:ea typeface="Roboto Mono Light"/>
                <a:cs typeface="Roboto Mono Light"/>
                <a:sym typeface="Roboto Mono Light"/>
              </a:rPr>
              <a:t>print("array a:\n", a)</a:t>
            </a:r>
            <a:endParaRPr sz="1200">
              <a:latin typeface="Roboto Mono Light"/>
              <a:ea typeface="Roboto Mono Light"/>
              <a:cs typeface="Roboto Mono Light"/>
              <a:sym typeface="Roboto Mono Light"/>
            </a:endParaRPr>
          </a:p>
          <a:p>
            <a:pPr indent="0" lvl="0" marL="457200" rtl="0" algn="l">
              <a:spcBef>
                <a:spcPts val="0"/>
              </a:spcBef>
              <a:spcAft>
                <a:spcPts val="0"/>
              </a:spcAft>
              <a:buClr>
                <a:schemeClr val="dk1"/>
              </a:buClr>
              <a:buSzPts val="1100"/>
              <a:buFont typeface="Arial"/>
              <a:buNone/>
            </a:pPr>
            <a:r>
              <a:rPr lang="en-US" sz="1200">
                <a:latin typeface="Roboto Mono Light"/>
                <a:ea typeface="Roboto Mono Light"/>
                <a:cs typeface="Roboto Mono Light"/>
                <a:sym typeface="Roboto Mono Light"/>
              </a:rPr>
              <a:t>print("array b:\n", b)</a:t>
            </a:r>
            <a:endParaRPr sz="1200">
              <a:latin typeface="Roboto Mono Light"/>
              <a:ea typeface="Roboto Mono Light"/>
              <a:cs typeface="Roboto Mono Light"/>
              <a:sym typeface="Roboto Mono Light"/>
            </a:endParaRPr>
          </a:p>
          <a:p>
            <a:pPr indent="0" lvl="0" marL="457200" rtl="0" algn="l">
              <a:spcBef>
                <a:spcPts val="0"/>
              </a:spcBef>
              <a:spcAft>
                <a:spcPts val="0"/>
              </a:spcAft>
              <a:buNone/>
            </a:pPr>
            <a:r>
              <a:rPr lang="en-US" sz="1200">
                <a:latin typeface="Roboto Mono Light"/>
                <a:ea typeface="Roboto Mono Light"/>
                <a:cs typeface="Roboto Mono Light"/>
                <a:sym typeface="Roboto Mono Light"/>
              </a:rPr>
              <a:t>print("a + b:\n", (a+b)</a:t>
            </a:r>
            <a:r>
              <a:rPr lang="en-US" sz="1200">
                <a:latin typeface="Roboto Mono Light"/>
                <a:ea typeface="Roboto Mono Light"/>
                <a:cs typeface="Roboto Mono Light"/>
                <a:sym typeface="Roboto Mono Light"/>
              </a:rPr>
              <a:t>)</a:t>
            </a:r>
            <a:endParaRPr sz="1200">
              <a:latin typeface="Roboto Mono Light"/>
              <a:ea typeface="Roboto Mono Light"/>
              <a:cs typeface="Roboto Mono Light"/>
              <a:sym typeface="Roboto Mono Light"/>
            </a:endParaRPr>
          </a:p>
        </p:txBody>
      </p:sp>
      <p:sp>
        <p:nvSpPr>
          <p:cNvPr id="161" name="Google Shape;161;p22"/>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chemeClr val="dk1"/>
              </a:buClr>
              <a:buSzPts val="1100"/>
              <a:buFont typeface="Arial"/>
              <a:buNone/>
            </a:pPr>
            <a:r>
              <a:rPr lang="en-US" sz="1200">
                <a:latin typeface="Roboto Mono Light"/>
                <a:ea typeface="Roboto Mono Light"/>
                <a:cs typeface="Roboto Mono Light"/>
                <a:sym typeface="Roboto Mono Light"/>
              </a:rPr>
              <a:t>&gt;&gt;&gt; array a:</a:t>
            </a:r>
            <a:endParaRPr sz="1200">
              <a:latin typeface="Roboto Mono Light"/>
              <a:ea typeface="Roboto Mono Light"/>
              <a:cs typeface="Roboto Mono Light"/>
              <a:sym typeface="Roboto Mono Light"/>
            </a:endParaRPr>
          </a:p>
          <a:p>
            <a:pPr indent="0" lvl="0" marL="0" marR="0" rtl="0" algn="l">
              <a:lnSpc>
                <a:spcPct val="150000"/>
              </a:lnSpc>
              <a:spcBef>
                <a:spcPts val="0"/>
              </a:spcBef>
              <a:spcAft>
                <a:spcPts val="0"/>
              </a:spcAft>
              <a:buClr>
                <a:schemeClr val="dk1"/>
              </a:buClr>
              <a:buSzPts val="1100"/>
              <a:buFont typeface="Arial"/>
              <a:buNone/>
            </a:pPr>
            <a:r>
              <a:rPr lang="en-US" sz="1200">
                <a:latin typeface="Roboto Mono Light"/>
                <a:ea typeface="Roboto Mono Light"/>
                <a:cs typeface="Roboto Mono Light"/>
                <a:sym typeface="Roboto Mono Light"/>
              </a:rPr>
              <a:t>&gt;&gt;&gt; [[0 0 0]</a:t>
            </a:r>
            <a:endParaRPr sz="1200">
              <a:latin typeface="Roboto Mono Light"/>
              <a:ea typeface="Roboto Mono Light"/>
              <a:cs typeface="Roboto Mono Light"/>
              <a:sym typeface="Roboto Mono Light"/>
            </a:endParaRPr>
          </a:p>
          <a:p>
            <a:pPr indent="0" lvl="0" marL="0" marR="0" rtl="0" algn="l">
              <a:lnSpc>
                <a:spcPct val="150000"/>
              </a:lnSpc>
              <a:spcBef>
                <a:spcPts val="0"/>
              </a:spcBef>
              <a:spcAft>
                <a:spcPts val="0"/>
              </a:spcAft>
              <a:buClr>
                <a:schemeClr val="dk1"/>
              </a:buClr>
              <a:buSzPts val="1100"/>
              <a:buFont typeface="Arial"/>
              <a:buNone/>
            </a:pPr>
            <a:r>
              <a:rPr lang="en-US" sz="1200">
                <a:latin typeface="Roboto Mono Light"/>
                <a:ea typeface="Roboto Mono Light"/>
                <a:cs typeface="Roboto Mono Light"/>
                <a:sym typeface="Roboto Mono Light"/>
              </a:rPr>
              <a:t>	[1 1 1]</a:t>
            </a:r>
            <a:endParaRPr sz="1200">
              <a:latin typeface="Roboto Mono Light"/>
              <a:ea typeface="Roboto Mono Light"/>
              <a:cs typeface="Roboto Mono Light"/>
              <a:sym typeface="Roboto Mono Light"/>
            </a:endParaRPr>
          </a:p>
          <a:p>
            <a:pPr indent="0" lvl="0" marL="0" marR="0" rtl="0" algn="l">
              <a:lnSpc>
                <a:spcPct val="150000"/>
              </a:lnSpc>
              <a:spcBef>
                <a:spcPts val="0"/>
              </a:spcBef>
              <a:spcAft>
                <a:spcPts val="0"/>
              </a:spcAft>
              <a:buClr>
                <a:schemeClr val="dk1"/>
              </a:buClr>
              <a:buSzPts val="1100"/>
              <a:buFont typeface="Arial"/>
              <a:buNone/>
            </a:pPr>
            <a:r>
              <a:rPr lang="en-US" sz="1200">
                <a:latin typeface="Roboto Mono Light"/>
                <a:ea typeface="Roboto Mono Light"/>
                <a:cs typeface="Roboto Mono Light"/>
                <a:sym typeface="Roboto Mono Light"/>
              </a:rPr>
              <a:t>	[2 2 2]]</a:t>
            </a:r>
            <a:endParaRPr sz="1200">
              <a:latin typeface="Roboto Mono Light"/>
              <a:ea typeface="Roboto Mono Light"/>
              <a:cs typeface="Roboto Mono Light"/>
              <a:sym typeface="Roboto Mono Light"/>
            </a:endParaRPr>
          </a:p>
          <a:p>
            <a:pPr indent="0" lvl="0" marL="0" marR="0" rtl="0" algn="l">
              <a:lnSpc>
                <a:spcPct val="150000"/>
              </a:lnSpc>
              <a:spcBef>
                <a:spcPts val="0"/>
              </a:spcBef>
              <a:spcAft>
                <a:spcPts val="0"/>
              </a:spcAft>
              <a:buClr>
                <a:schemeClr val="dk1"/>
              </a:buClr>
              <a:buSzPts val="1100"/>
              <a:buFont typeface="Arial"/>
              <a:buNone/>
            </a:pPr>
            <a:r>
              <a:rPr lang="en-US" sz="1200">
                <a:latin typeface="Roboto Mono Light"/>
                <a:ea typeface="Roboto Mono Light"/>
                <a:cs typeface="Roboto Mono Light"/>
                <a:sym typeface="Roboto Mono Light"/>
              </a:rPr>
              <a:t>&gt;&gt;&gt; array b:</a:t>
            </a:r>
            <a:endParaRPr sz="1200">
              <a:latin typeface="Roboto Mono Light"/>
              <a:ea typeface="Roboto Mono Light"/>
              <a:cs typeface="Roboto Mono Light"/>
              <a:sym typeface="Roboto Mono Light"/>
            </a:endParaRPr>
          </a:p>
          <a:p>
            <a:pPr indent="0" lvl="0" marL="0" marR="0" rtl="0" algn="l">
              <a:lnSpc>
                <a:spcPct val="150000"/>
              </a:lnSpc>
              <a:spcBef>
                <a:spcPts val="0"/>
              </a:spcBef>
              <a:spcAft>
                <a:spcPts val="0"/>
              </a:spcAft>
              <a:buClr>
                <a:schemeClr val="dk1"/>
              </a:buClr>
              <a:buSzPts val="1100"/>
              <a:buFont typeface="Arial"/>
              <a:buNone/>
            </a:pPr>
            <a:r>
              <a:rPr lang="en-US" sz="1200">
                <a:latin typeface="Roboto Mono Light"/>
                <a:ea typeface="Roboto Mono Light"/>
                <a:cs typeface="Roboto Mono Light"/>
                <a:sym typeface="Roboto Mono Light"/>
              </a:rPr>
              <a:t>	[0.1 0.2 0.3]</a:t>
            </a:r>
            <a:endParaRPr sz="1200">
              <a:latin typeface="Roboto Mono Light"/>
              <a:ea typeface="Roboto Mono Light"/>
              <a:cs typeface="Roboto Mono Light"/>
              <a:sym typeface="Roboto Mono Light"/>
            </a:endParaRPr>
          </a:p>
          <a:p>
            <a:pPr indent="0" lvl="0" marL="0" marR="0" rtl="0" algn="l">
              <a:lnSpc>
                <a:spcPct val="150000"/>
              </a:lnSpc>
              <a:spcBef>
                <a:spcPts val="0"/>
              </a:spcBef>
              <a:spcAft>
                <a:spcPts val="0"/>
              </a:spcAft>
              <a:buClr>
                <a:schemeClr val="dk1"/>
              </a:buClr>
              <a:buSzPts val="1100"/>
              <a:buFont typeface="Arial"/>
              <a:buNone/>
            </a:pPr>
            <a:r>
              <a:rPr lang="en-US" sz="1200">
                <a:latin typeface="Roboto Mono Light"/>
                <a:ea typeface="Roboto Mono Light"/>
                <a:cs typeface="Roboto Mono Light"/>
                <a:sym typeface="Roboto Mono Light"/>
              </a:rPr>
              <a:t>&gt;&gt;&gt; a + b:</a:t>
            </a:r>
            <a:endParaRPr sz="1200">
              <a:latin typeface="Roboto Mono Light"/>
              <a:ea typeface="Roboto Mono Light"/>
              <a:cs typeface="Roboto Mono Light"/>
              <a:sym typeface="Roboto Mono Light"/>
            </a:endParaRPr>
          </a:p>
          <a:p>
            <a:pPr indent="0" lvl="0" marL="0" marR="0" rtl="0" algn="l">
              <a:lnSpc>
                <a:spcPct val="150000"/>
              </a:lnSpc>
              <a:spcBef>
                <a:spcPts val="0"/>
              </a:spcBef>
              <a:spcAft>
                <a:spcPts val="0"/>
              </a:spcAft>
              <a:buClr>
                <a:schemeClr val="dk1"/>
              </a:buClr>
              <a:buSzPts val="1100"/>
              <a:buFont typeface="Arial"/>
              <a:buNone/>
            </a:pPr>
            <a:r>
              <a:rPr lang="en-US" sz="1200">
                <a:latin typeface="Roboto Mono Light"/>
                <a:ea typeface="Roboto Mono Light"/>
                <a:cs typeface="Roboto Mono Light"/>
                <a:sym typeface="Roboto Mono Light"/>
              </a:rPr>
              <a:t>	[[0.1 0.2 0.3]</a:t>
            </a:r>
            <a:endParaRPr sz="1200">
              <a:latin typeface="Roboto Mono Light"/>
              <a:ea typeface="Roboto Mono Light"/>
              <a:cs typeface="Roboto Mono Light"/>
              <a:sym typeface="Roboto Mono Light"/>
            </a:endParaRPr>
          </a:p>
          <a:p>
            <a:pPr indent="0" lvl="0" marL="0" marR="0" rtl="0" algn="l">
              <a:lnSpc>
                <a:spcPct val="150000"/>
              </a:lnSpc>
              <a:spcBef>
                <a:spcPts val="0"/>
              </a:spcBef>
              <a:spcAft>
                <a:spcPts val="0"/>
              </a:spcAft>
              <a:buClr>
                <a:schemeClr val="dk1"/>
              </a:buClr>
              <a:buSzPts val="1100"/>
              <a:buFont typeface="Arial"/>
              <a:buNone/>
            </a:pPr>
            <a:r>
              <a:rPr lang="en-US" sz="1200">
                <a:latin typeface="Roboto Mono Light"/>
                <a:ea typeface="Roboto Mono Light"/>
                <a:cs typeface="Roboto Mono Light"/>
                <a:sym typeface="Roboto Mono Light"/>
              </a:rPr>
              <a:t>	[1.1 1.2 1.3]</a:t>
            </a:r>
            <a:endParaRPr sz="1200">
              <a:latin typeface="Roboto Mono Light"/>
              <a:ea typeface="Roboto Mono Light"/>
              <a:cs typeface="Roboto Mono Light"/>
              <a:sym typeface="Roboto Mono Light"/>
            </a:endParaRPr>
          </a:p>
          <a:p>
            <a:pPr indent="0" lvl="0" marL="0" marR="0" rtl="0" algn="l">
              <a:lnSpc>
                <a:spcPct val="150000"/>
              </a:lnSpc>
              <a:spcBef>
                <a:spcPts val="0"/>
              </a:spcBef>
              <a:spcAft>
                <a:spcPts val="0"/>
              </a:spcAft>
              <a:buClr>
                <a:schemeClr val="dk1"/>
              </a:buClr>
              <a:buSzPts val="1100"/>
              <a:buFont typeface="Arial"/>
              <a:buNone/>
            </a:pPr>
            <a:r>
              <a:rPr lang="en-US" sz="1200">
                <a:latin typeface="Roboto Mono Light"/>
                <a:ea typeface="Roboto Mono Light"/>
                <a:cs typeface="Roboto Mono Light"/>
                <a:sym typeface="Roboto Mono Light"/>
              </a:rPr>
              <a:t>	[2.1 2.2 2.3]]</a:t>
            </a:r>
            <a:endParaRPr sz="1200">
              <a:latin typeface="Roboto Mono Light"/>
              <a:ea typeface="Roboto Mono Light"/>
              <a:cs typeface="Roboto Mono Light"/>
              <a:sym typeface="Roboto Mono Light"/>
            </a:endParaRPr>
          </a:p>
        </p:txBody>
      </p:sp>
      <p:sp>
        <p:nvSpPr>
          <p:cNvPr id="162" name="Google Shape;162;p22"/>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3"/>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NumPy: efficient iteration</a:t>
            </a:r>
            <a:endParaRPr/>
          </a:p>
        </p:txBody>
      </p:sp>
      <p:sp>
        <p:nvSpPr>
          <p:cNvPr id="169" name="Google Shape;169;p23"/>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ndarrays are iterable by default, so you can use the typical Python </a:t>
            </a:r>
            <a:r>
              <a:rPr lang="en-US">
                <a:latin typeface="Roboto Mono Light"/>
                <a:ea typeface="Roboto Mono Light"/>
                <a:cs typeface="Roboto Mono Light"/>
                <a:sym typeface="Roboto Mono Light"/>
              </a:rPr>
              <a:t>for </a:t>
            </a:r>
            <a:r>
              <a:rPr lang="en-US">
                <a:latin typeface="Roboto Mono Light"/>
                <a:ea typeface="Roboto Mono Light"/>
                <a:cs typeface="Roboto Mono Light"/>
                <a:sym typeface="Roboto Mono Light"/>
              </a:rPr>
              <a:t>...</a:t>
            </a:r>
            <a:r>
              <a:rPr lang="en-US">
                <a:latin typeface="Roboto Mono Light"/>
                <a:ea typeface="Roboto Mono Light"/>
                <a:cs typeface="Roboto Mono Light"/>
                <a:sym typeface="Roboto Mono Light"/>
              </a:rPr>
              <a:t> in</a:t>
            </a:r>
            <a:r>
              <a:rPr lang="en-US"/>
              <a:t> loops to access them. However, especially when the dataset gets large, these types of loops are very inefficient. NumPy provides a method for iterating through ndarrays in the form of the </a:t>
            </a:r>
            <a:r>
              <a:rPr b="1" lang="en-US">
                <a:latin typeface="Roboto Mono"/>
                <a:ea typeface="Roboto Mono"/>
                <a:cs typeface="Roboto Mono"/>
                <a:sym typeface="Roboto Mono"/>
              </a:rPr>
              <a:t>nditer()</a:t>
            </a:r>
            <a:r>
              <a:rPr lang="en-US"/>
              <a:t> method. It's structured the same!</a:t>
            </a:r>
            <a:endParaRPr/>
          </a:p>
        </p:txBody>
      </p:sp>
      <p:sp>
        <p:nvSpPr>
          <p:cNvPr id="170" name="Google Shape;170;p23"/>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300">
                <a:latin typeface="Roboto Mono Light"/>
                <a:ea typeface="Roboto Mono Light"/>
                <a:cs typeface="Roboto Mono Light"/>
                <a:sym typeface="Roboto Mono Light"/>
              </a:rPr>
              <a:t>a = np.arange(0, 51, 5)</a:t>
            </a:r>
            <a:endParaRPr sz="13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1300">
                <a:latin typeface="Roboto Mono Light"/>
                <a:ea typeface="Roboto Mono Light"/>
                <a:cs typeface="Roboto Mono Light"/>
                <a:sym typeface="Roboto Mono Light"/>
              </a:rPr>
              <a:t>print("full ndarray:", a)</a:t>
            </a:r>
            <a:endParaRPr sz="13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1300">
                <a:latin typeface="Roboto Mono Light"/>
                <a:ea typeface="Roboto Mono Light"/>
                <a:cs typeface="Roboto Mono Light"/>
                <a:sym typeface="Roboto Mono Light"/>
              </a:rPr>
              <a:t>print("each item with nditer():")</a:t>
            </a:r>
            <a:endParaRPr sz="13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1300">
                <a:latin typeface="Roboto Mono Light"/>
                <a:ea typeface="Roboto Mono Light"/>
                <a:cs typeface="Roboto Mono Light"/>
                <a:sym typeface="Roboto Mono Light"/>
              </a:rPr>
              <a:t>for i in </a:t>
            </a:r>
            <a:r>
              <a:rPr b="1" lang="en-US" sz="1300">
                <a:latin typeface="Roboto Mono"/>
                <a:ea typeface="Roboto Mono"/>
                <a:cs typeface="Roboto Mono"/>
                <a:sym typeface="Roboto Mono"/>
              </a:rPr>
              <a:t>np.nditer</a:t>
            </a:r>
            <a:r>
              <a:rPr lang="en-US" sz="1300">
                <a:latin typeface="Roboto Mono Light"/>
                <a:ea typeface="Roboto Mono Light"/>
                <a:cs typeface="Roboto Mono Light"/>
                <a:sym typeface="Roboto Mono Light"/>
              </a:rPr>
              <a:t>(a):</a:t>
            </a:r>
            <a:endParaRPr sz="1300">
              <a:latin typeface="Roboto Mono Light"/>
              <a:ea typeface="Roboto Mono Light"/>
              <a:cs typeface="Roboto Mono Light"/>
              <a:sym typeface="Roboto Mono Light"/>
            </a:endParaRPr>
          </a:p>
          <a:p>
            <a:pPr indent="457200" lvl="0" marL="0" rtl="0" algn="l">
              <a:spcBef>
                <a:spcPts val="0"/>
              </a:spcBef>
              <a:spcAft>
                <a:spcPts val="0"/>
              </a:spcAft>
              <a:buNone/>
            </a:pPr>
            <a:r>
              <a:rPr lang="en-US" sz="1300">
                <a:latin typeface="Roboto Mono Light"/>
                <a:ea typeface="Roboto Mono Light"/>
                <a:cs typeface="Roboto Mono Light"/>
                <a:sym typeface="Roboto Mono Light"/>
              </a:rPr>
              <a:t>print(i, end=", ")</a:t>
            </a:r>
            <a:endParaRPr sz="1300">
              <a:latin typeface="Roboto Mono Light"/>
              <a:ea typeface="Roboto Mono Light"/>
              <a:cs typeface="Roboto Mono Light"/>
              <a:sym typeface="Roboto Mono Light"/>
            </a:endParaRPr>
          </a:p>
          <a:p>
            <a:pPr indent="0" lvl="0" marL="0" rtl="0" algn="l">
              <a:spcBef>
                <a:spcPts val="0"/>
              </a:spcBef>
              <a:spcAft>
                <a:spcPts val="0"/>
              </a:spcAft>
              <a:buNone/>
            </a:pPr>
            <a:r>
              <a:t/>
            </a:r>
            <a:endParaRPr sz="1300">
              <a:latin typeface="Roboto Mono Light"/>
              <a:ea typeface="Roboto Mono Light"/>
              <a:cs typeface="Roboto Mono Light"/>
              <a:sym typeface="Roboto Mono Light"/>
            </a:endParaRPr>
          </a:p>
          <a:p>
            <a:pPr indent="0" lvl="0" marL="0" rtl="0" algn="l">
              <a:spcBef>
                <a:spcPts val="0"/>
              </a:spcBef>
              <a:spcAft>
                <a:spcPts val="0"/>
              </a:spcAft>
              <a:buNone/>
            </a:pPr>
            <a:r>
              <a:t/>
            </a:r>
            <a:endParaRPr sz="1300">
              <a:latin typeface="Roboto Mono Light"/>
              <a:ea typeface="Roboto Mono Light"/>
              <a:cs typeface="Roboto Mono Light"/>
              <a:sym typeface="Roboto Mono Light"/>
            </a:endParaRPr>
          </a:p>
          <a:p>
            <a:pPr indent="0" lvl="0" marL="0" rtl="0" algn="l">
              <a:spcBef>
                <a:spcPts val="0"/>
              </a:spcBef>
              <a:spcAft>
                <a:spcPts val="0"/>
              </a:spcAft>
              <a:buNone/>
            </a:pPr>
            <a:r>
              <a:rPr lang="en-US" sz="1000">
                <a:latin typeface="Roboto Mono Light"/>
                <a:ea typeface="Roboto Mono Light"/>
                <a:cs typeface="Roboto Mono Light"/>
                <a:sym typeface="Roboto Mono Light"/>
              </a:rPr>
              <a:t>&gt;&gt;&gt; </a:t>
            </a:r>
            <a:r>
              <a:rPr lang="en-US" sz="1000">
                <a:solidFill>
                  <a:schemeClr val="dk1"/>
                </a:solidFill>
                <a:latin typeface="Roboto Mono Light"/>
                <a:ea typeface="Roboto Mono Light"/>
                <a:cs typeface="Roboto Mono Light"/>
                <a:sym typeface="Roboto Mono Light"/>
              </a:rPr>
              <a:t>full ndarray: [ 0  5 10 15 20 25 30 35 40 45 50]</a:t>
            </a:r>
            <a:endParaRPr sz="10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rPr lang="en-US" sz="1000">
                <a:solidFill>
                  <a:schemeClr val="dk1"/>
                </a:solidFill>
                <a:latin typeface="Roboto Mono Light"/>
                <a:ea typeface="Roboto Mono Light"/>
                <a:cs typeface="Roboto Mono Light"/>
                <a:sym typeface="Roboto Mono Light"/>
              </a:rPr>
              <a:t>&gt;&gt;&gt; each item with nditer():</a:t>
            </a:r>
            <a:endParaRPr sz="10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rPr lang="en-US" sz="1000">
                <a:solidFill>
                  <a:schemeClr val="dk1"/>
                </a:solidFill>
                <a:latin typeface="Roboto Mono Light"/>
                <a:ea typeface="Roboto Mono Light"/>
                <a:cs typeface="Roboto Mono Light"/>
                <a:sym typeface="Roboto Mono Light"/>
              </a:rPr>
              <a:t>&gt;&gt;&gt; 0, 5, 10, 15, 20, 25, 30, 35, 40, 45, 50,</a:t>
            </a:r>
            <a:endParaRPr sz="1300">
              <a:solidFill>
                <a:schemeClr val="dk1"/>
              </a:solidFill>
              <a:latin typeface="Roboto Mono Light"/>
              <a:ea typeface="Roboto Mono Light"/>
              <a:cs typeface="Roboto Mono Light"/>
              <a:sym typeface="Roboto Mono Light"/>
            </a:endParaRPr>
          </a:p>
        </p:txBody>
      </p:sp>
      <p:sp>
        <p:nvSpPr>
          <p:cNvPr id="171" name="Google Shape;171;p23"/>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4"/>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NumPy: combining</a:t>
            </a:r>
            <a:endParaRPr/>
          </a:p>
        </p:txBody>
      </p:sp>
      <p:sp>
        <p:nvSpPr>
          <p:cNvPr id="178" name="Google Shape;178;p24"/>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000">
                <a:solidFill>
                  <a:schemeClr val="dk1"/>
                </a:solidFill>
              </a:rPr>
              <a:t>In addition to slicing, ndarrays can be split and combined using built-in methods! </a:t>
            </a:r>
            <a:r>
              <a:rPr lang="en-US" sz="1000"/>
              <a:t>Combining can be done in a typical concatenate, along or horizontal or vertical axes.</a:t>
            </a:r>
            <a:endParaRPr sz="1000"/>
          </a:p>
          <a:p>
            <a:pPr indent="0" lvl="0" marL="0" rtl="0" algn="l">
              <a:spcBef>
                <a:spcPts val="0"/>
              </a:spcBef>
              <a:spcAft>
                <a:spcPts val="0"/>
              </a:spcAft>
              <a:buClr>
                <a:schemeClr val="dk1"/>
              </a:buClr>
              <a:buSzPts val="1100"/>
              <a:buFont typeface="Arial"/>
              <a:buNone/>
            </a:pPr>
            <a:r>
              <a:t/>
            </a:r>
            <a:endParaRPr sz="1000"/>
          </a:p>
          <a:p>
            <a:pPr indent="0" lvl="0" marL="457200" marR="0" rtl="0" algn="l">
              <a:lnSpc>
                <a:spcPct val="150000"/>
              </a:lnSpc>
              <a:spcBef>
                <a:spcPts val="0"/>
              </a:spcBef>
              <a:spcAft>
                <a:spcPts val="0"/>
              </a:spcAft>
              <a:buClr>
                <a:schemeClr val="dk1"/>
              </a:buClr>
              <a:buSzPts val="1100"/>
              <a:buFont typeface="Arial"/>
              <a:buNone/>
            </a:pPr>
            <a:r>
              <a:rPr lang="en-US" sz="1000">
                <a:latin typeface="Roboto Mono Light"/>
                <a:ea typeface="Roboto Mono Light"/>
                <a:cs typeface="Roboto Mono Light"/>
                <a:sym typeface="Roboto Mono Light"/>
              </a:rPr>
              <a:t>a1 = np.array([0, 0, 0])</a:t>
            </a:r>
            <a:endParaRPr sz="1000">
              <a:latin typeface="Roboto Mono Light"/>
              <a:ea typeface="Roboto Mono Light"/>
              <a:cs typeface="Roboto Mono Light"/>
              <a:sym typeface="Roboto Mono Light"/>
            </a:endParaRPr>
          </a:p>
          <a:p>
            <a:pPr indent="0" lvl="0" marL="457200" marR="0" rtl="0" algn="l">
              <a:lnSpc>
                <a:spcPct val="150000"/>
              </a:lnSpc>
              <a:spcBef>
                <a:spcPts val="0"/>
              </a:spcBef>
              <a:spcAft>
                <a:spcPts val="0"/>
              </a:spcAft>
              <a:buClr>
                <a:schemeClr val="dk1"/>
              </a:buClr>
              <a:buSzPts val="1100"/>
              <a:buFont typeface="Arial"/>
              <a:buNone/>
            </a:pPr>
            <a:r>
              <a:rPr lang="en-US" sz="1000">
                <a:latin typeface="Roboto Mono Light"/>
                <a:ea typeface="Roboto Mono Light"/>
                <a:cs typeface="Roboto Mono Light"/>
                <a:sym typeface="Roboto Mono Light"/>
              </a:rPr>
              <a:t>a2 = np.array([1, 1, 1])</a:t>
            </a:r>
            <a:endParaRPr sz="1000">
              <a:latin typeface="Roboto Mono Light"/>
              <a:ea typeface="Roboto Mono Light"/>
              <a:cs typeface="Roboto Mono Light"/>
              <a:sym typeface="Roboto Mono Light"/>
            </a:endParaRPr>
          </a:p>
          <a:p>
            <a:pPr indent="0" lvl="0" marL="457200" marR="0" rtl="0" algn="l">
              <a:lnSpc>
                <a:spcPct val="150000"/>
              </a:lnSpc>
              <a:spcBef>
                <a:spcPts val="0"/>
              </a:spcBef>
              <a:spcAft>
                <a:spcPts val="0"/>
              </a:spcAft>
              <a:buClr>
                <a:schemeClr val="dk1"/>
              </a:buClr>
              <a:buSzPts val="1100"/>
              <a:buFont typeface="Arial"/>
              <a:buNone/>
            </a:pPr>
            <a:r>
              <a:rPr lang="en-US" sz="1000">
                <a:latin typeface="Roboto Mono Light"/>
                <a:ea typeface="Roboto Mono Light"/>
                <a:cs typeface="Roboto Mono Light"/>
                <a:sym typeface="Roboto Mono Light"/>
              </a:rPr>
              <a:t>b = </a:t>
            </a:r>
            <a:r>
              <a:rPr b="1" lang="en-US" sz="1000">
                <a:latin typeface="Roboto Mono"/>
                <a:ea typeface="Roboto Mono"/>
                <a:cs typeface="Roboto Mono"/>
                <a:sym typeface="Roboto Mono"/>
              </a:rPr>
              <a:t>np.vstack</a:t>
            </a:r>
            <a:r>
              <a:rPr lang="en-US" sz="1000">
                <a:latin typeface="Roboto Mono Light"/>
                <a:ea typeface="Roboto Mono Light"/>
                <a:cs typeface="Roboto Mono Light"/>
                <a:sym typeface="Roboto Mono Light"/>
              </a:rPr>
              <a:t>((a1, a2))</a:t>
            </a:r>
            <a:endParaRPr sz="1000">
              <a:latin typeface="Roboto Mono Light"/>
              <a:ea typeface="Roboto Mono Light"/>
              <a:cs typeface="Roboto Mono Light"/>
              <a:sym typeface="Roboto Mono Light"/>
            </a:endParaRPr>
          </a:p>
          <a:p>
            <a:pPr indent="0" lvl="0" marL="457200" marR="0" rtl="0" algn="l">
              <a:lnSpc>
                <a:spcPct val="150000"/>
              </a:lnSpc>
              <a:spcBef>
                <a:spcPts val="0"/>
              </a:spcBef>
              <a:spcAft>
                <a:spcPts val="0"/>
              </a:spcAft>
              <a:buClr>
                <a:schemeClr val="dk1"/>
              </a:buClr>
              <a:buSzPts val="1100"/>
              <a:buFont typeface="Arial"/>
              <a:buNone/>
            </a:pPr>
            <a:r>
              <a:rPr lang="en-US" sz="1000">
                <a:latin typeface="Roboto Mono Light"/>
                <a:ea typeface="Roboto Mono Light"/>
                <a:cs typeface="Roboto Mono Light"/>
                <a:sym typeface="Roboto Mono Light"/>
              </a:rPr>
              <a:t>c = </a:t>
            </a:r>
            <a:r>
              <a:rPr b="1" lang="en-US" sz="1000">
                <a:latin typeface="Roboto Mono"/>
                <a:ea typeface="Roboto Mono"/>
                <a:cs typeface="Roboto Mono"/>
                <a:sym typeface="Roboto Mono"/>
              </a:rPr>
              <a:t>np.hstack</a:t>
            </a:r>
            <a:r>
              <a:rPr lang="en-US" sz="1000">
                <a:latin typeface="Roboto Mono Light"/>
                <a:ea typeface="Roboto Mono Light"/>
                <a:cs typeface="Roboto Mono Light"/>
                <a:sym typeface="Roboto Mono Light"/>
              </a:rPr>
              <a:t>((a1, a2))</a:t>
            </a:r>
            <a:endParaRPr sz="1000">
              <a:latin typeface="Roboto Mono Light"/>
              <a:ea typeface="Roboto Mono Light"/>
              <a:cs typeface="Roboto Mono Light"/>
              <a:sym typeface="Roboto Mono Light"/>
            </a:endParaRPr>
          </a:p>
          <a:p>
            <a:pPr indent="0" lvl="0" marL="457200" marR="0" rtl="0" algn="l">
              <a:lnSpc>
                <a:spcPct val="150000"/>
              </a:lnSpc>
              <a:spcBef>
                <a:spcPts val="0"/>
              </a:spcBef>
              <a:spcAft>
                <a:spcPts val="0"/>
              </a:spcAft>
              <a:buClr>
                <a:schemeClr val="dk1"/>
              </a:buClr>
              <a:buSzPts val="1100"/>
              <a:buFont typeface="Arial"/>
              <a:buNone/>
            </a:pPr>
            <a:r>
              <a:rPr lang="en-US" sz="1000">
                <a:latin typeface="Roboto Mono Light"/>
                <a:ea typeface="Roboto Mono Light"/>
                <a:cs typeface="Roboto Mono Light"/>
                <a:sym typeface="Roboto Mono Light"/>
              </a:rPr>
              <a:t>d = </a:t>
            </a:r>
            <a:r>
              <a:rPr b="1" lang="en-US" sz="1000">
                <a:latin typeface="Roboto Mono"/>
                <a:ea typeface="Roboto Mono"/>
                <a:cs typeface="Roboto Mono"/>
                <a:sym typeface="Roboto Mono"/>
              </a:rPr>
              <a:t>np.stack</a:t>
            </a:r>
            <a:r>
              <a:rPr lang="en-US" sz="1000">
                <a:latin typeface="Roboto Mono Light"/>
                <a:ea typeface="Roboto Mono Light"/>
                <a:cs typeface="Roboto Mono Light"/>
                <a:sym typeface="Roboto Mono Light"/>
              </a:rPr>
              <a:t>((a1, a2), 0) # 0=vert, 1=horiz</a:t>
            </a:r>
            <a:endParaRPr sz="1000">
              <a:latin typeface="Roboto Mono Light"/>
              <a:ea typeface="Roboto Mono Light"/>
              <a:cs typeface="Roboto Mono Light"/>
              <a:sym typeface="Roboto Mono Light"/>
            </a:endParaRPr>
          </a:p>
          <a:p>
            <a:pPr indent="0" lvl="0" marL="457200" marR="0" rtl="0" algn="l">
              <a:lnSpc>
                <a:spcPct val="150000"/>
              </a:lnSpc>
              <a:spcBef>
                <a:spcPts val="0"/>
              </a:spcBef>
              <a:spcAft>
                <a:spcPts val="0"/>
              </a:spcAft>
              <a:buClr>
                <a:schemeClr val="dk1"/>
              </a:buClr>
              <a:buSzPts val="1100"/>
              <a:buFont typeface="Arial"/>
              <a:buNone/>
            </a:pPr>
            <a:r>
              <a:rPr lang="en-US" sz="1000">
                <a:latin typeface="Roboto Mono Light"/>
                <a:ea typeface="Roboto Mono Light"/>
                <a:cs typeface="Roboto Mono Light"/>
                <a:sym typeface="Roboto Mono Light"/>
              </a:rPr>
              <a:t>e = </a:t>
            </a:r>
            <a:r>
              <a:rPr b="1" lang="en-US" sz="1000">
                <a:latin typeface="Roboto Mono"/>
                <a:ea typeface="Roboto Mono"/>
                <a:cs typeface="Roboto Mono"/>
                <a:sym typeface="Roboto Mono"/>
              </a:rPr>
              <a:t>np.concatenate</a:t>
            </a:r>
            <a:r>
              <a:rPr lang="en-US" sz="1000">
                <a:latin typeface="Roboto Mono Light"/>
                <a:ea typeface="Roboto Mono Light"/>
                <a:cs typeface="Roboto Mono Light"/>
                <a:sym typeface="Roboto Mono Light"/>
              </a:rPr>
              <a:t>((a1, a2)) # hstack</a:t>
            </a:r>
            <a:endParaRPr sz="1000">
              <a:latin typeface="Roboto Mono Light"/>
              <a:ea typeface="Roboto Mono Light"/>
              <a:cs typeface="Roboto Mono Light"/>
              <a:sym typeface="Roboto Mono Light"/>
            </a:endParaRPr>
          </a:p>
          <a:p>
            <a:pPr indent="0" lvl="0" marL="457200" marR="0" rtl="0" algn="l">
              <a:lnSpc>
                <a:spcPct val="150000"/>
              </a:lnSpc>
              <a:spcBef>
                <a:spcPts val="0"/>
              </a:spcBef>
              <a:spcAft>
                <a:spcPts val="0"/>
              </a:spcAft>
              <a:buClr>
                <a:schemeClr val="dk1"/>
              </a:buClr>
              <a:buSzPts val="1100"/>
              <a:buFont typeface="Arial"/>
              <a:buNone/>
            </a:pPr>
            <a:r>
              <a:rPr lang="en-US" sz="1000">
                <a:latin typeface="Roboto Mono Light"/>
                <a:ea typeface="Roboto Mono Light"/>
                <a:cs typeface="Roboto Mono Light"/>
                <a:sym typeface="Roboto Mono Light"/>
              </a:rPr>
              <a:t>print("a1:\n", a1, "\na2:\n", a2)</a:t>
            </a:r>
            <a:endParaRPr sz="1000">
              <a:latin typeface="Roboto Mono Light"/>
              <a:ea typeface="Roboto Mono Light"/>
              <a:cs typeface="Roboto Mono Light"/>
              <a:sym typeface="Roboto Mono Light"/>
            </a:endParaRPr>
          </a:p>
          <a:p>
            <a:pPr indent="0" lvl="0" marL="457200" marR="0" rtl="0" algn="l">
              <a:lnSpc>
                <a:spcPct val="150000"/>
              </a:lnSpc>
              <a:spcBef>
                <a:spcPts val="0"/>
              </a:spcBef>
              <a:spcAft>
                <a:spcPts val="0"/>
              </a:spcAft>
              <a:buClr>
                <a:schemeClr val="dk1"/>
              </a:buClr>
              <a:buSzPts val="1100"/>
              <a:buFont typeface="Arial"/>
              <a:buNone/>
            </a:pPr>
            <a:r>
              <a:rPr lang="en-US" sz="1000">
                <a:latin typeface="Roboto Mono Light"/>
                <a:ea typeface="Roboto Mono Light"/>
                <a:cs typeface="Roboto Mono Light"/>
                <a:sym typeface="Roboto Mono Light"/>
              </a:rPr>
              <a:t>print("vstack:\n", b)</a:t>
            </a:r>
            <a:endParaRPr sz="1000">
              <a:latin typeface="Roboto Mono Light"/>
              <a:ea typeface="Roboto Mono Light"/>
              <a:cs typeface="Roboto Mono Light"/>
              <a:sym typeface="Roboto Mono Light"/>
            </a:endParaRPr>
          </a:p>
          <a:p>
            <a:pPr indent="0" lvl="0" marL="457200" marR="0" rtl="0" algn="l">
              <a:lnSpc>
                <a:spcPct val="150000"/>
              </a:lnSpc>
              <a:spcBef>
                <a:spcPts val="0"/>
              </a:spcBef>
              <a:spcAft>
                <a:spcPts val="0"/>
              </a:spcAft>
              <a:buClr>
                <a:schemeClr val="dk1"/>
              </a:buClr>
              <a:buSzPts val="1100"/>
              <a:buFont typeface="Arial"/>
              <a:buNone/>
            </a:pPr>
            <a:r>
              <a:rPr lang="en-US" sz="1000">
                <a:latin typeface="Roboto Mono Light"/>
                <a:ea typeface="Roboto Mono Light"/>
                <a:cs typeface="Roboto Mono Light"/>
                <a:sym typeface="Roboto Mono Light"/>
              </a:rPr>
              <a:t>print("hstack:\n", c)</a:t>
            </a:r>
            <a:endParaRPr sz="1000">
              <a:latin typeface="Roboto Mono Light"/>
              <a:ea typeface="Roboto Mono Light"/>
              <a:cs typeface="Roboto Mono Light"/>
              <a:sym typeface="Roboto Mono Light"/>
            </a:endParaRPr>
          </a:p>
          <a:p>
            <a:pPr indent="0" lvl="0" marL="457200" marR="0" rtl="0" algn="l">
              <a:lnSpc>
                <a:spcPct val="150000"/>
              </a:lnSpc>
              <a:spcBef>
                <a:spcPts val="0"/>
              </a:spcBef>
              <a:spcAft>
                <a:spcPts val="0"/>
              </a:spcAft>
              <a:buClr>
                <a:schemeClr val="dk1"/>
              </a:buClr>
              <a:buSzPts val="1100"/>
              <a:buFont typeface="Arial"/>
              <a:buNone/>
            </a:pPr>
            <a:r>
              <a:rPr lang="en-US" sz="1000">
                <a:latin typeface="Roboto Mono Light"/>
                <a:ea typeface="Roboto Mono Light"/>
                <a:cs typeface="Roboto Mono Light"/>
                <a:sym typeface="Roboto Mono Light"/>
              </a:rPr>
              <a:t>print("stack:\n", d)</a:t>
            </a:r>
            <a:endParaRPr sz="1000">
              <a:latin typeface="Roboto Mono Light"/>
              <a:ea typeface="Roboto Mono Light"/>
              <a:cs typeface="Roboto Mono Light"/>
              <a:sym typeface="Roboto Mono Light"/>
            </a:endParaRPr>
          </a:p>
          <a:p>
            <a:pPr indent="0" lvl="0" marL="457200" marR="0" rtl="0" algn="l">
              <a:lnSpc>
                <a:spcPct val="150000"/>
              </a:lnSpc>
              <a:spcBef>
                <a:spcPts val="0"/>
              </a:spcBef>
              <a:spcAft>
                <a:spcPts val="0"/>
              </a:spcAft>
              <a:buClr>
                <a:schemeClr val="dk1"/>
              </a:buClr>
              <a:buSzPts val="1100"/>
              <a:buFont typeface="Arial"/>
              <a:buNone/>
            </a:pPr>
            <a:r>
              <a:rPr lang="en-US" sz="1000">
                <a:latin typeface="Roboto Mono Light"/>
                <a:ea typeface="Roboto Mono Light"/>
                <a:cs typeface="Roboto Mono Light"/>
                <a:sym typeface="Roboto Mono Light"/>
              </a:rPr>
              <a:t>print("concat:\n", e)</a:t>
            </a:r>
            <a:endParaRPr sz="1000">
              <a:latin typeface="Roboto Mono Light"/>
              <a:ea typeface="Roboto Mono Light"/>
              <a:cs typeface="Roboto Mono Light"/>
              <a:sym typeface="Roboto Mono Light"/>
            </a:endParaRPr>
          </a:p>
        </p:txBody>
      </p:sp>
      <p:sp>
        <p:nvSpPr>
          <p:cNvPr id="179" name="Google Shape;179;p24"/>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900">
                <a:latin typeface="Roboto Mono Light"/>
                <a:ea typeface="Roboto Mono Light"/>
                <a:cs typeface="Roboto Mono Light"/>
                <a:sym typeface="Roboto Mono Light"/>
              </a:rPr>
              <a:t>a1:</a:t>
            </a:r>
            <a:endParaRPr sz="9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900">
                <a:latin typeface="Roboto Mono Light"/>
                <a:ea typeface="Roboto Mono Light"/>
                <a:cs typeface="Roboto Mono Light"/>
                <a:sym typeface="Roboto Mono Light"/>
              </a:rPr>
              <a:t> [0 0 0]</a:t>
            </a:r>
            <a:endParaRPr sz="9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900">
                <a:latin typeface="Roboto Mono Light"/>
                <a:ea typeface="Roboto Mono Light"/>
                <a:cs typeface="Roboto Mono Light"/>
                <a:sym typeface="Roboto Mono Light"/>
              </a:rPr>
              <a:t>a2:</a:t>
            </a:r>
            <a:endParaRPr sz="9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900">
                <a:latin typeface="Roboto Mono Light"/>
                <a:ea typeface="Roboto Mono Light"/>
                <a:cs typeface="Roboto Mono Light"/>
                <a:sym typeface="Roboto Mono Light"/>
              </a:rPr>
              <a:t> [1 1 1]</a:t>
            </a:r>
            <a:endParaRPr sz="9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900">
                <a:latin typeface="Roboto Mono Light"/>
                <a:ea typeface="Roboto Mono Light"/>
                <a:cs typeface="Roboto Mono Light"/>
                <a:sym typeface="Roboto Mono Light"/>
              </a:rPr>
              <a:t>vstack:</a:t>
            </a:r>
            <a:endParaRPr sz="9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900">
                <a:latin typeface="Roboto Mono Light"/>
                <a:ea typeface="Roboto Mono Light"/>
                <a:cs typeface="Roboto Mono Light"/>
                <a:sym typeface="Roboto Mono Light"/>
              </a:rPr>
              <a:t> [[0 0 0]</a:t>
            </a:r>
            <a:endParaRPr sz="9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900">
                <a:latin typeface="Roboto Mono Light"/>
                <a:ea typeface="Roboto Mono Light"/>
                <a:cs typeface="Roboto Mono Light"/>
                <a:sym typeface="Roboto Mono Light"/>
              </a:rPr>
              <a:t> [1 1 1]]</a:t>
            </a:r>
            <a:endParaRPr sz="9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900">
                <a:latin typeface="Roboto Mono Light"/>
                <a:ea typeface="Roboto Mono Light"/>
                <a:cs typeface="Roboto Mono Light"/>
                <a:sym typeface="Roboto Mono Light"/>
              </a:rPr>
              <a:t>hstack:</a:t>
            </a:r>
            <a:endParaRPr sz="9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900">
                <a:latin typeface="Roboto Mono Light"/>
                <a:ea typeface="Roboto Mono Light"/>
                <a:cs typeface="Roboto Mono Light"/>
                <a:sym typeface="Roboto Mono Light"/>
              </a:rPr>
              <a:t> [0 0 0 1 1 1]</a:t>
            </a:r>
            <a:endParaRPr sz="9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900">
                <a:latin typeface="Roboto Mono Light"/>
                <a:ea typeface="Roboto Mono Light"/>
                <a:cs typeface="Roboto Mono Light"/>
                <a:sym typeface="Roboto Mono Light"/>
              </a:rPr>
              <a:t>stack:</a:t>
            </a:r>
            <a:endParaRPr sz="9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900">
                <a:latin typeface="Roboto Mono Light"/>
                <a:ea typeface="Roboto Mono Light"/>
                <a:cs typeface="Roboto Mono Light"/>
                <a:sym typeface="Roboto Mono Light"/>
              </a:rPr>
              <a:t> [[0 0 0]</a:t>
            </a:r>
            <a:endParaRPr sz="9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900">
                <a:latin typeface="Roboto Mono Light"/>
                <a:ea typeface="Roboto Mono Light"/>
                <a:cs typeface="Roboto Mono Light"/>
                <a:sym typeface="Roboto Mono Light"/>
              </a:rPr>
              <a:t> [1 1 1]]</a:t>
            </a:r>
            <a:endParaRPr sz="9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900">
                <a:latin typeface="Roboto Mono Light"/>
                <a:ea typeface="Roboto Mono Light"/>
                <a:cs typeface="Roboto Mono Light"/>
                <a:sym typeface="Roboto Mono Light"/>
              </a:rPr>
              <a:t>concat:</a:t>
            </a:r>
            <a:endParaRPr sz="900">
              <a:latin typeface="Roboto Mono Light"/>
              <a:ea typeface="Roboto Mono Light"/>
              <a:cs typeface="Roboto Mono Light"/>
              <a:sym typeface="Roboto Mono Light"/>
            </a:endParaRPr>
          </a:p>
          <a:p>
            <a:pPr indent="0" lvl="0" marL="0" rtl="0" algn="l">
              <a:spcBef>
                <a:spcPts val="0"/>
              </a:spcBef>
              <a:spcAft>
                <a:spcPts val="0"/>
              </a:spcAft>
              <a:buNone/>
            </a:pPr>
            <a:r>
              <a:rPr lang="en-US" sz="900">
                <a:latin typeface="Roboto Mono Light"/>
                <a:ea typeface="Roboto Mono Light"/>
                <a:cs typeface="Roboto Mono Light"/>
                <a:sym typeface="Roboto Mono Light"/>
              </a:rPr>
              <a:t> [0 0 0 1 1 1]</a:t>
            </a:r>
            <a:endParaRPr sz="900">
              <a:latin typeface="Roboto Mono Light"/>
              <a:ea typeface="Roboto Mono Light"/>
              <a:cs typeface="Roboto Mono Light"/>
              <a:sym typeface="Roboto Mono Light"/>
            </a:endParaRPr>
          </a:p>
        </p:txBody>
      </p:sp>
      <p:sp>
        <p:nvSpPr>
          <p:cNvPr id="180" name="Google Shape;180;p24"/>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5"/>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NumPy: separating</a:t>
            </a:r>
            <a:endParaRPr/>
          </a:p>
        </p:txBody>
      </p:sp>
      <p:sp>
        <p:nvSpPr>
          <p:cNvPr id="187" name="Google Shape;187;p25"/>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100"/>
              <a:t>Splitting does the reverse of the corresponding combining operation.</a:t>
            </a:r>
            <a:endParaRPr sz="1100"/>
          </a:p>
          <a:p>
            <a:pPr indent="0" lvl="0" marL="0" rtl="0" algn="l">
              <a:spcBef>
                <a:spcPts val="0"/>
              </a:spcBef>
              <a:spcAft>
                <a:spcPts val="0"/>
              </a:spcAft>
              <a:buClr>
                <a:schemeClr val="dk1"/>
              </a:buClr>
              <a:buSzPts val="1100"/>
              <a:buFont typeface="Arial"/>
              <a:buNone/>
            </a:pPr>
            <a:r>
              <a:rPr lang="en-US" sz="1100"/>
              <a:t>i.e. a hsplit is the opposite of a hstack, vsplit is the opposite of a vstack, etc. Note: splits return lists, not ndarray.</a:t>
            </a:r>
            <a:endParaRPr sz="1100"/>
          </a:p>
          <a:p>
            <a:pPr indent="0" lvl="0" marL="0" rtl="0" algn="l">
              <a:spcBef>
                <a:spcPts val="0"/>
              </a:spcBef>
              <a:spcAft>
                <a:spcPts val="0"/>
              </a:spcAft>
              <a:buClr>
                <a:schemeClr val="dk1"/>
              </a:buClr>
              <a:buSzPts val="1100"/>
              <a:buFont typeface="Arial"/>
              <a:buNone/>
            </a:pPr>
            <a:r>
              <a:t/>
            </a:r>
            <a:endParaRPr sz="1100"/>
          </a:p>
          <a:p>
            <a:pPr indent="0" lvl="0" marL="457200" marR="0" rtl="0" algn="l">
              <a:lnSpc>
                <a:spcPct val="150000"/>
              </a:lnSpc>
              <a:spcBef>
                <a:spcPts val="0"/>
              </a:spcBef>
              <a:spcAft>
                <a:spcPts val="0"/>
              </a:spcAft>
              <a:buClr>
                <a:schemeClr val="dk1"/>
              </a:buClr>
              <a:buSzPts val="1100"/>
              <a:buFont typeface="Arial"/>
              <a:buNone/>
            </a:pPr>
            <a:r>
              <a:rPr lang="en-US" sz="1100">
                <a:solidFill>
                  <a:schemeClr val="dk1"/>
                </a:solidFill>
                <a:latin typeface="Roboto Mono Light"/>
                <a:ea typeface="Roboto Mono Light"/>
                <a:cs typeface="Roboto Mono Light"/>
                <a:sym typeface="Roboto Mono Light"/>
              </a:rPr>
              <a:t>a = np.array([[0, 0, 0], [1, 1, 1], [2, 2, 2]])</a:t>
            </a:r>
            <a:endParaRPr sz="1100">
              <a:solidFill>
                <a:schemeClr val="dk1"/>
              </a:solidFill>
              <a:latin typeface="Roboto Mono Light"/>
              <a:ea typeface="Roboto Mono Light"/>
              <a:cs typeface="Roboto Mono Light"/>
              <a:sym typeface="Roboto Mono Light"/>
            </a:endParaRPr>
          </a:p>
          <a:p>
            <a:pPr indent="0" lvl="0" marL="457200" marR="0" rtl="0" algn="l">
              <a:lnSpc>
                <a:spcPct val="150000"/>
              </a:lnSpc>
              <a:spcBef>
                <a:spcPts val="0"/>
              </a:spcBef>
              <a:spcAft>
                <a:spcPts val="0"/>
              </a:spcAft>
              <a:buClr>
                <a:schemeClr val="dk1"/>
              </a:buClr>
              <a:buSzPts val="1100"/>
              <a:buFont typeface="Arial"/>
              <a:buNone/>
            </a:pPr>
            <a:r>
              <a:rPr lang="en-US" sz="1100">
                <a:solidFill>
                  <a:schemeClr val="dk1"/>
                </a:solidFill>
                <a:latin typeface="Roboto Mono Light"/>
                <a:ea typeface="Roboto Mono Light"/>
                <a:cs typeface="Roboto Mono Light"/>
                <a:sym typeface="Roboto Mono Light"/>
              </a:rPr>
              <a:t>b = </a:t>
            </a:r>
            <a:r>
              <a:rPr b="1" lang="en-US" sz="1100">
                <a:solidFill>
                  <a:schemeClr val="dk1"/>
                </a:solidFill>
                <a:latin typeface="Roboto Mono"/>
                <a:ea typeface="Roboto Mono"/>
                <a:cs typeface="Roboto Mono"/>
                <a:sym typeface="Roboto Mono"/>
              </a:rPr>
              <a:t>np.split</a:t>
            </a:r>
            <a:r>
              <a:rPr lang="en-US" sz="1100">
                <a:solidFill>
                  <a:schemeClr val="dk1"/>
                </a:solidFill>
                <a:latin typeface="Roboto Mono Light"/>
                <a:ea typeface="Roboto Mono Light"/>
                <a:cs typeface="Roboto Mono Light"/>
                <a:sym typeface="Roboto Mono Light"/>
              </a:rPr>
              <a:t>(a, 3)  #vsplit by default</a:t>
            </a:r>
            <a:endParaRPr sz="1100">
              <a:solidFill>
                <a:schemeClr val="dk1"/>
              </a:solidFill>
              <a:latin typeface="Roboto Mono Light"/>
              <a:ea typeface="Roboto Mono Light"/>
              <a:cs typeface="Roboto Mono Light"/>
              <a:sym typeface="Roboto Mono Light"/>
            </a:endParaRPr>
          </a:p>
          <a:p>
            <a:pPr indent="0" lvl="0" marL="457200" marR="0" rtl="0" algn="l">
              <a:lnSpc>
                <a:spcPct val="150000"/>
              </a:lnSpc>
              <a:spcBef>
                <a:spcPts val="0"/>
              </a:spcBef>
              <a:spcAft>
                <a:spcPts val="0"/>
              </a:spcAft>
              <a:buClr>
                <a:schemeClr val="dk1"/>
              </a:buClr>
              <a:buSzPts val="1100"/>
              <a:buFont typeface="Arial"/>
              <a:buNone/>
            </a:pPr>
            <a:r>
              <a:rPr lang="en-US" sz="1100">
                <a:solidFill>
                  <a:schemeClr val="dk1"/>
                </a:solidFill>
                <a:latin typeface="Roboto Mono Light"/>
                <a:ea typeface="Roboto Mono Light"/>
                <a:cs typeface="Roboto Mono Light"/>
                <a:sym typeface="Roboto Mono Light"/>
              </a:rPr>
              <a:t>c = </a:t>
            </a:r>
            <a:r>
              <a:rPr b="1" lang="en-US" sz="1100">
                <a:solidFill>
                  <a:schemeClr val="dk1"/>
                </a:solidFill>
                <a:latin typeface="Roboto Mono"/>
                <a:ea typeface="Roboto Mono"/>
                <a:cs typeface="Roboto Mono"/>
                <a:sym typeface="Roboto Mono"/>
              </a:rPr>
              <a:t>np.hsplit</a:t>
            </a:r>
            <a:r>
              <a:rPr lang="en-US" sz="1100">
                <a:solidFill>
                  <a:schemeClr val="dk1"/>
                </a:solidFill>
                <a:latin typeface="Roboto Mono Light"/>
                <a:ea typeface="Roboto Mono Light"/>
                <a:cs typeface="Roboto Mono Light"/>
                <a:sym typeface="Roboto Mono Light"/>
              </a:rPr>
              <a:t>(a, 3)</a:t>
            </a:r>
            <a:endParaRPr sz="1100">
              <a:solidFill>
                <a:schemeClr val="dk1"/>
              </a:solidFill>
              <a:latin typeface="Roboto Mono Light"/>
              <a:ea typeface="Roboto Mono Light"/>
              <a:cs typeface="Roboto Mono Light"/>
              <a:sym typeface="Roboto Mono Light"/>
            </a:endParaRPr>
          </a:p>
          <a:p>
            <a:pPr indent="0" lvl="0" marL="457200" marR="0" rtl="0" algn="l">
              <a:lnSpc>
                <a:spcPct val="150000"/>
              </a:lnSpc>
              <a:spcBef>
                <a:spcPts val="0"/>
              </a:spcBef>
              <a:spcAft>
                <a:spcPts val="0"/>
              </a:spcAft>
              <a:buClr>
                <a:schemeClr val="dk1"/>
              </a:buClr>
              <a:buSzPts val="1100"/>
              <a:buFont typeface="Arial"/>
              <a:buNone/>
            </a:pPr>
            <a:r>
              <a:rPr lang="en-US" sz="1100">
                <a:solidFill>
                  <a:schemeClr val="dk1"/>
                </a:solidFill>
                <a:latin typeface="Roboto Mono Light"/>
                <a:ea typeface="Roboto Mono Light"/>
                <a:cs typeface="Roboto Mono Light"/>
                <a:sym typeface="Roboto Mono Light"/>
              </a:rPr>
              <a:t>d = </a:t>
            </a:r>
            <a:r>
              <a:rPr b="1" lang="en-US" sz="1100">
                <a:solidFill>
                  <a:schemeClr val="dk1"/>
                </a:solidFill>
                <a:latin typeface="Roboto Mono"/>
                <a:ea typeface="Roboto Mono"/>
                <a:cs typeface="Roboto Mono"/>
                <a:sym typeface="Roboto Mono"/>
              </a:rPr>
              <a:t>np.vsplit</a:t>
            </a:r>
            <a:r>
              <a:rPr lang="en-US" sz="1100">
                <a:solidFill>
                  <a:schemeClr val="dk1"/>
                </a:solidFill>
                <a:latin typeface="Roboto Mono Light"/>
                <a:ea typeface="Roboto Mono Light"/>
                <a:cs typeface="Roboto Mono Light"/>
                <a:sym typeface="Roboto Mono Light"/>
              </a:rPr>
              <a:t>(a, 3)</a:t>
            </a:r>
            <a:endParaRPr sz="1100">
              <a:solidFill>
                <a:schemeClr val="dk1"/>
              </a:solidFill>
              <a:latin typeface="Roboto Mono Light"/>
              <a:ea typeface="Roboto Mono Light"/>
              <a:cs typeface="Roboto Mono Light"/>
              <a:sym typeface="Roboto Mono Light"/>
            </a:endParaRPr>
          </a:p>
          <a:p>
            <a:pPr indent="0" lvl="0" marL="457200" marR="0" rtl="0" algn="l">
              <a:lnSpc>
                <a:spcPct val="150000"/>
              </a:lnSpc>
              <a:spcBef>
                <a:spcPts val="0"/>
              </a:spcBef>
              <a:spcAft>
                <a:spcPts val="0"/>
              </a:spcAft>
              <a:buClr>
                <a:schemeClr val="dk1"/>
              </a:buClr>
              <a:buSzPts val="1100"/>
              <a:buFont typeface="Arial"/>
              <a:buNone/>
            </a:pPr>
            <a:r>
              <a:rPr lang="en-US" sz="1100">
                <a:solidFill>
                  <a:schemeClr val="dk1"/>
                </a:solidFill>
                <a:latin typeface="Roboto Mono Light"/>
                <a:ea typeface="Roboto Mono Light"/>
                <a:cs typeface="Roboto Mono Light"/>
                <a:sym typeface="Roboto Mono Light"/>
              </a:rPr>
              <a:t>print("a:\n", a)</a:t>
            </a:r>
            <a:endParaRPr sz="1100">
              <a:solidFill>
                <a:schemeClr val="dk1"/>
              </a:solidFill>
              <a:latin typeface="Roboto Mono Light"/>
              <a:ea typeface="Roboto Mono Light"/>
              <a:cs typeface="Roboto Mono Light"/>
              <a:sym typeface="Roboto Mono Light"/>
            </a:endParaRPr>
          </a:p>
          <a:p>
            <a:pPr indent="0" lvl="0" marL="457200" marR="0" rtl="0" algn="l">
              <a:lnSpc>
                <a:spcPct val="150000"/>
              </a:lnSpc>
              <a:spcBef>
                <a:spcPts val="0"/>
              </a:spcBef>
              <a:spcAft>
                <a:spcPts val="0"/>
              </a:spcAft>
              <a:buClr>
                <a:schemeClr val="dk1"/>
              </a:buClr>
              <a:buSzPts val="1100"/>
              <a:buFont typeface="Arial"/>
              <a:buNone/>
            </a:pPr>
            <a:r>
              <a:rPr lang="en-US" sz="1100">
                <a:solidFill>
                  <a:schemeClr val="dk1"/>
                </a:solidFill>
                <a:latin typeface="Roboto Mono Light"/>
                <a:ea typeface="Roboto Mono Light"/>
                <a:cs typeface="Roboto Mono Light"/>
                <a:sym typeface="Roboto Mono Light"/>
              </a:rPr>
              <a:t>print("b:\n", b)</a:t>
            </a:r>
            <a:endParaRPr sz="1100">
              <a:solidFill>
                <a:schemeClr val="dk1"/>
              </a:solidFill>
              <a:latin typeface="Roboto Mono Light"/>
              <a:ea typeface="Roboto Mono Light"/>
              <a:cs typeface="Roboto Mono Light"/>
              <a:sym typeface="Roboto Mono Light"/>
            </a:endParaRPr>
          </a:p>
          <a:p>
            <a:pPr indent="0" lvl="0" marL="457200" marR="0" rtl="0" algn="l">
              <a:lnSpc>
                <a:spcPct val="150000"/>
              </a:lnSpc>
              <a:spcBef>
                <a:spcPts val="0"/>
              </a:spcBef>
              <a:spcAft>
                <a:spcPts val="0"/>
              </a:spcAft>
              <a:buClr>
                <a:schemeClr val="dk1"/>
              </a:buClr>
              <a:buSzPts val="1100"/>
              <a:buFont typeface="Arial"/>
              <a:buNone/>
            </a:pPr>
            <a:r>
              <a:rPr lang="en-US" sz="1100">
                <a:solidFill>
                  <a:schemeClr val="dk1"/>
                </a:solidFill>
                <a:latin typeface="Roboto Mono Light"/>
                <a:ea typeface="Roboto Mono Light"/>
                <a:cs typeface="Roboto Mono Light"/>
                <a:sym typeface="Roboto Mono Light"/>
              </a:rPr>
              <a:t>print("c:\n", c)</a:t>
            </a:r>
            <a:endParaRPr sz="1100">
              <a:solidFill>
                <a:schemeClr val="dk1"/>
              </a:solidFill>
              <a:latin typeface="Roboto Mono Light"/>
              <a:ea typeface="Roboto Mono Light"/>
              <a:cs typeface="Roboto Mono Light"/>
              <a:sym typeface="Roboto Mono Light"/>
            </a:endParaRPr>
          </a:p>
          <a:p>
            <a:pPr indent="0" lvl="0" marL="457200" marR="0" rtl="0" algn="l">
              <a:lnSpc>
                <a:spcPct val="150000"/>
              </a:lnSpc>
              <a:spcBef>
                <a:spcPts val="0"/>
              </a:spcBef>
              <a:spcAft>
                <a:spcPts val="0"/>
              </a:spcAft>
              <a:buClr>
                <a:schemeClr val="dk1"/>
              </a:buClr>
              <a:buSzPts val="1100"/>
              <a:buFont typeface="Arial"/>
              <a:buNone/>
            </a:pPr>
            <a:r>
              <a:rPr lang="en-US" sz="1100">
                <a:solidFill>
                  <a:schemeClr val="dk1"/>
                </a:solidFill>
                <a:latin typeface="Roboto Mono Light"/>
                <a:ea typeface="Roboto Mono Light"/>
                <a:cs typeface="Roboto Mono Light"/>
                <a:sym typeface="Roboto Mono Light"/>
              </a:rPr>
              <a:t>print("d:\n", d)</a:t>
            </a:r>
            <a:endParaRPr sz="1100">
              <a:solidFill>
                <a:schemeClr val="dk1"/>
              </a:solidFill>
              <a:latin typeface="Roboto Mono Light"/>
              <a:ea typeface="Roboto Mono Light"/>
              <a:cs typeface="Roboto Mono Light"/>
              <a:sym typeface="Roboto Mono Light"/>
            </a:endParaRPr>
          </a:p>
        </p:txBody>
      </p:sp>
      <p:sp>
        <p:nvSpPr>
          <p:cNvPr id="188" name="Google Shape;188;p25"/>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900">
                <a:solidFill>
                  <a:schemeClr val="dk1"/>
                </a:solidFill>
                <a:latin typeface="Roboto Mono Light"/>
                <a:ea typeface="Roboto Mono Light"/>
                <a:cs typeface="Roboto Mono Light"/>
                <a:sym typeface="Roboto Mono Light"/>
              </a:rPr>
              <a:t>a:</a:t>
            </a:r>
            <a:endParaRPr>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900">
                <a:solidFill>
                  <a:schemeClr val="dk1"/>
                </a:solidFill>
                <a:latin typeface="Roboto Mono Light"/>
                <a:ea typeface="Roboto Mono Light"/>
                <a:cs typeface="Roboto Mono Light"/>
                <a:sym typeface="Roboto Mono Light"/>
              </a:rPr>
              <a:t> [[0 0 0]</a:t>
            </a:r>
            <a:endParaRPr>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900">
                <a:solidFill>
                  <a:schemeClr val="dk1"/>
                </a:solidFill>
                <a:latin typeface="Roboto Mono Light"/>
                <a:ea typeface="Roboto Mono Light"/>
                <a:cs typeface="Roboto Mono Light"/>
                <a:sym typeface="Roboto Mono Light"/>
              </a:rPr>
              <a:t> [1 1 1]</a:t>
            </a:r>
            <a:endParaRPr>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900">
                <a:solidFill>
                  <a:schemeClr val="dk1"/>
                </a:solidFill>
                <a:latin typeface="Roboto Mono Light"/>
                <a:ea typeface="Roboto Mono Light"/>
                <a:cs typeface="Roboto Mono Light"/>
                <a:sym typeface="Roboto Mono Light"/>
              </a:rPr>
              <a:t> [2 2 2]]</a:t>
            </a:r>
            <a:endParaRPr>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900">
                <a:solidFill>
                  <a:schemeClr val="dk1"/>
                </a:solidFill>
                <a:latin typeface="Roboto Mono Light"/>
                <a:ea typeface="Roboto Mono Light"/>
                <a:cs typeface="Roboto Mono Light"/>
                <a:sym typeface="Roboto Mono Light"/>
              </a:rPr>
              <a:t>b:</a:t>
            </a:r>
            <a:endParaRPr>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900">
                <a:solidFill>
                  <a:schemeClr val="dk1"/>
                </a:solidFill>
                <a:latin typeface="Roboto Mono Light"/>
                <a:ea typeface="Roboto Mono Light"/>
                <a:cs typeface="Roboto Mono Light"/>
                <a:sym typeface="Roboto Mono Light"/>
              </a:rPr>
              <a:t> [array([[0, 0, 0]]), array([[1, 1, 1]]), array([[2, 2, 2]])]</a:t>
            </a:r>
            <a:endParaRPr>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900">
                <a:solidFill>
                  <a:schemeClr val="dk1"/>
                </a:solidFill>
                <a:latin typeface="Roboto Mono Light"/>
                <a:ea typeface="Roboto Mono Light"/>
                <a:cs typeface="Roboto Mono Light"/>
                <a:sym typeface="Roboto Mono Light"/>
              </a:rPr>
              <a:t>c:</a:t>
            </a:r>
            <a:endParaRPr>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900">
                <a:solidFill>
                  <a:schemeClr val="dk1"/>
                </a:solidFill>
                <a:latin typeface="Roboto Mono Light"/>
                <a:ea typeface="Roboto Mono Light"/>
                <a:cs typeface="Roboto Mono Light"/>
                <a:sym typeface="Roboto Mono Light"/>
              </a:rPr>
              <a:t> [array([[0],</a:t>
            </a:r>
            <a:r>
              <a:rPr lang="en-US">
                <a:solidFill>
                  <a:schemeClr val="dk1"/>
                </a:solidFill>
                <a:latin typeface="Roboto Mono Light"/>
                <a:ea typeface="Roboto Mono Light"/>
                <a:cs typeface="Roboto Mono Light"/>
                <a:sym typeface="Roboto Mono Light"/>
              </a:rPr>
              <a:t> </a:t>
            </a:r>
            <a:r>
              <a:rPr lang="en-US" sz="900">
                <a:solidFill>
                  <a:schemeClr val="dk1"/>
                </a:solidFill>
                <a:latin typeface="Roboto Mono Light"/>
                <a:ea typeface="Roboto Mono Light"/>
                <a:cs typeface="Roboto Mono Light"/>
                <a:sym typeface="Roboto Mono Light"/>
              </a:rPr>
              <a:t>[1],</a:t>
            </a:r>
            <a:r>
              <a:rPr lang="en-US">
                <a:solidFill>
                  <a:schemeClr val="dk1"/>
                </a:solidFill>
                <a:latin typeface="Roboto Mono Light"/>
                <a:ea typeface="Roboto Mono Light"/>
                <a:cs typeface="Roboto Mono Light"/>
                <a:sym typeface="Roboto Mono Light"/>
              </a:rPr>
              <a:t> </a:t>
            </a:r>
            <a:r>
              <a:rPr lang="en-US" sz="900">
                <a:solidFill>
                  <a:schemeClr val="dk1"/>
                </a:solidFill>
                <a:latin typeface="Roboto Mono Light"/>
                <a:ea typeface="Roboto Mono Light"/>
                <a:cs typeface="Roboto Mono Light"/>
                <a:sym typeface="Roboto Mono Light"/>
              </a:rPr>
              <a:t>[2]]), </a:t>
            </a:r>
            <a:endParaRPr sz="9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900">
                <a:solidFill>
                  <a:schemeClr val="dk1"/>
                </a:solidFill>
                <a:latin typeface="Roboto Mono Light"/>
                <a:ea typeface="Roboto Mono Light"/>
                <a:cs typeface="Roboto Mono Light"/>
                <a:sym typeface="Roboto Mono Light"/>
              </a:rPr>
              <a:t>      array([[0],</a:t>
            </a:r>
            <a:r>
              <a:rPr lang="en-US">
                <a:solidFill>
                  <a:schemeClr val="dk1"/>
                </a:solidFill>
                <a:latin typeface="Roboto Mono Light"/>
                <a:ea typeface="Roboto Mono Light"/>
                <a:cs typeface="Roboto Mono Light"/>
                <a:sym typeface="Roboto Mono Light"/>
              </a:rPr>
              <a:t> </a:t>
            </a:r>
            <a:r>
              <a:rPr lang="en-US" sz="900">
                <a:solidFill>
                  <a:schemeClr val="dk1"/>
                </a:solidFill>
                <a:latin typeface="Roboto Mono Light"/>
                <a:ea typeface="Roboto Mono Light"/>
                <a:cs typeface="Roboto Mono Light"/>
                <a:sym typeface="Roboto Mono Light"/>
              </a:rPr>
              <a:t>[1], [2]]), </a:t>
            </a:r>
            <a:endParaRPr sz="900">
              <a:solidFill>
                <a:schemeClr val="dk1"/>
              </a:solidFill>
              <a:latin typeface="Roboto Mono Light"/>
              <a:ea typeface="Roboto Mono Light"/>
              <a:cs typeface="Roboto Mono Light"/>
              <a:sym typeface="Roboto Mono Light"/>
            </a:endParaRPr>
          </a:p>
          <a:p>
            <a:pPr indent="457200" lvl="0" marL="0" rtl="0" algn="l">
              <a:spcBef>
                <a:spcPts val="0"/>
              </a:spcBef>
              <a:spcAft>
                <a:spcPts val="0"/>
              </a:spcAft>
              <a:buClr>
                <a:schemeClr val="dk1"/>
              </a:buClr>
              <a:buSzPts val="1100"/>
              <a:buFont typeface="Arial"/>
              <a:buNone/>
            </a:pPr>
            <a:r>
              <a:rPr lang="en-US" sz="900">
                <a:solidFill>
                  <a:schemeClr val="dk1"/>
                </a:solidFill>
                <a:latin typeface="Roboto Mono Light"/>
                <a:ea typeface="Roboto Mono Light"/>
                <a:cs typeface="Roboto Mono Light"/>
                <a:sym typeface="Roboto Mono Light"/>
              </a:rPr>
              <a:t>array([[0],</a:t>
            </a:r>
            <a:r>
              <a:rPr lang="en-US">
                <a:solidFill>
                  <a:schemeClr val="dk1"/>
                </a:solidFill>
                <a:latin typeface="Roboto Mono Light"/>
                <a:ea typeface="Roboto Mono Light"/>
                <a:cs typeface="Roboto Mono Light"/>
                <a:sym typeface="Roboto Mono Light"/>
              </a:rPr>
              <a:t> </a:t>
            </a:r>
            <a:r>
              <a:rPr lang="en-US" sz="900">
                <a:solidFill>
                  <a:schemeClr val="dk1"/>
                </a:solidFill>
                <a:latin typeface="Roboto Mono Light"/>
                <a:ea typeface="Roboto Mono Light"/>
                <a:cs typeface="Roboto Mono Light"/>
                <a:sym typeface="Roboto Mono Light"/>
              </a:rPr>
              <a:t>[1],</a:t>
            </a:r>
            <a:r>
              <a:rPr lang="en-US">
                <a:solidFill>
                  <a:schemeClr val="dk1"/>
                </a:solidFill>
                <a:latin typeface="Roboto Mono Light"/>
                <a:ea typeface="Roboto Mono Light"/>
                <a:cs typeface="Roboto Mono Light"/>
                <a:sym typeface="Roboto Mono Light"/>
              </a:rPr>
              <a:t> </a:t>
            </a:r>
            <a:r>
              <a:rPr lang="en-US" sz="900">
                <a:solidFill>
                  <a:schemeClr val="dk1"/>
                </a:solidFill>
                <a:latin typeface="Roboto Mono Light"/>
                <a:ea typeface="Roboto Mono Light"/>
                <a:cs typeface="Roboto Mono Light"/>
                <a:sym typeface="Roboto Mono Light"/>
              </a:rPr>
              <a:t>[2]])</a:t>
            </a:r>
            <a:endParaRPr sz="9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900">
                <a:solidFill>
                  <a:schemeClr val="dk1"/>
                </a:solidFill>
                <a:latin typeface="Roboto Mono Light"/>
                <a:ea typeface="Roboto Mono Light"/>
                <a:cs typeface="Roboto Mono Light"/>
                <a:sym typeface="Roboto Mono Light"/>
              </a:rPr>
              <a:t>   ]</a:t>
            </a:r>
            <a:endParaRPr>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900">
                <a:solidFill>
                  <a:schemeClr val="dk1"/>
                </a:solidFill>
                <a:latin typeface="Roboto Mono Light"/>
                <a:ea typeface="Roboto Mono Light"/>
                <a:cs typeface="Roboto Mono Light"/>
                <a:sym typeface="Roboto Mono Light"/>
              </a:rPr>
              <a:t>d:</a:t>
            </a:r>
            <a:endParaRPr>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rPr lang="en-US" sz="900">
                <a:solidFill>
                  <a:schemeClr val="dk1"/>
                </a:solidFill>
                <a:latin typeface="Roboto Mono Light"/>
                <a:ea typeface="Roboto Mono Light"/>
                <a:cs typeface="Roboto Mono Light"/>
                <a:sym typeface="Roboto Mono Light"/>
              </a:rPr>
              <a:t> [array([[0, 0, 0]]), array([[1, 1, 1]]), array([[2, 2, 2]])]</a:t>
            </a:r>
            <a:endParaRPr sz="900">
              <a:latin typeface="Roboto Mono Light"/>
              <a:ea typeface="Roboto Mono Light"/>
              <a:cs typeface="Roboto Mono Light"/>
              <a:sym typeface="Roboto Mono Light"/>
            </a:endParaRPr>
          </a:p>
        </p:txBody>
      </p:sp>
      <p:sp>
        <p:nvSpPr>
          <p:cNvPr id="189" name="Google Shape;189;p25"/>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6"/>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NumPy: maths</a:t>
            </a:r>
            <a:endParaRPr/>
          </a:p>
        </p:txBody>
      </p:sp>
      <p:sp>
        <p:nvSpPr>
          <p:cNvPr id="196" name="Google Shape;196;p26"/>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300"/>
              <a:t>NumPy also includes standard maths-related functionality. Its implementation of these methods is meant to work more efficiently with ndarrays (just like </a:t>
            </a:r>
            <a:r>
              <a:rPr lang="en-US" sz="1300">
                <a:latin typeface="Roboto Mono Light"/>
                <a:ea typeface="Roboto Mono Light"/>
                <a:cs typeface="Roboto Mono Light"/>
                <a:sym typeface="Roboto Mono Light"/>
              </a:rPr>
              <a:t>nditer()</a:t>
            </a:r>
            <a:r>
              <a:rPr lang="en-US" sz="1300"/>
              <a:t>, for instance). Sets of functionality that NumPy implements include (but are not limited to):</a:t>
            </a:r>
            <a:endParaRPr sz="1300"/>
          </a:p>
          <a:p>
            <a:pPr indent="0" lvl="0" marL="0" rtl="0" algn="l">
              <a:spcBef>
                <a:spcPts val="0"/>
              </a:spcBef>
              <a:spcAft>
                <a:spcPts val="0"/>
              </a:spcAft>
              <a:buNone/>
            </a:pPr>
            <a:r>
              <a:t/>
            </a:r>
            <a:endParaRPr sz="1300"/>
          </a:p>
          <a:p>
            <a:pPr indent="-311150" lvl="0" marL="457200" rtl="0" algn="l">
              <a:spcBef>
                <a:spcPts val="0"/>
              </a:spcBef>
              <a:spcAft>
                <a:spcPts val="0"/>
              </a:spcAft>
              <a:buSzPts val="1300"/>
              <a:buChar char="•"/>
            </a:pPr>
            <a:r>
              <a:rPr lang="en-US" sz="1300"/>
              <a:t>Arithmetic</a:t>
            </a:r>
            <a:endParaRPr sz="1300"/>
          </a:p>
          <a:p>
            <a:pPr indent="-311150" lvl="0" marL="457200" rtl="0" algn="l">
              <a:spcBef>
                <a:spcPts val="0"/>
              </a:spcBef>
              <a:spcAft>
                <a:spcPts val="0"/>
              </a:spcAft>
              <a:buSzPts val="1300"/>
              <a:buChar char="•"/>
            </a:pPr>
            <a:r>
              <a:rPr lang="en-US" sz="1300"/>
              <a:t>Trigonometric</a:t>
            </a:r>
            <a:endParaRPr sz="1300"/>
          </a:p>
          <a:p>
            <a:pPr indent="-311150" lvl="0" marL="457200" rtl="0" algn="l">
              <a:spcBef>
                <a:spcPts val="0"/>
              </a:spcBef>
              <a:spcAft>
                <a:spcPts val="0"/>
              </a:spcAft>
              <a:buSzPts val="1300"/>
              <a:buChar char="•"/>
            </a:pPr>
            <a:r>
              <a:rPr lang="en-US" sz="1300"/>
              <a:t>Hyperbolic</a:t>
            </a:r>
            <a:endParaRPr sz="1300"/>
          </a:p>
          <a:p>
            <a:pPr indent="-311150" lvl="0" marL="457200" rtl="0" algn="l">
              <a:spcBef>
                <a:spcPts val="0"/>
              </a:spcBef>
              <a:spcAft>
                <a:spcPts val="0"/>
              </a:spcAft>
              <a:buSzPts val="1300"/>
              <a:buChar char="•"/>
            </a:pPr>
            <a:r>
              <a:rPr lang="en-US" sz="1300"/>
              <a:t>Exponents and logarithms</a:t>
            </a:r>
            <a:endParaRPr sz="1300"/>
          </a:p>
          <a:p>
            <a:pPr indent="-311150" lvl="0" marL="457200" rtl="0" algn="l">
              <a:spcBef>
                <a:spcPts val="0"/>
              </a:spcBef>
              <a:spcAft>
                <a:spcPts val="0"/>
              </a:spcAft>
              <a:buSzPts val="1300"/>
              <a:buChar char="•"/>
            </a:pPr>
            <a:r>
              <a:rPr lang="en-US" sz="1300"/>
              <a:t>Complex numbers</a:t>
            </a:r>
            <a:endParaRPr sz="1300"/>
          </a:p>
        </p:txBody>
      </p:sp>
      <p:sp>
        <p:nvSpPr>
          <p:cNvPr id="197" name="Google Shape;197;p26"/>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200">
                <a:latin typeface="Roboto Mono Light"/>
                <a:ea typeface="Roboto Mono Light"/>
                <a:cs typeface="Roboto Mono Light"/>
                <a:sym typeface="Roboto Mono Light"/>
              </a:rPr>
              <a:t>x = np.arange(0, 2*np.pi, 0.1)</a:t>
            </a:r>
            <a:endParaRPr sz="12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1200">
                <a:latin typeface="Roboto Mono Light"/>
                <a:ea typeface="Roboto Mono Light"/>
                <a:cs typeface="Roboto Mono Light"/>
                <a:sym typeface="Roboto Mono Light"/>
              </a:rPr>
              <a:t># x contains 0.0, 0.1, </a:t>
            </a:r>
            <a:r>
              <a:rPr lang="en-US" sz="1200">
                <a:latin typeface="Roboto Mono Light"/>
                <a:ea typeface="Roboto Mono Light"/>
                <a:cs typeface="Roboto Mono Light"/>
                <a:sym typeface="Roboto Mono Light"/>
              </a:rPr>
              <a:t>... , 2pi-0.1</a:t>
            </a:r>
            <a:endParaRPr sz="1200">
              <a:latin typeface="Roboto Mono Light"/>
              <a:ea typeface="Roboto Mono Light"/>
              <a:cs typeface="Roboto Mono Light"/>
              <a:sym typeface="Roboto Mono Light"/>
            </a:endParaRPr>
          </a:p>
          <a:p>
            <a:pPr indent="0" lvl="0" marL="0" rtl="0" algn="l">
              <a:spcBef>
                <a:spcPts val="0"/>
              </a:spcBef>
              <a:spcAft>
                <a:spcPts val="0"/>
              </a:spcAft>
              <a:buNone/>
            </a:pPr>
            <a:r>
              <a:rPr lang="en-US" sz="1200">
                <a:latin typeface="Roboto Mono Light"/>
                <a:ea typeface="Roboto Mono Light"/>
                <a:cs typeface="Roboto Mono Light"/>
                <a:sym typeface="Roboto Mono Light"/>
              </a:rPr>
              <a:t>y = </a:t>
            </a:r>
            <a:r>
              <a:rPr b="1" lang="en-US" sz="1200">
                <a:latin typeface="Roboto Mono"/>
                <a:ea typeface="Roboto Mono"/>
                <a:cs typeface="Roboto Mono"/>
                <a:sym typeface="Roboto Mono"/>
              </a:rPr>
              <a:t>np.sin</a:t>
            </a:r>
            <a:r>
              <a:rPr lang="en-US" sz="1200">
                <a:latin typeface="Roboto Mono Light"/>
                <a:ea typeface="Roboto Mono Light"/>
                <a:cs typeface="Roboto Mono Light"/>
                <a:sym typeface="Roboto Mono Light"/>
              </a:rPr>
              <a:t>(x)</a:t>
            </a:r>
            <a:endParaRPr sz="1200">
              <a:latin typeface="Roboto Mono Light"/>
              <a:ea typeface="Roboto Mono Light"/>
              <a:cs typeface="Roboto Mono Light"/>
              <a:sym typeface="Roboto Mono Light"/>
            </a:endParaRPr>
          </a:p>
          <a:p>
            <a:pPr indent="0" lvl="0" marL="0" rtl="0" algn="l">
              <a:spcBef>
                <a:spcPts val="0"/>
              </a:spcBef>
              <a:spcAft>
                <a:spcPts val="0"/>
              </a:spcAft>
              <a:buNone/>
            </a:pPr>
            <a:r>
              <a:rPr lang="en-US" sz="1200">
                <a:latin typeface="Roboto Mono Light"/>
                <a:ea typeface="Roboto Mono Light"/>
                <a:cs typeface="Roboto Mono Light"/>
                <a:sym typeface="Roboto Mono Light"/>
              </a:rPr>
              <a:t>print(y)</a:t>
            </a:r>
            <a:endParaRPr sz="1200">
              <a:latin typeface="Roboto Mono Light"/>
              <a:ea typeface="Roboto Mono Light"/>
              <a:cs typeface="Roboto Mono Light"/>
              <a:sym typeface="Roboto Mono Light"/>
            </a:endParaRPr>
          </a:p>
          <a:p>
            <a:pPr indent="0" lvl="0" marL="0" rtl="0" algn="l">
              <a:spcBef>
                <a:spcPts val="0"/>
              </a:spcBef>
              <a:spcAft>
                <a:spcPts val="0"/>
              </a:spcAft>
              <a:buNone/>
            </a:pPr>
            <a:r>
              <a:t/>
            </a:r>
            <a:endParaRPr sz="1200">
              <a:latin typeface="Roboto Mono Light"/>
              <a:ea typeface="Roboto Mono Light"/>
              <a:cs typeface="Roboto Mono Light"/>
              <a:sym typeface="Roboto Mono Light"/>
            </a:endParaRPr>
          </a:p>
          <a:p>
            <a:pPr indent="0" lvl="0" marL="0" rtl="0" algn="l">
              <a:spcBef>
                <a:spcPts val="0"/>
              </a:spcBef>
              <a:spcAft>
                <a:spcPts val="0"/>
              </a:spcAft>
              <a:buNone/>
            </a:pPr>
            <a:r>
              <a:rPr lang="en-US" sz="1200">
                <a:latin typeface="Roboto Mono Light"/>
                <a:ea typeface="Roboto Mono Light"/>
                <a:cs typeface="Roboto Mono Light"/>
                <a:sym typeface="Roboto Mono Light"/>
              </a:rPr>
              <a:t>&gt;&gt;&gt; [ 0.      	0.09983342  0.19866933  0.29552021  0.38941834  0.47942554</a:t>
            </a:r>
            <a:endParaRPr sz="1200">
              <a:latin typeface="Roboto Mono Light"/>
              <a:ea typeface="Roboto Mono Light"/>
              <a:cs typeface="Roboto Mono Light"/>
              <a:sym typeface="Roboto Mono Light"/>
            </a:endParaRPr>
          </a:p>
          <a:p>
            <a:pPr indent="0" lvl="0" marL="0" rtl="0" algn="l">
              <a:spcBef>
                <a:spcPts val="0"/>
              </a:spcBef>
              <a:spcAft>
                <a:spcPts val="0"/>
              </a:spcAft>
              <a:buNone/>
            </a:pPr>
            <a:r>
              <a:rPr lang="en-US" sz="1200">
                <a:latin typeface="Roboto Mono Light"/>
                <a:ea typeface="Roboto Mono Light"/>
                <a:cs typeface="Roboto Mono Light"/>
                <a:sym typeface="Roboto Mono Light"/>
              </a:rPr>
              <a:t>  0.56464247  0.64421769  0.71735609  0.78332691  0.84147098  0.89120736 ...</a:t>
            </a:r>
            <a:endParaRPr sz="1200">
              <a:latin typeface="Roboto Mono Light"/>
              <a:ea typeface="Roboto Mono Light"/>
              <a:cs typeface="Roboto Mono Light"/>
              <a:sym typeface="Roboto Mono Light"/>
            </a:endParaRPr>
          </a:p>
        </p:txBody>
      </p:sp>
      <p:sp>
        <p:nvSpPr>
          <p:cNvPr id="198" name="Google Shape;198;p26"/>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27"/>
          <p:cNvSpPr txBox="1"/>
          <p:nvPr>
            <p:ph type="title"/>
          </p:nvPr>
        </p:nvSpPr>
        <p:spPr>
          <a:xfrm>
            <a:off x="722313" y="3305175"/>
            <a:ext cx="7772400" cy="10215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DATA VISUALIZATION</a:t>
            </a:r>
            <a:endParaRPr/>
          </a:p>
        </p:txBody>
      </p:sp>
      <p:sp>
        <p:nvSpPr>
          <p:cNvPr id="205" name="Google Shape;205;p27"/>
          <p:cNvSpPr txBox="1"/>
          <p:nvPr>
            <p:ph idx="1" type="body"/>
          </p:nvPr>
        </p:nvSpPr>
        <p:spPr>
          <a:xfrm>
            <a:off x="722313" y="2180035"/>
            <a:ext cx="7772400" cy="1125000"/>
          </a:xfrm>
          <a:prstGeom prst="rect">
            <a:avLst/>
          </a:prstGeom>
        </p:spPr>
        <p:txBody>
          <a:bodyPr anchorCtr="0" anchor="b" bIns="45700" lIns="91425" spcFirstLastPara="1" rIns="91425" wrap="square" tIns="45700">
            <a:noAutofit/>
          </a:bodyPr>
          <a:lstStyle/>
          <a:p>
            <a:pPr indent="0" lvl="0" marL="0" rtl="0" algn="l">
              <a:spcBef>
                <a:spcPts val="400"/>
              </a:spcBef>
              <a:spcAft>
                <a:spcPts val="0"/>
              </a:spcAft>
              <a:buNone/>
            </a:pPr>
            <a:r>
              <a:t/>
            </a:r>
            <a:endParaRPr/>
          </a:p>
        </p:txBody>
      </p:sp>
      <p:sp>
        <p:nvSpPr>
          <p:cNvPr id="206" name="Google Shape;206;p27"/>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8"/>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Big Data</a:t>
            </a:r>
            <a:endParaRPr/>
          </a:p>
        </p:txBody>
      </p:sp>
      <p:sp>
        <p:nvSpPr>
          <p:cNvPr id="213" name="Google Shape;213;p28"/>
          <p:cNvSpPr txBox="1"/>
          <p:nvPr>
            <p:ph idx="1" type="body"/>
          </p:nvPr>
        </p:nvSpPr>
        <p:spPr>
          <a:xfrm>
            <a:off x="40106" y="998794"/>
            <a:ext cx="90669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It is</a:t>
            </a:r>
            <a:r>
              <a:rPr lang="en-US"/>
              <a:t> the era of Big Data. Organizations big and small are collecting data at an increasing rate. (And some of it may actually be useful!) One way to present all this data is to visualize it somehow; do some sort of </a:t>
            </a:r>
            <a:r>
              <a:rPr b="1" lang="en-US"/>
              <a:t>data visualization</a:t>
            </a:r>
            <a:r>
              <a:rPr lang="en-US"/>
              <a:t>. Why would you even want to do this?</a:t>
            </a:r>
            <a:endParaRPr/>
          </a:p>
          <a:p>
            <a:pPr indent="0" lvl="0" marL="0" rtl="0" algn="l">
              <a:spcBef>
                <a:spcPts val="0"/>
              </a:spcBef>
              <a:spcAft>
                <a:spcPts val="0"/>
              </a:spcAft>
              <a:buClr>
                <a:schemeClr val="dk1"/>
              </a:buClr>
              <a:buSzPts val="1100"/>
              <a:buFont typeface="Arial"/>
              <a:buNone/>
            </a:pPr>
            <a:r>
              <a:t/>
            </a:r>
            <a:endParaRPr/>
          </a:p>
          <a:p>
            <a:pPr indent="-330200" lvl="0" marL="457200" rtl="0" algn="l">
              <a:spcBef>
                <a:spcPts val="0"/>
              </a:spcBef>
              <a:spcAft>
                <a:spcPts val="0"/>
              </a:spcAft>
              <a:buSzPts val="1600"/>
              <a:buAutoNum type="arabicPeriod"/>
            </a:pPr>
            <a:r>
              <a:rPr lang="en-US"/>
              <a:t>Humans are visual creatures, so it's a good way to communicate data.</a:t>
            </a:r>
            <a:endParaRPr/>
          </a:p>
          <a:p>
            <a:pPr indent="-330200" lvl="0" marL="457200" rtl="0" algn="l">
              <a:spcBef>
                <a:spcPts val="0"/>
              </a:spcBef>
              <a:spcAft>
                <a:spcPts val="0"/>
              </a:spcAft>
              <a:buSzPts val="1600"/>
              <a:buAutoNum type="arabicPeriod"/>
            </a:pPr>
            <a:r>
              <a:rPr lang="en-US"/>
              <a:t>It will sometimes provide insight on how to take a swing at classification.</a:t>
            </a:r>
            <a:endParaRPr/>
          </a:p>
          <a:p>
            <a:pPr indent="-330200" lvl="0" marL="457200" rtl="0" algn="l">
              <a:spcBef>
                <a:spcPts val="0"/>
              </a:spcBef>
              <a:spcAft>
                <a:spcPts val="0"/>
              </a:spcAft>
              <a:buSzPts val="1600"/>
              <a:buAutoNum type="arabicPeriod"/>
            </a:pPr>
            <a:r>
              <a:rPr lang="en-US"/>
              <a:t>It often helps see patterns that are otherwise hard to see.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n-US"/>
              <a:t>And ultimately, it's a good first step at turning data into information - that is, something useful.</a:t>
            </a:r>
            <a:endParaRPr/>
          </a:p>
        </p:txBody>
      </p:sp>
      <p:sp>
        <p:nvSpPr>
          <p:cNvPr id="214" name="Google Shape;214;p28"/>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29"/>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Data Visualization in Python</a:t>
            </a:r>
            <a:endParaRPr/>
          </a:p>
        </p:txBody>
      </p:sp>
      <p:sp>
        <p:nvSpPr>
          <p:cNvPr id="221" name="Google Shape;221;p29"/>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Perhaps unsurprisingly, Python is an excellent tool for creating visualizations of data. There are many popular packages within Python for doing so; the most ubiquitous is matplotlib. It's what we will be using in this course for creating data visualizations.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n-US"/>
              <a:t>The form to the right is two </a:t>
            </a:r>
            <a:r>
              <a:rPr b="1" lang="en-US"/>
              <a:t>plots</a:t>
            </a:r>
            <a:r>
              <a:rPr lang="en-US"/>
              <a:t> contained in a </a:t>
            </a:r>
            <a:r>
              <a:rPr b="1" lang="en-US"/>
              <a:t>figure</a:t>
            </a:r>
            <a:r>
              <a:rPr lang="en-US"/>
              <a:t>.</a:t>
            </a:r>
            <a:endParaRPr/>
          </a:p>
        </p:txBody>
      </p:sp>
      <p:pic>
        <p:nvPicPr>
          <p:cNvPr id="222" name="Google Shape;222;p29"/>
          <p:cNvPicPr preferRelativeResize="0"/>
          <p:nvPr/>
        </p:nvPicPr>
        <p:blipFill rotWithShape="1">
          <a:blip r:embed="rId3">
            <a:alphaModFix/>
          </a:blip>
          <a:srcRect b="0" l="0" r="5891" t="0"/>
          <a:stretch/>
        </p:blipFill>
        <p:spPr>
          <a:xfrm>
            <a:off x="4833200" y="1117836"/>
            <a:ext cx="4064701" cy="3176539"/>
          </a:xfrm>
          <a:prstGeom prst="rect">
            <a:avLst/>
          </a:prstGeom>
          <a:noFill/>
          <a:ln>
            <a:noFill/>
          </a:ln>
        </p:spPr>
      </p:pic>
      <p:sp>
        <p:nvSpPr>
          <p:cNvPr id="223" name="Google Shape;223;p29"/>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30"/>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matplotlib</a:t>
            </a:r>
            <a:r>
              <a:rPr lang="en-US"/>
              <a:t>: including</a:t>
            </a:r>
            <a:endParaRPr/>
          </a:p>
        </p:txBody>
      </p:sp>
      <p:sp>
        <p:nvSpPr>
          <p:cNvPr id="230" name="Google Shape;230;p30"/>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Including matplotlib in your codebase is as easy as importing it.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Don't forget that if you haven't used it in this particular project before, you'll need to install it first! NOTE: Ed stem workspaces already have matplotlib installed!</a:t>
            </a:r>
            <a:endParaRPr/>
          </a:p>
        </p:txBody>
      </p:sp>
      <p:sp>
        <p:nvSpPr>
          <p:cNvPr id="231" name="Google Shape;231;p30"/>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b="1" lang="en-US" sz="1300">
                <a:solidFill>
                  <a:schemeClr val="dk1"/>
                </a:solidFill>
                <a:latin typeface="Roboto Mono"/>
                <a:ea typeface="Roboto Mono"/>
                <a:cs typeface="Roboto Mono"/>
                <a:sym typeface="Roboto Mono"/>
              </a:rPr>
              <a:t>import matplotlib.pyplot as plt</a:t>
            </a:r>
            <a:endParaRPr b="1" sz="1300">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a:latin typeface="Roboto Mono Light"/>
              <a:ea typeface="Roboto Mono Light"/>
              <a:cs typeface="Roboto Mono Light"/>
              <a:sym typeface="Roboto Mono Light"/>
            </a:endParaRPr>
          </a:p>
        </p:txBody>
      </p:sp>
      <p:sp>
        <p:nvSpPr>
          <p:cNvPr id="232" name="Google Shape;232;p30"/>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1"/>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matplotlib: your first "line"</a:t>
            </a:r>
            <a:endParaRPr/>
          </a:p>
        </p:txBody>
      </p:sp>
      <p:sp>
        <p:nvSpPr>
          <p:cNvPr id="239" name="Google Shape;239;p31"/>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300"/>
              <a:t>Let's actually use this package! You're going to want the </a:t>
            </a:r>
            <a:r>
              <a:rPr lang="en-US" sz="1300">
                <a:latin typeface="Roboto Mono Light"/>
                <a:ea typeface="Roboto Mono Light"/>
                <a:cs typeface="Roboto Mono Light"/>
                <a:sym typeface="Roboto Mono Light"/>
              </a:rPr>
              <a:t>pyplot</a:t>
            </a:r>
            <a:r>
              <a:rPr lang="en-US" sz="1300"/>
              <a:t> module within </a:t>
            </a:r>
            <a:r>
              <a:rPr lang="en-US" sz="1300">
                <a:latin typeface="Roboto Mono Light"/>
                <a:ea typeface="Roboto Mono Light"/>
                <a:cs typeface="Roboto Mono Light"/>
                <a:sym typeface="Roboto Mono Light"/>
              </a:rPr>
              <a:t>matplotlib</a:t>
            </a:r>
            <a:r>
              <a:rPr lang="en-US" sz="1300"/>
              <a:t>. Typically, this module is given a local name </a:t>
            </a:r>
            <a:r>
              <a:rPr lang="en-US" sz="1300">
                <a:latin typeface="Roboto Mono Light"/>
                <a:ea typeface="Roboto Mono Light"/>
                <a:cs typeface="Roboto Mono Light"/>
                <a:sym typeface="Roboto Mono Light"/>
              </a:rPr>
              <a:t>plt</a:t>
            </a:r>
            <a:r>
              <a:rPr lang="en-US" sz="1300"/>
              <a:t>.</a:t>
            </a:r>
            <a:endParaRPr sz="1300"/>
          </a:p>
          <a:p>
            <a:pPr indent="0" lvl="0" marL="0" rtl="0" algn="l">
              <a:spcBef>
                <a:spcPts val="0"/>
              </a:spcBef>
              <a:spcAft>
                <a:spcPts val="0"/>
              </a:spcAft>
              <a:buClr>
                <a:schemeClr val="dk1"/>
              </a:buClr>
              <a:buSzPts val="1100"/>
              <a:buFont typeface="Arial"/>
              <a:buNone/>
            </a:pPr>
            <a:r>
              <a:t/>
            </a:r>
            <a:endParaRPr sz="1300"/>
          </a:p>
          <a:p>
            <a:pPr indent="0" lvl="0" marL="0" rtl="0" algn="l">
              <a:spcBef>
                <a:spcPts val="0"/>
              </a:spcBef>
              <a:spcAft>
                <a:spcPts val="0"/>
              </a:spcAft>
              <a:buClr>
                <a:schemeClr val="dk1"/>
              </a:buClr>
              <a:buSzPts val="1100"/>
              <a:buFont typeface="Arial"/>
              <a:buNone/>
            </a:pPr>
            <a:r>
              <a:rPr lang="en-US" sz="1300"/>
              <a:t>Now you can access plotting functionality via the </a:t>
            </a:r>
            <a:r>
              <a:rPr lang="en-US" sz="1300">
                <a:latin typeface="Roboto Mono Light"/>
                <a:ea typeface="Roboto Mono Light"/>
                <a:cs typeface="Roboto Mono Light"/>
                <a:sym typeface="Roboto Mono Light"/>
              </a:rPr>
              <a:t>plt</a:t>
            </a:r>
            <a:r>
              <a:rPr lang="en-US" sz="1300"/>
              <a:t> object. To make a </a:t>
            </a:r>
            <a:r>
              <a:rPr lang="en-US" sz="1300"/>
              <a:t>line chart, first "plot" something; then </a:t>
            </a:r>
            <a:r>
              <a:rPr lang="en-US" sz="1300"/>
              <a:t>render the result by saving the image (making sure to give it a name!).</a:t>
            </a:r>
            <a:endParaRPr sz="1300"/>
          </a:p>
          <a:p>
            <a:pPr indent="0" lvl="0" marL="0" rtl="0" algn="l">
              <a:spcBef>
                <a:spcPts val="0"/>
              </a:spcBef>
              <a:spcAft>
                <a:spcPts val="0"/>
              </a:spcAft>
              <a:buClr>
                <a:schemeClr val="dk1"/>
              </a:buClr>
              <a:buSzPts val="1100"/>
              <a:buFont typeface="Arial"/>
              <a:buNone/>
            </a:pPr>
            <a:r>
              <a:t/>
            </a:r>
            <a:endParaRPr sz="1300"/>
          </a:p>
          <a:p>
            <a:pPr indent="0" lvl="0" marL="0" rtl="0" algn="l">
              <a:spcBef>
                <a:spcPts val="0"/>
              </a:spcBef>
              <a:spcAft>
                <a:spcPts val="0"/>
              </a:spcAft>
              <a:buNone/>
            </a:pPr>
            <a:r>
              <a:rPr lang="en-US" sz="1300"/>
              <a:t>A</a:t>
            </a:r>
            <a:r>
              <a:rPr lang="en-US" sz="1300"/>
              <a:t>nd voilà! You are now the proud owner of a new blank plot. Not very exciting … yet.</a:t>
            </a:r>
            <a:endParaRPr sz="1300"/>
          </a:p>
        </p:txBody>
      </p:sp>
      <p:sp>
        <p:nvSpPr>
          <p:cNvPr id="240" name="Google Shape;240;p31"/>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300">
                <a:latin typeface="Roboto Mono Light"/>
                <a:ea typeface="Roboto Mono Light"/>
                <a:cs typeface="Roboto Mono Light"/>
                <a:sym typeface="Roboto Mono Light"/>
              </a:rPr>
              <a:t>import matplotlib.pyplot as plt</a:t>
            </a:r>
            <a:endParaRPr sz="13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t/>
            </a:r>
            <a:endParaRPr sz="13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1300">
                <a:latin typeface="Roboto Mono Light"/>
                <a:ea typeface="Roboto Mono Light"/>
                <a:cs typeface="Roboto Mono Light"/>
                <a:sym typeface="Roboto Mono Light"/>
              </a:rPr>
              <a:t>def main():</a:t>
            </a:r>
            <a:endParaRPr sz="13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1300">
                <a:latin typeface="Roboto Mono Light"/>
                <a:ea typeface="Roboto Mono Light"/>
                <a:cs typeface="Roboto Mono Light"/>
                <a:sym typeface="Roboto Mono Light"/>
              </a:rPr>
              <a:t>	# previous code goes here</a:t>
            </a:r>
            <a:endParaRPr sz="1300">
              <a:latin typeface="Roboto Mono Light"/>
              <a:ea typeface="Roboto Mono Light"/>
              <a:cs typeface="Roboto Mono Light"/>
              <a:sym typeface="Roboto Mono Light"/>
            </a:endParaRPr>
          </a:p>
          <a:p>
            <a:pPr indent="0" lvl="0" marL="457200" rtl="0" algn="l">
              <a:spcBef>
                <a:spcPts val="0"/>
              </a:spcBef>
              <a:spcAft>
                <a:spcPts val="0"/>
              </a:spcAft>
              <a:buClr>
                <a:schemeClr val="dk1"/>
              </a:buClr>
              <a:buSzPts val="1100"/>
              <a:buFont typeface="Arial"/>
              <a:buNone/>
            </a:pPr>
            <a:r>
              <a:rPr lang="en-US" sz="1300">
                <a:latin typeface="Roboto Mono Light"/>
                <a:ea typeface="Roboto Mono Light"/>
                <a:cs typeface="Roboto Mono Light"/>
                <a:sym typeface="Roboto Mono Light"/>
              </a:rPr>
              <a:t>plt.plot()</a:t>
            </a:r>
            <a:endParaRPr sz="1300">
              <a:latin typeface="Roboto Mono Light"/>
              <a:ea typeface="Roboto Mono Light"/>
              <a:cs typeface="Roboto Mono Light"/>
              <a:sym typeface="Roboto Mono Light"/>
            </a:endParaRPr>
          </a:p>
          <a:p>
            <a:pPr indent="0" lvl="0" marL="457200" rtl="0" algn="l">
              <a:spcBef>
                <a:spcPts val="0"/>
              </a:spcBef>
              <a:spcAft>
                <a:spcPts val="0"/>
              </a:spcAft>
              <a:buNone/>
            </a:pPr>
            <a:r>
              <a:rPr lang="en-US" sz="1300">
                <a:latin typeface="Roboto Mono Light"/>
                <a:ea typeface="Roboto Mono Light"/>
                <a:cs typeface="Roboto Mono Light"/>
                <a:sym typeface="Roboto Mono Light"/>
              </a:rPr>
              <a:t>plt.savefig('name_of_image.png')</a:t>
            </a:r>
            <a:endParaRPr sz="1300">
              <a:latin typeface="Roboto Mono Light"/>
              <a:ea typeface="Roboto Mono Light"/>
              <a:cs typeface="Roboto Mono Light"/>
              <a:sym typeface="Roboto Mono Light"/>
            </a:endParaRPr>
          </a:p>
          <a:p>
            <a:pPr indent="0" lvl="0" marL="457200" rtl="0" algn="l">
              <a:spcBef>
                <a:spcPts val="0"/>
              </a:spcBef>
              <a:spcAft>
                <a:spcPts val="0"/>
              </a:spcAft>
              <a:buNone/>
            </a:pPr>
            <a:r>
              <a:t/>
            </a:r>
            <a:endParaRPr sz="1300">
              <a:latin typeface="Roboto Mono Light"/>
              <a:ea typeface="Roboto Mono Light"/>
              <a:cs typeface="Roboto Mono Light"/>
              <a:sym typeface="Roboto Mono Light"/>
            </a:endParaRPr>
          </a:p>
          <a:p>
            <a:pPr indent="0" lvl="0" marL="0" rtl="0" algn="l">
              <a:spcBef>
                <a:spcPts val="0"/>
              </a:spcBef>
              <a:spcAft>
                <a:spcPts val="0"/>
              </a:spcAft>
              <a:buNone/>
            </a:pPr>
            <a:r>
              <a:rPr lang="en-US" sz="1300">
                <a:latin typeface="Roboto Mono Light"/>
                <a:ea typeface="Roboto Mono Light"/>
                <a:cs typeface="Roboto Mono Light"/>
                <a:sym typeface="Roboto Mono Light"/>
              </a:rPr>
              <a:t>if __name__ == '__main__':</a:t>
            </a:r>
            <a:endParaRPr sz="1300">
              <a:latin typeface="Roboto Mono Light"/>
              <a:ea typeface="Roboto Mono Light"/>
              <a:cs typeface="Roboto Mono Light"/>
              <a:sym typeface="Roboto Mono Light"/>
            </a:endParaRPr>
          </a:p>
          <a:p>
            <a:pPr indent="0" lvl="0" marL="0" rtl="0" algn="l">
              <a:spcBef>
                <a:spcPts val="0"/>
              </a:spcBef>
              <a:spcAft>
                <a:spcPts val="0"/>
              </a:spcAft>
              <a:buNone/>
            </a:pPr>
            <a:r>
              <a:rPr lang="en-US" sz="1300">
                <a:latin typeface="Roboto Mono Light"/>
                <a:ea typeface="Roboto Mono Light"/>
                <a:cs typeface="Roboto Mono Light"/>
                <a:sym typeface="Roboto Mono Light"/>
              </a:rPr>
              <a:t>	main()</a:t>
            </a:r>
            <a:endParaRPr sz="1300">
              <a:latin typeface="Roboto Mono Light"/>
              <a:ea typeface="Roboto Mono Light"/>
              <a:cs typeface="Roboto Mono Light"/>
              <a:sym typeface="Roboto Mono Light"/>
            </a:endParaRPr>
          </a:p>
        </p:txBody>
      </p:sp>
      <p:sp>
        <p:nvSpPr>
          <p:cNvPr id="241" name="Google Shape;241;p31"/>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32"/>
          <p:cNvSpPr txBox="1"/>
          <p:nvPr>
            <p:ph type="title"/>
          </p:nvPr>
        </p:nvSpPr>
        <p:spPr>
          <a:xfrm>
            <a:off x="722313" y="3305175"/>
            <a:ext cx="7772400" cy="10215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FIGURES AND AXES</a:t>
            </a:r>
            <a:endParaRPr/>
          </a:p>
        </p:txBody>
      </p:sp>
      <p:sp>
        <p:nvSpPr>
          <p:cNvPr id="248" name="Google Shape;248;p32"/>
          <p:cNvSpPr txBox="1"/>
          <p:nvPr>
            <p:ph idx="1" type="body"/>
          </p:nvPr>
        </p:nvSpPr>
        <p:spPr>
          <a:xfrm>
            <a:off x="722313" y="2180035"/>
            <a:ext cx="7772400" cy="1125000"/>
          </a:xfrm>
          <a:prstGeom prst="rect">
            <a:avLst/>
          </a:prstGeom>
        </p:spPr>
        <p:txBody>
          <a:bodyPr anchorCtr="0" anchor="b" bIns="45700" lIns="91425" spcFirstLastPara="1" rIns="91425" wrap="square" tIns="45700">
            <a:noAutofit/>
          </a:bodyPr>
          <a:lstStyle/>
          <a:p>
            <a:pPr indent="0" lvl="0" marL="0" rtl="0" algn="l">
              <a:spcBef>
                <a:spcPts val="400"/>
              </a:spcBef>
              <a:spcAft>
                <a:spcPts val="0"/>
              </a:spcAft>
              <a:buNone/>
            </a:pPr>
            <a:r>
              <a:t/>
            </a:r>
            <a:endParaRPr/>
          </a:p>
        </p:txBody>
      </p:sp>
      <p:sp>
        <p:nvSpPr>
          <p:cNvPr id="249" name="Google Shape;249;p32"/>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33"/>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matplotlib: "Anatomy of a Figure"</a:t>
            </a:r>
            <a:endParaRPr/>
          </a:p>
        </p:txBody>
      </p:sp>
      <p:sp>
        <p:nvSpPr>
          <p:cNvPr id="256" name="Google Shape;256;p33"/>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2000"/>
              <a:t>The picture on the right is a good jumping-off point for understanding the terminology for plot features that matplotlib uses.</a:t>
            </a:r>
            <a:endParaRPr sz="2000"/>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t/>
            </a:r>
            <a:endParaRPr sz="1200">
              <a:latin typeface="Courier New"/>
              <a:ea typeface="Courier New"/>
              <a:cs typeface="Courier New"/>
              <a:sym typeface="Courier New"/>
            </a:endParaRPr>
          </a:p>
          <a:p>
            <a:pPr indent="0" lvl="0" marL="0" rtl="0" algn="ctr">
              <a:spcBef>
                <a:spcPts val="0"/>
              </a:spcBef>
              <a:spcAft>
                <a:spcPts val="0"/>
              </a:spcAft>
              <a:buNone/>
            </a:pPr>
            <a:r>
              <a:rPr i="1" lang="en-US" sz="800"/>
              <a:t>source: https://matplotlib.org/examples/showcase/anatomy.html</a:t>
            </a:r>
            <a:endParaRPr i="1" sz="800"/>
          </a:p>
        </p:txBody>
      </p:sp>
      <p:pic>
        <p:nvPicPr>
          <p:cNvPr id="257" name="Google Shape;257;p33"/>
          <p:cNvPicPr preferRelativeResize="0"/>
          <p:nvPr/>
        </p:nvPicPr>
        <p:blipFill rotWithShape="1">
          <a:blip r:embed="rId3">
            <a:alphaModFix/>
          </a:blip>
          <a:srcRect b="0" l="0" r="9297" t="5411"/>
          <a:stretch/>
        </p:blipFill>
        <p:spPr>
          <a:xfrm>
            <a:off x="5091900" y="1047750"/>
            <a:ext cx="3106746" cy="3240000"/>
          </a:xfrm>
          <a:prstGeom prst="rect">
            <a:avLst/>
          </a:prstGeom>
          <a:noFill/>
          <a:ln>
            <a:noFill/>
          </a:ln>
        </p:spPr>
      </p:pic>
      <p:sp>
        <p:nvSpPr>
          <p:cNvPr id="258" name="Google Shape;258;p33"/>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34"/>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Figures are the container</a:t>
            </a:r>
            <a:endParaRPr/>
          </a:p>
        </p:txBody>
      </p:sp>
      <p:sp>
        <p:nvSpPr>
          <p:cNvPr id="265" name="Google Shape;265;p34"/>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266" name="Google Shape;266;p34"/>
          <p:cNvSpPr txBox="1"/>
          <p:nvPr>
            <p:ph idx="1" type="body"/>
          </p:nvPr>
        </p:nvSpPr>
        <p:spPr>
          <a:xfrm>
            <a:off x="40106" y="998794"/>
            <a:ext cx="90669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2000"/>
              <a:t>When you create a pyplot object, what is actually created is a </a:t>
            </a:r>
            <a:r>
              <a:rPr b="1" lang="en-US" sz="2000"/>
              <a:t>Figure</a:t>
            </a:r>
            <a:r>
              <a:rPr lang="en-US" sz="2000"/>
              <a:t>. That Figure can contain one or more plotting areas; so far you've just been putting one plot inside of every Figure you make.</a:t>
            </a:r>
            <a:endParaRPr sz="20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35"/>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Axes are the plotting area</a:t>
            </a:r>
            <a:endParaRPr/>
          </a:p>
        </p:txBody>
      </p:sp>
      <p:sp>
        <p:nvSpPr>
          <p:cNvPr id="273" name="Google Shape;273;p35"/>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274" name="Google Shape;274;p35"/>
          <p:cNvSpPr txBox="1"/>
          <p:nvPr>
            <p:ph idx="1" type="body"/>
          </p:nvPr>
        </p:nvSpPr>
        <p:spPr>
          <a:xfrm>
            <a:off x="40106" y="998794"/>
            <a:ext cx="90669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Officially, plotting areas in pyplot are called </a:t>
            </a:r>
            <a:r>
              <a:rPr b="1" lang="en-US"/>
              <a:t>Axes</a:t>
            </a:r>
            <a:r>
              <a:rPr lang="en-US"/>
              <a:t>. calling </a:t>
            </a:r>
            <a:r>
              <a:rPr lang="en-US">
                <a:latin typeface="Roboto Mono Light"/>
                <a:ea typeface="Roboto Mono Light"/>
                <a:cs typeface="Roboto Mono Light"/>
                <a:sym typeface="Roboto Mono Light"/>
              </a:rPr>
              <a:t>plt.plot()</a:t>
            </a:r>
            <a:r>
              <a:rPr lang="en-US"/>
              <a:t> or any other plotting method </a:t>
            </a:r>
            <a:r>
              <a:rPr i="1" lang="en-US"/>
              <a:t>implicitly and automatically</a:t>
            </a:r>
            <a:r>
              <a:rPr lang="en-US"/>
              <a:t> creates a Figure with an Axes inside of it. But you will definitely want more control over what's happening. You might want to create:</a:t>
            </a:r>
            <a:endParaRPr/>
          </a:p>
          <a:p>
            <a:pPr indent="0" lvl="0" marL="0" rtl="0" algn="l">
              <a:spcBef>
                <a:spcPts val="0"/>
              </a:spcBef>
              <a:spcAft>
                <a:spcPts val="0"/>
              </a:spcAft>
              <a:buNone/>
            </a:pPr>
            <a:r>
              <a:t/>
            </a:r>
            <a:endParaRPr/>
          </a:p>
          <a:p>
            <a:pPr indent="-330200" lvl="0" marL="457200" rtl="0" algn="l">
              <a:spcBef>
                <a:spcPts val="0"/>
              </a:spcBef>
              <a:spcAft>
                <a:spcPts val="0"/>
              </a:spcAft>
              <a:buSzPts val="1600"/>
              <a:buAutoNum type="arabicPeriod"/>
            </a:pPr>
            <a:r>
              <a:rPr lang="en-US"/>
              <a:t>multiple Figures, each with a single Axes inside.</a:t>
            </a:r>
            <a:endParaRPr/>
          </a:p>
          <a:p>
            <a:pPr indent="-330200" lvl="0" marL="457200" rtl="0" algn="l">
              <a:spcBef>
                <a:spcPts val="0"/>
              </a:spcBef>
              <a:spcAft>
                <a:spcPts val="0"/>
              </a:spcAft>
              <a:buSzPts val="1600"/>
              <a:buAutoNum type="arabicPeriod"/>
            </a:pPr>
            <a:r>
              <a:rPr lang="en-US"/>
              <a:t>a single Figure containing multiple Axes (also known as </a:t>
            </a:r>
            <a:r>
              <a:rPr b="1" lang="en-US"/>
              <a:t>subplots</a:t>
            </a:r>
            <a:r>
              <a:rPr lang="en-US"/>
              <a:t>).</a:t>
            </a:r>
            <a:endParaRPr/>
          </a:p>
          <a:p>
            <a:pPr indent="-330200" lvl="0" marL="457200" rtl="0" algn="l">
              <a:spcBef>
                <a:spcPts val="0"/>
              </a:spcBef>
              <a:spcAft>
                <a:spcPts val="0"/>
              </a:spcAft>
              <a:buSzPts val="1600"/>
              <a:buAutoNum type="arabicPeriod"/>
            </a:pPr>
            <a:r>
              <a:rPr lang="en-US"/>
              <a:t>multiple Figures, each containing multiple Axes.</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36"/>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Figure construction: </a:t>
            </a:r>
            <a:r>
              <a:rPr lang="en-US">
                <a:latin typeface="Courier New"/>
                <a:ea typeface="Courier New"/>
                <a:cs typeface="Courier New"/>
                <a:sym typeface="Courier New"/>
              </a:rPr>
              <a:t>.subplot</a:t>
            </a:r>
            <a:r>
              <a:rPr lang="en-US">
                <a:latin typeface="Courier New"/>
                <a:ea typeface="Courier New"/>
                <a:cs typeface="Courier New"/>
                <a:sym typeface="Courier New"/>
              </a:rPr>
              <a:t>s</a:t>
            </a:r>
            <a:r>
              <a:rPr lang="en-US">
                <a:latin typeface="Courier New"/>
                <a:ea typeface="Courier New"/>
                <a:cs typeface="Courier New"/>
                <a:sym typeface="Courier New"/>
              </a:rPr>
              <a:t>()</a:t>
            </a:r>
            <a:endParaRPr>
              <a:latin typeface="Courier New"/>
              <a:ea typeface="Courier New"/>
              <a:cs typeface="Courier New"/>
              <a:sym typeface="Courier New"/>
            </a:endParaRPr>
          </a:p>
        </p:txBody>
      </p:sp>
      <p:sp>
        <p:nvSpPr>
          <p:cNvPr id="281" name="Google Shape;281;p36"/>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300"/>
              <a:t>If you want to control the Figure and any of the internal Axes, you'll need a new method. Enter </a:t>
            </a:r>
            <a:r>
              <a:rPr b="1" lang="en-US" sz="1300">
                <a:latin typeface="Roboto Mono"/>
                <a:ea typeface="Roboto Mono"/>
                <a:cs typeface="Roboto Mono"/>
                <a:sym typeface="Roboto Mono"/>
              </a:rPr>
              <a:t>plt.subplots()</a:t>
            </a:r>
            <a:r>
              <a:rPr lang="en-US" sz="1300"/>
              <a:t>. This method will return two items to you:</a:t>
            </a:r>
            <a:endParaRPr sz="1300"/>
          </a:p>
          <a:p>
            <a:pPr indent="0" lvl="0" marL="0" rtl="0" algn="l">
              <a:spcBef>
                <a:spcPts val="0"/>
              </a:spcBef>
              <a:spcAft>
                <a:spcPts val="0"/>
              </a:spcAft>
              <a:buClr>
                <a:schemeClr val="dk1"/>
              </a:buClr>
              <a:buSzPts val="1100"/>
              <a:buFont typeface="Arial"/>
              <a:buNone/>
            </a:pPr>
            <a:r>
              <a:t/>
            </a:r>
            <a:endParaRPr sz="1300"/>
          </a:p>
          <a:p>
            <a:pPr indent="-311150" lvl="0" marL="457200" rtl="0" algn="l">
              <a:spcBef>
                <a:spcPts val="0"/>
              </a:spcBef>
              <a:spcAft>
                <a:spcPts val="0"/>
              </a:spcAft>
              <a:buSzPts val="1300"/>
              <a:buAutoNum type="arabicPeriod"/>
            </a:pPr>
            <a:r>
              <a:rPr lang="en-US" sz="1300"/>
              <a:t>the Figure itself</a:t>
            </a:r>
            <a:endParaRPr sz="1300"/>
          </a:p>
          <a:p>
            <a:pPr indent="-311150" lvl="0" marL="457200" rtl="0" algn="l">
              <a:spcBef>
                <a:spcPts val="0"/>
              </a:spcBef>
              <a:spcAft>
                <a:spcPts val="0"/>
              </a:spcAft>
              <a:buSzPts val="1300"/>
              <a:buAutoNum type="arabicPeriod"/>
            </a:pPr>
            <a:r>
              <a:rPr lang="en-US" sz="1300"/>
              <a:t>the collection (</a:t>
            </a:r>
            <a:r>
              <a:rPr b="1" lang="en-US" sz="1300"/>
              <a:t>actually an </a:t>
            </a:r>
            <a:r>
              <a:rPr b="1" lang="en-US" sz="1300">
                <a:latin typeface="Roboto Mono"/>
                <a:ea typeface="Roboto Mono"/>
                <a:cs typeface="Roboto Mono"/>
                <a:sym typeface="Roboto Mono"/>
              </a:rPr>
              <a:t>ndarray</a:t>
            </a:r>
            <a:r>
              <a:rPr b="1" lang="en-US" sz="1300"/>
              <a:t>!</a:t>
            </a:r>
            <a:r>
              <a:rPr lang="en-US" sz="1300"/>
              <a:t>) of all the internal Axes.</a:t>
            </a:r>
            <a:endParaRPr sz="1300"/>
          </a:p>
          <a:p>
            <a:pPr indent="0" lvl="0" marL="0" rtl="0" algn="l">
              <a:spcBef>
                <a:spcPts val="0"/>
              </a:spcBef>
              <a:spcAft>
                <a:spcPts val="0"/>
              </a:spcAft>
              <a:buClr>
                <a:schemeClr val="dk1"/>
              </a:buClr>
              <a:buSzPts val="1100"/>
              <a:buFont typeface="Arial"/>
              <a:buNone/>
            </a:pPr>
            <a:r>
              <a:t/>
            </a:r>
            <a:endParaRPr sz="1300"/>
          </a:p>
          <a:p>
            <a:pPr indent="0" lvl="0" marL="0" rtl="0" algn="l">
              <a:spcBef>
                <a:spcPts val="0"/>
              </a:spcBef>
              <a:spcAft>
                <a:spcPts val="0"/>
              </a:spcAft>
              <a:buClr>
                <a:schemeClr val="dk1"/>
              </a:buClr>
              <a:buSzPts val="1100"/>
              <a:buFont typeface="Arial"/>
              <a:buNone/>
            </a:pPr>
            <a:r>
              <a:rPr i="1" lang="en-US" sz="1300"/>
              <a:t>You'll note that this method takes two numeric arguments</a:t>
            </a:r>
            <a:r>
              <a:rPr lang="en-US" sz="1300"/>
              <a:t>: the first is the number of rows of Axes you want, and the second is the number of columns.</a:t>
            </a:r>
            <a:endParaRPr sz="1300"/>
          </a:p>
        </p:txBody>
      </p:sp>
      <p:sp>
        <p:nvSpPr>
          <p:cNvPr id="282" name="Google Shape;282;p36"/>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100">
                <a:latin typeface="Roboto Mono Light"/>
                <a:ea typeface="Roboto Mono Light"/>
                <a:cs typeface="Roboto Mono Light"/>
                <a:sym typeface="Roboto Mono Light"/>
              </a:rPr>
              <a:t>import matplotlib.pyplot as plt</a:t>
            </a:r>
            <a:endParaRPr sz="11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t/>
            </a:r>
            <a:endParaRPr sz="11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1100">
                <a:latin typeface="Roboto Mono Light"/>
                <a:ea typeface="Roboto Mono Light"/>
                <a:cs typeface="Roboto Mono Light"/>
                <a:sym typeface="Roboto Mono Light"/>
              </a:rPr>
              <a:t>def main():</a:t>
            </a:r>
            <a:endParaRPr sz="11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1100">
                <a:latin typeface="Roboto Mono Light"/>
                <a:ea typeface="Roboto Mono Light"/>
                <a:cs typeface="Roboto Mono Light"/>
                <a:sym typeface="Roboto Mono Light"/>
              </a:rPr>
              <a:t>	</a:t>
            </a:r>
            <a:r>
              <a:rPr lang="en-US" sz="1100">
                <a:solidFill>
                  <a:schemeClr val="dk1"/>
                </a:solidFill>
                <a:latin typeface="Roboto Mono Light"/>
                <a:ea typeface="Roboto Mono Light"/>
                <a:cs typeface="Roboto Mono Light"/>
                <a:sym typeface="Roboto Mono Light"/>
              </a:rPr>
              <a:t>data_a = [1, 2, 3, 4]</a:t>
            </a:r>
            <a:endParaRPr sz="11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1100">
                <a:solidFill>
                  <a:schemeClr val="dk1"/>
                </a:solidFill>
                <a:latin typeface="Roboto Mono Light"/>
                <a:ea typeface="Roboto Mono Light"/>
                <a:cs typeface="Roboto Mono Light"/>
                <a:sym typeface="Roboto Mono Light"/>
              </a:rPr>
              <a:t>	data_b = [1, 4, 9, 16]</a:t>
            </a:r>
            <a:endParaRPr sz="11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t/>
            </a:r>
            <a:endParaRPr sz="11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1100">
                <a:solidFill>
                  <a:schemeClr val="dk1"/>
                </a:solidFill>
                <a:latin typeface="Roboto Mono Light"/>
                <a:ea typeface="Roboto Mono Light"/>
                <a:cs typeface="Roboto Mono Light"/>
                <a:sym typeface="Roboto Mono Light"/>
              </a:rPr>
              <a:t>	</a:t>
            </a:r>
            <a:r>
              <a:rPr b="1" lang="en-US" sz="1100">
                <a:solidFill>
                  <a:schemeClr val="dk1"/>
                </a:solidFill>
                <a:latin typeface="Roboto Mono"/>
                <a:ea typeface="Roboto Mono"/>
                <a:cs typeface="Roboto Mono"/>
                <a:sym typeface="Roboto Mono"/>
              </a:rPr>
              <a:t>fig, ax = plt.subplots(1, 1)</a:t>
            </a:r>
            <a:endParaRPr b="1" sz="1100">
              <a:solidFill>
                <a:schemeClr val="dk1"/>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sz="1100">
                <a:solidFill>
                  <a:schemeClr val="dk1"/>
                </a:solidFill>
                <a:latin typeface="Roboto Mono Light"/>
                <a:ea typeface="Roboto Mono Light"/>
                <a:cs typeface="Roboto Mono Light"/>
                <a:sym typeface="Roboto Mono Light"/>
              </a:rPr>
              <a:t>	</a:t>
            </a:r>
            <a:r>
              <a:rPr b="1" lang="en-US" sz="1100">
                <a:solidFill>
                  <a:schemeClr val="dk1"/>
                </a:solidFill>
                <a:latin typeface="Roboto Mono"/>
                <a:ea typeface="Roboto Mono"/>
                <a:cs typeface="Roboto Mono"/>
                <a:sym typeface="Roboto Mono"/>
              </a:rPr>
              <a:t>ax.plot</a:t>
            </a:r>
            <a:r>
              <a:rPr lang="en-US" sz="1100">
                <a:solidFill>
                  <a:schemeClr val="dk1"/>
                </a:solidFill>
                <a:latin typeface="Roboto Mono Light"/>
                <a:ea typeface="Roboto Mono Light"/>
                <a:cs typeface="Roboto Mono Light"/>
                <a:sym typeface="Roboto Mono Light"/>
              </a:rPr>
              <a:t>(data_a, data_b)</a:t>
            </a:r>
            <a:endParaRPr sz="11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1100">
                <a:solidFill>
                  <a:schemeClr val="dk1"/>
                </a:solidFill>
                <a:latin typeface="Roboto Mono Light"/>
                <a:ea typeface="Roboto Mono Light"/>
                <a:cs typeface="Roboto Mono Light"/>
                <a:sym typeface="Roboto Mono Light"/>
              </a:rPr>
              <a:t>	</a:t>
            </a:r>
            <a:r>
              <a:rPr b="1" lang="en-US" sz="1100">
                <a:solidFill>
                  <a:schemeClr val="dk1"/>
                </a:solidFill>
                <a:latin typeface="Roboto Mono"/>
                <a:ea typeface="Roboto Mono"/>
                <a:cs typeface="Roboto Mono"/>
                <a:sym typeface="Roboto Mono"/>
              </a:rPr>
              <a:t>ax.plot</a:t>
            </a:r>
            <a:r>
              <a:rPr lang="en-US" sz="1100">
                <a:solidFill>
                  <a:schemeClr val="dk1"/>
                </a:solidFill>
                <a:latin typeface="Roboto Mono Light"/>
                <a:ea typeface="Roboto Mono Light"/>
                <a:cs typeface="Roboto Mono Light"/>
                <a:sym typeface="Roboto Mono Light"/>
              </a:rPr>
              <a:t>(data_b, data_a)</a:t>
            </a:r>
            <a:endParaRPr sz="11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1100">
                <a:solidFill>
                  <a:schemeClr val="dk1"/>
                </a:solidFill>
                <a:latin typeface="Roboto Mono Light"/>
                <a:ea typeface="Roboto Mono Light"/>
                <a:cs typeface="Roboto Mono Light"/>
                <a:sym typeface="Roboto Mono Light"/>
              </a:rPr>
              <a:t>	</a:t>
            </a:r>
            <a:r>
              <a:rPr b="1" lang="en-US" sz="1100">
                <a:solidFill>
                  <a:schemeClr val="dk1"/>
                </a:solidFill>
                <a:latin typeface="Roboto Mono"/>
                <a:ea typeface="Roboto Mono"/>
                <a:cs typeface="Roboto Mono"/>
                <a:sym typeface="Roboto Mono"/>
              </a:rPr>
              <a:t>fig.savefig</a:t>
            </a:r>
            <a:r>
              <a:rPr lang="en-US" sz="1100">
                <a:solidFill>
                  <a:schemeClr val="dk1"/>
                </a:solidFill>
                <a:latin typeface="Roboto Mono Light"/>
                <a:ea typeface="Roboto Mono Light"/>
                <a:cs typeface="Roboto Mono Light"/>
                <a:sym typeface="Roboto Mono Light"/>
              </a:rPr>
              <a:t>('figures_are_awesome.png')</a:t>
            </a:r>
            <a:endParaRPr sz="11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t/>
            </a:r>
            <a:endParaRPr sz="11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1100">
                <a:solidFill>
                  <a:schemeClr val="dk1"/>
                </a:solidFill>
                <a:latin typeface="Roboto Mono Light"/>
                <a:ea typeface="Roboto Mono Light"/>
                <a:cs typeface="Roboto Mono Light"/>
                <a:sym typeface="Roboto Mono Light"/>
              </a:rPr>
              <a:t>if __name__ == '__main__':</a:t>
            </a:r>
            <a:endParaRPr sz="11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1100">
                <a:solidFill>
                  <a:schemeClr val="dk1"/>
                </a:solidFill>
                <a:latin typeface="Roboto Mono Light"/>
                <a:ea typeface="Roboto Mono Light"/>
                <a:cs typeface="Roboto Mono Light"/>
                <a:sym typeface="Roboto Mono Light"/>
              </a:rPr>
              <a:t>	main()</a:t>
            </a:r>
            <a:endParaRPr sz="1100">
              <a:latin typeface="Roboto Mono Light"/>
              <a:ea typeface="Roboto Mono Light"/>
              <a:cs typeface="Roboto Mono Light"/>
              <a:sym typeface="Roboto Mono Light"/>
            </a:endParaRPr>
          </a:p>
        </p:txBody>
      </p:sp>
      <p:sp>
        <p:nvSpPr>
          <p:cNvPr id="283" name="Google Shape;283;p36"/>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37"/>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Axes: accessing from an array</a:t>
            </a:r>
            <a:endParaRPr/>
          </a:p>
        </p:txBody>
      </p:sp>
      <p:sp>
        <p:nvSpPr>
          <p:cNvPr id="290" name="Google Shape;290;p37"/>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This is great and all, but what if you want to access more than one subplot? If you give the </a:t>
            </a:r>
            <a:r>
              <a:rPr lang="en-US">
                <a:latin typeface="Roboto Mono Light"/>
                <a:ea typeface="Roboto Mono Light"/>
                <a:cs typeface="Roboto Mono Light"/>
                <a:sym typeface="Roboto Mono Light"/>
              </a:rPr>
              <a:t>.subplots()</a:t>
            </a:r>
            <a:r>
              <a:rPr lang="en-US"/>
              <a:t> method arguments to create more than one subplot, you can access them like you would access any individual item in an ndarray: via </a:t>
            </a:r>
            <a:r>
              <a:rPr b="1" lang="en-US"/>
              <a:t>indexing</a:t>
            </a:r>
            <a:r>
              <a:rPr lang="en-US"/>
              <a:t>!</a:t>
            </a:r>
            <a:endParaRPr/>
          </a:p>
        </p:txBody>
      </p:sp>
      <p:sp>
        <p:nvSpPr>
          <p:cNvPr id="291" name="Google Shape;291;p37"/>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900">
                <a:latin typeface="Roboto Mono Light"/>
                <a:ea typeface="Roboto Mono Light"/>
                <a:cs typeface="Roboto Mono Light"/>
                <a:sym typeface="Roboto Mono Light"/>
              </a:rPr>
              <a:t>import matplotlib.pyplot as plt</a:t>
            </a:r>
            <a:endParaRPr sz="9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t/>
            </a:r>
            <a:endParaRPr sz="9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900">
                <a:latin typeface="Roboto Mono Light"/>
                <a:ea typeface="Roboto Mono Light"/>
                <a:cs typeface="Roboto Mono Light"/>
                <a:sym typeface="Roboto Mono Light"/>
              </a:rPr>
              <a:t>def main():</a:t>
            </a:r>
            <a:endParaRPr sz="900">
              <a:latin typeface="Roboto Mono Light"/>
              <a:ea typeface="Roboto Mono Light"/>
              <a:cs typeface="Roboto Mono Light"/>
              <a:sym typeface="Roboto Mono Light"/>
            </a:endParaRPr>
          </a:p>
          <a:p>
            <a:pPr indent="0" lvl="0" marL="457200" rtl="0" algn="l">
              <a:spcBef>
                <a:spcPts val="0"/>
              </a:spcBef>
              <a:spcAft>
                <a:spcPts val="0"/>
              </a:spcAft>
              <a:buClr>
                <a:schemeClr val="dk1"/>
              </a:buClr>
              <a:buSzPts val="1100"/>
              <a:buFont typeface="Arial"/>
              <a:buNone/>
            </a:pPr>
            <a:r>
              <a:rPr lang="en-US" sz="900">
                <a:latin typeface="Roboto Mono Light"/>
                <a:ea typeface="Roboto Mono Light"/>
                <a:cs typeface="Roboto Mono Light"/>
                <a:sym typeface="Roboto Mono Light"/>
              </a:rPr>
              <a:t>data_a = [1, 2, 3, 4]</a:t>
            </a:r>
            <a:endParaRPr sz="900">
              <a:latin typeface="Roboto Mono Light"/>
              <a:ea typeface="Roboto Mono Light"/>
              <a:cs typeface="Roboto Mono Light"/>
              <a:sym typeface="Roboto Mono Light"/>
            </a:endParaRPr>
          </a:p>
          <a:p>
            <a:pPr indent="0" lvl="0" marL="457200" rtl="0" algn="l">
              <a:spcBef>
                <a:spcPts val="0"/>
              </a:spcBef>
              <a:spcAft>
                <a:spcPts val="0"/>
              </a:spcAft>
              <a:buClr>
                <a:schemeClr val="dk1"/>
              </a:buClr>
              <a:buSzPts val="1100"/>
              <a:buFont typeface="Arial"/>
              <a:buNone/>
            </a:pPr>
            <a:r>
              <a:rPr lang="en-US" sz="900">
                <a:latin typeface="Roboto Mono Light"/>
                <a:ea typeface="Roboto Mono Light"/>
                <a:cs typeface="Roboto Mono Light"/>
                <a:sym typeface="Roboto Mono Light"/>
              </a:rPr>
              <a:t>data_b = [1, 4, 9, 16]</a:t>
            </a:r>
            <a:endParaRPr sz="900">
              <a:latin typeface="Roboto Mono Light"/>
              <a:ea typeface="Roboto Mono Light"/>
              <a:cs typeface="Roboto Mono Light"/>
              <a:sym typeface="Roboto Mono Light"/>
            </a:endParaRPr>
          </a:p>
          <a:p>
            <a:pPr indent="0" lvl="0" marL="457200" rtl="0" algn="l">
              <a:spcBef>
                <a:spcPts val="0"/>
              </a:spcBef>
              <a:spcAft>
                <a:spcPts val="0"/>
              </a:spcAft>
              <a:buClr>
                <a:schemeClr val="dk1"/>
              </a:buClr>
              <a:buSzPts val="1100"/>
              <a:buFont typeface="Arial"/>
              <a:buNone/>
            </a:pPr>
            <a:r>
              <a:rPr lang="en-US" sz="900">
                <a:latin typeface="Roboto Mono Light"/>
                <a:ea typeface="Roboto Mono Light"/>
                <a:cs typeface="Roboto Mono Light"/>
                <a:sym typeface="Roboto Mono Light"/>
              </a:rPr>
              <a:t>data_c = [1, 8, 27, 64]</a:t>
            </a:r>
            <a:endParaRPr sz="900">
              <a:latin typeface="Roboto Mono Light"/>
              <a:ea typeface="Roboto Mono Light"/>
              <a:cs typeface="Roboto Mono Light"/>
              <a:sym typeface="Roboto Mono Light"/>
            </a:endParaRPr>
          </a:p>
          <a:p>
            <a:pPr indent="0" lvl="0" marL="457200" rtl="0" algn="l">
              <a:spcBef>
                <a:spcPts val="0"/>
              </a:spcBef>
              <a:spcAft>
                <a:spcPts val="0"/>
              </a:spcAft>
              <a:buClr>
                <a:schemeClr val="dk1"/>
              </a:buClr>
              <a:buSzPts val="1100"/>
              <a:buFont typeface="Arial"/>
              <a:buNone/>
            </a:pPr>
            <a:r>
              <a:rPr lang="en-US" sz="900">
                <a:latin typeface="Roboto Mono Light"/>
                <a:ea typeface="Roboto Mono Light"/>
                <a:cs typeface="Roboto Mono Light"/>
                <a:sym typeface="Roboto Mono Light"/>
              </a:rPr>
              <a:t>fig, ax = plt.subplots(</a:t>
            </a:r>
            <a:r>
              <a:rPr b="1" lang="en-US" sz="900">
                <a:latin typeface="Roboto Mono"/>
                <a:ea typeface="Roboto Mono"/>
                <a:cs typeface="Roboto Mono"/>
                <a:sym typeface="Roboto Mono"/>
              </a:rPr>
              <a:t>2, 2</a:t>
            </a:r>
            <a:r>
              <a:rPr lang="en-US" sz="900">
                <a:latin typeface="Roboto Mono Light"/>
                <a:ea typeface="Roboto Mono Light"/>
                <a:cs typeface="Roboto Mono Light"/>
                <a:sym typeface="Roboto Mono Light"/>
              </a:rPr>
              <a:t>)</a:t>
            </a:r>
            <a:endParaRPr sz="900">
              <a:latin typeface="Roboto Mono Light"/>
              <a:ea typeface="Roboto Mono Light"/>
              <a:cs typeface="Roboto Mono Light"/>
              <a:sym typeface="Roboto Mono Light"/>
            </a:endParaRPr>
          </a:p>
          <a:p>
            <a:pPr indent="0" lvl="0" marL="457200" rtl="0" algn="l">
              <a:spcBef>
                <a:spcPts val="0"/>
              </a:spcBef>
              <a:spcAft>
                <a:spcPts val="0"/>
              </a:spcAft>
              <a:buClr>
                <a:schemeClr val="dk1"/>
              </a:buClr>
              <a:buSzPts val="1100"/>
              <a:buFont typeface="Arial"/>
              <a:buNone/>
            </a:pPr>
            <a:r>
              <a:rPr lang="en-US" sz="900">
                <a:latin typeface="Roboto Mono Light"/>
                <a:ea typeface="Roboto Mono Light"/>
                <a:cs typeface="Roboto Mono Light"/>
                <a:sym typeface="Roboto Mono Light"/>
              </a:rPr>
              <a:t>ax[</a:t>
            </a:r>
            <a:r>
              <a:rPr b="1" lang="en-US" sz="900">
                <a:latin typeface="Roboto Mono"/>
                <a:ea typeface="Roboto Mono"/>
                <a:cs typeface="Roboto Mono"/>
                <a:sym typeface="Roboto Mono"/>
              </a:rPr>
              <a:t>0, 0</a:t>
            </a:r>
            <a:r>
              <a:rPr lang="en-US" sz="900">
                <a:latin typeface="Roboto Mono Light"/>
                <a:ea typeface="Roboto Mono Light"/>
                <a:cs typeface="Roboto Mono Light"/>
                <a:sym typeface="Roboto Mono Light"/>
              </a:rPr>
              <a:t>].plot(data_a, data_b)</a:t>
            </a:r>
            <a:endParaRPr sz="900">
              <a:latin typeface="Roboto Mono Light"/>
              <a:ea typeface="Roboto Mono Light"/>
              <a:cs typeface="Roboto Mono Light"/>
              <a:sym typeface="Roboto Mono Light"/>
            </a:endParaRPr>
          </a:p>
          <a:p>
            <a:pPr indent="0" lvl="0" marL="457200" rtl="0" algn="l">
              <a:spcBef>
                <a:spcPts val="0"/>
              </a:spcBef>
              <a:spcAft>
                <a:spcPts val="0"/>
              </a:spcAft>
              <a:buClr>
                <a:schemeClr val="dk1"/>
              </a:buClr>
              <a:buSzPts val="1100"/>
              <a:buFont typeface="Arial"/>
              <a:buNone/>
            </a:pPr>
            <a:r>
              <a:rPr lang="en-US" sz="900">
                <a:latin typeface="Roboto Mono Light"/>
                <a:ea typeface="Roboto Mono Light"/>
                <a:cs typeface="Roboto Mono Light"/>
                <a:sym typeface="Roboto Mono Light"/>
              </a:rPr>
              <a:t>ax[</a:t>
            </a:r>
            <a:r>
              <a:rPr b="1" lang="en-US" sz="900">
                <a:latin typeface="Roboto Mono"/>
                <a:ea typeface="Roboto Mono"/>
                <a:cs typeface="Roboto Mono"/>
                <a:sym typeface="Roboto Mono"/>
              </a:rPr>
              <a:t>0, 1</a:t>
            </a:r>
            <a:r>
              <a:rPr lang="en-US" sz="900">
                <a:latin typeface="Roboto Mono Light"/>
                <a:ea typeface="Roboto Mono Light"/>
                <a:cs typeface="Roboto Mono Light"/>
                <a:sym typeface="Roboto Mono Light"/>
              </a:rPr>
              <a:t>].plot(data_b, data_a)</a:t>
            </a:r>
            <a:endParaRPr sz="900">
              <a:latin typeface="Roboto Mono Light"/>
              <a:ea typeface="Roboto Mono Light"/>
              <a:cs typeface="Roboto Mono Light"/>
              <a:sym typeface="Roboto Mono Light"/>
            </a:endParaRPr>
          </a:p>
          <a:p>
            <a:pPr indent="0" lvl="0" marL="457200" rtl="0" algn="l">
              <a:spcBef>
                <a:spcPts val="0"/>
              </a:spcBef>
              <a:spcAft>
                <a:spcPts val="0"/>
              </a:spcAft>
              <a:buClr>
                <a:schemeClr val="dk1"/>
              </a:buClr>
              <a:buSzPts val="1100"/>
              <a:buFont typeface="Arial"/>
              <a:buNone/>
            </a:pPr>
            <a:r>
              <a:rPr lang="en-US" sz="900">
                <a:latin typeface="Roboto Mono Light"/>
                <a:ea typeface="Roboto Mono Light"/>
                <a:cs typeface="Roboto Mono Light"/>
                <a:sym typeface="Roboto Mono Light"/>
              </a:rPr>
              <a:t>ax[</a:t>
            </a:r>
            <a:r>
              <a:rPr b="1" lang="en-US" sz="900">
                <a:latin typeface="Roboto Mono"/>
                <a:ea typeface="Roboto Mono"/>
                <a:cs typeface="Roboto Mono"/>
                <a:sym typeface="Roboto Mono"/>
              </a:rPr>
              <a:t>1, 0</a:t>
            </a:r>
            <a:r>
              <a:rPr lang="en-US" sz="900">
                <a:latin typeface="Roboto Mono Light"/>
                <a:ea typeface="Roboto Mono Light"/>
                <a:cs typeface="Roboto Mono Light"/>
                <a:sym typeface="Roboto Mono Light"/>
              </a:rPr>
              <a:t>].plot(data_c, data_a)</a:t>
            </a:r>
            <a:endParaRPr sz="900">
              <a:latin typeface="Roboto Mono Light"/>
              <a:ea typeface="Roboto Mono Light"/>
              <a:cs typeface="Roboto Mono Light"/>
              <a:sym typeface="Roboto Mono Light"/>
            </a:endParaRPr>
          </a:p>
          <a:p>
            <a:pPr indent="0" lvl="0" marL="457200" rtl="0" algn="l">
              <a:spcBef>
                <a:spcPts val="0"/>
              </a:spcBef>
              <a:spcAft>
                <a:spcPts val="0"/>
              </a:spcAft>
              <a:buClr>
                <a:schemeClr val="dk1"/>
              </a:buClr>
              <a:buSzPts val="1100"/>
              <a:buFont typeface="Arial"/>
              <a:buNone/>
            </a:pPr>
            <a:r>
              <a:rPr lang="en-US" sz="900">
                <a:latin typeface="Roboto Mono Light"/>
                <a:ea typeface="Roboto Mono Light"/>
                <a:cs typeface="Roboto Mono Light"/>
                <a:sym typeface="Roboto Mono Light"/>
              </a:rPr>
              <a:t>ax[</a:t>
            </a:r>
            <a:r>
              <a:rPr b="1" lang="en-US" sz="900">
                <a:latin typeface="Roboto Mono"/>
                <a:ea typeface="Roboto Mono"/>
                <a:cs typeface="Roboto Mono"/>
                <a:sym typeface="Roboto Mono"/>
              </a:rPr>
              <a:t>1, 1</a:t>
            </a:r>
            <a:r>
              <a:rPr lang="en-US" sz="900">
                <a:latin typeface="Roboto Mono Light"/>
                <a:ea typeface="Roboto Mono Light"/>
                <a:cs typeface="Roboto Mono Light"/>
                <a:sym typeface="Roboto Mono Light"/>
              </a:rPr>
              <a:t>].plot(data_b, data_c)</a:t>
            </a:r>
            <a:endParaRPr sz="900">
              <a:latin typeface="Roboto Mono Light"/>
              <a:ea typeface="Roboto Mono Light"/>
              <a:cs typeface="Roboto Mono Light"/>
              <a:sym typeface="Roboto Mono Light"/>
            </a:endParaRPr>
          </a:p>
          <a:p>
            <a:pPr indent="0" lvl="0" marL="457200" rtl="0" algn="l">
              <a:spcBef>
                <a:spcPts val="0"/>
              </a:spcBef>
              <a:spcAft>
                <a:spcPts val="0"/>
              </a:spcAft>
              <a:buClr>
                <a:schemeClr val="dk1"/>
              </a:buClr>
              <a:buSzPts val="1100"/>
              <a:buFont typeface="Arial"/>
              <a:buNone/>
            </a:pPr>
            <a:r>
              <a:rPr lang="en-US" sz="900">
                <a:latin typeface="Roboto Mono Light"/>
                <a:ea typeface="Roboto Mono Light"/>
                <a:cs typeface="Roboto Mono Light"/>
                <a:sym typeface="Roboto Mono Light"/>
              </a:rPr>
              <a:t>fig.savefig('subplots_are_awesome.png')</a:t>
            </a:r>
            <a:endParaRPr sz="9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t/>
            </a:r>
            <a:endParaRPr sz="9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900">
                <a:latin typeface="Roboto Mono Light"/>
                <a:ea typeface="Roboto Mono Light"/>
                <a:cs typeface="Roboto Mono Light"/>
                <a:sym typeface="Roboto Mono Light"/>
              </a:rPr>
              <a:t>if __name__ == "__main__":</a:t>
            </a:r>
            <a:endParaRPr sz="900">
              <a:latin typeface="Roboto Mono Light"/>
              <a:ea typeface="Roboto Mono Light"/>
              <a:cs typeface="Roboto Mono Light"/>
              <a:sym typeface="Roboto Mono Light"/>
            </a:endParaRPr>
          </a:p>
          <a:p>
            <a:pPr indent="457200" lvl="0" marL="0" rtl="0" algn="l">
              <a:spcBef>
                <a:spcPts val="0"/>
              </a:spcBef>
              <a:spcAft>
                <a:spcPts val="0"/>
              </a:spcAft>
              <a:buNone/>
            </a:pPr>
            <a:r>
              <a:rPr lang="en-US" sz="900">
                <a:latin typeface="Roboto Mono Light"/>
                <a:ea typeface="Roboto Mono Light"/>
                <a:cs typeface="Roboto Mono Light"/>
                <a:sym typeface="Roboto Mono Light"/>
              </a:rPr>
              <a:t>main()</a:t>
            </a:r>
            <a:endParaRPr sz="900">
              <a:latin typeface="Roboto Mono Light"/>
              <a:ea typeface="Roboto Mono Light"/>
              <a:cs typeface="Roboto Mono Light"/>
              <a:sym typeface="Roboto Mono Light"/>
            </a:endParaRPr>
          </a:p>
        </p:txBody>
      </p:sp>
      <p:sp>
        <p:nvSpPr>
          <p:cNvPr id="292" name="Google Shape;292;p37"/>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38"/>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matplotlib: style</a:t>
            </a:r>
            <a:endParaRPr/>
          </a:p>
        </p:txBody>
      </p:sp>
      <p:sp>
        <p:nvSpPr>
          <p:cNvPr id="299" name="Google Shape;299;p38"/>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300" name="Google Shape;300;p38"/>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400"/>
              <a:t>If you'd like to start with a different </a:t>
            </a:r>
            <a:r>
              <a:rPr lang="en-US" sz="1400" u="sng">
                <a:solidFill>
                  <a:schemeClr val="hlink"/>
                </a:solidFill>
                <a:hlinkClick r:id="rId3"/>
              </a:rPr>
              <a:t>visual theme</a:t>
            </a:r>
            <a:r>
              <a:rPr lang="en-US" sz="1400"/>
              <a:t> for your plots, you can do so with the </a:t>
            </a:r>
            <a:r>
              <a:rPr b="1" lang="en-US" sz="1400">
                <a:latin typeface="Roboto Mono"/>
                <a:ea typeface="Roboto Mono"/>
                <a:cs typeface="Roboto Mono"/>
                <a:sym typeface="Roboto Mono"/>
              </a:rPr>
              <a:t>plt.style.use()</a:t>
            </a:r>
            <a:r>
              <a:rPr lang="en-US" sz="1400"/>
              <a:t> method built into pyplot.</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US" sz="1400"/>
              <a:t>This approach will take a String with a specific style name. But which styles do you have available? why not just do the following!:</a:t>
            </a:r>
            <a:endParaRPr sz="1400"/>
          </a:p>
          <a:p>
            <a:pPr indent="0" lvl="0" marL="0" rtl="0" algn="l">
              <a:spcBef>
                <a:spcPts val="0"/>
              </a:spcBef>
              <a:spcAft>
                <a:spcPts val="0"/>
              </a:spcAft>
              <a:buNone/>
            </a:pPr>
            <a:r>
              <a:t/>
            </a:r>
            <a:endParaRPr sz="1400"/>
          </a:p>
          <a:p>
            <a:pPr indent="457200" lvl="0" marL="0" rtl="0" algn="l">
              <a:spcBef>
                <a:spcPts val="0"/>
              </a:spcBef>
              <a:spcAft>
                <a:spcPts val="0"/>
              </a:spcAft>
              <a:buNone/>
            </a:pPr>
            <a:r>
              <a:rPr b="1" lang="en-US" sz="1400">
                <a:latin typeface="Roboto Mono"/>
                <a:ea typeface="Roboto Mono"/>
                <a:cs typeface="Roboto Mono"/>
                <a:sym typeface="Roboto Mono"/>
              </a:rPr>
              <a:t>print(plt.style.available)</a:t>
            </a:r>
            <a:endParaRPr b="1" sz="1400">
              <a:latin typeface="Roboto Mono"/>
              <a:ea typeface="Roboto Mono"/>
              <a:cs typeface="Roboto Mono"/>
              <a:sym typeface="Roboto Mono"/>
            </a:endParaRPr>
          </a:p>
        </p:txBody>
      </p:sp>
      <p:sp>
        <p:nvSpPr>
          <p:cNvPr id="301" name="Google Shape;301;p38"/>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100">
                <a:solidFill>
                  <a:schemeClr val="dk1"/>
                </a:solidFill>
                <a:latin typeface="Roboto Mono Light"/>
                <a:ea typeface="Roboto Mono Light"/>
                <a:cs typeface="Roboto Mono Light"/>
                <a:sym typeface="Roboto Mono Light"/>
              </a:rPr>
              <a:t>import matplotlib.pyplot as plt</a:t>
            </a:r>
            <a:endParaRPr sz="11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rPr lang="en-US" sz="1100">
                <a:solidFill>
                  <a:schemeClr val="dk1"/>
                </a:solidFill>
                <a:latin typeface="Roboto Mono Light"/>
                <a:ea typeface="Roboto Mono Light"/>
                <a:cs typeface="Roboto Mono Light"/>
                <a:sym typeface="Roboto Mono Light"/>
              </a:rPr>
              <a:t>import numpy as np</a:t>
            </a:r>
            <a:endParaRPr sz="11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t/>
            </a:r>
            <a:endParaRPr sz="11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rPr lang="en-US" sz="1100">
                <a:solidFill>
                  <a:schemeClr val="dk1"/>
                </a:solidFill>
                <a:latin typeface="Roboto Mono Light"/>
                <a:ea typeface="Roboto Mono Light"/>
                <a:cs typeface="Roboto Mono Light"/>
                <a:sym typeface="Roboto Mono Light"/>
              </a:rPr>
              <a:t>def main():</a:t>
            </a:r>
            <a:endParaRPr sz="11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rPr lang="en-US" sz="1100">
                <a:solidFill>
                  <a:schemeClr val="dk1"/>
                </a:solidFill>
                <a:latin typeface="Roboto Mono Light"/>
                <a:ea typeface="Roboto Mono Light"/>
                <a:cs typeface="Roboto Mono Light"/>
                <a:sym typeface="Roboto Mono Light"/>
              </a:rPr>
              <a:t>	</a:t>
            </a:r>
            <a:r>
              <a:rPr b="1" lang="en-US" sz="1100">
                <a:solidFill>
                  <a:schemeClr val="dk1"/>
                </a:solidFill>
                <a:latin typeface="Roboto Mono"/>
                <a:ea typeface="Roboto Mono"/>
                <a:cs typeface="Roboto Mono"/>
                <a:sym typeface="Roboto Mono"/>
              </a:rPr>
              <a:t>plt.style.use('ggplot')</a:t>
            </a:r>
            <a:endParaRPr b="1" sz="11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US" sz="1100">
                <a:solidFill>
                  <a:schemeClr val="dk1"/>
                </a:solidFill>
                <a:latin typeface="Roboto Mono Light"/>
                <a:ea typeface="Roboto Mono Light"/>
                <a:cs typeface="Roboto Mono Light"/>
                <a:sym typeface="Roboto Mono Light"/>
              </a:rPr>
              <a:t>	# ...</a:t>
            </a:r>
            <a:endParaRPr sz="11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rPr lang="en-US" sz="1100">
                <a:solidFill>
                  <a:schemeClr val="dk1"/>
                </a:solidFill>
                <a:latin typeface="Roboto Mono Light"/>
                <a:ea typeface="Roboto Mono Light"/>
                <a:cs typeface="Roboto Mono Light"/>
                <a:sym typeface="Roboto Mono Light"/>
              </a:rPr>
              <a:t>	# previous code goes here</a:t>
            </a:r>
            <a:endParaRPr sz="11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t/>
            </a:r>
            <a:endParaRPr sz="11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rPr lang="en-US" sz="1100">
                <a:solidFill>
                  <a:schemeClr val="dk1"/>
                </a:solidFill>
                <a:latin typeface="Roboto Mono Light"/>
                <a:ea typeface="Roboto Mono Light"/>
                <a:cs typeface="Roboto Mono Light"/>
                <a:sym typeface="Roboto Mono Light"/>
              </a:rPr>
              <a:t>if __name__ == '__main__':</a:t>
            </a:r>
            <a:endParaRPr sz="11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rPr lang="en-US" sz="1100">
                <a:solidFill>
                  <a:schemeClr val="dk1"/>
                </a:solidFill>
                <a:latin typeface="Roboto Mono Light"/>
                <a:ea typeface="Roboto Mono Light"/>
                <a:cs typeface="Roboto Mono Light"/>
                <a:sym typeface="Roboto Mono Light"/>
              </a:rPr>
              <a:t>	main()</a:t>
            </a:r>
            <a:endParaRPr sz="1100">
              <a:latin typeface="Roboto Mono Light"/>
              <a:ea typeface="Roboto Mono Light"/>
              <a:cs typeface="Roboto Mono Light"/>
              <a:sym typeface="Roboto Mono Light"/>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39"/>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Subplots are the way forward</a:t>
            </a:r>
            <a:endParaRPr/>
          </a:p>
        </p:txBody>
      </p:sp>
      <p:sp>
        <p:nvSpPr>
          <p:cNvPr id="308" name="Google Shape;308;p39"/>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309" name="Google Shape;309;p39"/>
          <p:cNvSpPr txBox="1"/>
          <p:nvPr>
            <p:ph idx="1" type="body"/>
          </p:nvPr>
        </p:nvSpPr>
        <p:spPr>
          <a:xfrm>
            <a:off x="40106" y="998794"/>
            <a:ext cx="90669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400">
                <a:solidFill>
                  <a:schemeClr val="dk1"/>
                </a:solidFill>
              </a:rPr>
              <a:t>From here on out, </a:t>
            </a:r>
            <a:r>
              <a:rPr b="1" lang="en-US" sz="1400">
                <a:solidFill>
                  <a:schemeClr val="dk1"/>
                </a:solidFill>
              </a:rPr>
              <a:t>it is </a:t>
            </a:r>
            <a:r>
              <a:rPr b="1" lang="en-US" sz="1400" u="sng">
                <a:solidFill>
                  <a:srgbClr val="FF0000"/>
                </a:solidFill>
              </a:rPr>
              <a:t>required</a:t>
            </a:r>
            <a:r>
              <a:rPr b="1" lang="en-US" sz="1400">
                <a:solidFill>
                  <a:schemeClr val="dk1"/>
                </a:solidFill>
              </a:rPr>
              <a:t> that you </a:t>
            </a:r>
            <a:r>
              <a:rPr b="1" lang="en-US" sz="1400" u="sng">
                <a:solidFill>
                  <a:schemeClr val="dk1"/>
                </a:solidFill>
              </a:rPr>
              <a:t>solely</a:t>
            </a:r>
            <a:r>
              <a:rPr b="1" lang="en-US" sz="1400">
                <a:solidFill>
                  <a:schemeClr val="dk1"/>
                </a:solidFill>
              </a:rPr>
              <a:t> use the subplots approach to create visualizations</a:t>
            </a:r>
            <a:r>
              <a:rPr lang="en-US" sz="1400">
                <a:solidFill>
                  <a:schemeClr val="dk1"/>
                </a:solidFill>
              </a:rPr>
              <a:t>. This will mean that you'll only need to use </a:t>
            </a:r>
            <a:r>
              <a:rPr lang="en-US" sz="1400">
                <a:solidFill>
                  <a:schemeClr val="dk1"/>
                </a:solidFill>
                <a:latin typeface="Roboto Mono Light"/>
                <a:ea typeface="Roboto Mono Light"/>
                <a:cs typeface="Roboto Mono Light"/>
                <a:sym typeface="Roboto Mono Light"/>
              </a:rPr>
              <a:t>plt</a:t>
            </a:r>
            <a:r>
              <a:rPr lang="en-US" sz="1400">
                <a:solidFill>
                  <a:schemeClr val="dk1"/>
                </a:solidFill>
              </a:rPr>
              <a:t> in two places:</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317500" lvl="0" marL="457200" rtl="0" algn="l">
              <a:spcBef>
                <a:spcPts val="0"/>
              </a:spcBef>
              <a:spcAft>
                <a:spcPts val="0"/>
              </a:spcAft>
              <a:buClr>
                <a:schemeClr val="dk1"/>
              </a:buClr>
              <a:buSzPts val="1400"/>
              <a:buAutoNum type="arabicPeriod"/>
            </a:pPr>
            <a:r>
              <a:rPr lang="en-US" sz="1400">
                <a:solidFill>
                  <a:schemeClr val="dk1"/>
                </a:solidFill>
              </a:rPr>
              <a:t>Creating the Figure and Axes, i.e.:</a:t>
            </a:r>
            <a:endParaRPr sz="1400">
              <a:solidFill>
                <a:schemeClr val="dk1"/>
              </a:solidFill>
            </a:endParaRPr>
          </a:p>
          <a:p>
            <a:pPr indent="0" lvl="0" marL="914400" rtl="0" algn="l">
              <a:spcBef>
                <a:spcPts val="0"/>
              </a:spcBef>
              <a:spcAft>
                <a:spcPts val="0"/>
              </a:spcAft>
              <a:buNone/>
            </a:pPr>
            <a:r>
              <a:rPr b="1" lang="en-US" sz="1400">
                <a:solidFill>
                  <a:schemeClr val="dk1"/>
                </a:solidFill>
                <a:latin typeface="Roboto Mono"/>
                <a:ea typeface="Roboto Mono"/>
                <a:cs typeface="Roboto Mono"/>
                <a:sym typeface="Roboto Mono"/>
              </a:rPr>
              <a:t>fig, ax = plt.subplots(&lt;#rows&gt;, &lt;#cols&gt;)</a:t>
            </a:r>
            <a:endParaRPr b="1" sz="1400">
              <a:solidFill>
                <a:schemeClr val="dk1"/>
              </a:solidFill>
              <a:latin typeface="Roboto Mono"/>
              <a:ea typeface="Roboto Mono"/>
              <a:cs typeface="Roboto Mono"/>
              <a:sym typeface="Roboto Mono"/>
            </a:endParaRPr>
          </a:p>
          <a:p>
            <a:pPr indent="-317500" lvl="0" marL="457200" rtl="0" algn="l">
              <a:spcBef>
                <a:spcPts val="0"/>
              </a:spcBef>
              <a:spcAft>
                <a:spcPts val="0"/>
              </a:spcAft>
              <a:buClr>
                <a:schemeClr val="dk1"/>
              </a:buClr>
              <a:buSzPts val="1400"/>
              <a:buAutoNum type="arabicPeriod"/>
            </a:pPr>
            <a:r>
              <a:rPr lang="en-US" sz="1400">
                <a:solidFill>
                  <a:schemeClr val="dk1"/>
                </a:solidFill>
              </a:rPr>
              <a:t>changing the style matplotlib uses:</a:t>
            </a:r>
            <a:endParaRPr sz="1400">
              <a:solidFill>
                <a:schemeClr val="dk1"/>
              </a:solidFill>
            </a:endParaRPr>
          </a:p>
          <a:p>
            <a:pPr indent="0" lvl="0" marL="914400" rtl="0" algn="l">
              <a:spcBef>
                <a:spcPts val="0"/>
              </a:spcBef>
              <a:spcAft>
                <a:spcPts val="0"/>
              </a:spcAft>
              <a:buNone/>
            </a:pPr>
            <a:r>
              <a:rPr b="1" lang="en-US" sz="1400">
                <a:solidFill>
                  <a:schemeClr val="dk1"/>
                </a:solidFill>
                <a:latin typeface="Roboto Mono"/>
                <a:ea typeface="Roboto Mono"/>
                <a:cs typeface="Roboto Mono"/>
                <a:sym typeface="Roboto Mono"/>
              </a:rPr>
              <a:t>plt.style.use(&lt;style&gt;)</a:t>
            </a:r>
            <a:endParaRPr b="1" sz="14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rPr lang="en-US" sz="1400">
                <a:solidFill>
                  <a:schemeClr val="dk1"/>
                </a:solidFill>
              </a:rPr>
              <a:t>Everything else can be done directly to the Figure and Axes via their respective methods and attributes!</a:t>
            </a:r>
            <a:endParaRPr sz="1400">
              <a:solidFill>
                <a:schemeClr val="dk1"/>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40"/>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matplotlib: Axes formatting</a:t>
            </a:r>
            <a:endParaRPr/>
          </a:p>
        </p:txBody>
      </p:sp>
      <p:sp>
        <p:nvSpPr>
          <p:cNvPr id="316" name="Google Shape;316;p40"/>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317" name="Google Shape;317;p40"/>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200"/>
              <a:t>There are also many ways to modify the look of your Axes itself. Given that these attributes are a property of the Axes itself, one way to change them is via their respective methods:</a:t>
            </a:r>
            <a:endParaRPr sz="1200"/>
          </a:p>
          <a:p>
            <a:pPr indent="0" lvl="0" marL="0" rtl="0" algn="l">
              <a:spcBef>
                <a:spcPts val="0"/>
              </a:spcBef>
              <a:spcAft>
                <a:spcPts val="0"/>
              </a:spcAft>
              <a:buNone/>
            </a:pPr>
            <a:r>
              <a:t/>
            </a:r>
            <a:endParaRPr sz="1200"/>
          </a:p>
          <a:p>
            <a:pPr indent="-304800" lvl="0" marL="457200" rtl="0" algn="l">
              <a:spcBef>
                <a:spcPts val="0"/>
              </a:spcBef>
              <a:spcAft>
                <a:spcPts val="0"/>
              </a:spcAft>
              <a:buSzPts val="1200"/>
              <a:buChar char="•"/>
            </a:pPr>
            <a:r>
              <a:rPr b="1" lang="en-US" sz="1200">
                <a:solidFill>
                  <a:schemeClr val="dk1"/>
                </a:solidFill>
                <a:latin typeface="Roboto Mono"/>
                <a:ea typeface="Roboto Mono"/>
                <a:cs typeface="Roboto Mono"/>
                <a:sym typeface="Roboto Mono"/>
              </a:rPr>
              <a:t>.grid()</a:t>
            </a:r>
            <a:r>
              <a:rPr lang="en-US" sz="1200"/>
              <a:t>: changes the grid properties (default </a:t>
            </a:r>
            <a:r>
              <a:rPr lang="en-US" sz="1200">
                <a:solidFill>
                  <a:schemeClr val="dk1"/>
                </a:solidFill>
                <a:latin typeface="Roboto Mono Light"/>
                <a:ea typeface="Roboto Mono Light"/>
                <a:cs typeface="Roboto Mono Light"/>
                <a:sym typeface="Roboto Mono Light"/>
              </a:rPr>
              <a:t>visible=False</a:t>
            </a:r>
            <a:r>
              <a:rPr lang="en-US" sz="1200"/>
              <a:t>)</a:t>
            </a:r>
            <a:endParaRPr sz="1200"/>
          </a:p>
          <a:p>
            <a:pPr indent="-304800" lvl="0" marL="457200" rtl="0" algn="l">
              <a:spcBef>
                <a:spcPts val="0"/>
              </a:spcBef>
              <a:spcAft>
                <a:spcPts val="0"/>
              </a:spcAft>
              <a:buSzPts val="1200"/>
              <a:buChar char="•"/>
            </a:pPr>
            <a:r>
              <a:rPr b="1" lang="en-US" sz="1200">
                <a:solidFill>
                  <a:schemeClr val="dk1"/>
                </a:solidFill>
                <a:latin typeface="Roboto Mono"/>
                <a:ea typeface="Roboto Mono"/>
                <a:cs typeface="Roboto Mono"/>
                <a:sym typeface="Roboto Mono"/>
              </a:rPr>
              <a:t>.set_title()</a:t>
            </a:r>
            <a:r>
              <a:rPr lang="en-US" sz="1200"/>
              <a:t>: Axes title (String, default empty)</a:t>
            </a:r>
            <a:endParaRPr sz="1200"/>
          </a:p>
          <a:p>
            <a:pPr indent="-304800" lvl="0" marL="457200" rtl="0" algn="l">
              <a:spcBef>
                <a:spcPts val="0"/>
              </a:spcBef>
              <a:spcAft>
                <a:spcPts val="0"/>
              </a:spcAft>
              <a:buSzPts val="1200"/>
              <a:buChar char="•"/>
            </a:pPr>
            <a:r>
              <a:rPr b="1" lang="en-US" sz="1200">
                <a:solidFill>
                  <a:schemeClr val="dk1"/>
                </a:solidFill>
                <a:latin typeface="Roboto Mono"/>
                <a:ea typeface="Roboto Mono"/>
                <a:cs typeface="Roboto Mono"/>
                <a:sym typeface="Roboto Mono"/>
              </a:rPr>
              <a:t>.set_xlabel()</a:t>
            </a:r>
            <a:r>
              <a:rPr lang="en-US" sz="1200"/>
              <a:t>: </a:t>
            </a:r>
            <a:r>
              <a:rPr lang="en-US" sz="1200">
                <a:solidFill>
                  <a:schemeClr val="dk1"/>
                </a:solidFill>
              </a:rPr>
              <a:t>x-axis label (String, default empty)</a:t>
            </a:r>
            <a:endParaRPr sz="1200"/>
          </a:p>
          <a:p>
            <a:pPr indent="-304800" lvl="0" marL="457200" rtl="0" algn="l">
              <a:spcBef>
                <a:spcPts val="0"/>
              </a:spcBef>
              <a:spcAft>
                <a:spcPts val="0"/>
              </a:spcAft>
              <a:buSzPts val="1200"/>
              <a:buChar char="•"/>
            </a:pPr>
            <a:r>
              <a:rPr b="1" lang="en-US" sz="1200">
                <a:solidFill>
                  <a:schemeClr val="dk1"/>
                </a:solidFill>
                <a:latin typeface="Roboto Mono"/>
                <a:ea typeface="Roboto Mono"/>
                <a:cs typeface="Roboto Mono"/>
                <a:sym typeface="Roboto Mono"/>
              </a:rPr>
              <a:t>.set_ylabel()</a:t>
            </a:r>
            <a:r>
              <a:rPr lang="en-US" sz="1200"/>
              <a:t>: </a:t>
            </a:r>
            <a:r>
              <a:rPr lang="en-US" sz="1200">
                <a:solidFill>
                  <a:schemeClr val="dk1"/>
                </a:solidFill>
              </a:rPr>
              <a:t>y-axis label (String, default empty)</a:t>
            </a:r>
            <a:endParaRPr sz="1200">
              <a:solidFill>
                <a:schemeClr val="dk1"/>
              </a:solidFill>
            </a:endParaRPr>
          </a:p>
          <a:p>
            <a:pPr indent="-304800" lvl="0" marL="457200" rtl="0" algn="l">
              <a:spcBef>
                <a:spcPts val="0"/>
              </a:spcBef>
              <a:spcAft>
                <a:spcPts val="0"/>
              </a:spcAft>
              <a:buClr>
                <a:schemeClr val="dk1"/>
              </a:buClr>
              <a:buSzPts val="1200"/>
              <a:buChar char="•"/>
            </a:pPr>
            <a:r>
              <a:rPr b="1" lang="en-US" sz="1200">
                <a:solidFill>
                  <a:schemeClr val="dk1"/>
                </a:solidFill>
                <a:latin typeface="Roboto Mono"/>
                <a:ea typeface="Roboto Mono"/>
                <a:cs typeface="Roboto Mono"/>
                <a:sym typeface="Roboto Mono"/>
              </a:rPr>
              <a:t>.legend()</a:t>
            </a:r>
            <a:r>
              <a:rPr lang="en-US" sz="1200">
                <a:solidFill>
                  <a:schemeClr val="dk1"/>
                </a:solidFill>
              </a:rPr>
              <a:t>: adds a legend to the Axes.</a:t>
            </a:r>
            <a:endParaRPr sz="1200">
              <a:solidFill>
                <a:schemeClr val="dk1"/>
              </a:solidFill>
            </a:endParaRPr>
          </a:p>
        </p:txBody>
      </p:sp>
      <p:sp>
        <p:nvSpPr>
          <p:cNvPr id="318" name="Google Shape;318;p40"/>
          <p:cNvSpPr txBox="1"/>
          <p:nvPr>
            <p:ph idx="2" type="body"/>
          </p:nvPr>
        </p:nvSpPr>
        <p:spPr>
          <a:xfrm>
            <a:off x="4650575" y="998800"/>
            <a:ext cx="4456500" cy="3414600"/>
          </a:xfrm>
          <a:prstGeom prst="rect">
            <a:avLst/>
          </a:prstGeom>
          <a:noFill/>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800">
                <a:solidFill>
                  <a:schemeClr val="dk1"/>
                </a:solidFill>
                <a:latin typeface="Roboto Mono Light"/>
                <a:ea typeface="Roboto Mono Light"/>
                <a:cs typeface="Roboto Mono Light"/>
                <a:sym typeface="Roboto Mono Light"/>
              </a:rPr>
              <a:t>import matplotlib.pyplot as plt</a:t>
            </a:r>
            <a:endParaRPr sz="8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800">
                <a:solidFill>
                  <a:schemeClr val="dk1"/>
                </a:solidFill>
                <a:latin typeface="Roboto Mono Light"/>
                <a:ea typeface="Roboto Mono Light"/>
                <a:cs typeface="Roboto Mono Light"/>
                <a:sym typeface="Roboto Mono Light"/>
              </a:rPr>
              <a:t>import numpy as np</a:t>
            </a:r>
            <a:endParaRPr sz="8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t/>
            </a:r>
            <a:endParaRPr sz="8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800">
                <a:solidFill>
                  <a:schemeClr val="dk1"/>
                </a:solidFill>
                <a:latin typeface="Roboto Mono Light"/>
                <a:ea typeface="Roboto Mono Light"/>
                <a:cs typeface="Roboto Mono Light"/>
                <a:sym typeface="Roboto Mono Light"/>
              </a:rPr>
              <a:t>def main():</a:t>
            </a:r>
            <a:endParaRPr sz="8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800">
                <a:solidFill>
                  <a:schemeClr val="dk1"/>
                </a:solidFill>
                <a:latin typeface="Roboto Mono Light"/>
                <a:ea typeface="Roboto Mono Light"/>
                <a:cs typeface="Roboto Mono Light"/>
                <a:sym typeface="Roboto Mono Light"/>
              </a:rPr>
              <a:t>	x = np.arange(0, 100)</a:t>
            </a:r>
            <a:endParaRPr sz="8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800">
                <a:solidFill>
                  <a:schemeClr val="dk1"/>
                </a:solidFill>
                <a:latin typeface="Roboto Mono Light"/>
                <a:ea typeface="Roboto Mono Light"/>
                <a:cs typeface="Roboto Mono Light"/>
                <a:sym typeface="Roboto Mono Light"/>
              </a:rPr>
              <a:t>	y = x + 10*(np.random.rand(x.shape[0])) # add noise</a:t>
            </a:r>
            <a:endParaRPr sz="8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t/>
            </a:r>
            <a:endParaRPr sz="8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800">
                <a:solidFill>
                  <a:schemeClr val="dk1"/>
                </a:solidFill>
                <a:latin typeface="Roboto Mono Light"/>
                <a:ea typeface="Roboto Mono Light"/>
                <a:cs typeface="Roboto Mono Light"/>
                <a:sym typeface="Roboto Mono Light"/>
              </a:rPr>
              <a:t>	fig, ax = plt.subplots(1, 1)</a:t>
            </a:r>
            <a:endParaRPr sz="8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rPr lang="en-US" sz="800">
                <a:solidFill>
                  <a:schemeClr val="dk1"/>
                </a:solidFill>
                <a:latin typeface="Roboto Mono Light"/>
                <a:ea typeface="Roboto Mono Light"/>
                <a:cs typeface="Roboto Mono Light"/>
                <a:sym typeface="Roboto Mono Light"/>
              </a:rPr>
              <a:t>	ax.plot(x, y, linestyle='--', color='g', </a:t>
            </a:r>
            <a:r>
              <a:rPr b="1" lang="en-US" sz="800">
                <a:solidFill>
                  <a:schemeClr val="dk1"/>
                </a:solidFill>
                <a:latin typeface="Roboto Mono"/>
                <a:ea typeface="Roboto Mono"/>
                <a:cs typeface="Roboto Mono"/>
                <a:sym typeface="Roboto Mono"/>
              </a:rPr>
              <a:t>label='data'</a:t>
            </a:r>
            <a:r>
              <a:rPr lang="en-US" sz="800">
                <a:solidFill>
                  <a:schemeClr val="dk1"/>
                </a:solidFill>
                <a:latin typeface="Roboto Mono Light"/>
                <a:ea typeface="Roboto Mono Light"/>
                <a:cs typeface="Roboto Mono Light"/>
                <a:sym typeface="Roboto Mono Light"/>
              </a:rPr>
              <a:t>)</a:t>
            </a:r>
            <a:endParaRPr sz="8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rPr lang="en-US" sz="800">
                <a:solidFill>
                  <a:schemeClr val="dk1"/>
                </a:solidFill>
                <a:latin typeface="Roboto Mono Light"/>
                <a:ea typeface="Roboto Mono Light"/>
                <a:cs typeface="Roboto Mono Light"/>
                <a:sym typeface="Roboto Mono Light"/>
              </a:rPr>
              <a:t>	</a:t>
            </a:r>
            <a:r>
              <a:rPr b="1" lang="en-US" sz="800">
                <a:solidFill>
                  <a:schemeClr val="dk1"/>
                </a:solidFill>
                <a:latin typeface="Roboto Mono"/>
                <a:ea typeface="Roboto Mono"/>
                <a:cs typeface="Roboto Mono"/>
                <a:sym typeface="Roboto Mono"/>
              </a:rPr>
              <a:t>ax.grid(True)</a:t>
            </a:r>
            <a:endParaRPr b="1" sz="800">
              <a:solidFill>
                <a:schemeClr val="dk1"/>
              </a:solidFill>
              <a:latin typeface="Roboto Mono"/>
              <a:ea typeface="Roboto Mono"/>
              <a:cs typeface="Roboto Mono"/>
              <a:sym typeface="Roboto Mono"/>
            </a:endParaRPr>
          </a:p>
          <a:p>
            <a:pPr indent="0" lvl="0" marL="0" rtl="0" algn="l">
              <a:spcBef>
                <a:spcPts val="0"/>
              </a:spcBef>
              <a:spcAft>
                <a:spcPts val="0"/>
              </a:spcAft>
              <a:buNone/>
            </a:pPr>
            <a:r>
              <a:rPr b="1" lang="en-US" sz="800">
                <a:solidFill>
                  <a:schemeClr val="dk1"/>
                </a:solidFill>
                <a:latin typeface="Roboto Mono"/>
                <a:ea typeface="Roboto Mono"/>
                <a:cs typeface="Roboto Mono"/>
                <a:sym typeface="Roboto Mono"/>
              </a:rPr>
              <a:t>	ax.set_title('Babby\'s first line plot')</a:t>
            </a:r>
            <a:endParaRPr b="1" sz="800">
              <a:solidFill>
                <a:schemeClr val="dk1"/>
              </a:solidFill>
              <a:latin typeface="Roboto Mono"/>
              <a:ea typeface="Roboto Mono"/>
              <a:cs typeface="Roboto Mono"/>
              <a:sym typeface="Roboto Mono"/>
            </a:endParaRPr>
          </a:p>
          <a:p>
            <a:pPr indent="0" lvl="0" marL="0" rtl="0" algn="l">
              <a:spcBef>
                <a:spcPts val="0"/>
              </a:spcBef>
              <a:spcAft>
                <a:spcPts val="0"/>
              </a:spcAft>
              <a:buNone/>
            </a:pPr>
            <a:r>
              <a:rPr b="1" lang="en-US" sz="800">
                <a:solidFill>
                  <a:schemeClr val="dk1"/>
                </a:solidFill>
                <a:latin typeface="Roboto Mono"/>
                <a:ea typeface="Roboto Mono"/>
                <a:cs typeface="Roboto Mono"/>
                <a:sym typeface="Roboto Mono"/>
              </a:rPr>
              <a:t>	ax.set_xlabel('x data')</a:t>
            </a:r>
            <a:endParaRPr b="1" sz="800">
              <a:solidFill>
                <a:schemeClr val="dk1"/>
              </a:solidFill>
              <a:latin typeface="Roboto Mono"/>
              <a:ea typeface="Roboto Mono"/>
              <a:cs typeface="Roboto Mono"/>
              <a:sym typeface="Roboto Mono"/>
            </a:endParaRPr>
          </a:p>
          <a:p>
            <a:pPr indent="0" lvl="0" marL="0" rtl="0" algn="l">
              <a:spcBef>
                <a:spcPts val="0"/>
              </a:spcBef>
              <a:spcAft>
                <a:spcPts val="0"/>
              </a:spcAft>
              <a:buNone/>
            </a:pPr>
            <a:r>
              <a:rPr b="1" lang="en-US" sz="800">
                <a:solidFill>
                  <a:schemeClr val="dk1"/>
                </a:solidFill>
                <a:latin typeface="Roboto Mono"/>
                <a:ea typeface="Roboto Mono"/>
                <a:cs typeface="Roboto Mono"/>
                <a:sym typeface="Roboto Mono"/>
              </a:rPr>
              <a:t>	ax.set_ylabel('y data')</a:t>
            </a:r>
            <a:endParaRPr b="1" sz="800">
              <a:solidFill>
                <a:schemeClr val="dk1"/>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b="1" lang="en-US" sz="800">
                <a:solidFill>
                  <a:schemeClr val="dk1"/>
                </a:solidFill>
                <a:latin typeface="Roboto Mono"/>
                <a:ea typeface="Roboto Mono"/>
                <a:cs typeface="Roboto Mono"/>
                <a:sym typeface="Roboto Mono"/>
              </a:rPr>
              <a:t>	ax.legend()</a:t>
            </a:r>
            <a:endParaRPr b="1" sz="800">
              <a:solidFill>
                <a:schemeClr val="dk1"/>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sz="800">
                <a:solidFill>
                  <a:schemeClr val="dk1"/>
                </a:solidFill>
                <a:latin typeface="Roboto Mono Light"/>
                <a:ea typeface="Roboto Mono Light"/>
                <a:cs typeface="Roboto Mono Light"/>
                <a:sym typeface="Roboto Mono Light"/>
              </a:rPr>
              <a:t>	fig.savefig('TAC 216 first plot.png')</a:t>
            </a:r>
            <a:endParaRPr sz="8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t/>
            </a:r>
            <a:endParaRPr sz="8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800">
                <a:solidFill>
                  <a:schemeClr val="dk1"/>
                </a:solidFill>
                <a:latin typeface="Roboto Mono Light"/>
                <a:ea typeface="Roboto Mono Light"/>
                <a:cs typeface="Roboto Mono Light"/>
                <a:sym typeface="Roboto Mono Light"/>
              </a:rPr>
              <a:t>if __name__ == '__main__':</a:t>
            </a:r>
            <a:endParaRPr sz="8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rPr lang="en-US" sz="800">
                <a:solidFill>
                  <a:schemeClr val="dk1"/>
                </a:solidFill>
                <a:latin typeface="Roboto Mono Light"/>
                <a:ea typeface="Roboto Mono Light"/>
                <a:cs typeface="Roboto Mono Light"/>
                <a:sym typeface="Roboto Mono Light"/>
              </a:rPr>
              <a:t>	main()</a:t>
            </a:r>
            <a:endParaRPr sz="1500">
              <a:latin typeface="Roboto Mono Light"/>
              <a:ea typeface="Roboto Mono Light"/>
              <a:cs typeface="Roboto Mono Light"/>
              <a:sym typeface="Roboto Mono Light"/>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41"/>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matplotlib: changing attributes</a:t>
            </a:r>
            <a:endParaRPr/>
          </a:p>
        </p:txBody>
      </p:sp>
      <p:sp>
        <p:nvSpPr>
          <p:cNvPr id="325" name="Google Shape;325;p41"/>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solidFill>
                  <a:schemeClr val="dk1"/>
                </a:solidFill>
              </a:rPr>
              <a:t>Obviously you can change properties of your plots by using the respective methods for each.</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matplotlib also provides the </a:t>
            </a:r>
            <a:r>
              <a:rPr lang="en-US">
                <a:solidFill>
                  <a:schemeClr val="dk1"/>
                </a:solidFill>
                <a:latin typeface="Roboto Mono Light"/>
                <a:ea typeface="Roboto Mono Light"/>
                <a:cs typeface="Roboto Mono Light"/>
                <a:sym typeface="Roboto Mono Light"/>
              </a:rPr>
              <a:t>set()</a:t>
            </a:r>
            <a:r>
              <a:rPr lang="en-US">
                <a:solidFill>
                  <a:schemeClr val="dk1"/>
                </a:solidFill>
              </a:rPr>
              <a:t> method, which you can use instead of each individual set methods. You'll just need to feed it keyword arguments which happen to be the same as the methods.</a:t>
            </a:r>
            <a:endParaRPr/>
          </a:p>
        </p:txBody>
      </p:sp>
      <p:sp>
        <p:nvSpPr>
          <p:cNvPr id="326" name="Google Shape;326;p41"/>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solidFill>
                  <a:schemeClr val="dk1"/>
                </a:solidFill>
                <a:latin typeface="Roboto Mono Light"/>
                <a:ea typeface="Roboto Mono Light"/>
                <a:cs typeface="Roboto Mono Light"/>
                <a:sym typeface="Roboto Mono Light"/>
              </a:rPr>
              <a:t># use this</a:t>
            </a:r>
            <a:endParaRPr>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rPr b="1" lang="en-US">
                <a:solidFill>
                  <a:schemeClr val="dk1"/>
                </a:solidFill>
                <a:latin typeface="Roboto Mono"/>
                <a:ea typeface="Roboto Mono"/>
                <a:cs typeface="Roboto Mono"/>
                <a:sym typeface="Roboto Mono"/>
              </a:rPr>
              <a:t>ax.set_title</a:t>
            </a:r>
            <a:r>
              <a:rPr lang="en-US">
                <a:solidFill>
                  <a:schemeClr val="dk1"/>
                </a:solidFill>
                <a:latin typeface="Roboto Mono Light"/>
                <a:ea typeface="Roboto Mono Light"/>
                <a:cs typeface="Roboto Mono Light"/>
                <a:sym typeface="Roboto Mono Light"/>
              </a:rPr>
              <a:t>('my awesome plot')</a:t>
            </a:r>
            <a:endParaRPr>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t/>
            </a:r>
            <a:endParaRPr>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rPr lang="en-US">
                <a:solidFill>
                  <a:schemeClr val="dk1"/>
                </a:solidFill>
                <a:latin typeface="Roboto Mono Light"/>
                <a:ea typeface="Roboto Mono Light"/>
                <a:cs typeface="Roboto Mono Light"/>
                <a:sym typeface="Roboto Mono Light"/>
              </a:rPr>
              <a:t># or this</a:t>
            </a:r>
            <a:endParaRPr>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rPr b="1" lang="en-US">
                <a:solidFill>
                  <a:schemeClr val="dk1"/>
                </a:solidFill>
                <a:latin typeface="Roboto Mono"/>
                <a:ea typeface="Roboto Mono"/>
                <a:cs typeface="Roboto Mono"/>
                <a:sym typeface="Roboto Mono"/>
              </a:rPr>
              <a:t>ax.set</a:t>
            </a:r>
            <a:r>
              <a:rPr lang="en-US">
                <a:solidFill>
                  <a:schemeClr val="dk1"/>
                </a:solidFill>
                <a:latin typeface="Roboto Mono Light"/>
                <a:ea typeface="Roboto Mono Light"/>
                <a:cs typeface="Roboto Mono Light"/>
                <a:sym typeface="Roboto Mono Light"/>
              </a:rPr>
              <a:t>(title='my awesome plot')</a:t>
            </a:r>
            <a:endParaRPr>
              <a:latin typeface="Roboto Mono Light"/>
              <a:ea typeface="Roboto Mono Light"/>
              <a:cs typeface="Roboto Mono Light"/>
              <a:sym typeface="Roboto Mono Light"/>
            </a:endParaRPr>
          </a:p>
        </p:txBody>
      </p:sp>
      <p:sp>
        <p:nvSpPr>
          <p:cNvPr id="327" name="Google Shape;327;p41"/>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42"/>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matplotlib: plot types</a:t>
            </a:r>
            <a:endParaRPr/>
          </a:p>
        </p:txBody>
      </p:sp>
      <p:sp>
        <p:nvSpPr>
          <p:cNvPr id="334" name="Google Shape;334;p42"/>
          <p:cNvSpPr txBox="1"/>
          <p:nvPr>
            <p:ph idx="1" type="body"/>
          </p:nvPr>
        </p:nvSpPr>
        <p:spPr>
          <a:xfrm>
            <a:off x="40106" y="998794"/>
            <a:ext cx="90669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300"/>
              <a:t>matplotlib has many different plot types, including but not limited to:</a:t>
            </a:r>
            <a:endParaRPr sz="1300"/>
          </a:p>
          <a:p>
            <a:pPr indent="0" lvl="0" marL="0" rtl="0" algn="l">
              <a:spcBef>
                <a:spcPts val="0"/>
              </a:spcBef>
              <a:spcAft>
                <a:spcPts val="0"/>
              </a:spcAft>
              <a:buClr>
                <a:schemeClr val="dk1"/>
              </a:buClr>
              <a:buSzPts val="1100"/>
              <a:buFont typeface="Arial"/>
              <a:buNone/>
            </a:pPr>
            <a:r>
              <a:t/>
            </a:r>
            <a:endParaRPr sz="1300"/>
          </a:p>
          <a:p>
            <a:pPr indent="-311150" lvl="0" marL="457200" rtl="0" algn="l">
              <a:spcBef>
                <a:spcPts val="0"/>
              </a:spcBef>
              <a:spcAft>
                <a:spcPts val="0"/>
              </a:spcAft>
              <a:buSzPts val="1300"/>
              <a:buChar char="•"/>
            </a:pPr>
            <a:r>
              <a:rPr lang="en-US" sz="1300"/>
              <a:t>line: </a:t>
            </a:r>
            <a:r>
              <a:rPr lang="en-US" sz="1300">
                <a:latin typeface="Roboto Mono Light"/>
                <a:ea typeface="Roboto Mono Light"/>
                <a:cs typeface="Roboto Mono Light"/>
                <a:sym typeface="Roboto Mono Light"/>
              </a:rPr>
              <a:t>.plot()</a:t>
            </a:r>
            <a:endParaRPr sz="1300">
              <a:latin typeface="Roboto Mono Light"/>
              <a:ea typeface="Roboto Mono Light"/>
              <a:cs typeface="Roboto Mono Light"/>
              <a:sym typeface="Roboto Mono Light"/>
            </a:endParaRPr>
          </a:p>
          <a:p>
            <a:pPr indent="-311150" lvl="0" marL="457200" rtl="0" algn="l">
              <a:spcBef>
                <a:spcPts val="0"/>
              </a:spcBef>
              <a:spcAft>
                <a:spcPts val="0"/>
              </a:spcAft>
              <a:buSzPts val="1300"/>
              <a:buChar char="•"/>
            </a:pPr>
            <a:r>
              <a:rPr lang="en-US" sz="1300"/>
              <a:t>scatter: </a:t>
            </a:r>
            <a:r>
              <a:rPr lang="en-US" sz="1300">
                <a:latin typeface="Roboto Mono Light"/>
                <a:ea typeface="Roboto Mono Light"/>
                <a:cs typeface="Roboto Mono Light"/>
                <a:sym typeface="Roboto Mono Light"/>
              </a:rPr>
              <a:t>.scatter()</a:t>
            </a:r>
            <a:endParaRPr sz="1300">
              <a:latin typeface="Courier New"/>
              <a:ea typeface="Courier New"/>
              <a:cs typeface="Courier New"/>
              <a:sym typeface="Courier New"/>
            </a:endParaRPr>
          </a:p>
          <a:p>
            <a:pPr indent="-311150" lvl="0" marL="457200" rtl="0" algn="l">
              <a:spcBef>
                <a:spcPts val="0"/>
              </a:spcBef>
              <a:spcAft>
                <a:spcPts val="0"/>
              </a:spcAft>
              <a:buSzPts val="1300"/>
              <a:buChar char="•"/>
            </a:pPr>
            <a:r>
              <a:rPr lang="en-US" sz="1300"/>
              <a:t>bar: </a:t>
            </a:r>
            <a:r>
              <a:rPr lang="en-US" sz="1300">
                <a:latin typeface="Roboto Mono Light"/>
                <a:ea typeface="Roboto Mono Light"/>
                <a:cs typeface="Roboto Mono Light"/>
                <a:sym typeface="Roboto Mono Light"/>
              </a:rPr>
              <a:t>.bar()</a:t>
            </a:r>
            <a:endParaRPr sz="1300">
              <a:latin typeface="Courier New"/>
              <a:ea typeface="Courier New"/>
              <a:cs typeface="Courier New"/>
              <a:sym typeface="Courier New"/>
            </a:endParaRPr>
          </a:p>
          <a:p>
            <a:pPr indent="-311150" lvl="0" marL="457200" rtl="0" algn="l">
              <a:spcBef>
                <a:spcPts val="0"/>
              </a:spcBef>
              <a:spcAft>
                <a:spcPts val="0"/>
              </a:spcAft>
              <a:buSzPts val="1300"/>
              <a:buChar char="•"/>
            </a:pPr>
            <a:r>
              <a:rPr lang="en-US" sz="1300"/>
              <a:t>pie: </a:t>
            </a:r>
            <a:r>
              <a:rPr lang="en-US" sz="1300">
                <a:latin typeface="Roboto Mono Light"/>
                <a:ea typeface="Roboto Mono Light"/>
                <a:cs typeface="Roboto Mono Light"/>
                <a:sym typeface="Roboto Mono Light"/>
              </a:rPr>
              <a:t>.pie()</a:t>
            </a:r>
            <a:endParaRPr sz="1300">
              <a:latin typeface="Courier New"/>
              <a:ea typeface="Courier New"/>
              <a:cs typeface="Courier New"/>
              <a:sym typeface="Courier New"/>
            </a:endParaRPr>
          </a:p>
          <a:p>
            <a:pPr indent="-311150" lvl="0" marL="457200" rtl="0" algn="l">
              <a:spcBef>
                <a:spcPts val="0"/>
              </a:spcBef>
              <a:spcAft>
                <a:spcPts val="0"/>
              </a:spcAft>
              <a:buSzPts val="1300"/>
              <a:buChar char="•"/>
            </a:pPr>
            <a:r>
              <a:rPr lang="en-US" sz="1300"/>
              <a:t>histogram: </a:t>
            </a:r>
            <a:r>
              <a:rPr lang="en-US" sz="1300">
                <a:latin typeface="Roboto Mono Light"/>
                <a:ea typeface="Roboto Mono Light"/>
                <a:cs typeface="Roboto Mono Light"/>
                <a:sym typeface="Roboto Mono Light"/>
              </a:rPr>
              <a:t>.hist()</a:t>
            </a:r>
            <a:endParaRPr sz="13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1300"/>
          </a:p>
          <a:p>
            <a:pPr indent="0" lvl="0" marL="0" rtl="0" algn="l">
              <a:spcBef>
                <a:spcPts val="0"/>
              </a:spcBef>
              <a:spcAft>
                <a:spcPts val="0"/>
              </a:spcAft>
              <a:buClr>
                <a:schemeClr val="dk1"/>
              </a:buClr>
              <a:buSzPts val="1100"/>
              <a:buFont typeface="Arial"/>
              <a:buNone/>
            </a:pPr>
            <a:r>
              <a:rPr lang="en-US" sz="1300"/>
              <a:t>It can also do many of these figures in 2D and 3D!</a:t>
            </a:r>
            <a:endParaRPr sz="1300"/>
          </a:p>
        </p:txBody>
      </p:sp>
      <p:sp>
        <p:nvSpPr>
          <p:cNvPr id="335" name="Google Shape;335;p42"/>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43"/>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NumPy and matplotlib</a:t>
            </a:r>
            <a:endParaRPr/>
          </a:p>
        </p:txBody>
      </p:sp>
      <p:sp>
        <p:nvSpPr>
          <p:cNvPr id="342" name="Google Shape;342;p43"/>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Let's immediately contextualize this by combining NumPy with matplotlib.</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n-US"/>
              <a:t>The result is not quite spectacular yet. But there's some real power here.</a:t>
            </a:r>
            <a:endParaRPr/>
          </a:p>
        </p:txBody>
      </p:sp>
      <p:sp>
        <p:nvSpPr>
          <p:cNvPr id="343" name="Google Shape;343;p43"/>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200">
                <a:latin typeface="Roboto Mono Light"/>
                <a:ea typeface="Roboto Mono Light"/>
                <a:cs typeface="Roboto Mono Light"/>
                <a:sym typeface="Roboto Mono Light"/>
              </a:rPr>
              <a:t>import numpy as np</a:t>
            </a:r>
            <a:endParaRPr sz="12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1200">
                <a:latin typeface="Roboto Mono Light"/>
                <a:ea typeface="Roboto Mono Light"/>
                <a:cs typeface="Roboto Mono Light"/>
                <a:sym typeface="Roboto Mono Light"/>
              </a:rPr>
              <a:t>import matplotlib.pyplot as plt</a:t>
            </a:r>
            <a:endParaRPr sz="12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t/>
            </a:r>
            <a:endParaRPr sz="12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1200">
                <a:latin typeface="Roboto Mono Light"/>
                <a:ea typeface="Roboto Mono Light"/>
                <a:cs typeface="Roboto Mono Light"/>
                <a:sym typeface="Roboto Mono Light"/>
              </a:rPr>
              <a:t>def main():</a:t>
            </a:r>
            <a:endParaRPr sz="12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1200">
                <a:latin typeface="Roboto Mono Light"/>
                <a:ea typeface="Roboto Mono Light"/>
                <a:cs typeface="Roboto Mono Light"/>
                <a:sym typeface="Roboto Mono Light"/>
              </a:rPr>
              <a:t>	</a:t>
            </a:r>
            <a:r>
              <a:rPr b="1" lang="en-US" sz="1200">
                <a:latin typeface="Roboto Mono"/>
                <a:ea typeface="Roboto Mono"/>
                <a:cs typeface="Roboto Mono"/>
                <a:sym typeface="Roboto Mono"/>
              </a:rPr>
              <a:t>x = np.arange(0, 10)</a:t>
            </a:r>
            <a:endParaRPr b="1" sz="12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b="1" lang="en-US" sz="1200">
                <a:latin typeface="Roboto Mono"/>
                <a:ea typeface="Roboto Mono"/>
                <a:cs typeface="Roboto Mono"/>
                <a:sym typeface="Roboto Mono"/>
              </a:rPr>
              <a:t>	y = 2 * x + 6</a:t>
            </a:r>
            <a:endParaRPr b="1" sz="12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sz="1200">
                <a:latin typeface="Roboto Mono Light"/>
                <a:ea typeface="Roboto Mono Light"/>
                <a:cs typeface="Roboto Mono Light"/>
                <a:sym typeface="Roboto Mono Light"/>
              </a:rPr>
              <a:t>	fig, ax = plt.subplots(1, 1)</a:t>
            </a:r>
            <a:endParaRPr sz="12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b="1" lang="en-US" sz="1200">
                <a:latin typeface="Roboto Mono"/>
                <a:ea typeface="Roboto Mono"/>
                <a:cs typeface="Roboto Mono"/>
                <a:sym typeface="Roboto Mono"/>
              </a:rPr>
              <a:t>	ax.plot(x, y)</a:t>
            </a:r>
            <a:endParaRPr b="1" sz="12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sz="1200">
                <a:latin typeface="Roboto Mono Light"/>
                <a:ea typeface="Roboto Mono Light"/>
                <a:cs typeface="Roboto Mono Light"/>
                <a:sym typeface="Roboto Mono Light"/>
              </a:rPr>
              <a:t>	fig.savefig('linear.png')</a:t>
            </a:r>
            <a:endParaRPr sz="12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t/>
            </a:r>
            <a:endParaRPr sz="12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1200">
                <a:latin typeface="Roboto Mono Light"/>
                <a:ea typeface="Roboto Mono Light"/>
                <a:cs typeface="Roboto Mono Light"/>
                <a:sym typeface="Roboto Mono Light"/>
              </a:rPr>
              <a:t>if __name__ == "__main__":</a:t>
            </a:r>
            <a:endParaRPr sz="1200">
              <a:latin typeface="Roboto Mono Light"/>
              <a:ea typeface="Roboto Mono Light"/>
              <a:cs typeface="Roboto Mono Light"/>
              <a:sym typeface="Roboto Mono Light"/>
            </a:endParaRPr>
          </a:p>
          <a:p>
            <a:pPr indent="0" lvl="0" marL="0" rtl="0" algn="l">
              <a:spcBef>
                <a:spcPts val="0"/>
              </a:spcBef>
              <a:spcAft>
                <a:spcPts val="0"/>
              </a:spcAft>
              <a:buNone/>
            </a:pPr>
            <a:r>
              <a:rPr lang="en-US" sz="1200">
                <a:latin typeface="Roboto Mono Light"/>
                <a:ea typeface="Roboto Mono Light"/>
                <a:cs typeface="Roboto Mono Light"/>
                <a:sym typeface="Roboto Mono Light"/>
              </a:rPr>
              <a:t>	main()</a:t>
            </a:r>
            <a:endParaRPr sz="1200">
              <a:latin typeface="Roboto Mono Light"/>
              <a:ea typeface="Roboto Mono Light"/>
              <a:cs typeface="Roboto Mono Light"/>
              <a:sym typeface="Roboto Mono Light"/>
            </a:endParaRPr>
          </a:p>
        </p:txBody>
      </p:sp>
      <p:sp>
        <p:nvSpPr>
          <p:cNvPr id="344" name="Google Shape;344;p43"/>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44"/>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NumPy and matplotlib</a:t>
            </a:r>
            <a:endParaRPr/>
          </a:p>
        </p:txBody>
      </p:sp>
      <p:sp>
        <p:nvSpPr>
          <p:cNvPr id="351" name="Google Shape;351;p44"/>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Remember now NumPy implements quite a bit of mathematical functionality? </a:t>
            </a:r>
            <a:r>
              <a:rPr lang="en-US"/>
              <a:t>Let's use some of it to create a trig-based ndarray, and then plot that.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This is much more interesting!</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352" name="Google Shape;352;p44"/>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200">
                <a:latin typeface="Roboto Mono Light"/>
                <a:ea typeface="Roboto Mono Light"/>
                <a:cs typeface="Roboto Mono Light"/>
                <a:sym typeface="Roboto Mono Light"/>
              </a:rPr>
              <a:t>import numpy as np</a:t>
            </a:r>
            <a:endParaRPr sz="12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1200">
                <a:latin typeface="Roboto Mono Light"/>
                <a:ea typeface="Roboto Mono Light"/>
                <a:cs typeface="Roboto Mono Light"/>
                <a:sym typeface="Roboto Mono Light"/>
              </a:rPr>
              <a:t>import matplotlib.pyplot as plt</a:t>
            </a:r>
            <a:endParaRPr sz="12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t/>
            </a:r>
            <a:endParaRPr sz="12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1200">
                <a:latin typeface="Roboto Mono Light"/>
                <a:ea typeface="Roboto Mono Light"/>
                <a:cs typeface="Roboto Mono Light"/>
                <a:sym typeface="Roboto Mono Light"/>
              </a:rPr>
              <a:t>def main():</a:t>
            </a:r>
            <a:endParaRPr sz="12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1200">
                <a:latin typeface="Roboto Mono Light"/>
                <a:ea typeface="Roboto Mono Light"/>
                <a:cs typeface="Roboto Mono Light"/>
                <a:sym typeface="Roboto Mono Light"/>
              </a:rPr>
              <a:t>	x = np.arange(0, 2*np.pi, 0.1)</a:t>
            </a:r>
            <a:endParaRPr sz="12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b="1" lang="en-US" sz="1200">
                <a:latin typeface="Roboto Mono"/>
                <a:ea typeface="Roboto Mono"/>
                <a:cs typeface="Roboto Mono"/>
                <a:sym typeface="Roboto Mono"/>
              </a:rPr>
              <a:t>	y = np.sin(x)</a:t>
            </a:r>
            <a:endParaRPr b="1" sz="12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sz="1200">
                <a:latin typeface="Roboto Mono Light"/>
                <a:ea typeface="Roboto Mono Light"/>
                <a:cs typeface="Roboto Mono Light"/>
                <a:sym typeface="Roboto Mono Light"/>
              </a:rPr>
              <a:t>	fig, ax = plt.subplots(1, 1)</a:t>
            </a:r>
            <a:endParaRPr sz="12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1200">
                <a:latin typeface="Roboto Mono Light"/>
                <a:ea typeface="Roboto Mono Light"/>
                <a:cs typeface="Roboto Mono Light"/>
                <a:sym typeface="Roboto Mono Light"/>
              </a:rPr>
              <a:t>	ax.plot(x, y)</a:t>
            </a:r>
            <a:endParaRPr sz="12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1200">
                <a:solidFill>
                  <a:schemeClr val="dk1"/>
                </a:solidFill>
                <a:latin typeface="Roboto Mono Light"/>
                <a:ea typeface="Roboto Mono Light"/>
                <a:cs typeface="Roboto Mono Light"/>
                <a:sym typeface="Roboto Mono Light"/>
              </a:rPr>
              <a:t>	fig.savefig('sin.png')</a:t>
            </a:r>
            <a:endParaRPr sz="12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t/>
            </a:r>
            <a:endParaRPr sz="12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1200">
                <a:latin typeface="Roboto Mono Light"/>
                <a:ea typeface="Roboto Mono Light"/>
                <a:cs typeface="Roboto Mono Light"/>
                <a:sym typeface="Roboto Mono Light"/>
              </a:rPr>
              <a:t>if __name__ == "__main__":</a:t>
            </a:r>
            <a:endParaRPr sz="1200">
              <a:latin typeface="Roboto Mono Light"/>
              <a:ea typeface="Roboto Mono Light"/>
              <a:cs typeface="Roboto Mono Light"/>
              <a:sym typeface="Roboto Mono Light"/>
            </a:endParaRPr>
          </a:p>
          <a:p>
            <a:pPr indent="0" lvl="0" marL="0" rtl="0" algn="l">
              <a:spcBef>
                <a:spcPts val="0"/>
              </a:spcBef>
              <a:spcAft>
                <a:spcPts val="0"/>
              </a:spcAft>
              <a:buNone/>
            </a:pPr>
            <a:r>
              <a:rPr lang="en-US" sz="1200">
                <a:latin typeface="Roboto Mono Light"/>
                <a:ea typeface="Roboto Mono Light"/>
                <a:cs typeface="Roboto Mono Light"/>
                <a:sym typeface="Roboto Mono Light"/>
              </a:rPr>
              <a:t>	main()</a:t>
            </a:r>
            <a:endParaRPr sz="1200">
              <a:latin typeface="Roboto Mono Light"/>
              <a:ea typeface="Roboto Mono Light"/>
              <a:cs typeface="Roboto Mono Light"/>
              <a:sym typeface="Roboto Mono Light"/>
            </a:endParaRPr>
          </a:p>
        </p:txBody>
      </p:sp>
      <p:sp>
        <p:nvSpPr>
          <p:cNvPr id="353" name="Google Shape;353;p44"/>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45"/>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NumPy and matplotlib</a:t>
            </a:r>
            <a:endParaRPr/>
          </a:p>
        </p:txBody>
      </p:sp>
      <p:sp>
        <p:nvSpPr>
          <p:cNvPr id="360" name="Google Shape;360;p45"/>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Don't forget to label it up!</a:t>
            </a:r>
            <a:endParaRPr/>
          </a:p>
        </p:txBody>
      </p:sp>
      <p:sp>
        <p:nvSpPr>
          <p:cNvPr id="361" name="Google Shape;361;p45"/>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200">
                <a:latin typeface="Roboto Mono Light"/>
                <a:ea typeface="Roboto Mono Light"/>
                <a:cs typeface="Roboto Mono Light"/>
                <a:sym typeface="Roboto Mono Light"/>
              </a:rPr>
              <a:t>import numpy as np</a:t>
            </a:r>
            <a:endParaRPr sz="12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1200">
                <a:latin typeface="Roboto Mono Light"/>
                <a:ea typeface="Roboto Mono Light"/>
                <a:cs typeface="Roboto Mono Light"/>
                <a:sym typeface="Roboto Mono Light"/>
              </a:rPr>
              <a:t>import matplotlib.pyplot as plt</a:t>
            </a:r>
            <a:endParaRPr sz="12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t/>
            </a:r>
            <a:endParaRPr sz="12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1200">
                <a:latin typeface="Roboto Mono Light"/>
                <a:ea typeface="Roboto Mono Light"/>
                <a:cs typeface="Roboto Mono Light"/>
                <a:sym typeface="Roboto Mono Light"/>
              </a:rPr>
              <a:t>def main():</a:t>
            </a:r>
            <a:endParaRPr sz="12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1200">
                <a:latin typeface="Roboto Mono Light"/>
                <a:ea typeface="Roboto Mono Light"/>
                <a:cs typeface="Roboto Mono Light"/>
                <a:sym typeface="Roboto Mono Light"/>
              </a:rPr>
              <a:t>	# </a:t>
            </a:r>
            <a:r>
              <a:rPr lang="en-US" sz="1200">
                <a:latin typeface="Roboto Mono Light"/>
                <a:ea typeface="Roboto Mono Light"/>
                <a:cs typeface="Roboto Mono Light"/>
                <a:sym typeface="Roboto Mono Light"/>
              </a:rPr>
              <a:t>...</a:t>
            </a:r>
            <a:endParaRPr sz="12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1200">
                <a:latin typeface="Roboto Mono Light"/>
                <a:ea typeface="Roboto Mono Light"/>
                <a:cs typeface="Roboto Mono Light"/>
                <a:sym typeface="Roboto Mono Light"/>
              </a:rPr>
              <a:t>	# previous code goes here</a:t>
            </a:r>
            <a:endParaRPr sz="1200">
              <a:latin typeface="Roboto Mono Light"/>
              <a:ea typeface="Roboto Mono Light"/>
              <a:cs typeface="Roboto Mono Light"/>
              <a:sym typeface="Roboto Mono Light"/>
            </a:endParaRPr>
          </a:p>
          <a:p>
            <a:pPr indent="0" lvl="0" marL="457200" rtl="0" algn="l">
              <a:spcBef>
                <a:spcPts val="0"/>
              </a:spcBef>
              <a:spcAft>
                <a:spcPts val="0"/>
              </a:spcAft>
              <a:buClr>
                <a:schemeClr val="dk1"/>
              </a:buClr>
              <a:buSzPts val="1100"/>
              <a:buFont typeface="Arial"/>
              <a:buNone/>
            </a:pPr>
            <a:r>
              <a:rPr b="1" lang="en-US" sz="1200">
                <a:latin typeface="Roboto Mono"/>
                <a:ea typeface="Roboto Mono"/>
                <a:cs typeface="Roboto Mono"/>
                <a:sym typeface="Roboto Mono"/>
              </a:rPr>
              <a:t>ax.set(xlabel='x', ylabel='y', title='Trig is fun!')</a:t>
            </a:r>
            <a:endParaRPr b="1" sz="12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sz="1200">
                <a:solidFill>
                  <a:schemeClr val="dk1"/>
                </a:solidFill>
                <a:latin typeface="Roboto Mono Light"/>
                <a:ea typeface="Roboto Mono Light"/>
                <a:cs typeface="Roboto Mono Light"/>
                <a:sym typeface="Roboto Mono Light"/>
              </a:rPr>
              <a:t>	fig.savefig('sin.png')</a:t>
            </a:r>
            <a:endParaRPr sz="12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1200">
                <a:latin typeface="Roboto Mono Light"/>
                <a:ea typeface="Roboto Mono Light"/>
                <a:cs typeface="Roboto Mono Light"/>
                <a:sym typeface="Roboto Mono Light"/>
              </a:rPr>
              <a:t>if __name__ == "__main__":</a:t>
            </a:r>
            <a:endParaRPr sz="1200">
              <a:latin typeface="Roboto Mono Light"/>
              <a:ea typeface="Roboto Mono Light"/>
              <a:cs typeface="Roboto Mono Light"/>
              <a:sym typeface="Roboto Mono Light"/>
            </a:endParaRPr>
          </a:p>
          <a:p>
            <a:pPr indent="0" lvl="0" marL="0" rtl="0" algn="l">
              <a:spcBef>
                <a:spcPts val="0"/>
              </a:spcBef>
              <a:spcAft>
                <a:spcPts val="0"/>
              </a:spcAft>
              <a:buNone/>
            </a:pPr>
            <a:r>
              <a:rPr lang="en-US" sz="1200">
                <a:latin typeface="Roboto Mono Light"/>
                <a:ea typeface="Roboto Mono Light"/>
                <a:cs typeface="Roboto Mono Light"/>
                <a:sym typeface="Roboto Mono Light"/>
              </a:rPr>
              <a:t>	main()</a:t>
            </a:r>
            <a:endParaRPr sz="1200">
              <a:latin typeface="Roboto Mono Light"/>
              <a:ea typeface="Roboto Mono Light"/>
              <a:cs typeface="Roboto Mono Light"/>
              <a:sym typeface="Roboto Mono Light"/>
            </a:endParaRPr>
          </a:p>
        </p:txBody>
      </p:sp>
      <p:sp>
        <p:nvSpPr>
          <p:cNvPr id="362" name="Google Shape;362;p45"/>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46"/>
          <p:cNvSpPr txBox="1"/>
          <p:nvPr>
            <p:ph type="title"/>
          </p:nvPr>
        </p:nvSpPr>
        <p:spPr>
          <a:xfrm>
            <a:off x="722313" y="3305175"/>
            <a:ext cx="7772400" cy="10215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MORE FIGURE OPTIONS</a:t>
            </a:r>
            <a:endParaRPr/>
          </a:p>
        </p:txBody>
      </p:sp>
      <p:sp>
        <p:nvSpPr>
          <p:cNvPr id="369" name="Google Shape;369;p46"/>
          <p:cNvSpPr txBox="1"/>
          <p:nvPr>
            <p:ph idx="1" type="body"/>
          </p:nvPr>
        </p:nvSpPr>
        <p:spPr>
          <a:xfrm>
            <a:off x="722313" y="2180035"/>
            <a:ext cx="7772400" cy="1125000"/>
          </a:xfrm>
          <a:prstGeom prst="rect">
            <a:avLst/>
          </a:prstGeom>
        </p:spPr>
        <p:txBody>
          <a:bodyPr anchorCtr="0" anchor="b" bIns="45700" lIns="91425" spcFirstLastPara="1" rIns="91425" wrap="square" tIns="45700">
            <a:noAutofit/>
          </a:bodyPr>
          <a:lstStyle/>
          <a:p>
            <a:pPr indent="0" lvl="0" marL="0" rtl="0" algn="l">
              <a:spcBef>
                <a:spcPts val="400"/>
              </a:spcBef>
              <a:spcAft>
                <a:spcPts val="0"/>
              </a:spcAft>
              <a:buNone/>
            </a:pPr>
            <a:r>
              <a:t/>
            </a:r>
            <a:endParaRPr/>
          </a:p>
        </p:txBody>
      </p:sp>
      <p:sp>
        <p:nvSpPr>
          <p:cNvPr id="370" name="Google Shape;370;p46"/>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47"/>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matplotlib: changing Figure size</a:t>
            </a:r>
            <a:endParaRPr/>
          </a:p>
        </p:txBody>
      </p:sp>
      <p:sp>
        <p:nvSpPr>
          <p:cNvPr id="377" name="Google Shape;377;p47"/>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solidFill>
                  <a:schemeClr val="dk1"/>
                </a:solidFill>
              </a:rPr>
              <a:t>Figures themselves have a default size that they will take on. Sometimes, this size is far too small to effectively visualize the data you've plotted. Luckily, the </a:t>
            </a:r>
            <a:r>
              <a:rPr b="1" lang="en-US">
                <a:solidFill>
                  <a:schemeClr val="dk1"/>
                </a:solidFill>
                <a:latin typeface="Roboto Mono"/>
                <a:ea typeface="Roboto Mono"/>
                <a:cs typeface="Roboto Mono"/>
                <a:sym typeface="Roboto Mono"/>
              </a:rPr>
              <a:t>figsize</a:t>
            </a:r>
            <a:r>
              <a:rPr lang="en-US">
                <a:solidFill>
                  <a:schemeClr val="dk1"/>
                </a:solidFill>
              </a:rPr>
              <a:t> kwarg allows you to change the size of the figure when it is initially constructed.</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latin typeface="Roboto Mono Light"/>
                <a:ea typeface="Roboto Mono Light"/>
                <a:cs typeface="Roboto Mono Light"/>
                <a:sym typeface="Roboto Mono Light"/>
              </a:rPr>
              <a:t>figsize</a:t>
            </a:r>
            <a:r>
              <a:rPr lang="en-US">
                <a:solidFill>
                  <a:schemeClr val="dk1"/>
                </a:solidFill>
              </a:rPr>
              <a:t> takes a tuple. Strangely, the dimensions are in inches.</a:t>
            </a:r>
            <a:endParaRPr>
              <a:solidFill>
                <a:schemeClr val="dk1"/>
              </a:solidFill>
            </a:endParaRPr>
          </a:p>
        </p:txBody>
      </p:sp>
      <p:sp>
        <p:nvSpPr>
          <p:cNvPr id="378" name="Google Shape;378;p47"/>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000">
                <a:solidFill>
                  <a:schemeClr val="dk1"/>
                </a:solidFill>
                <a:latin typeface="Roboto Mono Light"/>
                <a:ea typeface="Roboto Mono Light"/>
                <a:cs typeface="Roboto Mono Light"/>
                <a:sym typeface="Roboto Mono Light"/>
              </a:rPr>
              <a:t>import matplotlib.pyplot as plt</a:t>
            </a:r>
            <a:endParaRPr sz="10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t/>
            </a:r>
            <a:endParaRPr sz="10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rPr lang="en-US" sz="1000">
                <a:solidFill>
                  <a:schemeClr val="dk1"/>
                </a:solidFill>
                <a:latin typeface="Roboto Mono Light"/>
                <a:ea typeface="Roboto Mono Light"/>
                <a:cs typeface="Roboto Mono Light"/>
                <a:sym typeface="Roboto Mono Light"/>
              </a:rPr>
              <a:t>def main():</a:t>
            </a:r>
            <a:endParaRPr sz="10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rPr lang="en-US" sz="1000">
                <a:solidFill>
                  <a:schemeClr val="dk1"/>
                </a:solidFill>
                <a:latin typeface="Roboto Mono Light"/>
                <a:ea typeface="Roboto Mono Light"/>
                <a:cs typeface="Roboto Mono Light"/>
                <a:sym typeface="Roboto Mono Light"/>
              </a:rPr>
              <a:t>	</a:t>
            </a:r>
            <a:r>
              <a:rPr b="1" lang="en-US" sz="1000">
                <a:solidFill>
                  <a:schemeClr val="dk1"/>
                </a:solidFill>
                <a:latin typeface="Roboto Mono"/>
                <a:ea typeface="Roboto Mono"/>
                <a:cs typeface="Roboto Mono"/>
                <a:sym typeface="Roboto Mono"/>
              </a:rPr>
              <a:t># 16 inches by 9 inches</a:t>
            </a:r>
            <a:endParaRPr b="1" sz="1000">
              <a:solidFill>
                <a:schemeClr val="dk1"/>
              </a:solidFill>
              <a:latin typeface="Roboto Mono"/>
              <a:ea typeface="Roboto Mono"/>
              <a:cs typeface="Roboto Mono"/>
              <a:sym typeface="Roboto Mono"/>
            </a:endParaRPr>
          </a:p>
          <a:p>
            <a:pPr indent="457200" lvl="0" marL="0" rtl="0" algn="l">
              <a:spcBef>
                <a:spcPts val="0"/>
              </a:spcBef>
              <a:spcAft>
                <a:spcPts val="0"/>
              </a:spcAft>
              <a:buClr>
                <a:schemeClr val="dk1"/>
              </a:buClr>
              <a:buSzPts val="1100"/>
              <a:buFont typeface="Arial"/>
              <a:buNone/>
            </a:pPr>
            <a:r>
              <a:rPr lang="en-US" sz="1000">
                <a:solidFill>
                  <a:schemeClr val="dk1"/>
                </a:solidFill>
                <a:latin typeface="Roboto Mono Light"/>
                <a:ea typeface="Roboto Mono Light"/>
                <a:cs typeface="Roboto Mono Light"/>
                <a:sym typeface="Roboto Mono Light"/>
              </a:rPr>
              <a:t>fig, ax = plt.subplots(1, 1, </a:t>
            </a:r>
            <a:r>
              <a:rPr b="1" lang="en-US" sz="1000">
                <a:solidFill>
                  <a:schemeClr val="dk1"/>
                </a:solidFill>
                <a:latin typeface="Roboto Mono"/>
                <a:ea typeface="Roboto Mono"/>
                <a:cs typeface="Roboto Mono"/>
                <a:sym typeface="Roboto Mono"/>
              </a:rPr>
              <a:t>figsize=(16, 9)</a:t>
            </a:r>
            <a:r>
              <a:rPr lang="en-US" sz="1000">
                <a:solidFill>
                  <a:schemeClr val="dk1"/>
                </a:solidFill>
                <a:latin typeface="Roboto Mono Light"/>
                <a:ea typeface="Roboto Mono Light"/>
                <a:cs typeface="Roboto Mono Light"/>
                <a:sym typeface="Roboto Mono Light"/>
              </a:rPr>
              <a:t>)</a:t>
            </a:r>
            <a:endParaRPr sz="1000">
              <a:solidFill>
                <a:schemeClr val="dk1"/>
              </a:solidFill>
              <a:latin typeface="Roboto Mono Light"/>
              <a:ea typeface="Roboto Mono Light"/>
              <a:cs typeface="Roboto Mono Light"/>
              <a:sym typeface="Roboto Mono Light"/>
            </a:endParaRPr>
          </a:p>
          <a:p>
            <a:pPr indent="0" lvl="0" marL="457200" rtl="0" algn="l">
              <a:spcBef>
                <a:spcPts val="0"/>
              </a:spcBef>
              <a:spcAft>
                <a:spcPts val="0"/>
              </a:spcAft>
              <a:buNone/>
            </a:pPr>
            <a:r>
              <a:rPr lang="en-US" sz="1000">
                <a:solidFill>
                  <a:schemeClr val="dk1"/>
                </a:solidFill>
                <a:latin typeface="Roboto Mono Light"/>
                <a:ea typeface="Roboto Mono Light"/>
                <a:cs typeface="Roboto Mono Light"/>
                <a:sym typeface="Roboto Mono Light"/>
              </a:rPr>
              <a:t># rest of code goes here</a:t>
            </a:r>
            <a:endParaRPr sz="1000">
              <a:solidFill>
                <a:schemeClr val="dk1"/>
              </a:solidFill>
              <a:latin typeface="Roboto Mono Light"/>
              <a:ea typeface="Roboto Mono Light"/>
              <a:cs typeface="Roboto Mono Light"/>
              <a:sym typeface="Roboto Mono Light"/>
            </a:endParaRPr>
          </a:p>
          <a:p>
            <a:pPr indent="0" lvl="0" marL="457200" rtl="0" algn="l">
              <a:spcBef>
                <a:spcPts val="0"/>
              </a:spcBef>
              <a:spcAft>
                <a:spcPts val="0"/>
              </a:spcAft>
              <a:buClr>
                <a:schemeClr val="dk1"/>
              </a:buClr>
              <a:buSzPts val="1100"/>
              <a:buFont typeface="Arial"/>
              <a:buNone/>
            </a:pPr>
            <a:r>
              <a:rPr lang="en-US" sz="1000">
                <a:solidFill>
                  <a:schemeClr val="dk1"/>
                </a:solidFill>
                <a:latin typeface="Roboto Mono Light"/>
                <a:ea typeface="Roboto Mono Light"/>
                <a:cs typeface="Roboto Mono Light"/>
                <a:sym typeface="Roboto Mono Light"/>
              </a:rPr>
              <a:t># ...</a:t>
            </a:r>
            <a:endParaRPr sz="10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t/>
            </a:r>
            <a:endParaRPr sz="10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1000">
                <a:solidFill>
                  <a:schemeClr val="dk1"/>
                </a:solidFill>
                <a:latin typeface="Roboto Mono Light"/>
                <a:ea typeface="Roboto Mono Light"/>
                <a:cs typeface="Roboto Mono Light"/>
                <a:sym typeface="Roboto Mono Light"/>
              </a:rPr>
              <a:t>if __name__ == "__main__":</a:t>
            </a:r>
            <a:endParaRPr sz="1000">
              <a:solidFill>
                <a:schemeClr val="dk1"/>
              </a:solidFill>
              <a:latin typeface="Roboto Mono Light"/>
              <a:ea typeface="Roboto Mono Light"/>
              <a:cs typeface="Roboto Mono Light"/>
              <a:sym typeface="Roboto Mono Light"/>
            </a:endParaRPr>
          </a:p>
          <a:p>
            <a:pPr indent="457200" lvl="0" marL="0" rtl="0" algn="l">
              <a:spcBef>
                <a:spcPts val="0"/>
              </a:spcBef>
              <a:spcAft>
                <a:spcPts val="0"/>
              </a:spcAft>
              <a:buNone/>
            </a:pPr>
            <a:r>
              <a:rPr lang="en-US" sz="1000">
                <a:solidFill>
                  <a:schemeClr val="dk1"/>
                </a:solidFill>
                <a:latin typeface="Roboto Mono Light"/>
                <a:ea typeface="Roboto Mono Light"/>
                <a:cs typeface="Roboto Mono Light"/>
                <a:sym typeface="Roboto Mono Light"/>
              </a:rPr>
              <a:t>main()</a:t>
            </a:r>
            <a:endParaRPr sz="1000">
              <a:solidFill>
                <a:schemeClr val="dk1"/>
              </a:solidFill>
              <a:latin typeface="Roboto Mono Light"/>
              <a:ea typeface="Roboto Mono Light"/>
              <a:cs typeface="Roboto Mono Light"/>
              <a:sym typeface="Roboto Mono Light"/>
            </a:endParaRPr>
          </a:p>
        </p:txBody>
      </p:sp>
      <p:sp>
        <p:nvSpPr>
          <p:cNvPr id="379" name="Google Shape;379;p47"/>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84" name="Shape 384"/>
        <p:cNvGrpSpPr/>
        <p:nvPr/>
      </p:nvGrpSpPr>
      <p:grpSpPr>
        <a:xfrm>
          <a:off x="0" y="0"/>
          <a:ext cx="0" cy="0"/>
          <a:chOff x="0" y="0"/>
          <a:chExt cx="0" cy="0"/>
        </a:xfrm>
      </p:grpSpPr>
      <p:sp>
        <p:nvSpPr>
          <p:cNvPr id="385" name="Google Shape;385;p48"/>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Figure construction attributes</a:t>
            </a:r>
            <a:endParaRPr/>
          </a:p>
        </p:txBody>
      </p:sp>
      <p:sp>
        <p:nvSpPr>
          <p:cNvPr id="386" name="Google Shape;386;p48"/>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387" name="Google Shape;387;p48"/>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300"/>
              <a:t>When constructing a Figure with more than one subplot inside of it, there are a couple other properties which should be considered:</a:t>
            </a:r>
            <a:endParaRPr sz="1300"/>
          </a:p>
          <a:p>
            <a:pPr indent="0" lvl="0" marL="0" rtl="0" algn="l">
              <a:spcBef>
                <a:spcPts val="0"/>
              </a:spcBef>
              <a:spcAft>
                <a:spcPts val="0"/>
              </a:spcAft>
              <a:buNone/>
            </a:pPr>
            <a:r>
              <a:t/>
            </a:r>
            <a:endParaRPr sz="1300"/>
          </a:p>
          <a:p>
            <a:pPr indent="-311150" lvl="0" marL="457200" rtl="0" algn="l">
              <a:spcBef>
                <a:spcPts val="0"/>
              </a:spcBef>
              <a:spcAft>
                <a:spcPts val="0"/>
              </a:spcAft>
              <a:buSzPts val="1300"/>
              <a:buChar char="•"/>
            </a:pPr>
            <a:r>
              <a:rPr b="1" lang="en-US" sz="1300">
                <a:latin typeface="Roboto Mono"/>
                <a:ea typeface="Roboto Mono"/>
                <a:cs typeface="Roboto Mono"/>
                <a:sym typeface="Roboto Mono"/>
              </a:rPr>
              <a:t>squeeze</a:t>
            </a:r>
            <a:r>
              <a:rPr lang="en-US" sz="1300"/>
              <a:t>: if the subplots are only one-dimensional, pyplot will remove the other dimension so that you only need to index with one number.</a:t>
            </a:r>
            <a:endParaRPr sz="1300"/>
          </a:p>
          <a:p>
            <a:pPr indent="-311150" lvl="0" marL="457200" rtl="0" algn="l">
              <a:spcBef>
                <a:spcPts val="0"/>
              </a:spcBef>
              <a:spcAft>
                <a:spcPts val="0"/>
              </a:spcAft>
              <a:buSzPts val="1300"/>
              <a:buChar char="•"/>
            </a:pPr>
            <a:r>
              <a:rPr b="1" lang="en-US" sz="1300">
                <a:latin typeface="Roboto Mono"/>
                <a:ea typeface="Roboto Mono"/>
                <a:cs typeface="Roboto Mono"/>
                <a:sym typeface="Roboto Mono"/>
              </a:rPr>
              <a:t>sharex</a:t>
            </a:r>
            <a:r>
              <a:rPr lang="en-US" sz="1300"/>
              <a:t> and </a:t>
            </a:r>
            <a:r>
              <a:rPr b="1" lang="en-US" sz="1300">
                <a:latin typeface="Roboto Mono"/>
                <a:ea typeface="Roboto Mono"/>
                <a:cs typeface="Roboto Mono"/>
                <a:sym typeface="Roboto Mono"/>
              </a:rPr>
              <a:t>sharey</a:t>
            </a:r>
            <a:r>
              <a:rPr lang="en-US" sz="1300"/>
              <a:t> instructs pyplot to use the identical ranges on the x-axis or y-axis, respectively.</a:t>
            </a:r>
            <a:endParaRPr sz="1300"/>
          </a:p>
        </p:txBody>
      </p:sp>
      <p:sp>
        <p:nvSpPr>
          <p:cNvPr id="388" name="Google Shape;388;p48"/>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700">
                <a:solidFill>
                  <a:schemeClr val="dk1"/>
                </a:solidFill>
                <a:latin typeface="Roboto Mono Light"/>
                <a:ea typeface="Roboto Mono Light"/>
                <a:cs typeface="Roboto Mono Light"/>
                <a:sym typeface="Roboto Mono Light"/>
              </a:rPr>
              <a:t>import pandas as pd</a:t>
            </a:r>
            <a:endParaRPr sz="7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700">
                <a:solidFill>
                  <a:schemeClr val="dk1"/>
                </a:solidFill>
                <a:latin typeface="Roboto Mono Light"/>
                <a:ea typeface="Roboto Mono Light"/>
                <a:cs typeface="Roboto Mono Light"/>
                <a:sym typeface="Roboto Mono Light"/>
              </a:rPr>
              <a:t>import matplotlib.pyplot as plt</a:t>
            </a:r>
            <a:endParaRPr sz="7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t/>
            </a:r>
            <a:endParaRPr sz="7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700">
                <a:solidFill>
                  <a:schemeClr val="dk1"/>
                </a:solidFill>
                <a:latin typeface="Roboto Mono Light"/>
                <a:ea typeface="Roboto Mono Light"/>
                <a:cs typeface="Roboto Mono Light"/>
                <a:sym typeface="Roboto Mono Light"/>
              </a:rPr>
              <a:t>def main():</a:t>
            </a:r>
            <a:endParaRPr sz="7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700">
                <a:solidFill>
                  <a:schemeClr val="dk1"/>
                </a:solidFill>
                <a:latin typeface="Roboto Mono Light"/>
                <a:ea typeface="Roboto Mono Light"/>
                <a:cs typeface="Roboto Mono Light"/>
                <a:sym typeface="Roboto Mono Light"/>
              </a:rPr>
              <a:t>	file_path = 'iris.csv'</a:t>
            </a:r>
            <a:endParaRPr sz="7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700">
                <a:solidFill>
                  <a:schemeClr val="dk1"/>
                </a:solidFill>
                <a:latin typeface="Roboto Mono Light"/>
                <a:ea typeface="Roboto Mono Light"/>
                <a:cs typeface="Roboto Mono Light"/>
                <a:sym typeface="Roboto Mono Light"/>
              </a:rPr>
              <a:t>	df_iris = pd.read_csv(file_path)</a:t>
            </a:r>
            <a:endParaRPr sz="7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t/>
            </a:r>
            <a:endParaRPr sz="7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b="1" lang="en-US" sz="700">
                <a:solidFill>
                  <a:schemeClr val="dk1"/>
                </a:solidFill>
                <a:latin typeface="Roboto Mono"/>
                <a:ea typeface="Roboto Mono"/>
                <a:cs typeface="Roboto Mono"/>
                <a:sym typeface="Roboto Mono"/>
              </a:rPr>
              <a:t>	fig, ax = plt.subplots(1, 3, squeeze=False, sharey=True)</a:t>
            </a:r>
            <a:endParaRPr b="1" sz="7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US" sz="700">
                <a:solidFill>
                  <a:schemeClr val="dk1"/>
                </a:solidFill>
                <a:latin typeface="Roboto Mono Light"/>
                <a:ea typeface="Roboto Mono Light"/>
                <a:cs typeface="Roboto Mono Light"/>
                <a:sym typeface="Roboto Mono Light"/>
              </a:rPr>
              <a:t>	ax[0, 0].scatter(df_iris['petal_length'], df_iris['petal_width])</a:t>
            </a:r>
            <a:endParaRPr sz="7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rPr lang="en-US" sz="700">
                <a:solidFill>
                  <a:schemeClr val="dk1"/>
                </a:solidFill>
                <a:latin typeface="Roboto Mono Light"/>
                <a:ea typeface="Roboto Mono Light"/>
                <a:cs typeface="Roboto Mono Light"/>
                <a:sym typeface="Roboto Mono Light"/>
              </a:rPr>
              <a:t>	ax[0, 1].scatter(df_iris['sepal_length'], df_iris['petal_width])</a:t>
            </a:r>
            <a:endParaRPr sz="7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700">
                <a:solidFill>
                  <a:schemeClr val="dk1"/>
                </a:solidFill>
                <a:latin typeface="Roboto Mono Light"/>
                <a:ea typeface="Roboto Mono Light"/>
                <a:cs typeface="Roboto Mono Light"/>
                <a:sym typeface="Roboto Mono Light"/>
              </a:rPr>
              <a:t>	ax[0, 2].scatter(df_iris['sepal_width'], df_iris['petal_width])</a:t>
            </a:r>
            <a:endParaRPr sz="7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700">
                <a:solidFill>
                  <a:schemeClr val="dk1"/>
                </a:solidFill>
                <a:latin typeface="Roboto Mono Light"/>
                <a:ea typeface="Roboto Mono Light"/>
                <a:cs typeface="Roboto Mono Light"/>
                <a:sym typeface="Roboto Mono Light"/>
              </a:rPr>
              <a:t>	fig.savefig('iris_petal_scatterplot.png')</a:t>
            </a:r>
            <a:endParaRPr sz="7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t/>
            </a:r>
            <a:endParaRPr sz="7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700">
                <a:solidFill>
                  <a:schemeClr val="dk1"/>
                </a:solidFill>
                <a:latin typeface="Roboto Mono Light"/>
                <a:ea typeface="Roboto Mono Light"/>
                <a:cs typeface="Roboto Mono Light"/>
                <a:sym typeface="Roboto Mono Light"/>
              </a:rPr>
              <a:t>if __name__ == '__main__':</a:t>
            </a:r>
            <a:endParaRPr sz="7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rPr lang="en-US" sz="700">
                <a:solidFill>
                  <a:schemeClr val="dk1"/>
                </a:solidFill>
                <a:latin typeface="Roboto Mono Light"/>
                <a:ea typeface="Roboto Mono Light"/>
                <a:cs typeface="Roboto Mono Light"/>
                <a:sym typeface="Roboto Mono Light"/>
              </a:rPr>
              <a:t>	main()</a:t>
            </a:r>
            <a:endParaRPr sz="700">
              <a:solidFill>
                <a:schemeClr val="dk1"/>
              </a:solidFill>
              <a:latin typeface="Roboto Mono Light"/>
              <a:ea typeface="Roboto Mono Light"/>
              <a:cs typeface="Roboto Mono Light"/>
              <a:sym typeface="Roboto Mono Light"/>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49"/>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Figure layout attributes</a:t>
            </a:r>
            <a:endParaRPr/>
          </a:p>
        </p:txBody>
      </p:sp>
      <p:sp>
        <p:nvSpPr>
          <p:cNvPr id="395" name="Google Shape;395;p49"/>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396" name="Google Shape;396;p49"/>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Two final notes about Figures:</a:t>
            </a:r>
            <a:endParaRPr/>
          </a:p>
          <a:p>
            <a:pPr indent="-330200" lvl="0" marL="457200" rtl="0" algn="l">
              <a:spcBef>
                <a:spcPts val="0"/>
              </a:spcBef>
              <a:spcAft>
                <a:spcPts val="0"/>
              </a:spcAft>
              <a:buSzPts val="1600"/>
              <a:buChar char="•"/>
            </a:pPr>
            <a:r>
              <a:rPr lang="en-US"/>
              <a:t>you may want a title for the entire Figure itself! Use </a:t>
            </a:r>
            <a:r>
              <a:rPr b="1" lang="en-US">
                <a:latin typeface="Roboto Mono"/>
                <a:ea typeface="Roboto Mono"/>
                <a:cs typeface="Roboto Mono"/>
                <a:sym typeface="Roboto Mono"/>
              </a:rPr>
              <a:t>fig.suptitle()</a:t>
            </a:r>
            <a:endParaRPr b="1">
              <a:latin typeface="Roboto Mono"/>
              <a:ea typeface="Roboto Mono"/>
              <a:cs typeface="Roboto Mono"/>
              <a:sym typeface="Roboto Mono"/>
            </a:endParaRPr>
          </a:p>
          <a:p>
            <a:pPr indent="-330200" lvl="0" marL="457200" rtl="0" algn="l">
              <a:spcBef>
                <a:spcPts val="0"/>
              </a:spcBef>
              <a:spcAft>
                <a:spcPts val="0"/>
              </a:spcAft>
              <a:buSzPts val="1600"/>
              <a:buChar char="•"/>
            </a:pPr>
            <a:r>
              <a:rPr lang="en-US"/>
              <a:t>you may find that the subplots aren't spaced well, in which case juse use </a:t>
            </a:r>
            <a:r>
              <a:rPr b="1" lang="en-US">
                <a:latin typeface="Roboto Mono"/>
                <a:ea typeface="Roboto Mono"/>
                <a:cs typeface="Roboto Mono"/>
                <a:sym typeface="Roboto Mono"/>
              </a:rPr>
              <a:t>fig.tight_layout()</a:t>
            </a:r>
            <a:endParaRPr/>
          </a:p>
        </p:txBody>
      </p:sp>
      <p:sp>
        <p:nvSpPr>
          <p:cNvPr id="397" name="Google Shape;397;p49"/>
          <p:cNvSpPr txBox="1"/>
          <p:nvPr>
            <p:ph idx="2" type="body"/>
          </p:nvPr>
        </p:nvSpPr>
        <p:spPr>
          <a:xfrm>
            <a:off x="45720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800">
                <a:solidFill>
                  <a:schemeClr val="dk1"/>
                </a:solidFill>
                <a:latin typeface="Roboto Mono Light"/>
                <a:ea typeface="Roboto Mono Light"/>
                <a:cs typeface="Roboto Mono Light"/>
                <a:sym typeface="Roboto Mono Light"/>
              </a:rPr>
              <a:t>import pandas as pd</a:t>
            </a:r>
            <a:endParaRPr sz="8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800">
                <a:solidFill>
                  <a:schemeClr val="dk1"/>
                </a:solidFill>
                <a:latin typeface="Roboto Mono Light"/>
                <a:ea typeface="Roboto Mono Light"/>
                <a:cs typeface="Roboto Mono Light"/>
                <a:sym typeface="Roboto Mono Light"/>
              </a:rPr>
              <a:t>import matplotlib.pyplot as plt</a:t>
            </a:r>
            <a:endParaRPr sz="8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t/>
            </a:r>
            <a:endParaRPr sz="8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800">
                <a:solidFill>
                  <a:schemeClr val="dk1"/>
                </a:solidFill>
                <a:latin typeface="Roboto Mono Light"/>
                <a:ea typeface="Roboto Mono Light"/>
                <a:cs typeface="Roboto Mono Light"/>
                <a:sym typeface="Roboto Mono Light"/>
              </a:rPr>
              <a:t>def main():</a:t>
            </a:r>
            <a:endParaRPr sz="800">
              <a:solidFill>
                <a:schemeClr val="dk1"/>
              </a:solidFill>
              <a:latin typeface="Roboto Mono Light"/>
              <a:ea typeface="Roboto Mono Light"/>
              <a:cs typeface="Roboto Mono Light"/>
              <a:sym typeface="Roboto Mono Light"/>
            </a:endParaRPr>
          </a:p>
          <a:p>
            <a:pPr indent="457200" lvl="0" marL="0" rtl="0" algn="l">
              <a:spcBef>
                <a:spcPts val="0"/>
              </a:spcBef>
              <a:spcAft>
                <a:spcPts val="0"/>
              </a:spcAft>
              <a:buClr>
                <a:schemeClr val="dk1"/>
              </a:buClr>
              <a:buSzPts val="1100"/>
              <a:buFont typeface="Arial"/>
              <a:buNone/>
            </a:pPr>
            <a:r>
              <a:rPr lang="en-US" sz="800">
                <a:solidFill>
                  <a:schemeClr val="dk1"/>
                </a:solidFill>
                <a:latin typeface="Roboto Mono Light"/>
                <a:ea typeface="Roboto Mono Light"/>
                <a:cs typeface="Roboto Mono Light"/>
                <a:sym typeface="Roboto Mono Light"/>
              </a:rPr>
              <a:t># ... previous code goes here	</a:t>
            </a:r>
            <a:endParaRPr sz="8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t/>
            </a:r>
            <a:endParaRPr sz="8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800">
                <a:solidFill>
                  <a:schemeClr val="dk1"/>
                </a:solidFill>
                <a:latin typeface="Roboto Mono Light"/>
                <a:ea typeface="Roboto Mono Light"/>
                <a:cs typeface="Roboto Mono Light"/>
                <a:sym typeface="Roboto Mono Light"/>
              </a:rPr>
              <a:t>	</a:t>
            </a:r>
            <a:r>
              <a:rPr b="1" lang="en-US" sz="800">
                <a:solidFill>
                  <a:schemeClr val="dk1"/>
                </a:solidFill>
                <a:latin typeface="Roboto Mono"/>
                <a:ea typeface="Roboto Mono"/>
                <a:cs typeface="Roboto Mono"/>
                <a:sym typeface="Roboto Mono"/>
              </a:rPr>
              <a:t>fig.suptitle</a:t>
            </a:r>
            <a:r>
              <a:rPr lang="en-US" sz="800">
                <a:solidFill>
                  <a:schemeClr val="dk1"/>
                </a:solidFill>
                <a:latin typeface="Roboto Mono Light"/>
                <a:ea typeface="Roboto Mono Light"/>
                <a:cs typeface="Roboto Mono Light"/>
                <a:sym typeface="Roboto Mono Light"/>
              </a:rPr>
              <a:t>('Iris data')</a:t>
            </a:r>
            <a:endParaRPr sz="8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800">
                <a:solidFill>
                  <a:schemeClr val="dk1"/>
                </a:solidFill>
                <a:latin typeface="Roboto Mono Light"/>
                <a:ea typeface="Roboto Mono Light"/>
                <a:cs typeface="Roboto Mono Light"/>
                <a:sym typeface="Roboto Mono Light"/>
              </a:rPr>
              <a:t>	</a:t>
            </a:r>
            <a:r>
              <a:rPr b="1" lang="en-US" sz="800">
                <a:solidFill>
                  <a:schemeClr val="dk1"/>
                </a:solidFill>
                <a:latin typeface="Roboto Mono"/>
                <a:ea typeface="Roboto Mono"/>
                <a:cs typeface="Roboto Mono"/>
                <a:sym typeface="Roboto Mono"/>
              </a:rPr>
              <a:t>fig.tight_layout()</a:t>
            </a:r>
            <a:endParaRPr b="1" sz="800">
              <a:solidFill>
                <a:schemeClr val="dk1"/>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sz="800">
                <a:solidFill>
                  <a:schemeClr val="dk1"/>
                </a:solidFill>
                <a:latin typeface="Roboto Mono Light"/>
                <a:ea typeface="Roboto Mono Light"/>
                <a:cs typeface="Roboto Mono Light"/>
                <a:sym typeface="Roboto Mono Light"/>
              </a:rPr>
              <a:t>	fig.savefig('iris_petal_scatterplot.png')</a:t>
            </a:r>
            <a:endParaRPr sz="8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t/>
            </a:r>
            <a:endParaRPr sz="8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800">
                <a:solidFill>
                  <a:schemeClr val="dk1"/>
                </a:solidFill>
                <a:latin typeface="Roboto Mono Light"/>
                <a:ea typeface="Roboto Mono Light"/>
                <a:cs typeface="Roboto Mono Light"/>
                <a:sym typeface="Roboto Mono Light"/>
              </a:rPr>
              <a:t>if __name__ == '__main__':</a:t>
            </a:r>
            <a:endParaRPr sz="8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rPr lang="en-US" sz="800">
                <a:solidFill>
                  <a:schemeClr val="dk1"/>
                </a:solidFill>
                <a:latin typeface="Roboto Mono Light"/>
                <a:ea typeface="Roboto Mono Light"/>
                <a:cs typeface="Roboto Mono Light"/>
                <a:sym typeface="Roboto Mono Light"/>
              </a:rPr>
              <a:t>	main()</a:t>
            </a:r>
            <a:endParaRPr sz="800">
              <a:solidFill>
                <a:schemeClr val="dk1"/>
              </a:solidFill>
              <a:latin typeface="Roboto Mono Light"/>
              <a:ea typeface="Roboto Mono Light"/>
              <a:cs typeface="Roboto Mono Light"/>
              <a:sym typeface="Roboto Mono Light"/>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50"/>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Summary of terms</a:t>
            </a:r>
            <a:endParaRPr/>
          </a:p>
        </p:txBody>
      </p:sp>
      <p:sp>
        <p:nvSpPr>
          <p:cNvPr id="404" name="Google Shape;404;p50"/>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200"/>
              <a:t>Terminology:</a:t>
            </a:r>
            <a:endParaRPr sz="1200"/>
          </a:p>
          <a:p>
            <a:pPr indent="-304800" lvl="0" marL="457200" rtl="0" algn="l">
              <a:spcBef>
                <a:spcPts val="0"/>
              </a:spcBef>
              <a:spcAft>
                <a:spcPts val="0"/>
              </a:spcAft>
              <a:buSzPts val="1200"/>
              <a:buChar char="•"/>
            </a:pPr>
            <a:r>
              <a:rPr lang="en-US" sz="1200"/>
              <a:t>ndarray</a:t>
            </a:r>
            <a:endParaRPr sz="1200"/>
          </a:p>
          <a:p>
            <a:pPr indent="-304800" lvl="0" marL="457200" rtl="0" algn="l">
              <a:spcBef>
                <a:spcPts val="0"/>
              </a:spcBef>
              <a:spcAft>
                <a:spcPts val="0"/>
              </a:spcAft>
              <a:buSzPts val="1200"/>
              <a:buChar char="•"/>
            </a:pPr>
            <a:r>
              <a:rPr lang="en-US" sz="1200"/>
              <a:t>rank</a:t>
            </a:r>
            <a:endParaRPr sz="1200"/>
          </a:p>
          <a:p>
            <a:pPr indent="-304800" lvl="0" marL="457200" rtl="0" algn="l">
              <a:spcBef>
                <a:spcPts val="0"/>
              </a:spcBef>
              <a:spcAft>
                <a:spcPts val="0"/>
              </a:spcAft>
              <a:buSzPts val="1200"/>
              <a:buChar char="•"/>
            </a:pPr>
            <a:r>
              <a:rPr lang="en-US" sz="1200"/>
              <a:t>slice</a:t>
            </a:r>
            <a:endParaRPr sz="1200"/>
          </a:p>
          <a:p>
            <a:pPr indent="-304800" lvl="0" marL="457200" rtl="0" algn="l">
              <a:spcBef>
                <a:spcPts val="0"/>
              </a:spcBef>
              <a:spcAft>
                <a:spcPts val="0"/>
              </a:spcAft>
              <a:buSzPts val="1200"/>
              <a:buChar char="•"/>
            </a:pPr>
            <a:r>
              <a:rPr lang="en-US" sz="1200"/>
              <a:t>broadcasting</a:t>
            </a:r>
            <a:endParaRPr sz="1200"/>
          </a:p>
          <a:p>
            <a:pPr indent="-304800" lvl="0" marL="457200" rtl="0" algn="l">
              <a:spcBef>
                <a:spcPts val="0"/>
              </a:spcBef>
              <a:spcAft>
                <a:spcPts val="0"/>
              </a:spcAft>
              <a:buSzPts val="1200"/>
              <a:buChar char="•"/>
            </a:pPr>
            <a:r>
              <a:rPr lang="en-US" sz="1200"/>
              <a:t>data visualization</a:t>
            </a:r>
            <a:endParaRPr sz="1200"/>
          </a:p>
          <a:p>
            <a:pPr indent="-304800" lvl="0" marL="457200" rtl="0" algn="l">
              <a:spcBef>
                <a:spcPts val="0"/>
              </a:spcBef>
              <a:spcAft>
                <a:spcPts val="0"/>
              </a:spcAft>
              <a:buSzPts val="1200"/>
              <a:buChar char="•"/>
            </a:pPr>
            <a:r>
              <a:rPr lang="en-US" sz="1200"/>
              <a:t>plot types: line, scatter, pie, bar, hist</a:t>
            </a:r>
            <a:endParaRPr sz="1200"/>
          </a:p>
          <a:p>
            <a:pPr indent="-304800" lvl="0" marL="457200" rtl="0" algn="l">
              <a:spcBef>
                <a:spcPts val="0"/>
              </a:spcBef>
              <a:spcAft>
                <a:spcPts val="0"/>
              </a:spcAft>
              <a:buSzPts val="1200"/>
              <a:buChar char="•"/>
            </a:pPr>
            <a:r>
              <a:rPr lang="en-US" sz="1200"/>
              <a:t>Figure</a:t>
            </a:r>
            <a:endParaRPr sz="1200"/>
          </a:p>
          <a:p>
            <a:pPr indent="-304800" lvl="0" marL="457200" rtl="0" algn="l">
              <a:spcBef>
                <a:spcPts val="0"/>
              </a:spcBef>
              <a:spcAft>
                <a:spcPts val="0"/>
              </a:spcAft>
              <a:buSzPts val="1200"/>
              <a:buChar char="•"/>
            </a:pPr>
            <a:r>
              <a:rPr lang="en-US" sz="1200"/>
              <a:t>Axes</a:t>
            </a:r>
            <a:endParaRPr sz="1200"/>
          </a:p>
        </p:txBody>
      </p:sp>
      <p:sp>
        <p:nvSpPr>
          <p:cNvPr id="405" name="Google Shape;405;p50"/>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000"/>
              <a:t>Specific vocab/syntax:</a:t>
            </a:r>
            <a:endParaRPr sz="1000"/>
          </a:p>
          <a:p>
            <a:pPr indent="-292100" lvl="0" marL="457200" rtl="0" algn="l">
              <a:spcBef>
                <a:spcPts val="0"/>
              </a:spcBef>
              <a:spcAft>
                <a:spcPts val="0"/>
              </a:spcAft>
              <a:buSzPts val="1000"/>
              <a:buFont typeface="Roboto Mono Light"/>
              <a:buChar char="•"/>
            </a:pPr>
            <a:r>
              <a:rPr lang="en-US" sz="1000">
                <a:latin typeface="Roboto Mono Light"/>
                <a:ea typeface="Roboto Mono Light"/>
                <a:cs typeface="Roboto Mono Light"/>
                <a:sym typeface="Roboto Mono Light"/>
              </a:rPr>
              <a:t>.array()</a:t>
            </a:r>
            <a:endParaRPr sz="1000">
              <a:latin typeface="Roboto Mono Light"/>
              <a:ea typeface="Roboto Mono Light"/>
              <a:cs typeface="Roboto Mono Light"/>
              <a:sym typeface="Roboto Mono Light"/>
            </a:endParaRPr>
          </a:p>
          <a:p>
            <a:pPr indent="-292100" lvl="0" marL="457200" rtl="0" algn="l">
              <a:spcBef>
                <a:spcPts val="0"/>
              </a:spcBef>
              <a:spcAft>
                <a:spcPts val="0"/>
              </a:spcAft>
              <a:buSzPts val="1000"/>
              <a:buFont typeface="Roboto Mono Light"/>
              <a:buChar char="•"/>
            </a:pPr>
            <a:r>
              <a:rPr lang="en-US" sz="1000">
                <a:latin typeface="Roboto Mono Light"/>
                <a:ea typeface="Roboto Mono Light"/>
                <a:cs typeface="Roboto Mono Light"/>
                <a:sym typeface="Roboto Mono Light"/>
              </a:rPr>
              <a:t>dtype</a:t>
            </a:r>
            <a:endParaRPr sz="1000">
              <a:latin typeface="Roboto Mono Light"/>
              <a:ea typeface="Roboto Mono Light"/>
              <a:cs typeface="Roboto Mono Light"/>
              <a:sym typeface="Roboto Mono Light"/>
            </a:endParaRPr>
          </a:p>
          <a:p>
            <a:pPr indent="-292100" lvl="0" marL="457200" rtl="0" algn="l">
              <a:spcBef>
                <a:spcPts val="0"/>
              </a:spcBef>
              <a:spcAft>
                <a:spcPts val="0"/>
              </a:spcAft>
              <a:buSzPts val="1000"/>
              <a:buFont typeface="Roboto Mono Light"/>
              <a:buChar char="•"/>
            </a:pPr>
            <a:r>
              <a:rPr lang="en-US" sz="1000">
                <a:latin typeface="Roboto Mono Light"/>
                <a:ea typeface="Roboto Mono Light"/>
                <a:cs typeface="Roboto Mono Light"/>
                <a:sym typeface="Roboto Mono Light"/>
              </a:rPr>
              <a:t>.arange()</a:t>
            </a:r>
            <a:endParaRPr sz="1000">
              <a:latin typeface="Roboto Mono Light"/>
              <a:ea typeface="Roboto Mono Light"/>
              <a:cs typeface="Roboto Mono Light"/>
              <a:sym typeface="Roboto Mono Light"/>
            </a:endParaRPr>
          </a:p>
          <a:p>
            <a:pPr indent="-292100" lvl="0" marL="457200" rtl="0" algn="l">
              <a:spcBef>
                <a:spcPts val="0"/>
              </a:spcBef>
              <a:spcAft>
                <a:spcPts val="0"/>
              </a:spcAft>
              <a:buSzPts val="1000"/>
              <a:buFont typeface="Roboto Mono Light"/>
              <a:buChar char="•"/>
            </a:pPr>
            <a:r>
              <a:rPr lang="en-US" sz="1000">
                <a:latin typeface="Roboto Mono Light"/>
                <a:ea typeface="Roboto Mono Light"/>
                <a:cs typeface="Roboto Mono Light"/>
                <a:sym typeface="Roboto Mono Light"/>
              </a:rPr>
              <a:t>.ndim</a:t>
            </a:r>
            <a:endParaRPr sz="1000">
              <a:latin typeface="Roboto Mono Light"/>
              <a:ea typeface="Roboto Mono Light"/>
              <a:cs typeface="Roboto Mono Light"/>
              <a:sym typeface="Roboto Mono Light"/>
            </a:endParaRPr>
          </a:p>
          <a:p>
            <a:pPr indent="-292100" lvl="0" marL="457200" rtl="0" algn="l">
              <a:spcBef>
                <a:spcPts val="0"/>
              </a:spcBef>
              <a:spcAft>
                <a:spcPts val="0"/>
              </a:spcAft>
              <a:buSzPts val="1000"/>
              <a:buFont typeface="Roboto Mono Light"/>
              <a:buChar char="•"/>
            </a:pPr>
            <a:r>
              <a:rPr lang="en-US" sz="1000">
                <a:latin typeface="Roboto Mono Light"/>
                <a:ea typeface="Roboto Mono Light"/>
                <a:cs typeface="Roboto Mono Light"/>
                <a:sym typeface="Roboto Mono Light"/>
              </a:rPr>
              <a:t>.shape</a:t>
            </a:r>
            <a:endParaRPr sz="1000">
              <a:latin typeface="Roboto Mono Light"/>
              <a:ea typeface="Roboto Mono Light"/>
              <a:cs typeface="Roboto Mono Light"/>
              <a:sym typeface="Roboto Mono Light"/>
            </a:endParaRPr>
          </a:p>
          <a:p>
            <a:pPr indent="-292100" lvl="0" marL="457200" rtl="0" algn="l">
              <a:spcBef>
                <a:spcPts val="0"/>
              </a:spcBef>
              <a:spcAft>
                <a:spcPts val="0"/>
              </a:spcAft>
              <a:buSzPts val="1000"/>
              <a:buFont typeface="Roboto Mono Light"/>
              <a:buChar char="•"/>
            </a:pPr>
            <a:r>
              <a:rPr lang="en-US" sz="1000">
                <a:latin typeface="Roboto Mono Light"/>
                <a:ea typeface="Roboto Mono Light"/>
                <a:cs typeface="Roboto Mono Light"/>
                <a:sym typeface="Roboto Mono Light"/>
              </a:rPr>
              <a:t>.reshape()</a:t>
            </a:r>
            <a:endParaRPr sz="1000">
              <a:latin typeface="Roboto Mono Light"/>
              <a:ea typeface="Roboto Mono Light"/>
              <a:cs typeface="Roboto Mono Light"/>
              <a:sym typeface="Roboto Mono Light"/>
            </a:endParaRPr>
          </a:p>
          <a:p>
            <a:pPr indent="-292100" lvl="0" marL="457200" rtl="0" algn="l">
              <a:spcBef>
                <a:spcPts val="0"/>
              </a:spcBef>
              <a:spcAft>
                <a:spcPts val="0"/>
              </a:spcAft>
              <a:buSzPts val="1000"/>
              <a:buFont typeface="Roboto Mono Light"/>
              <a:buChar char="•"/>
            </a:pPr>
            <a:r>
              <a:rPr lang="en-US" sz="1000">
                <a:latin typeface="Roboto Mono Light"/>
                <a:ea typeface="Roboto Mono Light"/>
                <a:cs typeface="Roboto Mono Light"/>
                <a:sym typeface="Roboto Mono Light"/>
              </a:rPr>
              <a:t>.stack()</a:t>
            </a:r>
            <a:r>
              <a:rPr lang="en-US" sz="1000"/>
              <a:t>, </a:t>
            </a:r>
            <a:r>
              <a:rPr lang="en-US" sz="1000">
                <a:latin typeface="Roboto Mono Light"/>
                <a:ea typeface="Roboto Mono Light"/>
                <a:cs typeface="Roboto Mono Light"/>
                <a:sym typeface="Roboto Mono Light"/>
              </a:rPr>
              <a:t>.vstack()</a:t>
            </a:r>
            <a:r>
              <a:rPr lang="en-US" sz="1000"/>
              <a:t>, </a:t>
            </a:r>
            <a:r>
              <a:rPr lang="en-US" sz="1000">
                <a:latin typeface="Roboto Mono Light"/>
                <a:ea typeface="Roboto Mono Light"/>
                <a:cs typeface="Roboto Mono Light"/>
                <a:sym typeface="Roboto Mono Light"/>
              </a:rPr>
              <a:t>.hstack()</a:t>
            </a:r>
            <a:r>
              <a:rPr lang="en-US" sz="1000"/>
              <a:t>, </a:t>
            </a:r>
            <a:r>
              <a:rPr lang="en-US" sz="1000">
                <a:latin typeface="Roboto Mono Light"/>
                <a:ea typeface="Roboto Mono Light"/>
                <a:cs typeface="Roboto Mono Light"/>
                <a:sym typeface="Roboto Mono Light"/>
              </a:rPr>
              <a:t>.concatenate()</a:t>
            </a:r>
            <a:endParaRPr sz="1000">
              <a:latin typeface="Roboto Mono Light"/>
              <a:ea typeface="Roboto Mono Light"/>
              <a:cs typeface="Roboto Mono Light"/>
              <a:sym typeface="Roboto Mono Light"/>
            </a:endParaRPr>
          </a:p>
          <a:p>
            <a:pPr indent="-292100" lvl="0" marL="457200" rtl="0" algn="l">
              <a:spcBef>
                <a:spcPts val="0"/>
              </a:spcBef>
              <a:spcAft>
                <a:spcPts val="0"/>
              </a:spcAft>
              <a:buClr>
                <a:schemeClr val="dk1"/>
              </a:buClr>
              <a:buSzPts val="1000"/>
              <a:buFont typeface="Courier New"/>
              <a:buChar char="•"/>
            </a:pPr>
            <a:r>
              <a:rPr lang="en-US" sz="1000">
                <a:solidFill>
                  <a:schemeClr val="dk1"/>
                </a:solidFill>
                <a:latin typeface="Roboto Mono Light"/>
                <a:ea typeface="Roboto Mono Light"/>
                <a:cs typeface="Roboto Mono Light"/>
                <a:sym typeface="Roboto Mono Light"/>
              </a:rPr>
              <a:t>matplotlib.pyplot</a:t>
            </a:r>
            <a:r>
              <a:rPr lang="en-US" sz="1000">
                <a:solidFill>
                  <a:schemeClr val="dk1"/>
                </a:solidFill>
              </a:rPr>
              <a:t> module</a:t>
            </a:r>
            <a:endParaRPr sz="1000">
              <a:solidFill>
                <a:schemeClr val="dk1"/>
              </a:solidFill>
            </a:endParaRPr>
          </a:p>
          <a:p>
            <a:pPr indent="-292100" lvl="0" marL="457200" marR="0" rtl="0" algn="l">
              <a:lnSpc>
                <a:spcPct val="150000"/>
              </a:lnSpc>
              <a:spcBef>
                <a:spcPts val="0"/>
              </a:spcBef>
              <a:spcAft>
                <a:spcPts val="0"/>
              </a:spcAft>
              <a:buSzPts val="1000"/>
              <a:buFont typeface="Roboto Mono Light"/>
              <a:buChar char="•"/>
            </a:pPr>
            <a:r>
              <a:rPr lang="en-US" sz="1000">
                <a:latin typeface="Roboto Mono Light"/>
                <a:ea typeface="Roboto Mono Light"/>
                <a:cs typeface="Roboto Mono Light"/>
                <a:sym typeface="Roboto Mono Light"/>
              </a:rPr>
              <a:t>pyplot.subplots()</a:t>
            </a:r>
            <a:endParaRPr sz="1000">
              <a:latin typeface="Roboto Mono Light"/>
              <a:ea typeface="Roboto Mono Light"/>
              <a:cs typeface="Roboto Mono Light"/>
              <a:sym typeface="Roboto Mono Light"/>
            </a:endParaRPr>
          </a:p>
          <a:p>
            <a:pPr indent="-292100" lvl="0" marL="457200" marR="0" rtl="0" algn="l">
              <a:lnSpc>
                <a:spcPct val="150000"/>
              </a:lnSpc>
              <a:spcBef>
                <a:spcPts val="0"/>
              </a:spcBef>
              <a:spcAft>
                <a:spcPts val="0"/>
              </a:spcAft>
              <a:buSzPts val="1000"/>
              <a:buFont typeface="Roboto Mono Light"/>
              <a:buChar char="•"/>
            </a:pPr>
            <a:r>
              <a:rPr lang="en-US" sz="1000">
                <a:latin typeface="Roboto Mono Light"/>
                <a:ea typeface="Roboto Mono Light"/>
                <a:cs typeface="Roboto Mono Light"/>
                <a:sym typeface="Roboto Mono Light"/>
              </a:rPr>
              <a:t>Axes</a:t>
            </a:r>
            <a:r>
              <a:rPr lang="en-US" sz="1000">
                <a:solidFill>
                  <a:schemeClr val="dk1"/>
                </a:solidFill>
              </a:rPr>
              <a:t> plotting</a:t>
            </a:r>
            <a:endParaRPr sz="1000">
              <a:solidFill>
                <a:schemeClr val="dk1"/>
              </a:solidFill>
            </a:endParaRPr>
          </a:p>
          <a:p>
            <a:pPr indent="-292100" lvl="0" marL="457200" rtl="0" algn="l">
              <a:spcBef>
                <a:spcPts val="0"/>
              </a:spcBef>
              <a:spcAft>
                <a:spcPts val="0"/>
              </a:spcAft>
              <a:buClr>
                <a:schemeClr val="dk1"/>
              </a:buClr>
              <a:buSzPts val="1000"/>
              <a:buFont typeface="Courier New"/>
              <a:buChar char="•"/>
            </a:pPr>
            <a:r>
              <a:rPr lang="en-US" sz="1000">
                <a:latin typeface="Roboto Mono Light"/>
                <a:ea typeface="Roboto Mono Light"/>
                <a:cs typeface="Roboto Mono Light"/>
                <a:sym typeface="Roboto Mono Light"/>
              </a:rPr>
              <a:t>Axes</a:t>
            </a:r>
            <a:r>
              <a:rPr lang="en-US" sz="1000">
                <a:solidFill>
                  <a:schemeClr val="dk1"/>
                </a:solidFill>
              </a:rPr>
              <a:t> properties (axes and labels, ticks, title, legend, et al.)</a:t>
            </a:r>
            <a:endParaRPr sz="1000">
              <a:solidFill>
                <a:schemeClr val="dk1"/>
              </a:solidFill>
            </a:endParaRPr>
          </a:p>
          <a:p>
            <a:pPr indent="-292100" lvl="0" marL="457200" rtl="0" algn="l">
              <a:spcBef>
                <a:spcPts val="0"/>
              </a:spcBef>
              <a:spcAft>
                <a:spcPts val="0"/>
              </a:spcAft>
              <a:buClr>
                <a:schemeClr val="dk1"/>
              </a:buClr>
              <a:buSzPts val="1000"/>
              <a:buChar char="•"/>
            </a:pPr>
            <a:r>
              <a:rPr lang="en-US" sz="1000">
                <a:latin typeface="Roboto Mono Light"/>
                <a:ea typeface="Roboto Mono Light"/>
                <a:cs typeface="Roboto Mono Light"/>
                <a:sym typeface="Roboto Mono Light"/>
              </a:rPr>
              <a:t>Figure</a:t>
            </a:r>
            <a:r>
              <a:rPr lang="en-US" sz="1000">
                <a:solidFill>
                  <a:schemeClr val="dk1"/>
                </a:solidFill>
              </a:rPr>
              <a:t> properties (</a:t>
            </a:r>
            <a:r>
              <a:rPr lang="en-US" sz="1000">
                <a:latin typeface="Roboto Mono Light"/>
                <a:ea typeface="Roboto Mono Light"/>
                <a:cs typeface="Roboto Mono Light"/>
                <a:sym typeface="Roboto Mono Light"/>
              </a:rPr>
              <a:t>suptitle()</a:t>
            </a:r>
            <a:r>
              <a:rPr lang="en-US" sz="1000"/>
              <a:t>, </a:t>
            </a:r>
            <a:r>
              <a:rPr lang="en-US" sz="1000">
                <a:latin typeface="Roboto Mono Light"/>
                <a:ea typeface="Roboto Mono Light"/>
                <a:cs typeface="Roboto Mono Light"/>
                <a:sym typeface="Roboto Mono Light"/>
              </a:rPr>
              <a:t>tight_layout()</a:t>
            </a:r>
            <a:r>
              <a:rPr lang="en-US" sz="1000">
                <a:solidFill>
                  <a:schemeClr val="dk1"/>
                </a:solidFill>
              </a:rPr>
              <a:t>, et al.)</a:t>
            </a:r>
            <a:endParaRPr sz="1000">
              <a:solidFill>
                <a:schemeClr val="dk1"/>
              </a:solidFill>
            </a:endParaRPr>
          </a:p>
          <a:p>
            <a:pPr indent="-292100" lvl="0" marL="457200" marR="0" rtl="0" algn="l">
              <a:lnSpc>
                <a:spcPct val="150000"/>
              </a:lnSpc>
              <a:spcBef>
                <a:spcPts val="0"/>
              </a:spcBef>
              <a:spcAft>
                <a:spcPts val="0"/>
              </a:spcAft>
              <a:buSzPts val="1000"/>
              <a:buFont typeface="Roboto Mono Light"/>
              <a:buChar char="•"/>
            </a:pPr>
            <a:r>
              <a:rPr lang="en-US" sz="1000">
                <a:latin typeface="Roboto Mono Light"/>
                <a:ea typeface="Roboto Mono Light"/>
                <a:cs typeface="Roboto Mono Light"/>
                <a:sym typeface="Roboto Mono Light"/>
              </a:rPr>
              <a:t>pyplot.style.use()</a:t>
            </a:r>
            <a:endParaRPr sz="1000">
              <a:latin typeface="Roboto Mono Light"/>
              <a:ea typeface="Roboto Mono Light"/>
              <a:cs typeface="Roboto Mono Light"/>
              <a:sym typeface="Roboto Mono Light"/>
            </a:endParaRPr>
          </a:p>
          <a:p>
            <a:pPr indent="-292100" lvl="0" marL="457200" marR="0" rtl="0" algn="l">
              <a:lnSpc>
                <a:spcPct val="150000"/>
              </a:lnSpc>
              <a:spcBef>
                <a:spcPts val="0"/>
              </a:spcBef>
              <a:spcAft>
                <a:spcPts val="0"/>
              </a:spcAft>
              <a:buSzPts val="1000"/>
              <a:buFont typeface="Roboto Mono Light"/>
              <a:buChar char="•"/>
            </a:pPr>
            <a:r>
              <a:rPr lang="en-US" sz="1000">
                <a:latin typeface="Roboto Mono Light"/>
                <a:ea typeface="Roboto Mono Light"/>
                <a:cs typeface="Roboto Mono Light"/>
                <a:sym typeface="Roboto Mono Light"/>
              </a:rPr>
              <a:t>Figure.savefig()</a:t>
            </a:r>
            <a:endParaRPr sz="1000">
              <a:latin typeface="Roboto Mono Light"/>
              <a:ea typeface="Roboto Mono Light"/>
              <a:cs typeface="Roboto Mono Light"/>
              <a:sym typeface="Roboto Mono Light"/>
            </a:endParaRPr>
          </a:p>
        </p:txBody>
      </p:sp>
      <p:sp>
        <p:nvSpPr>
          <p:cNvPr id="406" name="Google Shape;406;p50"/>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USC Viterbi Theme Aldenderfer">
  <a:themeElements>
    <a:clrScheme name="Custom 1">
      <a:dk1>
        <a:srgbClr val="000000"/>
      </a:dk1>
      <a:lt1>
        <a:srgbClr val="FFFFFF"/>
      </a:lt1>
      <a:dk2>
        <a:srgbClr val="830000"/>
      </a:dk2>
      <a:lt2>
        <a:srgbClr val="999999"/>
      </a:lt2>
      <a:accent1>
        <a:srgbClr val="CCCCCC"/>
      </a:accent1>
      <a:accent2>
        <a:srgbClr val="FFCC00"/>
      </a:accent2>
      <a:accent3>
        <a:srgbClr val="FFFFFF"/>
      </a:accent3>
      <a:accent4>
        <a:srgbClr val="000000"/>
      </a:accent4>
      <a:accent5>
        <a:srgbClr val="D9D9D9"/>
      </a:accent5>
      <a:accent6>
        <a:srgbClr val="FFCC00"/>
      </a:accent6>
      <a:hlink>
        <a:srgbClr val="990000"/>
      </a:hlink>
      <a:folHlink>
        <a:srgbClr val="99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