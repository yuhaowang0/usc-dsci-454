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7315200" cy="9601200"/>
  <p:embeddedFontLst>
    <p:embeddedFont>
      <p:font typeface="Proxima Nova"/>
      <p:regular r:id="rId40"/>
      <p:bold r:id="rId41"/>
      <p:italic r:id="rId42"/>
      <p:boldItalic r:id="rId43"/>
    </p:embeddedFont>
    <p:embeddedFont>
      <p:font typeface="Roboto Mono Light"/>
      <p:regular r:id="rId44"/>
      <p:bold r:id="rId45"/>
      <p:italic r:id="rId46"/>
      <p:boldItalic r:id="rId47"/>
    </p:embeddedFont>
    <p:embeddedFont>
      <p:font typeface="Roboto Mono"/>
      <p:regular r:id="rId48"/>
      <p:bold r:id="rId49"/>
      <p:italic r:id="rId50"/>
      <p:boldItalic r:id="rId51"/>
    </p:embeddedFont>
    <p:embeddedFont>
      <p:font typeface="Open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regular.fntdata"/><Relationship Id="rId42" Type="http://schemas.openxmlformats.org/officeDocument/2006/relationships/font" Target="fonts/ProximaNova-italic.fntdata"/><Relationship Id="rId41" Type="http://schemas.openxmlformats.org/officeDocument/2006/relationships/font" Target="fonts/ProximaNova-bold.fntdata"/><Relationship Id="rId44" Type="http://schemas.openxmlformats.org/officeDocument/2006/relationships/font" Target="fonts/RobotoMonoLight-regular.fntdata"/><Relationship Id="rId43" Type="http://schemas.openxmlformats.org/officeDocument/2006/relationships/font" Target="fonts/ProximaNova-boldItalic.fntdata"/><Relationship Id="rId46" Type="http://schemas.openxmlformats.org/officeDocument/2006/relationships/font" Target="fonts/RobotoMonoLight-italic.fntdata"/><Relationship Id="rId45" Type="http://schemas.openxmlformats.org/officeDocument/2006/relationships/font" Target="fonts/RobotoMono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regular.fntdata"/><Relationship Id="rId47" Type="http://schemas.openxmlformats.org/officeDocument/2006/relationships/font" Target="fonts/RobotoMonoLight-boldItalic.fntdata"/><Relationship Id="rId49"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boldItalic.fntdata"/><Relationship Id="rId50" Type="http://schemas.openxmlformats.org/officeDocument/2006/relationships/font" Target="fonts/RobotoMono-italic.fntdata"/><Relationship Id="rId53" Type="http://schemas.openxmlformats.org/officeDocument/2006/relationships/font" Target="fonts/OpenSans-bold.fntdata"/><Relationship Id="rId52" Type="http://schemas.openxmlformats.org/officeDocument/2006/relationships/font" Target="fonts/OpenSans-regular.fntdata"/><Relationship Id="rId11" Type="http://schemas.openxmlformats.org/officeDocument/2006/relationships/slide" Target="slides/slide6.xml"/><Relationship Id="rId55" Type="http://schemas.openxmlformats.org/officeDocument/2006/relationships/font" Target="fonts/OpenSans-boldItalic.fntdata"/><Relationship Id="rId10" Type="http://schemas.openxmlformats.org/officeDocument/2006/relationships/slide" Target="slides/slide5.xml"/><Relationship Id="rId54"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bbb1e537be_1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0" name="Google Shape;50;gbbb1e537be_1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1" name="Google Shape;51;gbbb1e537be_1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ee1e7b1ef1_0_5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8" name="Google Shape;58;gee1e7b1ef1_0_5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9" name="Google Shape;59;gee1e7b1ef1_0_5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ee1e7b1ef1_0_4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7" name="Google Shape;67;gee1e7b1ef1_0_4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 name="Google Shape;68;gee1e7b1ef1_0_4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2763039620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5" name="Google Shape;75;g32763039620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g32763039620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bbd170b23a_0_7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3" name="Google Shape;83;gbbd170b23a_0_7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4" name="Google Shape;84;gbbd170b23a_0_7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bbd170b23a_0_7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1" name="Google Shape;91;gbbd170b23a_0_7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 name="Google Shape;92;gbbd170b23a_0_7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bbd170b23a_0_8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bbd170b23a_0_8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1" name="Google Shape;101;gbbd170b23a_0_8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cacc7ef1d_0_4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cacc7ef1d_0_4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0" name="Google Shape;110;gbcacc7ef1d_0_4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bbd170b23a_0_10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bbd170b23a_0_10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 name="Google Shape;118;gbbd170b23a_0_10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bcacc7ef1d_0_3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bcacc7ef1d_0_3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7" name="Google Shape;127;gbcacc7ef1d_0_3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cacc7ef1d_0_4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cacc7ef1d_0_4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gbcacc7ef1d_0_4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bcacc7ef1d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bcacc7ef1d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4" name="Google Shape;144;gbcacc7ef1d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763039620_0_6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2763039620_0_6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3" name="Google Shape;153;g32763039620_0_6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bcacc7ef1d_0_5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bcacc7ef1d_0_5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2" name="Google Shape;192;gbcacc7ef1d_0_5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bcacc7ef1d_0_1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bcacc7ef1d_0_1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gbcacc7ef1d_0_1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763039620_0_4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2763039620_0_4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0" name="Google Shape;210;g32763039620_0_4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bcacc7ef1d_0_6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bcacc7ef1d_0_6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6" name="Google Shape;236;gbcacc7ef1d_0_6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bcacc7ef1d_0_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bcacc7ef1d_0_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5" name="Google Shape;245;gbcacc7ef1d_0_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bbd170b23a_0_11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bbd170b23a_0_11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4" name="Google Shape;254;gbbd170b23a_0_11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bcacc7ef1d_0_8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bcacc7ef1d_0_8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3" name="Google Shape;263;gbcacc7ef1d_0_8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bcacc7ef1d_0_7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bcacc7ef1d_0_7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1" name="Google Shape;271;gbcacc7ef1d_0_7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bdfe35447d_0_2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bdfe35447d_0_2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0" name="Google Shape;280;gbdfe35447d_0_2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763039620_0_2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2763039620_0_2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8" name="Google Shape;288;g32763039620_0_2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bdfe35447d_0_1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bdfe35447d_0_1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6" name="Google Shape;296;gbdfe35447d_0_1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2dad59746d_4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2dad59746d_4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5" name="Google Shape;305;g32dad59746d_4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bcacc7ef1d_0_9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bcacc7ef1d_0_9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3" name="Google Shape;313;gbcacc7ef1d_0_9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bcacc7ef1d_0_10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bcacc7ef1d_0_10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1" name="Google Shape;321;gbcacc7ef1d_0_10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bcacc7ef1d_0_13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bcacc7ef1d_0_13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9" name="Google Shape;329;gbcacc7ef1d_0_13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cacc7ef1d_0_13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cacc7ef1d_0_13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7" name="Google Shape;337;gbcacc7ef1d_0_13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65b9ca257f_0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65b9ca257f_0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6" name="Google Shape;346;g365b9ca257f_0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bcacc7ef1d_0_14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bcacc7ef1d_0_14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5" name="Google Shape;355;gbcacc7ef1d_0_14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bcacc7ef1d_0_16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bcacc7ef1d_0_16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4" name="Google Shape;364;gbcacc7ef1d_0_16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2763039620_0_2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2763039620_0_2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3" name="Google Shape;373;g32763039620_0_2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bdfe35447d_0_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bdfe35447d_0_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2" name="Google Shape;382;gbdfe35447d_0_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5" name="Google Shape;25;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 name="Google Shape;28;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29" name="Google Shape;29;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 name="Google Shape;32;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4" name="Shape 34"/>
        <p:cNvGrpSpPr/>
        <p:nvPr/>
      </p:nvGrpSpPr>
      <p:grpSpPr>
        <a:xfrm>
          <a:off x="0" y="0"/>
          <a:ext cx="0" cy="0"/>
          <a:chOff x="0" y="0"/>
          <a:chExt cx="0" cy="0"/>
        </a:xfrm>
      </p:grpSpPr>
      <p:sp>
        <p:nvSpPr>
          <p:cNvPr id="35" name="Google Shape;35;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6" name="Google Shape;36;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7" name="Google Shape;37;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8" name="Google Shape;38;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39" name="Shape 39"/>
        <p:cNvGrpSpPr/>
        <p:nvPr/>
      </p:nvGrpSpPr>
      <p:grpSpPr>
        <a:xfrm>
          <a:off x="0" y="0"/>
          <a:ext cx="0" cy="0"/>
          <a:chOff x="0" y="0"/>
          <a:chExt cx="0" cy="0"/>
        </a:xfrm>
      </p:grpSpPr>
      <p:sp>
        <p:nvSpPr>
          <p:cNvPr id="40" name="Google Shape;40;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2" name="Google Shape;42;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5" name="Shape 45"/>
        <p:cNvGrpSpPr/>
        <p:nvPr/>
      </p:nvGrpSpPr>
      <p:grpSpPr>
        <a:xfrm>
          <a:off x="0" y="0"/>
          <a:ext cx="0" cy="0"/>
          <a:chOff x="0" y="0"/>
          <a:chExt cx="0" cy="0"/>
        </a:xfrm>
      </p:grpSpPr>
      <p:sp>
        <p:nvSpPr>
          <p:cNvPr id="46" name="Google Shape;46;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7" name="Google Shape;47;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1.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5O2rDNEwWrQPks-r6TZelqApNcWSJ_jisQgYWHB6CQg/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Objects and Classes: the basics</a:t>
            </a:r>
            <a:endParaRPr/>
          </a:p>
        </p:txBody>
      </p:sp>
      <p:sp>
        <p:nvSpPr>
          <p:cNvPr id="54" name="Google Shape;54;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solidFill>
                  <a:schemeClr val="hlink"/>
                </a:solidFill>
              </a:rPr>
              <a:t>Applied Python</a:t>
            </a:r>
            <a:endParaRPr/>
          </a:p>
        </p:txBody>
      </p:sp>
      <p:sp>
        <p:nvSpPr>
          <p:cNvPr id="55" name="Google Shape;55;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2" name="Google Shape;62;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63" name="Google Shape;63;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Learning Objectives</a:t>
            </a:r>
            <a:endParaRPr b="1"/>
          </a:p>
          <a:p>
            <a:pPr indent="0" lvl="0" marL="0" rtl="0" algn="l">
              <a:spcBef>
                <a:spcPts val="0"/>
              </a:spcBef>
              <a:spcAft>
                <a:spcPts val="0"/>
              </a:spcAft>
              <a:buClr>
                <a:schemeClr val="dk1"/>
              </a:buClr>
              <a:buSzPts val="1100"/>
              <a:buFont typeface="Arial"/>
              <a:buNone/>
            </a:pPr>
            <a:r>
              <a:rPr lang="en-US"/>
              <a:t>By the end of this week, you should:</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understand what classes are</a:t>
            </a:r>
            <a:endParaRPr/>
          </a:p>
          <a:p>
            <a:pPr indent="-330200" lvl="0" marL="457200" rtl="0" algn="l">
              <a:spcBef>
                <a:spcPts val="0"/>
              </a:spcBef>
              <a:spcAft>
                <a:spcPts val="0"/>
              </a:spcAft>
              <a:buSzPts val="1600"/>
              <a:buChar char="•"/>
            </a:pPr>
            <a:r>
              <a:rPr lang="en-US"/>
              <a:t>identify the difference between class attributes and instance attributes</a:t>
            </a:r>
            <a:endParaRPr/>
          </a:p>
          <a:p>
            <a:pPr indent="-330200" lvl="0" marL="457200" rtl="0" algn="l">
              <a:spcBef>
                <a:spcPts val="0"/>
              </a:spcBef>
              <a:spcAft>
                <a:spcPts val="0"/>
              </a:spcAft>
              <a:buSzPts val="1600"/>
              <a:buChar char="•"/>
            </a:pPr>
            <a:r>
              <a:rPr lang="en-US"/>
              <a:t>know the benefits of inheritance</a:t>
            </a:r>
            <a:endParaRPr/>
          </a:p>
        </p:txBody>
      </p:sp>
      <p:sp>
        <p:nvSpPr>
          <p:cNvPr id="64" name="Google Shape;64;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Measurable Outcomes</a:t>
            </a:r>
            <a:endParaRPr b="1"/>
          </a:p>
          <a:p>
            <a:pPr indent="0" lvl="0" marL="0" rtl="0" algn="l">
              <a:spcBef>
                <a:spcPts val="0"/>
              </a:spcBef>
              <a:spcAft>
                <a:spcPts val="0"/>
              </a:spcAft>
              <a:buClr>
                <a:schemeClr val="dk1"/>
              </a:buClr>
              <a:buSzPts val="1100"/>
              <a:buFont typeface="Arial"/>
              <a:buNone/>
            </a:pPr>
            <a:r>
              <a:rPr lang="en-US"/>
              <a:t>By the end of this week, you should be able to:</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explain how classes relate to objects, as well as the differences between them</a:t>
            </a:r>
            <a:endParaRPr/>
          </a:p>
          <a:p>
            <a:pPr indent="-330200" lvl="0" marL="457200" rtl="0" algn="l">
              <a:spcBef>
                <a:spcPts val="0"/>
              </a:spcBef>
              <a:spcAft>
                <a:spcPts val="0"/>
              </a:spcAft>
              <a:buSzPts val="1600"/>
              <a:buChar char="•"/>
            </a:pPr>
            <a:r>
              <a:rPr lang="en-US"/>
              <a:t>write a custom class which inherits from another class</a:t>
            </a:r>
            <a:endParaRPr/>
          </a:p>
          <a:p>
            <a:pPr indent="-330200" lvl="0" marL="457200" rtl="0" algn="l">
              <a:spcBef>
                <a:spcPts val="0"/>
              </a:spcBef>
              <a:spcAft>
                <a:spcPts val="0"/>
              </a:spcAft>
              <a:buSzPts val="1600"/>
              <a:buChar char="•"/>
            </a:pPr>
            <a:r>
              <a:rPr lang="en-US"/>
              <a:t>override a parent attribute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CLASSES</a:t>
            </a:r>
            <a:endParaRPr/>
          </a:p>
        </p:txBody>
      </p:sp>
      <p:sp>
        <p:nvSpPr>
          <p:cNvPr id="71" name="Google Shape;71;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2" name="Google Shape;72;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 the object</a:t>
            </a:r>
            <a:endParaRPr/>
          </a:p>
        </p:txBody>
      </p:sp>
      <p:sp>
        <p:nvSpPr>
          <p:cNvPr id="79" name="Google Shape;79;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0" name="Google Shape;80;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You've learned about a few datatypes: they're a collection of data, along with some functionality (sometimes), all packed up in the same container. You've also learned about functions: </a:t>
            </a:r>
            <a:r>
              <a:rPr lang="en-US">
                <a:solidFill>
                  <a:schemeClr val="dk1"/>
                </a:solidFill>
              </a:rPr>
              <a:t>they're a collection of data (sometimes), along with some functionality, all packed up in the same container</a:t>
            </a:r>
            <a:r>
              <a:rPr lang="en-US"/>
              <a:t>. Golly gee, that sure sounds similar!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turns out that both variables (of datatype list, for example) and functions are objects: a container in memory which can hold both data and functionality.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it also turns out that </a:t>
            </a:r>
            <a:r>
              <a:rPr i="1" lang="en-US"/>
              <a:t>everything</a:t>
            </a:r>
            <a:r>
              <a:rPr lang="en-US"/>
              <a:t> in Python is an object. More on that later.)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hlink"/>
                </a:solidFill>
              </a:rPr>
              <a:t>Classes: abstraction at its best</a:t>
            </a:r>
            <a:endParaRPr/>
          </a:p>
        </p:txBody>
      </p:sp>
      <p:sp>
        <p:nvSpPr>
          <p:cNvPr id="87" name="Google Shape;87;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8" name="Google Shape;88;p1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You've been working with Python's built-in datatypes since the beginning of the semester. Some of them even have built-in functionality; they've all been pretty handy. But what happens if you decide </a:t>
            </a:r>
            <a:r>
              <a:rPr i="1" lang="en-US">
                <a:solidFill>
                  <a:schemeClr val="dk1"/>
                </a:solidFill>
              </a:rPr>
              <a:t>you want to hold data and functionality in a way that the built-in datatypes don't already support</a:t>
            </a:r>
            <a:r>
              <a:rPr lang="en-US">
                <a:solidFill>
                  <a:schemeClr val="dk1"/>
                </a:solidFill>
              </a:rPr>
              <a:t>? What if they built-ins just don't have the right complexity for the type of thing that you're trying to represent?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You'll need to create your own definition for a new datatype, and then make new instances of that new datatype. The new definition is called a </a:t>
            </a:r>
            <a:r>
              <a:rPr b="1" lang="en-US">
                <a:solidFill>
                  <a:schemeClr val="dk1"/>
                </a:solidFill>
              </a:rPr>
              <a:t>class</a:t>
            </a:r>
            <a:r>
              <a:rPr lang="en-US">
                <a:solidFill>
                  <a:schemeClr val="dk1"/>
                </a:solidFill>
              </a:rPr>
              <a:t>, and the instance is called an </a:t>
            </a:r>
            <a:r>
              <a:rPr b="1" lang="en-US">
                <a:solidFill>
                  <a:schemeClr val="dk1"/>
                </a:solidFill>
              </a:rPr>
              <a:t>object</a:t>
            </a:r>
            <a:r>
              <a:rPr lang="en-US">
                <a:solidFill>
                  <a:schemeClr val="dk1"/>
                </a:solidFill>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Classes and objects: the distinction</a:t>
            </a:r>
            <a:endParaRPr/>
          </a:p>
        </p:txBody>
      </p:sp>
      <p:sp>
        <p:nvSpPr>
          <p:cNvPr id="95" name="Google Shape;95;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96" name="Google Shape;96;p1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 </a:t>
            </a:r>
            <a:r>
              <a:rPr b="1" lang="en-US"/>
              <a:t>object</a:t>
            </a:r>
            <a:r>
              <a:rPr lang="en-US"/>
              <a:t> is simply just a container filled with data as well as actions that can be performed on that data. It turns out that every Strings, dictionaries, lists - every variable you've ever created in Python - is in fact an object.</a:t>
            </a:r>
            <a:endParaRPr/>
          </a:p>
        </p:txBody>
      </p:sp>
      <p:sp>
        <p:nvSpPr>
          <p:cNvPr id="97" name="Google Shape;97;p1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a:t>
            </a:r>
            <a:r>
              <a:rPr b="1" lang="en-US"/>
              <a:t>class</a:t>
            </a:r>
            <a:r>
              <a:rPr lang="en-US"/>
              <a:t> is nothing more than the definition for creating an object. It's got all the properties defined - called </a:t>
            </a:r>
            <a:r>
              <a:rPr b="1" lang="en-US"/>
              <a:t>attributes</a:t>
            </a:r>
            <a:r>
              <a:rPr lang="en-US"/>
              <a:t> - as well as all the actions which can be performed - called </a:t>
            </a:r>
            <a:r>
              <a:rPr b="1" lang="en-US"/>
              <a:t>methods</a:t>
            </a:r>
            <a:r>
              <a:rPr lang="en-US"/>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Hold on - I've used these before?</a:t>
            </a:r>
            <a:endParaRPr/>
          </a:p>
        </p:txBody>
      </p:sp>
      <p:sp>
        <p:nvSpPr>
          <p:cNvPr id="104" name="Google Shape;104;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05" name="Google Shape;105;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Remember that </a:t>
            </a:r>
            <a:r>
              <a:rPr b="1" lang="en-US"/>
              <a:t>Strings</a:t>
            </a:r>
            <a:r>
              <a:rPr lang="en-US"/>
              <a:t> hold a sequence of characters (</a:t>
            </a:r>
            <a:r>
              <a:rPr lang="en-US"/>
              <a:t>data</a:t>
            </a:r>
            <a:r>
              <a:rPr lang="en-US"/>
              <a:t>) and there are a whole set of actions that can be </a:t>
            </a:r>
            <a:r>
              <a:rPr lang="en-US"/>
              <a:t>performed</a:t>
            </a:r>
            <a:r>
              <a:rPr lang="en-US"/>
              <a:t> on that data? That sounds a lot like attributes and methods, yeah? Turns out there is a </a:t>
            </a:r>
            <a:r>
              <a:rPr b="1" lang="en-US"/>
              <a:t>String class</a:t>
            </a:r>
            <a:r>
              <a:rPr lang="en-US"/>
              <a:t> which is used to build new </a:t>
            </a:r>
            <a:r>
              <a:rPr b="1" lang="en-US"/>
              <a:t>String objects</a:t>
            </a:r>
            <a:r>
              <a:rPr lang="en-US"/>
              <a:t>.</a:t>
            </a:r>
            <a:endParaRPr/>
          </a:p>
        </p:txBody>
      </p:sp>
      <p:sp>
        <p:nvSpPr>
          <p:cNvPr id="106" name="Google Shape;106;p1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Remember that </a:t>
            </a:r>
            <a:r>
              <a:rPr b="1" lang="en-US">
                <a:solidFill>
                  <a:schemeClr val="dk1"/>
                </a:solidFill>
              </a:rPr>
              <a:t>lists</a:t>
            </a:r>
            <a:r>
              <a:rPr lang="en-US">
                <a:solidFill>
                  <a:schemeClr val="dk1"/>
                </a:solidFill>
              </a:rPr>
              <a:t> hold a sequence of items (data) and there are a whole set of actions that can be performed on that data? That sounds a lot like attributes and methods, yeah? Turns out there is a </a:t>
            </a:r>
            <a:r>
              <a:rPr b="1" lang="en-US">
                <a:solidFill>
                  <a:schemeClr val="dk1"/>
                </a:solidFill>
              </a:rPr>
              <a:t>list class</a:t>
            </a:r>
            <a:r>
              <a:rPr lang="en-US">
                <a:solidFill>
                  <a:schemeClr val="dk1"/>
                </a:solidFill>
              </a:rPr>
              <a:t> which is used to build new </a:t>
            </a:r>
            <a:r>
              <a:rPr b="1" lang="en-US">
                <a:solidFill>
                  <a:schemeClr val="dk1"/>
                </a:solidFill>
              </a:rPr>
              <a:t>list objects</a:t>
            </a:r>
            <a:r>
              <a:rPr lang="en-US">
                <a:solidFill>
                  <a:schemeClr val="dk1"/>
                </a:solidFill>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Class and Object: two part process</a:t>
            </a:r>
            <a:endParaRPr/>
          </a:p>
        </p:txBody>
      </p:sp>
      <p:sp>
        <p:nvSpPr>
          <p:cNvPr id="113" name="Google Shape;113;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14" name="Google Shape;114;p1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Working with classes and objects is actually very straightforward</a:t>
            </a:r>
            <a:r>
              <a:rPr lang="en-US">
                <a:solidFill>
                  <a:schemeClr val="dk1"/>
                </a:solidFill>
              </a:rPr>
              <a:t>! Just as there are two parts to working with functions:</a:t>
            </a:r>
            <a:endParaRPr>
              <a:solidFill>
                <a:schemeClr val="dk1"/>
              </a:solidFill>
            </a:endParaRPr>
          </a:p>
          <a:p>
            <a:pPr indent="-330200" lvl="0" marL="457200" rtl="0" algn="l">
              <a:spcBef>
                <a:spcPts val="0"/>
              </a:spcBef>
              <a:spcAft>
                <a:spcPts val="0"/>
              </a:spcAft>
              <a:buClr>
                <a:schemeClr val="dk1"/>
              </a:buClr>
              <a:buSzPts val="1600"/>
              <a:buAutoNum type="arabicPeriod"/>
            </a:pPr>
            <a:r>
              <a:rPr lang="en-US">
                <a:solidFill>
                  <a:schemeClr val="dk1"/>
                </a:solidFill>
              </a:rPr>
              <a:t>Defining the function.</a:t>
            </a:r>
            <a:endParaRPr>
              <a:solidFill>
                <a:schemeClr val="dk1"/>
              </a:solidFill>
            </a:endParaRPr>
          </a:p>
          <a:p>
            <a:pPr indent="-330200" lvl="0" marL="457200" rtl="0" algn="l">
              <a:spcBef>
                <a:spcPts val="0"/>
              </a:spcBef>
              <a:spcAft>
                <a:spcPts val="0"/>
              </a:spcAft>
              <a:buClr>
                <a:schemeClr val="dk1"/>
              </a:buClr>
              <a:buSzPts val="1600"/>
              <a:buAutoNum type="arabicPeriod"/>
            </a:pPr>
            <a:r>
              <a:rPr lang="en-US">
                <a:solidFill>
                  <a:schemeClr val="dk1"/>
                </a:solidFill>
              </a:rPr>
              <a:t>Calling the function.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There are two parts to working with classes:</a:t>
            </a:r>
            <a:endParaRPr>
              <a:solidFill>
                <a:schemeClr val="dk1"/>
              </a:solidFill>
            </a:endParaRPr>
          </a:p>
          <a:p>
            <a:pPr indent="-330200" lvl="0" marL="457200" rtl="0" algn="l">
              <a:spcBef>
                <a:spcPts val="0"/>
              </a:spcBef>
              <a:spcAft>
                <a:spcPts val="0"/>
              </a:spcAft>
              <a:buClr>
                <a:schemeClr val="dk1"/>
              </a:buClr>
              <a:buSzPts val="1600"/>
              <a:buAutoNum type="arabicPeriod"/>
            </a:pPr>
            <a:r>
              <a:rPr b="1" lang="en-US">
                <a:solidFill>
                  <a:schemeClr val="dk1"/>
                </a:solidFill>
              </a:rPr>
              <a:t>Defining the class.</a:t>
            </a:r>
            <a:endParaRPr b="1">
              <a:solidFill>
                <a:schemeClr val="dk1"/>
              </a:solidFill>
            </a:endParaRPr>
          </a:p>
          <a:p>
            <a:pPr indent="-330200" lvl="0" marL="457200" rtl="0" algn="l">
              <a:spcBef>
                <a:spcPts val="0"/>
              </a:spcBef>
              <a:spcAft>
                <a:spcPts val="0"/>
              </a:spcAft>
              <a:buClr>
                <a:schemeClr val="dk1"/>
              </a:buClr>
              <a:buSzPts val="1600"/>
              <a:buAutoNum type="arabicPeriod"/>
            </a:pPr>
            <a:r>
              <a:rPr b="1" lang="en-US">
                <a:solidFill>
                  <a:schemeClr val="dk1"/>
                </a:solidFill>
              </a:rPr>
              <a:t>Creating a new instance of the class (an object).</a:t>
            </a:r>
            <a:endParaRPr b="1">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Classes: defining</a:t>
            </a:r>
            <a:endParaRPr/>
          </a:p>
        </p:txBody>
      </p:sp>
      <p:sp>
        <p:nvSpPr>
          <p:cNvPr id="121" name="Google Shape;121;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22" name="Google Shape;122;p1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format of a class is pretty straightforward -</a:t>
            </a:r>
            <a:r>
              <a:rPr lang="en-US"/>
              <a:t> it looks a lot like a block of code with internal variables and functions - but there is some nuance, so let's take a dive into it to get a feel for what's what.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the right you'll see effectively a generic template for a class definition.</a:t>
            </a:r>
            <a:endParaRPr/>
          </a:p>
        </p:txBody>
      </p:sp>
      <p:sp>
        <p:nvSpPr>
          <p:cNvPr id="123" name="Google Shape;123;p1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400">
                <a:solidFill>
                  <a:schemeClr val="dk1"/>
                </a:solidFill>
                <a:latin typeface="Roboto Mono"/>
                <a:ea typeface="Roboto Mono"/>
                <a:cs typeface="Roboto Mono"/>
                <a:sym typeface="Roboto Mono"/>
              </a:rPr>
              <a:t>class</a:t>
            </a:r>
            <a:r>
              <a:rPr lang="en-US" sz="1400">
                <a:solidFill>
                  <a:schemeClr val="dk1"/>
                </a:solidFill>
                <a:latin typeface="Roboto Mono Light"/>
                <a:ea typeface="Roboto Mono Light"/>
                <a:cs typeface="Roboto Mono Light"/>
                <a:sym typeface="Roboto Mono Light"/>
              </a:rPr>
              <a:t> ClassName(object):</a:t>
            </a:r>
            <a:endParaRPr sz="14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400">
                <a:solidFill>
                  <a:schemeClr val="dk1"/>
                </a:solidFill>
                <a:latin typeface="Roboto Mono Light"/>
                <a:ea typeface="Roboto Mono Light"/>
                <a:cs typeface="Roboto Mono Light"/>
                <a:sym typeface="Roboto Mono Light"/>
              </a:rPr>
              <a:t>def __init__(self, params):</a:t>
            </a:r>
            <a:endParaRPr sz="14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400">
                <a:solidFill>
                  <a:schemeClr val="dk1"/>
                </a:solidFill>
                <a:latin typeface="Roboto Mono Light"/>
                <a:ea typeface="Roboto Mono Light"/>
                <a:cs typeface="Roboto Mono Light"/>
                <a:sym typeface="Roboto Mono Light"/>
              </a:rPr>
              <a:t># initialize instance variables</a:t>
            </a:r>
            <a:endParaRPr sz="14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400">
                <a:solidFill>
                  <a:schemeClr val="dk1"/>
                </a:solidFill>
                <a:latin typeface="Roboto Mono Light"/>
                <a:ea typeface="Roboto Mono Light"/>
                <a:cs typeface="Roboto Mono Light"/>
                <a:sym typeface="Roboto Mono Light"/>
              </a:rPr>
              <a:t>def method(self):</a:t>
            </a:r>
            <a:endParaRPr sz="14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400">
                <a:solidFill>
                  <a:schemeClr val="dk1"/>
                </a:solidFill>
                <a:latin typeface="Roboto Mono Light"/>
                <a:ea typeface="Roboto Mono Light"/>
                <a:cs typeface="Roboto Mono Light"/>
                <a:sym typeface="Roboto Mono Light"/>
              </a:rPr>
              <a:t># define this method</a:t>
            </a:r>
            <a:endParaRPr sz="1400">
              <a:latin typeface="Roboto Mono Light"/>
              <a:ea typeface="Roboto Mono Light"/>
              <a:cs typeface="Roboto Mono Light"/>
              <a:sym typeface="Roboto Mon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Objects</a:t>
            </a:r>
            <a:r>
              <a:rPr lang="en-US"/>
              <a:t>: instantiating</a:t>
            </a:r>
            <a:endParaRPr/>
          </a:p>
        </p:txBody>
      </p:sp>
      <p:sp>
        <p:nvSpPr>
          <p:cNvPr id="130" name="Google Shape;130;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31" name="Google Shape;131;p1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Object creation is easy; you've done it before! Just as you can create a new list object from the list Class:</a:t>
            </a:r>
            <a:endParaRPr sz="1500"/>
          </a:p>
          <a:p>
            <a:pPr indent="0" lvl="0" marL="0" rtl="0" algn="l">
              <a:spcBef>
                <a:spcPts val="0"/>
              </a:spcBef>
              <a:spcAft>
                <a:spcPts val="0"/>
              </a:spcAft>
              <a:buNone/>
            </a:pPr>
            <a:r>
              <a:t/>
            </a:r>
            <a:endParaRPr sz="1500"/>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empty_list = </a:t>
            </a:r>
            <a:r>
              <a:rPr b="1" lang="en-US" sz="1200">
                <a:solidFill>
                  <a:schemeClr val="dk1"/>
                </a:solidFill>
                <a:latin typeface="Roboto Mono"/>
                <a:ea typeface="Roboto Mono"/>
                <a:cs typeface="Roboto Mono"/>
                <a:sym typeface="Roboto Mono"/>
              </a:rPr>
              <a:t>list(</a:t>
            </a:r>
            <a:r>
              <a:rPr lang="en-US" sz="1200">
                <a:solidFill>
                  <a:schemeClr val="dk1"/>
                </a:solidFill>
                <a:latin typeface="Roboto Mono Light"/>
                <a:ea typeface="Roboto Mono Light"/>
                <a:cs typeface="Roboto Mono Light"/>
                <a:sym typeface="Roboto Mono Light"/>
              </a:rPr>
              <a:t>1, 2</a:t>
            </a:r>
            <a:r>
              <a:rPr b="1" lang="en-US" sz="1200">
                <a:solidFill>
                  <a:schemeClr val="dk1"/>
                </a:solidFill>
                <a:latin typeface="Roboto Mono"/>
                <a:ea typeface="Roboto Mono"/>
                <a:cs typeface="Roboto Mono"/>
                <a:sym typeface="Roboto Mono"/>
              </a:rPr>
              <a:t>)</a:t>
            </a:r>
            <a:r>
              <a:rPr lang="en-US" sz="1200">
                <a:solidFill>
                  <a:schemeClr val="dk1"/>
                </a:solidFill>
                <a:latin typeface="Roboto Mono Light"/>
                <a:ea typeface="Roboto Mono Light"/>
                <a:cs typeface="Roboto Mono Light"/>
                <a:sym typeface="Roboto Mono Light"/>
              </a:rPr>
              <a:t> # constructor</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empty_list = [1, 2]	 # shorthand</a:t>
            </a:r>
            <a:endParaRPr sz="1100">
              <a:latin typeface="Courier New"/>
              <a:ea typeface="Courier New"/>
              <a:cs typeface="Courier New"/>
              <a:sym typeface="Courier New"/>
            </a:endParaRPr>
          </a:p>
          <a:p>
            <a:pPr indent="0" lvl="0" marL="0" rtl="0" algn="l">
              <a:spcBef>
                <a:spcPts val="0"/>
              </a:spcBef>
              <a:spcAft>
                <a:spcPts val="0"/>
              </a:spcAft>
              <a:buNone/>
            </a:pPr>
            <a:r>
              <a:t/>
            </a:r>
            <a:endParaRPr sz="1500"/>
          </a:p>
          <a:p>
            <a:pPr indent="0" lvl="0" marL="0" rtl="0" algn="l">
              <a:spcBef>
                <a:spcPts val="0"/>
              </a:spcBef>
              <a:spcAft>
                <a:spcPts val="0"/>
              </a:spcAft>
              <a:buNone/>
            </a:pPr>
            <a:r>
              <a:rPr lang="en-US" sz="1500"/>
              <a:t>You can </a:t>
            </a:r>
            <a:r>
              <a:rPr b="1" lang="en-US" sz="1500"/>
              <a:t>instantiate</a:t>
            </a:r>
            <a:r>
              <a:rPr lang="en-US" sz="1500"/>
              <a:t> a new object from your own class by saying its name (and feeding it any arguments it requires).</a:t>
            </a:r>
            <a:endParaRPr sz="1500"/>
          </a:p>
        </p:txBody>
      </p:sp>
      <p:sp>
        <p:nvSpPr>
          <p:cNvPr id="132" name="Google Shape;132;p1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class definition</a:t>
            </a:r>
            <a:endParaRPr sz="12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class Student(object):</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def </a:t>
            </a:r>
            <a:r>
              <a:rPr b="1" lang="en-US" sz="1200">
                <a:solidFill>
                  <a:schemeClr val="dk1"/>
                </a:solidFill>
                <a:latin typeface="Roboto Mono"/>
                <a:ea typeface="Roboto Mono"/>
                <a:cs typeface="Roboto Mono"/>
                <a:sym typeface="Roboto Mono"/>
              </a:rPr>
              <a:t>__init__</a:t>
            </a:r>
            <a:r>
              <a:rPr lang="en-US" sz="1200">
                <a:solidFill>
                  <a:schemeClr val="dk1"/>
                </a:solidFill>
                <a:latin typeface="Roboto Mono Light"/>
                <a:ea typeface="Roboto Mono Light"/>
                <a:cs typeface="Roboto Mono Light"/>
                <a:sym typeface="Roboto Mono Light"/>
              </a:rPr>
              <a:t>(self, name_param, ID_param):</a:t>
            </a:r>
            <a:endParaRPr sz="1200">
              <a:solidFill>
                <a:schemeClr val="dk1"/>
              </a:solidFill>
              <a:latin typeface="Roboto Mono Light"/>
              <a:ea typeface="Roboto Mono Light"/>
              <a:cs typeface="Roboto Mono Light"/>
              <a:sym typeface="Roboto Mono Light"/>
            </a:endParaRPr>
          </a:p>
          <a:p>
            <a:pPr indent="0" lvl="0" marL="9144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self.name = name_param</a:t>
            </a:r>
            <a:endParaRPr sz="1200">
              <a:solidFill>
                <a:schemeClr val="dk1"/>
              </a:solidFill>
              <a:latin typeface="Roboto Mono Light"/>
              <a:ea typeface="Roboto Mono Light"/>
              <a:cs typeface="Roboto Mono Light"/>
              <a:sym typeface="Roboto Mono Light"/>
            </a:endParaRPr>
          </a:p>
          <a:p>
            <a:pPr indent="0" lvl="0" marL="9144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self.ID = ID_param</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a:t>
            </a:r>
            <a:endParaRPr sz="12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t/>
            </a:r>
            <a:endParaRPr sz="12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def main():</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object instantiation</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None/>
            </a:pPr>
            <a:r>
              <a:rPr lang="en-US" sz="1200">
                <a:solidFill>
                  <a:schemeClr val="dk1"/>
                </a:solidFill>
                <a:latin typeface="Roboto Mono Light"/>
                <a:ea typeface="Roboto Mono Light"/>
                <a:cs typeface="Roboto Mono Light"/>
                <a:sym typeface="Roboto Mono Light"/>
              </a:rPr>
              <a:t>grace = </a:t>
            </a:r>
            <a:r>
              <a:rPr b="1" lang="en-US" sz="1200">
                <a:solidFill>
                  <a:schemeClr val="dk1"/>
                </a:solidFill>
                <a:latin typeface="Roboto Mono"/>
                <a:ea typeface="Roboto Mono"/>
                <a:cs typeface="Roboto Mono"/>
                <a:sym typeface="Roboto Mono"/>
              </a:rPr>
              <a:t>Student</a:t>
            </a:r>
            <a:r>
              <a:rPr lang="en-US" sz="1200">
                <a:solidFill>
                  <a:schemeClr val="dk1"/>
                </a:solidFill>
                <a:latin typeface="Roboto Mono Light"/>
                <a:ea typeface="Roboto Mono Light"/>
                <a:cs typeface="Roboto Mono Light"/>
                <a:sym typeface="Roboto Mono Light"/>
              </a:rPr>
              <a:t>('Grace', 35894)</a:t>
            </a:r>
            <a:endParaRPr sz="12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t/>
            </a:r>
            <a:endParaRPr sz="12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a:t>
            </a:r>
            <a:endParaRPr sz="12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ATTRIBUTES AND METHODS</a:t>
            </a:r>
            <a:endParaRPr/>
          </a:p>
        </p:txBody>
      </p:sp>
      <p:sp>
        <p:nvSpPr>
          <p:cNvPr id="139" name="Google Shape;139;p20"/>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40" name="Google Shape;140;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Classes: Attributes</a:t>
            </a:r>
            <a:endParaRPr/>
          </a:p>
        </p:txBody>
      </p:sp>
      <p:sp>
        <p:nvSpPr>
          <p:cNvPr id="147" name="Google Shape;147;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48" name="Google Shape;148;p2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500"/>
              <a:t>Attributes</a:t>
            </a:r>
            <a:r>
              <a:rPr lang="en-US" sz="1500"/>
              <a:t> are variables defined in a class. </a:t>
            </a:r>
            <a:r>
              <a:rPr i="1" lang="en-US" sz="1500"/>
              <a:t>When a new instance of that class is created, that object receives its own copies of those attributes</a:t>
            </a:r>
            <a:r>
              <a:rPr lang="en-US" sz="1500"/>
              <a:t>; at that point, they are called </a:t>
            </a:r>
            <a:r>
              <a:rPr b="1" lang="en-US" sz="1500"/>
              <a:t>instance attributes</a:t>
            </a:r>
            <a:r>
              <a:rPr lang="en-US" sz="1500"/>
              <a:t>. </a:t>
            </a:r>
            <a:r>
              <a:rPr b="1" i="1" lang="en-US" sz="1500"/>
              <a:t>Every new instance has its own personal copies</a:t>
            </a:r>
            <a:r>
              <a:rPr lang="en-US" sz="1500"/>
              <a:t>.</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US" sz="1500"/>
              <a:t>Every attribute you want to be an instance attribute </a:t>
            </a:r>
            <a:r>
              <a:rPr i="1" lang="en-US" sz="1500"/>
              <a:t>must</a:t>
            </a:r>
            <a:r>
              <a:rPr lang="en-US" sz="1500"/>
              <a:t> be declared in the </a:t>
            </a:r>
            <a:r>
              <a:rPr lang="en-US" sz="1500">
                <a:solidFill>
                  <a:schemeClr val="dk1"/>
                </a:solidFill>
                <a:latin typeface="Roboto Mono Light"/>
                <a:ea typeface="Roboto Mono Light"/>
                <a:cs typeface="Roboto Mono Light"/>
                <a:sym typeface="Roboto Mono Light"/>
              </a:rPr>
              <a:t>__init__()</a:t>
            </a:r>
            <a:r>
              <a:rPr lang="en-US" sz="1500"/>
              <a:t> method.</a:t>
            </a:r>
            <a:endParaRPr sz="1500"/>
          </a:p>
        </p:txBody>
      </p:sp>
      <p:sp>
        <p:nvSpPr>
          <p:cNvPr id="149" name="Google Shape;149;p2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class Student(object):</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def __init__(self, name_param, id_param):</a:t>
            </a:r>
            <a:endParaRPr sz="1200">
              <a:solidFill>
                <a:schemeClr val="dk1"/>
              </a:solidFill>
              <a:latin typeface="Roboto Mono Light"/>
              <a:ea typeface="Roboto Mono Light"/>
              <a:cs typeface="Roboto Mono Light"/>
              <a:sym typeface="Roboto Mono Light"/>
            </a:endParaRPr>
          </a:p>
          <a:p>
            <a:pPr indent="0" lvl="0" marL="914400" marR="0" rtl="0" algn="l">
              <a:lnSpc>
                <a:spcPct val="150000"/>
              </a:lnSpc>
              <a:spcBef>
                <a:spcPts val="0"/>
              </a:spcBef>
              <a:spcAft>
                <a:spcPts val="0"/>
              </a:spcAft>
              <a:buClr>
                <a:schemeClr val="dk1"/>
              </a:buClr>
              <a:buSzPts val="1100"/>
              <a:buFont typeface="Arial"/>
              <a:buNone/>
            </a:pPr>
            <a:r>
              <a:rPr b="1" lang="en-US" sz="1200">
                <a:solidFill>
                  <a:schemeClr val="dk1"/>
                </a:solidFill>
                <a:latin typeface="Roboto Mono"/>
                <a:ea typeface="Roboto Mono"/>
                <a:cs typeface="Roboto Mono"/>
                <a:sym typeface="Roboto Mono"/>
              </a:rPr>
              <a:t>self.name</a:t>
            </a:r>
            <a:r>
              <a:rPr lang="en-US" sz="1200">
                <a:solidFill>
                  <a:schemeClr val="dk1"/>
                </a:solidFill>
                <a:latin typeface="Roboto Mono Light"/>
                <a:ea typeface="Roboto Mono Light"/>
                <a:cs typeface="Roboto Mono Light"/>
                <a:sym typeface="Roboto Mono Light"/>
              </a:rPr>
              <a:t> = name_param</a:t>
            </a:r>
            <a:endParaRPr sz="1200">
              <a:solidFill>
                <a:schemeClr val="dk1"/>
              </a:solidFill>
              <a:latin typeface="Roboto Mono Light"/>
              <a:ea typeface="Roboto Mono Light"/>
              <a:cs typeface="Roboto Mono Light"/>
              <a:sym typeface="Roboto Mono Light"/>
            </a:endParaRPr>
          </a:p>
          <a:p>
            <a:pPr indent="0" lvl="0" marL="914400" marR="0" rtl="0" algn="l">
              <a:lnSpc>
                <a:spcPct val="150000"/>
              </a:lnSpc>
              <a:spcBef>
                <a:spcPts val="0"/>
              </a:spcBef>
              <a:spcAft>
                <a:spcPts val="0"/>
              </a:spcAft>
              <a:buClr>
                <a:schemeClr val="dk1"/>
              </a:buClr>
              <a:buSzPts val="1100"/>
              <a:buFont typeface="Arial"/>
              <a:buNone/>
            </a:pPr>
            <a:r>
              <a:rPr b="1" lang="en-US" sz="1200">
                <a:solidFill>
                  <a:schemeClr val="dk1"/>
                </a:solidFill>
                <a:latin typeface="Roboto Mono"/>
                <a:ea typeface="Roboto Mono"/>
                <a:cs typeface="Roboto Mono"/>
                <a:sym typeface="Roboto Mono"/>
              </a:rPr>
              <a:t>self.id</a:t>
            </a:r>
            <a:r>
              <a:rPr lang="en-US" sz="1200">
                <a:solidFill>
                  <a:schemeClr val="dk1"/>
                </a:solidFill>
                <a:latin typeface="Roboto Mono Light"/>
                <a:ea typeface="Roboto Mono Light"/>
                <a:cs typeface="Roboto Mono Light"/>
                <a:sym typeface="Roboto Mono Light"/>
              </a:rPr>
              <a:t> = id_param</a:t>
            </a:r>
            <a:endParaRPr sz="1200">
              <a:solidFill>
                <a:schemeClr val="dk1"/>
              </a:solidFill>
              <a:latin typeface="Roboto Mono Light"/>
              <a:ea typeface="Roboto Mono Light"/>
              <a:cs typeface="Roboto Mono Light"/>
              <a:sym typeface="Roboto Mono Light"/>
            </a:endParaRPr>
          </a:p>
          <a:p>
            <a:pPr indent="0" lvl="0" marL="914400" marR="0" rtl="0" algn="l">
              <a:lnSpc>
                <a:spcPct val="150000"/>
              </a:lnSpc>
              <a:spcBef>
                <a:spcPts val="0"/>
              </a:spcBef>
              <a:spcAft>
                <a:spcPts val="0"/>
              </a:spcAft>
              <a:buClr>
                <a:schemeClr val="dk1"/>
              </a:buClr>
              <a:buSzPts val="1100"/>
              <a:buFont typeface="Arial"/>
              <a:buNone/>
            </a:pPr>
            <a:r>
              <a:rPr b="1" lang="en-US" sz="1200">
                <a:solidFill>
                  <a:schemeClr val="dk1"/>
                </a:solidFill>
                <a:latin typeface="Roboto Mono"/>
                <a:ea typeface="Roboto Mono"/>
                <a:cs typeface="Roboto Mono"/>
                <a:sym typeface="Roboto Mono"/>
              </a:rPr>
              <a:t>self.courses</a:t>
            </a:r>
            <a:r>
              <a:rPr lang="en-US" sz="1200">
                <a:solidFill>
                  <a:schemeClr val="dk1"/>
                </a:solidFill>
                <a:latin typeface="Roboto Mono Light"/>
                <a:ea typeface="Roboto Mono Light"/>
                <a:cs typeface="Roboto Mono Light"/>
                <a:sym typeface="Roboto Mono Light"/>
              </a:rPr>
              <a:t> = []</a:t>
            </a:r>
            <a:endParaRPr sz="12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 ...</a:t>
            </a:r>
            <a:endParaRPr sz="12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None/>
            </a:pPr>
            <a:r>
              <a:t/>
            </a:r>
            <a:endParaRPr sz="1200">
              <a:solidFill>
                <a:schemeClr val="dk1"/>
              </a:solidFill>
              <a:latin typeface="Roboto Mono Light"/>
              <a:ea typeface="Roboto Mono Light"/>
              <a:cs typeface="Roboto Mono Light"/>
              <a:sym typeface="Roboto Mono Light"/>
            </a:endParaRPr>
          </a:p>
          <a:p>
            <a:pPr indent="0" lvl="0" marL="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def main():</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student1 = Student('Grace', 35894)</a:t>
            </a:r>
            <a:endParaRPr sz="1200">
              <a:solidFill>
                <a:schemeClr val="dk1"/>
              </a:solidFill>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student2 = Student('Bobby', 75855)</a:t>
            </a:r>
            <a:endParaRPr sz="12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cxnSp>
        <p:nvCxnSpPr>
          <p:cNvPr id="155" name="Google Shape;155;p22"/>
          <p:cNvCxnSpPr>
            <a:stCxn id="156" idx="3"/>
            <a:endCxn id="157" idx="1"/>
          </p:cNvCxnSpPr>
          <p:nvPr/>
        </p:nvCxnSpPr>
        <p:spPr>
          <a:xfrm flipH="1" rot="10800000">
            <a:off x="5948088" y="1258844"/>
            <a:ext cx="1548900" cy="1263600"/>
          </a:xfrm>
          <a:prstGeom prst="straightConnector1">
            <a:avLst/>
          </a:prstGeom>
          <a:noFill/>
          <a:ln cap="flat" cmpd="sng" w="57150">
            <a:solidFill>
              <a:srgbClr val="990000"/>
            </a:solidFill>
            <a:prstDash val="solid"/>
            <a:round/>
            <a:headEnd len="sm" w="sm" type="none"/>
            <a:tailEnd len="med" w="med" type="triangle"/>
          </a:ln>
        </p:spPr>
      </p:cxnSp>
      <p:sp>
        <p:nvSpPr>
          <p:cNvPr id="158" name="Google Shape;158;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Context for clarity</a:t>
            </a:r>
            <a:endParaRPr/>
          </a:p>
        </p:txBody>
      </p:sp>
      <p:sp>
        <p:nvSpPr>
          <p:cNvPr id="159" name="Google Shape;159;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60" name="Google Shape;160;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When you create an instance of a class (otherwise known as an object):</a:t>
            </a:r>
            <a:endParaRPr b="1"/>
          </a:p>
          <a:p>
            <a:pPr indent="-330200" lvl="0" marL="457200" rtl="0" algn="l">
              <a:spcBef>
                <a:spcPts val="0"/>
              </a:spcBef>
              <a:spcAft>
                <a:spcPts val="0"/>
              </a:spcAft>
              <a:buSzPts val="1600"/>
              <a:buChar char="•"/>
            </a:pPr>
            <a:r>
              <a:rPr lang="en-US"/>
              <a:t>the instance has attributes stored inside</a:t>
            </a:r>
            <a:endParaRPr/>
          </a:p>
          <a:p>
            <a:pPr indent="-330200" lvl="0" marL="457200" rtl="0" algn="l">
              <a:spcBef>
                <a:spcPts val="0"/>
              </a:spcBef>
              <a:spcAft>
                <a:spcPts val="0"/>
              </a:spcAft>
              <a:buSzPts val="1600"/>
              <a:buChar char="•"/>
            </a:pPr>
            <a:r>
              <a:rPr lang="en-US"/>
              <a:t>each instance gets its own unique attribute values</a:t>
            </a:r>
            <a:endParaRPr/>
          </a:p>
        </p:txBody>
      </p:sp>
      <p:cxnSp>
        <p:nvCxnSpPr>
          <p:cNvPr id="161" name="Google Shape;161;p22"/>
          <p:cNvCxnSpPr>
            <a:stCxn id="156" idx="3"/>
            <a:endCxn id="162" idx="1"/>
          </p:cNvCxnSpPr>
          <p:nvPr/>
        </p:nvCxnSpPr>
        <p:spPr>
          <a:xfrm>
            <a:off x="5948088" y="2522444"/>
            <a:ext cx="1690500" cy="1065000"/>
          </a:xfrm>
          <a:prstGeom prst="straightConnector1">
            <a:avLst/>
          </a:prstGeom>
          <a:noFill/>
          <a:ln cap="flat" cmpd="sng" w="57150">
            <a:solidFill>
              <a:srgbClr val="990000"/>
            </a:solidFill>
            <a:prstDash val="solid"/>
            <a:round/>
            <a:headEnd len="sm" w="sm" type="none"/>
            <a:tailEnd len="med" w="med" type="triangle"/>
          </a:ln>
        </p:spPr>
      </p:cxnSp>
      <p:grpSp>
        <p:nvGrpSpPr>
          <p:cNvPr id="163" name="Google Shape;163;p22"/>
          <p:cNvGrpSpPr/>
          <p:nvPr/>
        </p:nvGrpSpPr>
        <p:grpSpPr>
          <a:xfrm>
            <a:off x="4753242" y="1419399"/>
            <a:ext cx="1348862" cy="1929008"/>
            <a:chOff x="252183" y="1335451"/>
            <a:chExt cx="2209800" cy="3160236"/>
          </a:xfrm>
        </p:grpSpPr>
        <p:sp>
          <p:nvSpPr>
            <p:cNvPr id="156" name="Google Shape;156;p22"/>
            <p:cNvSpPr/>
            <p:nvPr/>
          </p:nvSpPr>
          <p:spPr>
            <a:xfrm>
              <a:off x="313063" y="1789387"/>
              <a:ext cx="1896600" cy="2706300"/>
            </a:xfrm>
            <a:prstGeom prst="rect">
              <a:avLst/>
            </a:prstGeom>
            <a:solidFill>
              <a:srgbClr val="FFB3B3"/>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1100" u="none" cap="none" strike="noStrike">
                <a:solidFill>
                  <a:srgbClr val="000000"/>
                </a:solidFill>
                <a:latin typeface="Roboto Mono"/>
                <a:ea typeface="Roboto Mono"/>
                <a:cs typeface="Roboto Mono"/>
                <a:sym typeface="Roboto Mono"/>
              </a:endParaRPr>
            </a:p>
          </p:txBody>
        </p:sp>
        <p:sp>
          <p:nvSpPr>
            <p:cNvPr id="164" name="Google Shape;164;p22"/>
            <p:cNvSpPr/>
            <p:nvPr/>
          </p:nvSpPr>
          <p:spPr>
            <a:xfrm>
              <a:off x="252183" y="1335451"/>
              <a:ext cx="22098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Student</a:t>
              </a:r>
              <a:r>
                <a:rPr i="0" lang="en-US" sz="1100" u="none" cap="none" strike="noStrike">
                  <a:solidFill>
                    <a:srgbClr val="000000"/>
                  </a:solidFill>
                  <a:latin typeface="Proxima Nova"/>
                  <a:ea typeface="Proxima Nova"/>
                  <a:cs typeface="Proxima Nova"/>
                  <a:sym typeface="Proxima Nova"/>
                </a:rPr>
                <a:t> </a:t>
              </a:r>
              <a:r>
                <a:rPr i="0" lang="en-US" sz="650" u="none" cap="none" strike="noStrike">
                  <a:solidFill>
                    <a:srgbClr val="000000"/>
                  </a:solidFill>
                  <a:latin typeface="Proxima Nova"/>
                  <a:ea typeface="Proxima Nova"/>
                  <a:cs typeface="Proxima Nova"/>
                  <a:sym typeface="Proxima Nova"/>
                </a:rPr>
                <a:t>class</a:t>
              </a:r>
              <a:endParaRPr i="0" sz="1100" u="none" cap="none" strike="noStrike">
                <a:solidFill>
                  <a:srgbClr val="000000"/>
                </a:solidFill>
                <a:latin typeface="Proxima Nova"/>
                <a:ea typeface="Proxima Nova"/>
                <a:cs typeface="Proxima Nova"/>
                <a:sym typeface="Proxima Nova"/>
              </a:endParaRPr>
            </a:p>
          </p:txBody>
        </p:sp>
        <p:sp>
          <p:nvSpPr>
            <p:cNvPr id="165" name="Google Shape;165;p22"/>
            <p:cNvSpPr/>
            <p:nvPr/>
          </p:nvSpPr>
          <p:spPr>
            <a:xfrm>
              <a:off x="609600" y="2142581"/>
              <a:ext cx="1371600" cy="448200"/>
            </a:xfrm>
            <a:prstGeom prst="rect">
              <a:avLst/>
            </a:prstGeom>
            <a:solidFill>
              <a:srgbClr val="FFB3B3"/>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1100" u="none" cap="none" strike="noStrike">
                <a:solidFill>
                  <a:srgbClr val="000000"/>
                </a:solidFill>
                <a:latin typeface="Roboto Mono"/>
                <a:ea typeface="Roboto Mono"/>
                <a:cs typeface="Roboto Mono"/>
                <a:sym typeface="Roboto Mono"/>
              </a:endParaRPr>
            </a:p>
          </p:txBody>
        </p:sp>
        <p:sp>
          <p:nvSpPr>
            <p:cNvPr id="166" name="Google Shape;166;p22"/>
            <p:cNvSpPr/>
            <p:nvPr/>
          </p:nvSpPr>
          <p:spPr>
            <a:xfrm>
              <a:off x="547138" y="17881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name</a:t>
              </a:r>
              <a:endParaRPr sz="1000">
                <a:latin typeface="Roboto Mono"/>
                <a:ea typeface="Roboto Mono"/>
                <a:cs typeface="Roboto Mono"/>
                <a:sym typeface="Roboto Mono"/>
              </a:endParaRPr>
            </a:p>
          </p:txBody>
        </p:sp>
        <p:sp>
          <p:nvSpPr>
            <p:cNvPr id="167" name="Google Shape;167;p22"/>
            <p:cNvSpPr/>
            <p:nvPr/>
          </p:nvSpPr>
          <p:spPr>
            <a:xfrm>
              <a:off x="609600" y="3044736"/>
              <a:ext cx="1371600" cy="448200"/>
            </a:xfrm>
            <a:prstGeom prst="rect">
              <a:avLst/>
            </a:prstGeom>
            <a:solidFill>
              <a:srgbClr val="FFB3B3"/>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1100" u="none" cap="none" strike="noStrike">
                <a:solidFill>
                  <a:srgbClr val="000000"/>
                </a:solidFill>
                <a:latin typeface="Roboto Mono"/>
                <a:ea typeface="Roboto Mono"/>
                <a:cs typeface="Roboto Mono"/>
                <a:sym typeface="Roboto Mono"/>
              </a:endParaRPr>
            </a:p>
          </p:txBody>
        </p:sp>
        <p:sp>
          <p:nvSpPr>
            <p:cNvPr id="168" name="Google Shape;168;p22"/>
            <p:cNvSpPr/>
            <p:nvPr/>
          </p:nvSpPr>
          <p:spPr>
            <a:xfrm>
              <a:off x="547138" y="2690349"/>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ID</a:t>
              </a:r>
              <a:endParaRPr sz="1000">
                <a:latin typeface="Roboto Mono"/>
                <a:ea typeface="Roboto Mono"/>
                <a:cs typeface="Roboto Mono"/>
                <a:sym typeface="Roboto Mono"/>
              </a:endParaRPr>
            </a:p>
          </p:txBody>
        </p:sp>
        <p:sp>
          <p:nvSpPr>
            <p:cNvPr id="169" name="Google Shape;169;p22"/>
            <p:cNvSpPr/>
            <p:nvPr/>
          </p:nvSpPr>
          <p:spPr>
            <a:xfrm>
              <a:off x="609600" y="3895181"/>
              <a:ext cx="1371600" cy="448200"/>
            </a:xfrm>
            <a:prstGeom prst="rect">
              <a:avLst/>
            </a:prstGeom>
            <a:solidFill>
              <a:srgbClr val="FFB3B3"/>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1100" u="none" cap="none" strike="noStrike">
                <a:solidFill>
                  <a:srgbClr val="000000"/>
                </a:solidFill>
                <a:latin typeface="Roboto Mono"/>
                <a:ea typeface="Roboto Mono"/>
                <a:cs typeface="Roboto Mono"/>
                <a:sym typeface="Roboto Mono"/>
              </a:endParaRPr>
            </a:p>
          </p:txBody>
        </p:sp>
        <p:sp>
          <p:nvSpPr>
            <p:cNvPr id="170" name="Google Shape;170;p22"/>
            <p:cNvSpPr/>
            <p:nvPr/>
          </p:nvSpPr>
          <p:spPr>
            <a:xfrm>
              <a:off x="547138" y="35407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courses</a:t>
              </a:r>
              <a:endParaRPr sz="1000">
                <a:latin typeface="Roboto Mono"/>
                <a:ea typeface="Roboto Mono"/>
                <a:cs typeface="Roboto Mono"/>
                <a:sym typeface="Roboto Mono"/>
              </a:endParaRPr>
            </a:p>
          </p:txBody>
        </p:sp>
      </p:grpSp>
      <p:grpSp>
        <p:nvGrpSpPr>
          <p:cNvPr id="171" name="Google Shape;171;p22"/>
          <p:cNvGrpSpPr/>
          <p:nvPr/>
        </p:nvGrpSpPr>
        <p:grpSpPr>
          <a:xfrm>
            <a:off x="7459732" y="155922"/>
            <a:ext cx="1348862" cy="1929008"/>
            <a:chOff x="252183" y="1335451"/>
            <a:chExt cx="2209800" cy="3160236"/>
          </a:xfrm>
        </p:grpSpPr>
        <p:sp>
          <p:nvSpPr>
            <p:cNvPr id="157" name="Google Shape;157;p22"/>
            <p:cNvSpPr/>
            <p:nvPr/>
          </p:nvSpPr>
          <p:spPr>
            <a:xfrm>
              <a:off x="313063" y="1789387"/>
              <a:ext cx="1896600" cy="2706300"/>
            </a:xfrm>
            <a:prstGeom prst="rect">
              <a:avLst/>
            </a:prstGeom>
            <a:solidFill>
              <a:srgbClr val="FEE999"/>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650" u="none" cap="none" strike="noStrike">
                <a:solidFill>
                  <a:srgbClr val="000000"/>
                </a:solidFill>
                <a:latin typeface="Roboto Mono"/>
                <a:ea typeface="Roboto Mono"/>
                <a:cs typeface="Roboto Mono"/>
                <a:sym typeface="Roboto Mono"/>
              </a:endParaRPr>
            </a:p>
          </p:txBody>
        </p:sp>
        <p:sp>
          <p:nvSpPr>
            <p:cNvPr id="172" name="Google Shape;172;p22"/>
            <p:cNvSpPr/>
            <p:nvPr/>
          </p:nvSpPr>
          <p:spPr>
            <a:xfrm>
              <a:off x="252183" y="1335451"/>
              <a:ext cx="22098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B0F0"/>
                  </a:solidFill>
                  <a:latin typeface="Roboto Mono"/>
                  <a:ea typeface="Roboto Mono"/>
                  <a:cs typeface="Roboto Mono"/>
                  <a:sym typeface="Roboto Mono"/>
                </a:rPr>
                <a:t>student1</a:t>
              </a:r>
              <a:r>
                <a:rPr i="0" lang="en-US" sz="1100" u="none" cap="none" strike="noStrike">
                  <a:solidFill>
                    <a:srgbClr val="00B0F0"/>
                  </a:solidFill>
                  <a:latin typeface="Proxima Nova"/>
                  <a:ea typeface="Proxima Nova"/>
                  <a:cs typeface="Proxima Nova"/>
                  <a:sym typeface="Proxima Nova"/>
                </a:rPr>
                <a:t> </a:t>
              </a:r>
              <a:r>
                <a:rPr i="0" lang="en-US" sz="650" u="none" cap="none" strike="noStrike">
                  <a:solidFill>
                    <a:srgbClr val="000000"/>
                  </a:solidFill>
                  <a:latin typeface="Proxima Nova"/>
                  <a:ea typeface="Proxima Nova"/>
                  <a:cs typeface="Proxima Nova"/>
                  <a:sym typeface="Proxima Nova"/>
                </a:rPr>
                <a:t>object</a:t>
              </a:r>
              <a:endParaRPr i="0" sz="1100" u="none" cap="none" strike="noStrike">
                <a:solidFill>
                  <a:srgbClr val="000000"/>
                </a:solidFill>
                <a:latin typeface="Proxima Nova"/>
                <a:ea typeface="Proxima Nova"/>
                <a:cs typeface="Proxima Nova"/>
                <a:sym typeface="Proxima Nova"/>
              </a:endParaRPr>
            </a:p>
          </p:txBody>
        </p:sp>
        <p:sp>
          <p:nvSpPr>
            <p:cNvPr id="173" name="Google Shape;173;p22"/>
            <p:cNvSpPr/>
            <p:nvPr/>
          </p:nvSpPr>
          <p:spPr>
            <a:xfrm>
              <a:off x="609600" y="21425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100">
                  <a:latin typeface="Roboto Mono"/>
                  <a:ea typeface="Roboto Mono"/>
                  <a:cs typeface="Roboto Mono"/>
                  <a:sym typeface="Roboto Mono"/>
                </a:rPr>
                <a:t>'</a:t>
              </a:r>
              <a:r>
                <a:rPr i="0" lang="en-US" sz="1100" u="none" cap="none" strike="noStrike">
                  <a:solidFill>
                    <a:srgbClr val="000000"/>
                  </a:solidFill>
                  <a:latin typeface="Roboto Mono"/>
                  <a:ea typeface="Roboto Mono"/>
                  <a:cs typeface="Roboto Mono"/>
                  <a:sym typeface="Roboto Mono"/>
                </a:rPr>
                <a:t>Grace</a:t>
              </a:r>
              <a:r>
                <a:rPr lang="en-US" sz="1100">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74" name="Google Shape;174;p22"/>
            <p:cNvSpPr/>
            <p:nvPr/>
          </p:nvSpPr>
          <p:spPr>
            <a:xfrm>
              <a:off x="547138" y="17881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name</a:t>
              </a:r>
              <a:endParaRPr sz="1000">
                <a:latin typeface="Roboto Mono"/>
                <a:ea typeface="Roboto Mono"/>
                <a:cs typeface="Roboto Mono"/>
                <a:sym typeface="Roboto Mono"/>
              </a:endParaRPr>
            </a:p>
          </p:txBody>
        </p:sp>
        <p:sp>
          <p:nvSpPr>
            <p:cNvPr id="175" name="Google Shape;175;p22"/>
            <p:cNvSpPr/>
            <p:nvPr/>
          </p:nvSpPr>
          <p:spPr>
            <a:xfrm>
              <a:off x="609600" y="3044736"/>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35894</a:t>
              </a:r>
              <a:endParaRPr i="0" sz="1100" u="none" cap="none" strike="noStrike">
                <a:solidFill>
                  <a:srgbClr val="000000"/>
                </a:solidFill>
                <a:latin typeface="Roboto Mono"/>
                <a:ea typeface="Roboto Mono"/>
                <a:cs typeface="Roboto Mono"/>
                <a:sym typeface="Roboto Mono"/>
              </a:endParaRPr>
            </a:p>
          </p:txBody>
        </p:sp>
        <p:sp>
          <p:nvSpPr>
            <p:cNvPr id="176" name="Google Shape;176;p22"/>
            <p:cNvSpPr/>
            <p:nvPr/>
          </p:nvSpPr>
          <p:spPr>
            <a:xfrm>
              <a:off x="547138" y="2690349"/>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ID</a:t>
              </a:r>
              <a:endParaRPr sz="1000">
                <a:latin typeface="Roboto Mono"/>
                <a:ea typeface="Roboto Mono"/>
                <a:cs typeface="Roboto Mono"/>
                <a:sym typeface="Roboto Mono"/>
              </a:endParaRPr>
            </a:p>
          </p:txBody>
        </p:sp>
        <p:sp>
          <p:nvSpPr>
            <p:cNvPr id="177" name="Google Shape;177;p22"/>
            <p:cNvSpPr/>
            <p:nvPr/>
          </p:nvSpPr>
          <p:spPr>
            <a:xfrm>
              <a:off x="609600" y="38951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78" name="Google Shape;178;p22"/>
            <p:cNvSpPr/>
            <p:nvPr/>
          </p:nvSpPr>
          <p:spPr>
            <a:xfrm>
              <a:off x="547138" y="35407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courses</a:t>
              </a:r>
              <a:endParaRPr sz="1000">
                <a:latin typeface="Roboto Mono"/>
                <a:ea typeface="Roboto Mono"/>
                <a:cs typeface="Roboto Mono"/>
                <a:sym typeface="Roboto Mono"/>
              </a:endParaRPr>
            </a:p>
          </p:txBody>
        </p:sp>
      </p:grpSp>
      <p:grpSp>
        <p:nvGrpSpPr>
          <p:cNvPr id="179" name="Google Shape;179;p22"/>
          <p:cNvGrpSpPr/>
          <p:nvPr/>
        </p:nvGrpSpPr>
        <p:grpSpPr>
          <a:xfrm>
            <a:off x="7601280" y="2484386"/>
            <a:ext cx="1348862" cy="1929008"/>
            <a:chOff x="252183" y="1335451"/>
            <a:chExt cx="2209800" cy="3160236"/>
          </a:xfrm>
        </p:grpSpPr>
        <p:sp>
          <p:nvSpPr>
            <p:cNvPr id="162" name="Google Shape;162;p22"/>
            <p:cNvSpPr/>
            <p:nvPr/>
          </p:nvSpPr>
          <p:spPr>
            <a:xfrm>
              <a:off x="313063" y="1789387"/>
              <a:ext cx="1896600" cy="2706300"/>
            </a:xfrm>
            <a:prstGeom prst="rect">
              <a:avLst/>
            </a:prstGeom>
            <a:solidFill>
              <a:srgbClr val="FEE999"/>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650" u="none" cap="none" strike="noStrike">
                <a:solidFill>
                  <a:srgbClr val="000000"/>
                </a:solidFill>
                <a:latin typeface="Roboto Mono"/>
                <a:ea typeface="Roboto Mono"/>
                <a:cs typeface="Roboto Mono"/>
                <a:sym typeface="Roboto Mono"/>
              </a:endParaRPr>
            </a:p>
          </p:txBody>
        </p:sp>
        <p:sp>
          <p:nvSpPr>
            <p:cNvPr id="180" name="Google Shape;180;p22"/>
            <p:cNvSpPr/>
            <p:nvPr/>
          </p:nvSpPr>
          <p:spPr>
            <a:xfrm>
              <a:off x="252183" y="1335451"/>
              <a:ext cx="22098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B050"/>
                  </a:solidFill>
                  <a:latin typeface="Roboto Mono"/>
                  <a:ea typeface="Roboto Mono"/>
                  <a:cs typeface="Roboto Mono"/>
                  <a:sym typeface="Roboto Mono"/>
                </a:rPr>
                <a:t>student2</a:t>
              </a:r>
              <a:r>
                <a:rPr i="0" lang="en-US" sz="1100" u="none" cap="none" strike="noStrike">
                  <a:solidFill>
                    <a:srgbClr val="00B0F0"/>
                  </a:solidFill>
                  <a:latin typeface="Proxima Nova"/>
                  <a:ea typeface="Proxima Nova"/>
                  <a:cs typeface="Proxima Nova"/>
                  <a:sym typeface="Proxima Nova"/>
                </a:rPr>
                <a:t> </a:t>
              </a:r>
              <a:r>
                <a:rPr i="0" lang="en-US" sz="650" u="none" cap="none" strike="noStrike">
                  <a:solidFill>
                    <a:srgbClr val="000000"/>
                  </a:solidFill>
                  <a:latin typeface="Proxima Nova"/>
                  <a:ea typeface="Proxima Nova"/>
                  <a:cs typeface="Proxima Nova"/>
                  <a:sym typeface="Proxima Nova"/>
                </a:rPr>
                <a:t>object</a:t>
              </a:r>
              <a:endParaRPr i="0" sz="1100" u="none" cap="none" strike="noStrike">
                <a:solidFill>
                  <a:srgbClr val="000000"/>
                </a:solidFill>
                <a:latin typeface="Proxima Nova"/>
                <a:ea typeface="Proxima Nova"/>
                <a:cs typeface="Proxima Nova"/>
                <a:sym typeface="Proxima Nova"/>
              </a:endParaRPr>
            </a:p>
          </p:txBody>
        </p:sp>
        <p:sp>
          <p:nvSpPr>
            <p:cNvPr id="181" name="Google Shape;181;p22"/>
            <p:cNvSpPr/>
            <p:nvPr/>
          </p:nvSpPr>
          <p:spPr>
            <a:xfrm>
              <a:off x="609600" y="21425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100">
                  <a:latin typeface="Roboto Mono"/>
                  <a:ea typeface="Roboto Mono"/>
                  <a:cs typeface="Roboto Mono"/>
                  <a:sym typeface="Roboto Mono"/>
                </a:rPr>
                <a:t>'</a:t>
              </a:r>
              <a:r>
                <a:rPr i="0" lang="en-US" sz="1100" u="none" cap="none" strike="noStrike">
                  <a:solidFill>
                    <a:srgbClr val="000000"/>
                  </a:solidFill>
                  <a:latin typeface="Roboto Mono"/>
                  <a:ea typeface="Roboto Mono"/>
                  <a:cs typeface="Roboto Mono"/>
                  <a:sym typeface="Roboto Mono"/>
                </a:rPr>
                <a:t>Bobby</a:t>
              </a:r>
              <a:r>
                <a:rPr lang="en-US" sz="1100">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82" name="Google Shape;182;p22"/>
            <p:cNvSpPr/>
            <p:nvPr/>
          </p:nvSpPr>
          <p:spPr>
            <a:xfrm>
              <a:off x="547138" y="17881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name</a:t>
              </a:r>
              <a:endParaRPr sz="1000">
                <a:latin typeface="Roboto Mono"/>
                <a:ea typeface="Roboto Mono"/>
                <a:cs typeface="Roboto Mono"/>
                <a:sym typeface="Roboto Mono"/>
              </a:endParaRPr>
            </a:p>
          </p:txBody>
        </p:sp>
        <p:sp>
          <p:nvSpPr>
            <p:cNvPr id="183" name="Google Shape;183;p22"/>
            <p:cNvSpPr/>
            <p:nvPr/>
          </p:nvSpPr>
          <p:spPr>
            <a:xfrm>
              <a:off x="609600" y="3044736"/>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chemeClr val="dk1"/>
                  </a:solidFill>
                  <a:latin typeface="Roboto Mono"/>
                  <a:ea typeface="Roboto Mono"/>
                  <a:cs typeface="Roboto Mono"/>
                  <a:sym typeface="Roboto Mono"/>
                </a:rPr>
                <a:t>75855</a:t>
              </a:r>
              <a:endParaRPr i="0" sz="1100" u="none" cap="none" strike="noStrike">
                <a:solidFill>
                  <a:schemeClr val="dk1"/>
                </a:solidFill>
                <a:latin typeface="Roboto Mono"/>
                <a:ea typeface="Roboto Mono"/>
                <a:cs typeface="Roboto Mono"/>
                <a:sym typeface="Roboto Mono"/>
              </a:endParaRPr>
            </a:p>
            <a:p>
              <a:pPr indent="0" lvl="0" marL="0" marR="0" rtl="0" algn="l">
                <a:lnSpc>
                  <a:spcPct val="100000"/>
                </a:lnSpc>
                <a:spcBef>
                  <a:spcPts val="0"/>
                </a:spcBef>
                <a:spcAft>
                  <a:spcPts val="0"/>
                </a:spcAft>
                <a:buNone/>
              </a:pPr>
              <a:r>
                <a:t/>
              </a:r>
              <a:endParaRPr i="0" sz="1100" u="none" cap="none" strike="noStrike">
                <a:solidFill>
                  <a:srgbClr val="000000"/>
                </a:solidFill>
                <a:latin typeface="Roboto Mono"/>
                <a:ea typeface="Roboto Mono"/>
                <a:cs typeface="Roboto Mono"/>
                <a:sym typeface="Roboto Mono"/>
              </a:endParaRPr>
            </a:p>
          </p:txBody>
        </p:sp>
        <p:sp>
          <p:nvSpPr>
            <p:cNvPr id="184" name="Google Shape;184;p22"/>
            <p:cNvSpPr/>
            <p:nvPr/>
          </p:nvSpPr>
          <p:spPr>
            <a:xfrm>
              <a:off x="547138" y="2690349"/>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ID</a:t>
              </a:r>
              <a:endParaRPr sz="1000">
                <a:latin typeface="Roboto Mono"/>
                <a:ea typeface="Roboto Mono"/>
                <a:cs typeface="Roboto Mono"/>
                <a:sym typeface="Roboto Mono"/>
              </a:endParaRPr>
            </a:p>
          </p:txBody>
        </p:sp>
        <p:sp>
          <p:nvSpPr>
            <p:cNvPr id="185" name="Google Shape;185;p22"/>
            <p:cNvSpPr/>
            <p:nvPr/>
          </p:nvSpPr>
          <p:spPr>
            <a:xfrm>
              <a:off x="609600" y="38951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86" name="Google Shape;186;p22"/>
            <p:cNvSpPr/>
            <p:nvPr/>
          </p:nvSpPr>
          <p:spPr>
            <a:xfrm>
              <a:off x="547138" y="35407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1100" u="none" cap="none" strike="noStrike">
                  <a:solidFill>
                    <a:srgbClr val="000000"/>
                  </a:solidFill>
                  <a:latin typeface="Roboto Mono"/>
                  <a:ea typeface="Roboto Mono"/>
                  <a:cs typeface="Roboto Mono"/>
                  <a:sym typeface="Roboto Mono"/>
                </a:rPr>
                <a:t>courses</a:t>
              </a:r>
              <a:endParaRPr sz="1000">
                <a:latin typeface="Roboto Mono"/>
                <a:ea typeface="Roboto Mono"/>
                <a:cs typeface="Roboto Mono"/>
                <a:sym typeface="Roboto Mono"/>
              </a:endParaRPr>
            </a:p>
          </p:txBody>
        </p:sp>
      </p:grpSp>
      <p:sp>
        <p:nvSpPr>
          <p:cNvPr id="187" name="Google Shape;187;p22"/>
          <p:cNvSpPr/>
          <p:nvPr/>
        </p:nvSpPr>
        <p:spPr>
          <a:xfrm rot="1996106">
            <a:off x="6156319" y="2712607"/>
            <a:ext cx="1390727" cy="27707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Arial"/>
                <a:ea typeface="Arial"/>
                <a:cs typeface="Arial"/>
                <a:sym typeface="Arial"/>
              </a:rPr>
              <a:t>instantiation</a:t>
            </a:r>
            <a:endParaRPr/>
          </a:p>
        </p:txBody>
      </p:sp>
      <p:sp>
        <p:nvSpPr>
          <p:cNvPr id="188" name="Google Shape;188;p22"/>
          <p:cNvSpPr/>
          <p:nvPr/>
        </p:nvSpPr>
        <p:spPr>
          <a:xfrm rot="-2322252">
            <a:off x="5819644" y="1672648"/>
            <a:ext cx="1390853" cy="2768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1" lang="en-US" sz="1200" u="none" cap="none" strike="noStrike">
                <a:solidFill>
                  <a:srgbClr val="000000"/>
                </a:solidFill>
                <a:latin typeface="Arial"/>
                <a:ea typeface="Arial"/>
                <a:cs typeface="Arial"/>
                <a:sym typeface="Arial"/>
              </a:rPr>
              <a:t>instantiation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What's up with </a:t>
            </a:r>
            <a:r>
              <a:rPr lang="en-US">
                <a:latin typeface="Roboto Mono"/>
                <a:ea typeface="Roboto Mono"/>
                <a:cs typeface="Roboto Mono"/>
                <a:sym typeface="Roboto Mono"/>
              </a:rPr>
              <a:t>self</a:t>
            </a:r>
            <a:r>
              <a:rPr lang="en-US"/>
              <a:t>?</a:t>
            </a:r>
            <a:endParaRPr/>
          </a:p>
        </p:txBody>
      </p:sp>
      <p:sp>
        <p:nvSpPr>
          <p:cNvPr id="195" name="Google Shape;195;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96" name="Google Shape;196;p2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When a new instance of a class (an object) </a:t>
            </a:r>
            <a:r>
              <a:rPr lang="en-US" sz="1400">
                <a:solidFill>
                  <a:schemeClr val="dk1"/>
                </a:solidFill>
              </a:rPr>
              <a:t>is created, </a:t>
            </a:r>
            <a:r>
              <a:rPr lang="en-US" sz="1400"/>
              <a:t>it gets copies of all the attributes defined in the class. In order to signify to the class that a particular variable is going to be copied into every new instance, a new keyword is used: </a:t>
            </a:r>
            <a:r>
              <a:rPr b="1" lang="en-US" sz="1400"/>
              <a:t>self</a:t>
            </a:r>
            <a:r>
              <a:rPr lang="en-US" sz="1400"/>
              <a:t>. </a:t>
            </a:r>
            <a:r>
              <a:rPr b="1" lang="en-US" sz="1400"/>
              <a:t>self ensures that when an object refers to an attribute, that it is referring to its own personal copy</a:t>
            </a:r>
            <a:r>
              <a:rPr lang="en-US" sz="1400"/>
              <a: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Once an attribute is defined, it is scoped to the new object, so it can be accessed from anywhere inside it.</a:t>
            </a:r>
            <a:endParaRPr sz="1400"/>
          </a:p>
        </p:txBody>
      </p:sp>
      <p:sp>
        <p:nvSpPr>
          <p:cNvPr id="197" name="Google Shape;197;p2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Roboto Mono Light"/>
                <a:ea typeface="Roboto Mono Light"/>
                <a:cs typeface="Roboto Mono Light"/>
                <a:sym typeface="Roboto Mono Light"/>
              </a:rPr>
              <a:t>class Student(object):</a:t>
            </a:r>
            <a:endParaRPr sz="12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200">
                <a:solidFill>
                  <a:schemeClr val="dk1"/>
                </a:solidFill>
                <a:latin typeface="Roboto Mono Light"/>
                <a:ea typeface="Roboto Mono Light"/>
                <a:cs typeface="Roboto Mono Light"/>
                <a:sym typeface="Roboto Mono Light"/>
              </a:rPr>
              <a:t>def __init__(self, name_param, id_param):</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b="1" lang="en-US" sz="1200">
                <a:solidFill>
                  <a:schemeClr val="dk1"/>
                </a:solidFill>
                <a:latin typeface="Roboto Mono"/>
                <a:ea typeface="Roboto Mono"/>
                <a:cs typeface="Roboto Mono"/>
                <a:sym typeface="Roboto Mono"/>
              </a:rPr>
              <a:t>self.name</a:t>
            </a:r>
            <a:r>
              <a:rPr lang="en-US" sz="1200">
                <a:solidFill>
                  <a:schemeClr val="dk1"/>
                </a:solidFill>
                <a:latin typeface="Roboto Mono Light"/>
                <a:ea typeface="Roboto Mono Light"/>
                <a:cs typeface="Roboto Mono Light"/>
                <a:sym typeface="Roboto Mono Light"/>
              </a:rPr>
              <a:t> = name_param</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b="1" lang="en-US" sz="1200">
                <a:solidFill>
                  <a:schemeClr val="dk1"/>
                </a:solidFill>
                <a:latin typeface="Roboto Mono"/>
                <a:ea typeface="Roboto Mono"/>
                <a:cs typeface="Roboto Mono"/>
                <a:sym typeface="Roboto Mono"/>
              </a:rPr>
              <a:t>self.id</a:t>
            </a:r>
            <a:r>
              <a:rPr lang="en-US" sz="1200">
                <a:solidFill>
                  <a:schemeClr val="dk1"/>
                </a:solidFill>
                <a:latin typeface="Roboto Mono Light"/>
                <a:ea typeface="Roboto Mono Light"/>
                <a:cs typeface="Roboto Mono Light"/>
                <a:sym typeface="Roboto Mono Light"/>
              </a:rPr>
              <a:t> = id_param</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when a new object is created,</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a personal copy of each variable</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which is </a:t>
            </a:r>
            <a:r>
              <a:rPr lang="en-US" sz="1200">
                <a:solidFill>
                  <a:schemeClr val="dk1"/>
                </a:solidFill>
                <a:latin typeface="Roboto Mono Light"/>
                <a:ea typeface="Roboto Mono Light"/>
                <a:cs typeface="Roboto Mono Light"/>
                <a:sym typeface="Roboto Mono Light"/>
              </a:rPr>
              <a:t>preceded</a:t>
            </a:r>
            <a:r>
              <a:rPr lang="en-US" sz="1200">
                <a:solidFill>
                  <a:schemeClr val="dk1"/>
                </a:solidFill>
                <a:latin typeface="Roboto Mono Light"/>
                <a:ea typeface="Roboto Mono Light"/>
                <a:cs typeface="Roboto Mono Light"/>
                <a:sym typeface="Roboto Mono Light"/>
              </a:rPr>
              <a:t> by self will be</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given to the new object.</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 ...</a:t>
            </a:r>
            <a:endParaRPr sz="1400">
              <a:latin typeface="Roboto Mono Light"/>
              <a:ea typeface="Roboto Mono Light"/>
              <a:cs typeface="Roboto Mono Light"/>
              <a:sym typeface="Roboto Mon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OK: but what about </a:t>
            </a:r>
            <a:r>
              <a:rPr lang="en-US">
                <a:latin typeface="Roboto Mono"/>
                <a:ea typeface="Roboto Mono"/>
                <a:cs typeface="Roboto Mono"/>
                <a:sym typeface="Roboto Mono"/>
              </a:rPr>
              <a:t>__init__()</a:t>
            </a:r>
            <a:r>
              <a:rPr lang="en-US"/>
              <a:t>?</a:t>
            </a:r>
            <a:endParaRPr/>
          </a:p>
        </p:txBody>
      </p:sp>
      <p:sp>
        <p:nvSpPr>
          <p:cNvPr id="204" name="Google Shape;204;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05" name="Google Shape;205;p24"/>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When instantiating a new object, you call it by its name:</a:t>
            </a:r>
            <a:endParaRPr sz="1400"/>
          </a:p>
          <a:p>
            <a:pPr indent="0" lvl="0" marL="0" rtl="0" algn="l">
              <a:spcBef>
                <a:spcPts val="0"/>
              </a:spcBef>
              <a:spcAft>
                <a:spcPts val="0"/>
              </a:spcAft>
              <a:buNone/>
            </a:pPr>
            <a:r>
              <a:t/>
            </a:r>
            <a:endParaRPr sz="1400"/>
          </a:p>
          <a:p>
            <a:pPr indent="457200" lvl="0" marL="0" rtl="0" algn="l">
              <a:spcBef>
                <a:spcPts val="0"/>
              </a:spcBef>
              <a:spcAft>
                <a:spcPts val="0"/>
              </a:spcAft>
              <a:buNone/>
            </a:pPr>
            <a:r>
              <a:rPr lang="en-US" sz="1400">
                <a:solidFill>
                  <a:schemeClr val="dk1"/>
                </a:solidFill>
                <a:latin typeface="Roboto Mono Light"/>
                <a:ea typeface="Roboto Mono Light"/>
                <a:cs typeface="Roboto Mono Light"/>
                <a:sym typeface="Roboto Mono Light"/>
              </a:rPr>
              <a:t>n</a:t>
            </a:r>
            <a:r>
              <a:rPr lang="en-US" sz="1400">
                <a:solidFill>
                  <a:schemeClr val="dk1"/>
                </a:solidFill>
                <a:latin typeface="Roboto Mono Light"/>
                <a:ea typeface="Roboto Mono Light"/>
                <a:cs typeface="Roboto Mono Light"/>
                <a:sym typeface="Roboto Mono Light"/>
              </a:rPr>
              <a:t>ancy = Student('Nancy', 34567)</a:t>
            </a:r>
            <a:endParaRPr sz="1400">
              <a:latin typeface="Courier New"/>
              <a:ea typeface="Courier New"/>
              <a:cs typeface="Courier New"/>
              <a:sym typeface="Courier New"/>
            </a:endParaRPr>
          </a:p>
          <a:p>
            <a:pPr indent="0" lvl="0" marL="0" rtl="0" algn="l">
              <a:spcBef>
                <a:spcPts val="0"/>
              </a:spcBef>
              <a:spcAft>
                <a:spcPts val="0"/>
              </a:spcAft>
              <a:buNone/>
            </a:pPr>
            <a:r>
              <a:t/>
            </a:r>
            <a:endParaRPr sz="1400"/>
          </a:p>
          <a:p>
            <a:pPr indent="0" lvl="0" marL="0" rtl="0" algn="l">
              <a:spcBef>
                <a:spcPts val="0"/>
              </a:spcBef>
              <a:spcAft>
                <a:spcPts val="0"/>
              </a:spcAft>
              <a:buNone/>
            </a:pPr>
            <a:r>
              <a:rPr lang="en-US" sz="1400"/>
              <a:t>What actually happens when you do this? A special method in the class is called: </a:t>
            </a:r>
            <a:r>
              <a:rPr lang="en-US" sz="1400">
                <a:solidFill>
                  <a:schemeClr val="dk1"/>
                </a:solidFill>
                <a:latin typeface="Roboto Mono Light"/>
                <a:ea typeface="Roboto Mono Light"/>
                <a:cs typeface="Roboto Mono Light"/>
                <a:sym typeface="Roboto Mono Light"/>
              </a:rPr>
              <a:t>__init__()</a:t>
            </a:r>
            <a:r>
              <a:rPr lang="en-US" sz="1400"/>
              <a:t> . It's what is called the </a:t>
            </a:r>
            <a:r>
              <a:rPr b="1" lang="en-US" sz="1400"/>
              <a:t>constructor*</a:t>
            </a:r>
            <a:r>
              <a:rPr lang="en-US" sz="1400"/>
              <a:t>: it constructs the new object from the class structure, as well as any given arguments.</a:t>
            </a:r>
            <a:endParaRPr sz="1400"/>
          </a:p>
        </p:txBody>
      </p:sp>
      <p:sp>
        <p:nvSpPr>
          <p:cNvPr id="206" name="Google Shape;206;p24"/>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What this means in practice is that you'll need an </a:t>
            </a:r>
            <a:r>
              <a:rPr lang="en-US" sz="1400">
                <a:solidFill>
                  <a:schemeClr val="dk1"/>
                </a:solidFill>
                <a:latin typeface="Roboto Mono Light"/>
                <a:ea typeface="Roboto Mono Light"/>
                <a:cs typeface="Roboto Mono Light"/>
                <a:sym typeface="Roboto Mono Light"/>
              </a:rPr>
              <a:t>__init__()</a:t>
            </a:r>
            <a:r>
              <a:rPr lang="en-US" sz="1400">
                <a:solidFill>
                  <a:schemeClr val="dk1"/>
                </a:solidFill>
              </a:rPr>
              <a:t> method in every class definition.</a:t>
            </a:r>
            <a:r>
              <a:rPr lang="en-US" sz="1400">
                <a:solidFill>
                  <a:schemeClr val="dk1"/>
                </a:solidFill>
              </a:rPr>
              <a:t> Requirements of the </a:t>
            </a:r>
            <a:r>
              <a:rPr lang="en-US" sz="1400">
                <a:solidFill>
                  <a:schemeClr val="dk1"/>
                </a:solidFill>
                <a:latin typeface="Roboto Mono Light"/>
                <a:ea typeface="Roboto Mono Light"/>
                <a:cs typeface="Roboto Mono Light"/>
                <a:sym typeface="Roboto Mono Light"/>
              </a:rPr>
              <a:t>__init__()</a:t>
            </a:r>
            <a:r>
              <a:rPr lang="en-US" sz="1400">
                <a:solidFill>
                  <a:schemeClr val="dk1"/>
                </a:solidFill>
              </a:rPr>
              <a:t> method:</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It must be the first method in the class definition.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US" sz="1400">
                <a:solidFill>
                  <a:schemeClr val="dk1"/>
                </a:solidFill>
              </a:rPr>
              <a:t>It must have </a:t>
            </a:r>
            <a:r>
              <a:rPr lang="en-US" sz="1400">
                <a:solidFill>
                  <a:schemeClr val="dk1"/>
                </a:solidFill>
                <a:latin typeface="Courier New"/>
                <a:ea typeface="Courier New"/>
                <a:cs typeface="Courier New"/>
                <a:sym typeface="Courier New"/>
              </a:rPr>
              <a:t>self</a:t>
            </a:r>
            <a:r>
              <a:rPr lang="en-US" sz="1400">
                <a:solidFill>
                  <a:schemeClr val="dk1"/>
                </a:solidFill>
              </a:rPr>
              <a:t> as its first argument.</a:t>
            </a:r>
            <a:endParaRPr sz="1400">
              <a:solidFill>
                <a:schemeClr val="dk1"/>
              </a:solidFill>
            </a:endParaRPr>
          </a:p>
          <a:p>
            <a:pPr indent="-317500" lvl="0" marL="457200" rtl="0" algn="l">
              <a:spcBef>
                <a:spcPts val="0"/>
              </a:spcBef>
              <a:spcAft>
                <a:spcPts val="0"/>
              </a:spcAft>
              <a:buClr>
                <a:schemeClr val="dk1"/>
              </a:buClr>
              <a:buSzPts val="1400"/>
              <a:buAutoNum type="arabicPeriod"/>
            </a:pPr>
            <a:r>
              <a:rPr b="1" lang="en-US" sz="1400">
                <a:solidFill>
                  <a:schemeClr val="dk1"/>
                </a:solidFill>
              </a:rPr>
              <a:t>All instance attributes must be defined inside </a:t>
            </a:r>
            <a:r>
              <a:rPr b="1" lang="en-US" sz="1400">
                <a:solidFill>
                  <a:schemeClr val="dk1"/>
                </a:solidFill>
                <a:latin typeface="Roboto Mono"/>
                <a:ea typeface="Roboto Mono"/>
                <a:cs typeface="Roboto Mono"/>
                <a:sym typeface="Roboto Mono"/>
              </a:rPr>
              <a:t>__init__()</a:t>
            </a:r>
            <a:r>
              <a:rPr b="1" lang="en-US" sz="1400">
                <a:solidFill>
                  <a:schemeClr val="dk1"/>
                </a:solidFill>
              </a:rPr>
              <a:t>.</a:t>
            </a:r>
            <a:endParaRPr b="1"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US" sz="1200">
                <a:solidFill>
                  <a:schemeClr val="dk1"/>
                </a:solidFill>
              </a:rPr>
              <a:t>* Technically this method is the </a:t>
            </a:r>
            <a:r>
              <a:rPr i="1" lang="en-US" sz="1200">
                <a:solidFill>
                  <a:schemeClr val="dk1"/>
                </a:solidFill>
              </a:rPr>
              <a:t>initializer</a:t>
            </a:r>
            <a:r>
              <a:rPr lang="en-US" sz="1200">
                <a:solidFill>
                  <a:schemeClr val="dk1"/>
                </a:solidFill>
              </a:rPr>
              <a:t>, not the constructor. But in Python, you define the initializer for creating new objects, so it is referred to as the constructor anyway.</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Putting it all together</a:t>
            </a:r>
            <a:endParaRPr/>
          </a:p>
        </p:txBody>
      </p:sp>
      <p:sp>
        <p:nvSpPr>
          <p:cNvPr id="213" name="Google Shape;213;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14" name="Google Shape;214;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82"/>
              <a:buFont typeface="Arial"/>
              <a:buNone/>
            </a:pPr>
            <a:r>
              <a:rPr lang="en-US" sz="1100">
                <a:solidFill>
                  <a:schemeClr val="dk1"/>
                </a:solidFill>
                <a:latin typeface="Roboto Mono"/>
                <a:ea typeface="Roboto Mono"/>
                <a:cs typeface="Roboto Mono"/>
                <a:sym typeface="Roboto Mono"/>
              </a:rPr>
              <a:t>class </a:t>
            </a:r>
            <a:r>
              <a:rPr lang="en-US" sz="1100">
                <a:solidFill>
                  <a:srgbClr val="FF0000"/>
                </a:solidFill>
                <a:latin typeface="Roboto Mono"/>
                <a:ea typeface="Roboto Mono"/>
                <a:cs typeface="Roboto Mono"/>
                <a:sym typeface="Roboto Mono"/>
              </a:rPr>
              <a:t>Vehicle</a:t>
            </a:r>
            <a:r>
              <a:rPr lang="en-US"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882"/>
              <a:buFont typeface="Arial"/>
              <a:buNone/>
            </a:pPr>
            <a:r>
              <a:rPr lang="en-US" sz="1100">
                <a:solidFill>
                  <a:schemeClr val="dk1"/>
                </a:solidFill>
                <a:latin typeface="Roboto Mono"/>
                <a:ea typeface="Roboto Mono"/>
                <a:cs typeface="Roboto Mono"/>
                <a:sym typeface="Roboto Mono"/>
              </a:rPr>
              <a:t>def </a:t>
            </a:r>
            <a:r>
              <a:rPr lang="en-US" sz="1100">
                <a:solidFill>
                  <a:srgbClr val="FF0000"/>
                </a:solidFill>
                <a:latin typeface="Roboto Mono"/>
                <a:ea typeface="Roboto Mono"/>
                <a:cs typeface="Roboto Mono"/>
                <a:sym typeface="Roboto Mono"/>
              </a:rPr>
              <a:t>__init__(</a:t>
            </a:r>
            <a:r>
              <a:rPr lang="en-US" sz="1100">
                <a:solidFill>
                  <a:schemeClr val="dk1"/>
                </a:solidFill>
                <a:latin typeface="Roboto Mono"/>
                <a:ea typeface="Roboto Mono"/>
                <a:cs typeface="Roboto Mono"/>
                <a:sym typeface="Roboto Mono"/>
              </a:rPr>
              <a:t>self, make_param, model</a:t>
            </a:r>
            <a:r>
              <a:rPr lang="en-US" sz="1100">
                <a:solidFill>
                  <a:schemeClr val="dk1"/>
                </a:solidFill>
                <a:latin typeface="Roboto Mono"/>
                <a:ea typeface="Roboto Mono"/>
                <a:cs typeface="Roboto Mono"/>
                <a:sym typeface="Roboto Mono"/>
              </a:rPr>
              <a:t>_param</a:t>
            </a:r>
            <a:r>
              <a:rPr lang="en-US"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indent="457200" lvl="0" marL="457200" rtl="0" algn="l">
              <a:spcBef>
                <a:spcPts val="0"/>
              </a:spcBef>
              <a:spcAft>
                <a:spcPts val="0"/>
              </a:spcAft>
              <a:buClr>
                <a:schemeClr val="dk1"/>
              </a:buClr>
              <a:buSzPts val="1882"/>
              <a:buFont typeface="Arial"/>
              <a:buNone/>
            </a:pPr>
            <a:r>
              <a:rPr lang="en-US" sz="1100">
                <a:solidFill>
                  <a:schemeClr val="dk1"/>
                </a:solidFill>
                <a:latin typeface="Roboto Mono"/>
                <a:ea typeface="Roboto Mono"/>
                <a:cs typeface="Roboto Mono"/>
                <a:sym typeface="Roboto Mono"/>
              </a:rPr>
              <a:t>self.</a:t>
            </a:r>
            <a:r>
              <a:rPr lang="en-US" sz="1100">
                <a:solidFill>
                  <a:srgbClr val="FFC000"/>
                </a:solidFill>
                <a:latin typeface="Roboto Mono"/>
                <a:ea typeface="Roboto Mono"/>
                <a:cs typeface="Roboto Mono"/>
                <a:sym typeface="Roboto Mono"/>
              </a:rPr>
              <a:t>make</a:t>
            </a:r>
            <a:r>
              <a:rPr lang="en-US" sz="1100">
                <a:solidFill>
                  <a:schemeClr val="dk1"/>
                </a:solidFill>
                <a:latin typeface="Roboto Mono"/>
                <a:ea typeface="Roboto Mono"/>
                <a:cs typeface="Roboto Mono"/>
                <a:sym typeface="Roboto Mono"/>
              </a:rPr>
              <a:t> = make</a:t>
            </a:r>
            <a:r>
              <a:rPr lang="en-US" sz="1100">
                <a:solidFill>
                  <a:schemeClr val="dk1"/>
                </a:solidFill>
                <a:latin typeface="Roboto Mono"/>
                <a:ea typeface="Roboto Mono"/>
                <a:cs typeface="Roboto Mono"/>
                <a:sym typeface="Roboto Mono"/>
              </a:rPr>
              <a:t>_param</a:t>
            </a:r>
            <a:endParaRPr sz="1100">
              <a:solidFill>
                <a:schemeClr val="dk1"/>
              </a:solidFill>
              <a:latin typeface="Roboto Mono"/>
              <a:ea typeface="Roboto Mono"/>
              <a:cs typeface="Roboto Mono"/>
              <a:sym typeface="Roboto Mono"/>
            </a:endParaRPr>
          </a:p>
          <a:p>
            <a:pPr indent="457200" lvl="0" marL="457200" rtl="0" algn="l">
              <a:spcBef>
                <a:spcPts val="0"/>
              </a:spcBef>
              <a:spcAft>
                <a:spcPts val="0"/>
              </a:spcAft>
              <a:buClr>
                <a:schemeClr val="dk1"/>
              </a:buClr>
              <a:buSzPts val="1882"/>
              <a:buFont typeface="Arial"/>
              <a:buNone/>
            </a:pPr>
            <a:r>
              <a:rPr lang="en-US" sz="1100">
                <a:solidFill>
                  <a:schemeClr val="dk1"/>
                </a:solidFill>
                <a:latin typeface="Roboto Mono"/>
                <a:ea typeface="Roboto Mono"/>
                <a:cs typeface="Roboto Mono"/>
                <a:sym typeface="Roboto Mono"/>
              </a:rPr>
              <a:t>self.</a:t>
            </a:r>
            <a:r>
              <a:rPr lang="en-US" sz="1100">
                <a:solidFill>
                  <a:srgbClr val="92D050"/>
                </a:solidFill>
                <a:latin typeface="Roboto Mono"/>
                <a:ea typeface="Roboto Mono"/>
                <a:cs typeface="Roboto Mono"/>
                <a:sym typeface="Roboto Mono"/>
              </a:rPr>
              <a:t>model</a:t>
            </a:r>
            <a:r>
              <a:rPr lang="en-US" sz="1100">
                <a:solidFill>
                  <a:schemeClr val="dk1"/>
                </a:solidFill>
                <a:latin typeface="Roboto Mono"/>
                <a:ea typeface="Roboto Mono"/>
                <a:cs typeface="Roboto Mono"/>
                <a:sym typeface="Roboto Mono"/>
              </a:rPr>
              <a:t> = model</a:t>
            </a:r>
            <a:r>
              <a:rPr lang="en-US" sz="1100">
                <a:solidFill>
                  <a:schemeClr val="dk1"/>
                </a:solidFill>
                <a:latin typeface="Roboto Mono"/>
                <a:ea typeface="Roboto Mono"/>
                <a:cs typeface="Roboto Mono"/>
                <a:sym typeface="Roboto Mono"/>
              </a:rPr>
              <a:t>_param</a:t>
            </a:r>
            <a:endParaRPr sz="1100">
              <a:solidFill>
                <a:schemeClr val="dk1"/>
              </a:solidFill>
              <a:latin typeface="Roboto Mono"/>
              <a:ea typeface="Roboto Mono"/>
              <a:cs typeface="Roboto Mono"/>
              <a:sym typeface="Roboto Mono"/>
            </a:endParaRPr>
          </a:p>
          <a:p>
            <a:pPr indent="457200" lvl="0" marL="457200" rtl="0" algn="l">
              <a:spcBef>
                <a:spcPts val="0"/>
              </a:spcBef>
              <a:spcAft>
                <a:spcPts val="0"/>
              </a:spcAft>
              <a:buClr>
                <a:schemeClr val="dk1"/>
              </a:buClr>
              <a:buSzPts val="1882"/>
              <a:buFont typeface="Arial"/>
              <a:buNone/>
            </a:pPr>
            <a:r>
              <a:rPr lang="en-US" sz="1100">
                <a:solidFill>
                  <a:schemeClr val="dk1"/>
                </a:solidFill>
                <a:latin typeface="Roboto Mono"/>
                <a:ea typeface="Roboto Mono"/>
                <a:cs typeface="Roboto Mono"/>
                <a:sym typeface="Roboto Mono"/>
              </a:rPr>
              <a:t>self.</a:t>
            </a:r>
            <a:r>
              <a:rPr lang="en-US" sz="1100">
                <a:solidFill>
                  <a:srgbClr val="0070C0"/>
                </a:solidFill>
                <a:latin typeface="Roboto Mono"/>
                <a:ea typeface="Roboto Mono"/>
                <a:cs typeface="Roboto Mono"/>
                <a:sym typeface="Roboto Mono"/>
              </a:rPr>
              <a:t>odometer</a:t>
            </a:r>
            <a:r>
              <a:rPr lang="en-US" sz="1100">
                <a:solidFill>
                  <a:schemeClr val="dk1"/>
                </a:solidFill>
                <a:latin typeface="Roboto Mono"/>
                <a:ea typeface="Roboto Mono"/>
                <a:cs typeface="Roboto Mono"/>
                <a:sym typeface="Roboto Mono"/>
              </a:rPr>
              <a:t> = </a:t>
            </a:r>
            <a:r>
              <a:rPr lang="en-US" sz="1100">
                <a:solidFill>
                  <a:srgbClr val="929000"/>
                </a:solidFill>
                <a:latin typeface="Roboto Mono"/>
                <a:ea typeface="Roboto Mono"/>
                <a:cs typeface="Roboto Mono"/>
                <a:sym typeface="Roboto Mono"/>
              </a:rPr>
              <a:t>0</a:t>
            </a:r>
            <a:endParaRPr sz="11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882"/>
              <a:buFont typeface="Arial"/>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882"/>
              <a:buFont typeface="Arial"/>
              <a:buNone/>
            </a:pPr>
            <a:r>
              <a:rPr lang="en-US" sz="1100">
                <a:solidFill>
                  <a:schemeClr val="dk1"/>
                </a:solidFill>
                <a:latin typeface="Roboto Mono"/>
                <a:ea typeface="Roboto Mono"/>
                <a:cs typeface="Roboto Mono"/>
                <a:sym typeface="Roboto Mono"/>
              </a:rPr>
              <a:t>def main():</a:t>
            </a:r>
            <a:endParaRPr sz="1100">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882"/>
              <a:buFont typeface="Arial"/>
              <a:buNone/>
            </a:pPr>
            <a:r>
              <a:rPr lang="en-US" sz="1100">
                <a:solidFill>
                  <a:srgbClr val="00B0F0"/>
                </a:solidFill>
                <a:latin typeface="Roboto Mono"/>
                <a:ea typeface="Roboto Mono"/>
                <a:cs typeface="Roboto Mono"/>
                <a:sym typeface="Roboto Mono"/>
              </a:rPr>
              <a:t>car1</a:t>
            </a:r>
            <a:r>
              <a:rPr lang="en-US" sz="1100">
                <a:solidFill>
                  <a:schemeClr val="dk1"/>
                </a:solidFill>
                <a:latin typeface="Roboto Mono"/>
                <a:ea typeface="Roboto Mono"/>
                <a:cs typeface="Roboto Mono"/>
                <a:sym typeface="Roboto Mono"/>
              </a:rPr>
              <a:t> = </a:t>
            </a:r>
            <a:r>
              <a:rPr lang="en-US" sz="1100">
                <a:solidFill>
                  <a:srgbClr val="FF0000"/>
                </a:solidFill>
                <a:latin typeface="Roboto Mono"/>
                <a:ea typeface="Roboto Mono"/>
                <a:cs typeface="Roboto Mono"/>
                <a:sym typeface="Roboto Mono"/>
              </a:rPr>
              <a:t>Vehicle</a:t>
            </a:r>
            <a:r>
              <a:rPr lang="en-US" sz="1100">
                <a:solidFill>
                  <a:schemeClr val="dk1"/>
                </a:solidFill>
                <a:latin typeface="Roboto Mono"/>
                <a:ea typeface="Roboto Mono"/>
                <a:cs typeface="Roboto Mono"/>
                <a:sym typeface="Roboto Mono"/>
              </a:rPr>
              <a:t>("</a:t>
            </a:r>
            <a:r>
              <a:rPr lang="en-US" sz="1100">
                <a:solidFill>
                  <a:srgbClr val="7030A0"/>
                </a:solidFill>
                <a:latin typeface="Roboto Mono"/>
                <a:ea typeface="Roboto Mono"/>
                <a:cs typeface="Roboto Mono"/>
                <a:sym typeface="Roboto Mono"/>
              </a:rPr>
              <a:t>Ford</a:t>
            </a:r>
            <a:r>
              <a:rPr lang="en-US" sz="1100">
                <a:solidFill>
                  <a:schemeClr val="dk1"/>
                </a:solidFill>
                <a:latin typeface="Roboto Mono"/>
                <a:ea typeface="Roboto Mono"/>
                <a:cs typeface="Roboto Mono"/>
                <a:sym typeface="Roboto Mono"/>
              </a:rPr>
              <a:t>", "</a:t>
            </a:r>
            <a:r>
              <a:rPr lang="en-US" sz="1100">
                <a:solidFill>
                  <a:srgbClr val="7A81FF"/>
                </a:solidFill>
                <a:latin typeface="Roboto Mono"/>
                <a:ea typeface="Roboto Mono"/>
                <a:cs typeface="Roboto Mono"/>
                <a:sym typeface="Roboto Mono"/>
              </a:rPr>
              <a:t>Fiesta</a:t>
            </a:r>
            <a:r>
              <a:rPr lang="en-US"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indent="457200" lvl="0" marL="0" rtl="0" algn="l">
              <a:spcBef>
                <a:spcPts val="0"/>
              </a:spcBef>
              <a:spcAft>
                <a:spcPts val="0"/>
              </a:spcAft>
              <a:buClr>
                <a:schemeClr val="dk1"/>
              </a:buClr>
              <a:buSzPts val="1882"/>
              <a:buFont typeface="Arial"/>
              <a:buNone/>
            </a:pPr>
            <a:r>
              <a:rPr lang="en-US" sz="1100">
                <a:solidFill>
                  <a:srgbClr val="00B050"/>
                </a:solidFill>
                <a:latin typeface="Roboto Mono"/>
                <a:ea typeface="Roboto Mono"/>
                <a:cs typeface="Roboto Mono"/>
                <a:sym typeface="Roboto Mono"/>
              </a:rPr>
              <a:t>car2</a:t>
            </a:r>
            <a:r>
              <a:rPr lang="en-US" sz="1100">
                <a:solidFill>
                  <a:schemeClr val="dk1"/>
                </a:solidFill>
                <a:latin typeface="Roboto Mono"/>
                <a:ea typeface="Roboto Mono"/>
                <a:cs typeface="Roboto Mono"/>
                <a:sym typeface="Roboto Mono"/>
              </a:rPr>
              <a:t> = </a:t>
            </a:r>
            <a:r>
              <a:rPr lang="en-US" sz="1100">
                <a:solidFill>
                  <a:srgbClr val="FF0000"/>
                </a:solidFill>
                <a:latin typeface="Roboto Mono"/>
                <a:ea typeface="Roboto Mono"/>
                <a:cs typeface="Roboto Mono"/>
                <a:sym typeface="Roboto Mono"/>
              </a:rPr>
              <a:t>Vehicle</a:t>
            </a:r>
            <a:r>
              <a:rPr lang="en-US" sz="1100">
                <a:solidFill>
                  <a:schemeClr val="dk1"/>
                </a:solidFill>
                <a:latin typeface="Roboto Mono"/>
                <a:ea typeface="Roboto Mono"/>
                <a:cs typeface="Roboto Mono"/>
                <a:sym typeface="Roboto Mono"/>
              </a:rPr>
              <a:t>("</a:t>
            </a:r>
            <a:r>
              <a:rPr lang="en-US" sz="1100">
                <a:solidFill>
                  <a:srgbClr val="73FB79"/>
                </a:solidFill>
                <a:latin typeface="Roboto Mono"/>
                <a:ea typeface="Roboto Mono"/>
                <a:cs typeface="Roboto Mono"/>
                <a:sym typeface="Roboto Mono"/>
              </a:rPr>
              <a:t>Tesla</a:t>
            </a:r>
            <a:r>
              <a:rPr lang="en-US" sz="1100">
                <a:solidFill>
                  <a:schemeClr val="dk1"/>
                </a:solidFill>
                <a:latin typeface="Roboto Mono"/>
                <a:ea typeface="Roboto Mono"/>
                <a:cs typeface="Roboto Mono"/>
                <a:sym typeface="Roboto Mono"/>
              </a:rPr>
              <a:t>", "</a:t>
            </a:r>
            <a:r>
              <a:rPr lang="en-US" sz="1100">
                <a:solidFill>
                  <a:srgbClr val="73FEFF"/>
                </a:solidFill>
                <a:latin typeface="Roboto Mono"/>
                <a:ea typeface="Roboto Mono"/>
                <a:cs typeface="Roboto Mono"/>
                <a:sym typeface="Roboto Mono"/>
              </a:rPr>
              <a:t>S</a:t>
            </a:r>
            <a:r>
              <a:rPr lang="en-US" sz="1100">
                <a:solidFill>
                  <a:schemeClr val="dk1"/>
                </a:solidFill>
                <a:latin typeface="Roboto Mono"/>
                <a:ea typeface="Roboto Mono"/>
                <a:cs typeface="Roboto Mono"/>
                <a:sym typeface="Roboto Mono"/>
              </a:rPr>
              <a:t>")</a:t>
            </a:r>
            <a:endParaRPr sz="1100">
              <a:solidFill>
                <a:schemeClr val="dk1"/>
              </a:solidFill>
              <a:latin typeface="Roboto Mono"/>
              <a:ea typeface="Roboto Mono"/>
              <a:cs typeface="Roboto Mono"/>
              <a:sym typeface="Roboto Mono"/>
            </a:endParaRPr>
          </a:p>
          <a:p>
            <a:pPr indent="0" lvl="0" marL="0" rtl="0" algn="l">
              <a:spcBef>
                <a:spcPts val="0"/>
              </a:spcBef>
              <a:spcAft>
                <a:spcPts val="0"/>
              </a:spcAft>
              <a:buClr>
                <a:schemeClr val="dk1"/>
              </a:buClr>
              <a:buSzPts val="1882"/>
              <a:buFont typeface="Arial"/>
              <a:buNone/>
            </a:pPr>
            <a:r>
              <a:t/>
            </a:r>
            <a:endParaRPr sz="11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US" sz="1100">
                <a:solidFill>
                  <a:schemeClr val="dk1"/>
                </a:solidFill>
                <a:latin typeface="Roboto Mono"/>
                <a:ea typeface="Roboto Mono"/>
                <a:cs typeface="Roboto Mono"/>
                <a:sym typeface="Roboto Mono"/>
              </a:rPr>
              <a:t>main()</a:t>
            </a:r>
            <a:endParaRPr sz="1100">
              <a:latin typeface="Roboto Mono"/>
              <a:ea typeface="Roboto Mono"/>
              <a:cs typeface="Roboto Mono"/>
              <a:sym typeface="Roboto Mono"/>
            </a:endParaRPr>
          </a:p>
        </p:txBody>
      </p:sp>
      <p:grpSp>
        <p:nvGrpSpPr>
          <p:cNvPr id="215" name="Google Shape;215;p25"/>
          <p:cNvGrpSpPr/>
          <p:nvPr/>
        </p:nvGrpSpPr>
        <p:grpSpPr>
          <a:xfrm>
            <a:off x="5068536" y="1227990"/>
            <a:ext cx="1329637" cy="1901514"/>
            <a:chOff x="252183" y="1335451"/>
            <a:chExt cx="2209800" cy="3160236"/>
          </a:xfrm>
        </p:grpSpPr>
        <p:sp>
          <p:nvSpPr>
            <p:cNvPr id="216" name="Google Shape;216;p25"/>
            <p:cNvSpPr/>
            <p:nvPr/>
          </p:nvSpPr>
          <p:spPr>
            <a:xfrm>
              <a:off x="313063" y="1789387"/>
              <a:ext cx="1896600" cy="2706300"/>
            </a:xfrm>
            <a:prstGeom prst="rect">
              <a:avLst/>
            </a:prstGeom>
            <a:solidFill>
              <a:srgbClr val="FEE999"/>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1050" u="none" cap="none" strike="noStrike">
                <a:solidFill>
                  <a:srgbClr val="000000"/>
                </a:solidFill>
                <a:latin typeface="Roboto Mono"/>
                <a:ea typeface="Roboto Mono"/>
                <a:cs typeface="Roboto Mono"/>
                <a:sym typeface="Roboto Mono"/>
              </a:endParaRPr>
            </a:p>
          </p:txBody>
        </p:sp>
        <p:sp>
          <p:nvSpPr>
            <p:cNvPr id="217" name="Google Shape;217;p25"/>
            <p:cNvSpPr/>
            <p:nvPr/>
          </p:nvSpPr>
          <p:spPr>
            <a:xfrm>
              <a:off x="252183" y="1335451"/>
              <a:ext cx="22098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00B0F0"/>
                  </a:solidFill>
                  <a:latin typeface="Roboto Mono"/>
                  <a:ea typeface="Roboto Mono"/>
                  <a:cs typeface="Roboto Mono"/>
                  <a:sym typeface="Roboto Mono"/>
                </a:rPr>
                <a:t>car1</a:t>
              </a:r>
              <a:r>
                <a:rPr i="0" lang="en-US" sz="900" u="none" cap="none" strike="noStrike">
                  <a:solidFill>
                    <a:srgbClr val="00B0F0"/>
                  </a:solidFill>
                  <a:latin typeface="Proxima Nova"/>
                  <a:ea typeface="Proxima Nova"/>
                  <a:cs typeface="Proxima Nova"/>
                  <a:sym typeface="Proxima Nova"/>
                </a:rPr>
                <a:t> </a:t>
              </a:r>
              <a:r>
                <a:rPr i="0" lang="en-US" sz="1050" u="none" cap="none" strike="noStrike">
                  <a:solidFill>
                    <a:srgbClr val="000000"/>
                  </a:solidFill>
                  <a:latin typeface="Proxima Nova"/>
                  <a:ea typeface="Proxima Nova"/>
                  <a:cs typeface="Proxima Nova"/>
                  <a:sym typeface="Proxima Nova"/>
                </a:rPr>
                <a:t>object</a:t>
              </a:r>
              <a:endParaRPr i="0" sz="900" u="none" cap="none" strike="noStrike">
                <a:solidFill>
                  <a:srgbClr val="000000"/>
                </a:solidFill>
                <a:latin typeface="Proxima Nova"/>
                <a:ea typeface="Proxima Nova"/>
                <a:cs typeface="Proxima Nova"/>
                <a:sym typeface="Proxima Nova"/>
              </a:endParaRPr>
            </a:p>
          </p:txBody>
        </p:sp>
        <p:sp>
          <p:nvSpPr>
            <p:cNvPr id="218" name="Google Shape;218;p25"/>
            <p:cNvSpPr/>
            <p:nvPr/>
          </p:nvSpPr>
          <p:spPr>
            <a:xfrm>
              <a:off x="609600" y="21425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7030A0"/>
                  </a:solidFill>
                  <a:latin typeface="Roboto Mono"/>
                  <a:ea typeface="Roboto Mono"/>
                  <a:cs typeface="Roboto Mono"/>
                  <a:sym typeface="Roboto Mono"/>
                </a:rPr>
                <a:t>Ford</a:t>
              </a:r>
              <a:endParaRPr sz="1100">
                <a:latin typeface="Roboto Mono"/>
                <a:ea typeface="Roboto Mono"/>
                <a:cs typeface="Roboto Mono"/>
                <a:sym typeface="Roboto Mono"/>
              </a:endParaRPr>
            </a:p>
          </p:txBody>
        </p:sp>
        <p:sp>
          <p:nvSpPr>
            <p:cNvPr id="219" name="Google Shape;219;p25"/>
            <p:cNvSpPr/>
            <p:nvPr/>
          </p:nvSpPr>
          <p:spPr>
            <a:xfrm>
              <a:off x="547138" y="17881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FFC000"/>
                  </a:solidFill>
                  <a:latin typeface="Roboto Mono"/>
                  <a:ea typeface="Roboto Mono"/>
                  <a:cs typeface="Roboto Mono"/>
                  <a:sym typeface="Roboto Mono"/>
                </a:rPr>
                <a:t>make</a:t>
              </a:r>
              <a:endParaRPr sz="1100">
                <a:latin typeface="Roboto Mono"/>
                <a:ea typeface="Roboto Mono"/>
                <a:cs typeface="Roboto Mono"/>
                <a:sym typeface="Roboto Mono"/>
              </a:endParaRPr>
            </a:p>
          </p:txBody>
        </p:sp>
        <p:sp>
          <p:nvSpPr>
            <p:cNvPr id="220" name="Google Shape;220;p25"/>
            <p:cNvSpPr/>
            <p:nvPr/>
          </p:nvSpPr>
          <p:spPr>
            <a:xfrm>
              <a:off x="609600" y="3044736"/>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7A81FF"/>
                  </a:solidFill>
                  <a:latin typeface="Roboto Mono"/>
                  <a:ea typeface="Roboto Mono"/>
                  <a:cs typeface="Roboto Mono"/>
                  <a:sym typeface="Roboto Mono"/>
                </a:rPr>
                <a:t>Fiesta</a:t>
              </a:r>
              <a:endParaRPr sz="1100">
                <a:latin typeface="Roboto Mono"/>
                <a:ea typeface="Roboto Mono"/>
                <a:cs typeface="Roboto Mono"/>
                <a:sym typeface="Roboto Mono"/>
              </a:endParaRPr>
            </a:p>
          </p:txBody>
        </p:sp>
        <p:sp>
          <p:nvSpPr>
            <p:cNvPr id="221" name="Google Shape;221;p25"/>
            <p:cNvSpPr/>
            <p:nvPr/>
          </p:nvSpPr>
          <p:spPr>
            <a:xfrm>
              <a:off x="547138" y="2690349"/>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92D050"/>
                  </a:solidFill>
                  <a:latin typeface="Roboto Mono"/>
                  <a:ea typeface="Roboto Mono"/>
                  <a:cs typeface="Roboto Mono"/>
                  <a:sym typeface="Roboto Mono"/>
                </a:rPr>
                <a:t>model</a:t>
              </a:r>
              <a:endParaRPr sz="1100">
                <a:latin typeface="Roboto Mono"/>
                <a:ea typeface="Roboto Mono"/>
                <a:cs typeface="Roboto Mono"/>
                <a:sym typeface="Roboto Mono"/>
              </a:endParaRPr>
            </a:p>
          </p:txBody>
        </p:sp>
        <p:sp>
          <p:nvSpPr>
            <p:cNvPr id="222" name="Google Shape;222;p25"/>
            <p:cNvSpPr/>
            <p:nvPr/>
          </p:nvSpPr>
          <p:spPr>
            <a:xfrm>
              <a:off x="609600" y="38951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929000"/>
                  </a:solidFill>
                  <a:latin typeface="Roboto Mono"/>
                  <a:ea typeface="Roboto Mono"/>
                  <a:cs typeface="Roboto Mono"/>
                  <a:sym typeface="Roboto Mono"/>
                </a:rPr>
                <a:t>0</a:t>
              </a:r>
              <a:endParaRPr sz="1100">
                <a:latin typeface="Roboto Mono"/>
                <a:ea typeface="Roboto Mono"/>
                <a:cs typeface="Roboto Mono"/>
                <a:sym typeface="Roboto Mono"/>
              </a:endParaRPr>
            </a:p>
          </p:txBody>
        </p:sp>
        <p:sp>
          <p:nvSpPr>
            <p:cNvPr id="223" name="Google Shape;223;p25"/>
            <p:cNvSpPr/>
            <p:nvPr/>
          </p:nvSpPr>
          <p:spPr>
            <a:xfrm>
              <a:off x="547138" y="35407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900">
                  <a:solidFill>
                    <a:srgbClr val="0070C0"/>
                  </a:solidFill>
                  <a:latin typeface="Roboto Mono"/>
                  <a:ea typeface="Roboto Mono"/>
                  <a:cs typeface="Roboto Mono"/>
                  <a:sym typeface="Roboto Mono"/>
                </a:rPr>
                <a:t>odometer</a:t>
              </a:r>
              <a:endParaRPr sz="1100">
                <a:latin typeface="Roboto Mono"/>
                <a:ea typeface="Roboto Mono"/>
                <a:cs typeface="Roboto Mono"/>
                <a:sym typeface="Roboto Mono"/>
              </a:endParaRPr>
            </a:p>
          </p:txBody>
        </p:sp>
      </p:grpSp>
      <p:grpSp>
        <p:nvGrpSpPr>
          <p:cNvPr id="224" name="Google Shape;224;p25"/>
          <p:cNvGrpSpPr/>
          <p:nvPr/>
        </p:nvGrpSpPr>
        <p:grpSpPr>
          <a:xfrm>
            <a:off x="7048639" y="1792677"/>
            <a:ext cx="1329637" cy="1901514"/>
            <a:chOff x="252183" y="1335451"/>
            <a:chExt cx="2209800" cy="3160236"/>
          </a:xfrm>
        </p:grpSpPr>
        <p:sp>
          <p:nvSpPr>
            <p:cNvPr id="225" name="Google Shape;225;p25"/>
            <p:cNvSpPr/>
            <p:nvPr/>
          </p:nvSpPr>
          <p:spPr>
            <a:xfrm>
              <a:off x="313063" y="1789387"/>
              <a:ext cx="1896600" cy="2706300"/>
            </a:xfrm>
            <a:prstGeom prst="rect">
              <a:avLst/>
            </a:prstGeom>
            <a:solidFill>
              <a:srgbClr val="FEE999"/>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i="0" sz="1050" u="none" cap="none" strike="noStrike">
                <a:solidFill>
                  <a:srgbClr val="000000"/>
                </a:solidFill>
                <a:latin typeface="Roboto Mono"/>
                <a:ea typeface="Roboto Mono"/>
                <a:cs typeface="Roboto Mono"/>
                <a:sym typeface="Roboto Mono"/>
              </a:endParaRPr>
            </a:p>
          </p:txBody>
        </p:sp>
        <p:sp>
          <p:nvSpPr>
            <p:cNvPr id="226" name="Google Shape;226;p25"/>
            <p:cNvSpPr/>
            <p:nvPr/>
          </p:nvSpPr>
          <p:spPr>
            <a:xfrm>
              <a:off x="252183" y="1335451"/>
              <a:ext cx="2209800" cy="60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00B050"/>
                  </a:solidFill>
                  <a:latin typeface="Roboto Mono"/>
                  <a:ea typeface="Roboto Mono"/>
                  <a:cs typeface="Roboto Mono"/>
                  <a:sym typeface="Roboto Mono"/>
                </a:rPr>
                <a:t>car2</a:t>
              </a:r>
              <a:r>
                <a:rPr i="0" lang="en-US" sz="900" u="none" cap="none" strike="noStrike">
                  <a:solidFill>
                    <a:srgbClr val="00B0F0"/>
                  </a:solidFill>
                  <a:latin typeface="Proxima Nova"/>
                  <a:ea typeface="Proxima Nova"/>
                  <a:cs typeface="Proxima Nova"/>
                  <a:sym typeface="Proxima Nova"/>
                </a:rPr>
                <a:t> </a:t>
              </a:r>
              <a:r>
                <a:rPr i="0" lang="en-US" sz="1050" u="none" cap="none" strike="noStrike">
                  <a:solidFill>
                    <a:srgbClr val="000000"/>
                  </a:solidFill>
                  <a:latin typeface="Proxima Nova"/>
                  <a:ea typeface="Proxima Nova"/>
                  <a:cs typeface="Proxima Nova"/>
                  <a:sym typeface="Proxima Nova"/>
                </a:rPr>
                <a:t>object</a:t>
              </a:r>
              <a:endParaRPr i="0" sz="900" u="none" cap="none" strike="noStrike">
                <a:solidFill>
                  <a:srgbClr val="000000"/>
                </a:solidFill>
                <a:latin typeface="Proxima Nova"/>
                <a:ea typeface="Proxima Nova"/>
                <a:cs typeface="Proxima Nova"/>
                <a:sym typeface="Proxima Nova"/>
              </a:endParaRPr>
            </a:p>
          </p:txBody>
        </p:sp>
        <p:sp>
          <p:nvSpPr>
            <p:cNvPr id="227" name="Google Shape;227;p25"/>
            <p:cNvSpPr/>
            <p:nvPr/>
          </p:nvSpPr>
          <p:spPr>
            <a:xfrm>
              <a:off x="609600" y="21425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73FB79"/>
                  </a:solidFill>
                  <a:latin typeface="Roboto Mono"/>
                  <a:ea typeface="Roboto Mono"/>
                  <a:cs typeface="Roboto Mono"/>
                  <a:sym typeface="Roboto Mono"/>
                </a:rPr>
                <a:t>Tesla</a:t>
              </a:r>
              <a:endParaRPr sz="1100">
                <a:latin typeface="Roboto Mono"/>
                <a:ea typeface="Roboto Mono"/>
                <a:cs typeface="Roboto Mono"/>
                <a:sym typeface="Roboto Mono"/>
              </a:endParaRPr>
            </a:p>
          </p:txBody>
        </p:sp>
        <p:sp>
          <p:nvSpPr>
            <p:cNvPr id="228" name="Google Shape;228;p25"/>
            <p:cNvSpPr/>
            <p:nvPr/>
          </p:nvSpPr>
          <p:spPr>
            <a:xfrm>
              <a:off x="547138" y="17881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FFC000"/>
                  </a:solidFill>
                  <a:latin typeface="Roboto Mono"/>
                  <a:ea typeface="Roboto Mono"/>
                  <a:cs typeface="Roboto Mono"/>
                  <a:sym typeface="Roboto Mono"/>
                </a:rPr>
                <a:t>make</a:t>
              </a:r>
              <a:endParaRPr sz="1100">
                <a:latin typeface="Roboto Mono"/>
                <a:ea typeface="Roboto Mono"/>
                <a:cs typeface="Roboto Mono"/>
                <a:sym typeface="Roboto Mono"/>
              </a:endParaRPr>
            </a:p>
          </p:txBody>
        </p:sp>
        <p:sp>
          <p:nvSpPr>
            <p:cNvPr id="229" name="Google Shape;229;p25"/>
            <p:cNvSpPr/>
            <p:nvPr/>
          </p:nvSpPr>
          <p:spPr>
            <a:xfrm>
              <a:off x="609600" y="3044736"/>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73FEFF"/>
                  </a:solidFill>
                  <a:latin typeface="Roboto Mono"/>
                  <a:ea typeface="Roboto Mono"/>
                  <a:cs typeface="Roboto Mono"/>
                  <a:sym typeface="Roboto Mono"/>
                </a:rPr>
                <a:t>S</a:t>
              </a:r>
              <a:endParaRPr sz="1100">
                <a:latin typeface="Roboto Mono"/>
                <a:ea typeface="Roboto Mono"/>
                <a:cs typeface="Roboto Mono"/>
                <a:sym typeface="Roboto Mono"/>
              </a:endParaRPr>
            </a:p>
          </p:txBody>
        </p:sp>
        <p:sp>
          <p:nvSpPr>
            <p:cNvPr id="230" name="Google Shape;230;p25"/>
            <p:cNvSpPr/>
            <p:nvPr/>
          </p:nvSpPr>
          <p:spPr>
            <a:xfrm>
              <a:off x="547138" y="2690349"/>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92D050"/>
                  </a:solidFill>
                  <a:latin typeface="Roboto Mono"/>
                  <a:ea typeface="Roboto Mono"/>
                  <a:cs typeface="Roboto Mono"/>
                  <a:sym typeface="Roboto Mono"/>
                </a:rPr>
                <a:t>model</a:t>
              </a:r>
              <a:endParaRPr sz="1100">
                <a:latin typeface="Roboto Mono"/>
                <a:ea typeface="Roboto Mono"/>
                <a:cs typeface="Roboto Mono"/>
                <a:sym typeface="Roboto Mono"/>
              </a:endParaRPr>
            </a:p>
          </p:txBody>
        </p:sp>
        <p:sp>
          <p:nvSpPr>
            <p:cNvPr id="231" name="Google Shape;231;p25"/>
            <p:cNvSpPr/>
            <p:nvPr/>
          </p:nvSpPr>
          <p:spPr>
            <a:xfrm>
              <a:off x="609600" y="3895181"/>
              <a:ext cx="1371600" cy="448200"/>
            </a:xfrm>
            <a:prstGeom prst="rect">
              <a:avLst/>
            </a:prstGeom>
            <a:solidFill>
              <a:srgbClr val="FF0000">
                <a:alpha val="41960"/>
              </a:srgbClr>
            </a:solidFill>
            <a:ln cap="flat" cmpd="sng" w="25400">
              <a:solidFill>
                <a:srgbClr val="94949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en-US" sz="900" u="none" cap="none" strike="noStrike">
                  <a:solidFill>
                    <a:srgbClr val="929000"/>
                  </a:solidFill>
                  <a:latin typeface="Roboto Mono"/>
                  <a:ea typeface="Roboto Mono"/>
                  <a:cs typeface="Roboto Mono"/>
                  <a:sym typeface="Roboto Mono"/>
                </a:rPr>
                <a:t>0</a:t>
              </a:r>
              <a:endParaRPr sz="1100">
                <a:latin typeface="Roboto Mono"/>
                <a:ea typeface="Roboto Mono"/>
                <a:cs typeface="Roboto Mono"/>
                <a:sym typeface="Roboto Mono"/>
              </a:endParaRPr>
            </a:p>
          </p:txBody>
        </p:sp>
        <p:sp>
          <p:nvSpPr>
            <p:cNvPr id="232" name="Google Shape;232;p25"/>
            <p:cNvSpPr/>
            <p:nvPr/>
          </p:nvSpPr>
          <p:spPr>
            <a:xfrm>
              <a:off x="547138" y="3540794"/>
              <a:ext cx="1418400" cy="38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900">
                  <a:solidFill>
                    <a:srgbClr val="0070C0"/>
                  </a:solidFill>
                  <a:latin typeface="Roboto Mono"/>
                  <a:ea typeface="Roboto Mono"/>
                  <a:cs typeface="Roboto Mono"/>
                  <a:sym typeface="Roboto Mono"/>
                </a:rPr>
                <a:t>odometer</a:t>
              </a:r>
              <a:endParaRPr sz="1100">
                <a:latin typeface="Roboto Mono"/>
                <a:ea typeface="Roboto Mono"/>
                <a:cs typeface="Roboto Mono"/>
                <a:sym typeface="Roboto Mon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Classes: </a:t>
            </a:r>
            <a:r>
              <a:rPr lang="en-US"/>
              <a:t>Methods</a:t>
            </a:r>
            <a:endParaRPr/>
          </a:p>
        </p:txBody>
      </p:sp>
      <p:sp>
        <p:nvSpPr>
          <p:cNvPr id="239" name="Google Shape;239;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40" name="Google Shape;240;p2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200"/>
              <a:t>Methods</a:t>
            </a:r>
            <a:r>
              <a:rPr lang="en-US" sz="1200"/>
              <a:t> are functions attached to specific objects. You've seen them before (e.g. </a:t>
            </a:r>
            <a:r>
              <a:rPr lang="en-US" sz="1200">
                <a:latin typeface="Roboto Mono Light"/>
                <a:ea typeface="Roboto Mono Light"/>
                <a:cs typeface="Roboto Mono Light"/>
                <a:sym typeface="Roboto Mono Light"/>
              </a:rPr>
              <a:t>list.append()</a:t>
            </a:r>
            <a:r>
              <a:rPr lang="en-US" sz="1200"/>
              <a:t> ). They are defined in the class definition. When a new instance of that class is created, that object receives its own copies of those methods; at that point, they are called </a:t>
            </a:r>
            <a:r>
              <a:rPr b="1" lang="en-US" sz="1200"/>
              <a:t>instance methods</a:t>
            </a:r>
            <a:r>
              <a:rPr lang="en-US" sz="1200"/>
              <a:t>. Every new instance has its own personal copies.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Note that </a:t>
            </a:r>
            <a:r>
              <a:rPr lang="en-US" sz="1200">
                <a:latin typeface="Roboto Mono Light"/>
                <a:ea typeface="Roboto Mono Light"/>
                <a:cs typeface="Roboto Mono Light"/>
                <a:sym typeface="Roboto Mono Light"/>
              </a:rPr>
              <a:t>self</a:t>
            </a:r>
            <a:r>
              <a:rPr lang="en-US" sz="1200"/>
              <a:t> must be the first parameter of any method, for the same reasons that all attributes must be </a:t>
            </a:r>
            <a:r>
              <a:rPr lang="en-US" sz="1200"/>
              <a:t>preceded</a:t>
            </a:r>
            <a:r>
              <a:rPr lang="en-US" sz="1200"/>
              <a:t> by </a:t>
            </a:r>
            <a:r>
              <a:rPr b="1" lang="en-US" sz="1200">
                <a:solidFill>
                  <a:schemeClr val="dk1"/>
                </a:solidFill>
                <a:latin typeface="Roboto Mono"/>
                <a:ea typeface="Roboto Mono"/>
                <a:cs typeface="Roboto Mono"/>
                <a:sym typeface="Roboto Mono"/>
              </a:rPr>
              <a:t>self.</a:t>
            </a:r>
            <a:r>
              <a:rPr lang="en-US" sz="1200"/>
              <a: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solidFill>
                  <a:schemeClr val="dk1"/>
                </a:solidFill>
              </a:rPr>
              <a:t>Accessing a method is as easy as using the </a:t>
            </a:r>
            <a:r>
              <a:rPr b="1" lang="en-US" sz="1200">
                <a:solidFill>
                  <a:schemeClr val="dk1"/>
                </a:solidFill>
              </a:rPr>
              <a:t>dot operator</a:t>
            </a:r>
            <a:r>
              <a:rPr lang="en-US" sz="1200">
                <a:solidFill>
                  <a:schemeClr val="dk1"/>
                </a:solidFill>
              </a:rPr>
              <a:t>.</a:t>
            </a:r>
            <a:endParaRPr sz="1200"/>
          </a:p>
        </p:txBody>
      </p:sp>
      <p:sp>
        <p:nvSpPr>
          <p:cNvPr id="241" name="Google Shape;241;p2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Roboto Mono Light"/>
                <a:ea typeface="Roboto Mono Light"/>
                <a:cs typeface="Roboto Mono Light"/>
                <a:sym typeface="Roboto Mono Light"/>
              </a:rPr>
              <a:t>class Student(object):</a:t>
            </a:r>
            <a:endParaRPr sz="12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200">
                <a:solidFill>
                  <a:schemeClr val="dk1"/>
                </a:solidFill>
                <a:latin typeface="Roboto Mono Light"/>
                <a:ea typeface="Roboto Mono Light"/>
                <a:cs typeface="Roboto Mono Light"/>
                <a:sym typeface="Roboto Mono Light"/>
              </a:rPr>
              <a:t>def __init__(self, name_param, ID_param):</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self.name = name_param</a:t>
            </a:r>
            <a:endParaRPr sz="12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self.ID = ID_param</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b="1" lang="en-US" sz="1200">
                <a:solidFill>
                  <a:schemeClr val="dk1"/>
                </a:solidFill>
                <a:latin typeface="Roboto Mono"/>
                <a:ea typeface="Roboto Mono"/>
                <a:cs typeface="Roboto Mono"/>
                <a:sym typeface="Roboto Mono"/>
              </a:rPr>
              <a:t>def say_hello(self):</a:t>
            </a:r>
            <a:endParaRPr b="1" sz="1200">
              <a:solidFill>
                <a:schemeClr val="dk1"/>
              </a:solidFill>
              <a:latin typeface="Roboto Mono"/>
              <a:ea typeface="Roboto Mono"/>
              <a:cs typeface="Roboto Mono"/>
              <a:sym typeface="Roboto Mono"/>
            </a:endParaRPr>
          </a:p>
          <a:p>
            <a:pPr indent="457200" lvl="0" marL="457200" rtl="0" algn="l">
              <a:spcBef>
                <a:spcPts val="0"/>
              </a:spcBef>
              <a:spcAft>
                <a:spcPts val="0"/>
              </a:spcAft>
              <a:buNone/>
            </a:pPr>
            <a:r>
              <a:rPr b="1" lang="en-US" sz="1200">
                <a:solidFill>
                  <a:schemeClr val="dk1"/>
                </a:solidFill>
                <a:latin typeface="Roboto Mono"/>
                <a:ea typeface="Roboto Mono"/>
                <a:cs typeface="Roboto Mono"/>
                <a:sym typeface="Roboto Mono"/>
              </a:rPr>
              <a:t>print('Hi! My name is', self.name)</a:t>
            </a:r>
            <a:endParaRPr b="1" sz="12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2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def main():</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grace = Student('Grace', 35894)</a:t>
            </a:r>
            <a:endParaRPr sz="12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b="1" lang="en-US" sz="1200">
                <a:solidFill>
                  <a:schemeClr val="dk1"/>
                </a:solidFill>
                <a:latin typeface="Roboto Mono"/>
                <a:ea typeface="Roboto Mono"/>
                <a:cs typeface="Roboto Mono"/>
                <a:sym typeface="Roboto Mono"/>
              </a:rPr>
              <a:t>grace.say_hello()</a:t>
            </a:r>
            <a:endParaRPr b="1" sz="12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2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200">
                <a:solidFill>
                  <a:schemeClr val="dk1"/>
                </a:solidFill>
                <a:latin typeface="Roboto Mono Light"/>
                <a:ea typeface="Roboto Mono Light"/>
                <a:cs typeface="Roboto Mono Light"/>
                <a:sym typeface="Roboto Mono Light"/>
              </a:rPr>
              <a:t>&gt;&gt;&gt; Hi! My name is Grace</a:t>
            </a:r>
            <a:endParaRPr sz="12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Classes: Class Attributes</a:t>
            </a:r>
            <a:endParaRPr/>
          </a:p>
        </p:txBody>
      </p:sp>
      <p:sp>
        <p:nvSpPr>
          <p:cNvPr id="248" name="Google Shape;248;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49" name="Google Shape;249;p2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dk1"/>
                </a:solidFill>
              </a:rPr>
              <a:t>Occasionally, you might want data which is accessible to every instance of a class. </a:t>
            </a:r>
            <a:r>
              <a:rPr b="1" lang="en-US" sz="1500">
                <a:solidFill>
                  <a:schemeClr val="dk1"/>
                </a:solidFill>
              </a:rPr>
              <a:t>Class a</a:t>
            </a:r>
            <a:r>
              <a:rPr b="1" lang="en-US" sz="1500">
                <a:solidFill>
                  <a:schemeClr val="dk1"/>
                </a:solidFill>
              </a:rPr>
              <a:t>ttributes</a:t>
            </a:r>
            <a:r>
              <a:rPr lang="en-US" sz="1500">
                <a:solidFill>
                  <a:schemeClr val="dk1"/>
                </a:solidFill>
              </a:rPr>
              <a:t> are variables which are accessible to any and all instances of that class - </a:t>
            </a:r>
            <a:r>
              <a:rPr b="1" i="1" lang="en-US" sz="1500">
                <a:solidFill>
                  <a:schemeClr val="dk1"/>
                </a:solidFill>
              </a:rPr>
              <a:t>they are shared across all instances</a:t>
            </a:r>
            <a:r>
              <a:rPr lang="en-US" sz="1500">
                <a:solidFill>
                  <a:schemeClr val="dk1"/>
                </a:solidFill>
              </a:rPr>
              <a:t>. When a new instance of that class is created, that object can access the class attribute. It's also accessible to the class itself.</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You access a class attribute with the </a:t>
            </a:r>
            <a:r>
              <a:rPr lang="en-US" sz="1500">
                <a:solidFill>
                  <a:schemeClr val="dk1"/>
                </a:solidFill>
                <a:latin typeface="Roboto Mono Light"/>
                <a:ea typeface="Roboto Mono Light"/>
                <a:cs typeface="Roboto Mono Light"/>
                <a:sym typeface="Roboto Mono Light"/>
              </a:rPr>
              <a:t>ClassName</a:t>
            </a:r>
            <a:r>
              <a:rPr lang="en-US" sz="1500">
                <a:solidFill>
                  <a:schemeClr val="dk1"/>
                </a:solidFill>
              </a:rPr>
              <a:t> plus the dot operator.</a:t>
            </a:r>
            <a:endParaRPr sz="1500">
              <a:solidFill>
                <a:schemeClr val="dk1"/>
              </a:solidFill>
            </a:endParaRPr>
          </a:p>
        </p:txBody>
      </p:sp>
      <p:sp>
        <p:nvSpPr>
          <p:cNvPr id="250" name="Google Shape;250;p2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class Student(object):</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b="1" lang="en-US" sz="1000">
                <a:solidFill>
                  <a:schemeClr val="dk1"/>
                </a:solidFill>
                <a:latin typeface="Roboto Mono"/>
                <a:ea typeface="Roboto Mono"/>
                <a:cs typeface="Roboto Mono"/>
                <a:sym typeface="Roboto Mono"/>
              </a:rPr>
              <a:t>num_students = 0</a:t>
            </a:r>
            <a:endParaRPr b="1" sz="10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def __init__(self, name_param, ID_param):</a:t>
            </a:r>
            <a:endParaRPr sz="10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self.name = name_param</a:t>
            </a:r>
            <a:endParaRPr sz="10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self.ID = ID_param</a:t>
            </a:r>
            <a:endParaRPr sz="10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b="1" lang="en-US" sz="1000">
                <a:solidFill>
                  <a:schemeClr val="dk1"/>
                </a:solidFill>
                <a:latin typeface="Roboto Mono"/>
                <a:ea typeface="Roboto Mono"/>
                <a:cs typeface="Roboto Mono"/>
                <a:sym typeface="Roboto Mono"/>
              </a:rPr>
              <a:t>Student.</a:t>
            </a:r>
            <a:r>
              <a:rPr b="1" lang="en-US" sz="1000">
                <a:solidFill>
                  <a:schemeClr val="dk1"/>
                </a:solidFill>
                <a:latin typeface="Roboto Mono"/>
                <a:ea typeface="Roboto Mono"/>
                <a:cs typeface="Roboto Mono"/>
                <a:sym typeface="Roboto Mono"/>
              </a:rPr>
              <a:t>num_students += 1</a:t>
            </a:r>
            <a:endParaRPr b="1" sz="1000">
              <a:solidFill>
                <a:schemeClr val="dk1"/>
              </a:solidFill>
              <a:latin typeface="Roboto Mono"/>
              <a:ea typeface="Roboto Mono"/>
              <a:cs typeface="Roboto Mono"/>
              <a:sym typeface="Roboto Mono"/>
            </a:endParaRPr>
          </a:p>
          <a:p>
            <a:pPr indent="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def say_hello(self):</a:t>
            </a:r>
            <a:endParaRPr sz="10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print('Hi! My name is', self.name)</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rgbClr val="000000"/>
              </a:buClr>
              <a:buSzPts val="1100"/>
              <a:buFont typeface="Arial"/>
              <a:buNone/>
            </a:pPr>
            <a:r>
              <a:rPr lang="en-US" sz="1000">
                <a:solidFill>
                  <a:schemeClr val="dk1"/>
                </a:solidFill>
                <a:latin typeface="Roboto Mono Light"/>
                <a:ea typeface="Roboto Mono Light"/>
                <a:cs typeface="Roboto Mono Light"/>
                <a:sym typeface="Roboto Mono Light"/>
              </a:rPr>
              <a:t>def main():</a:t>
            </a:r>
            <a:endParaRPr sz="10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g</a:t>
            </a:r>
            <a:r>
              <a:rPr lang="en-US" sz="1000">
                <a:solidFill>
                  <a:schemeClr val="dk1"/>
                </a:solidFill>
                <a:latin typeface="Roboto Mono Light"/>
                <a:ea typeface="Roboto Mono Light"/>
                <a:cs typeface="Roboto Mono Light"/>
                <a:sym typeface="Roboto Mono Light"/>
              </a:rPr>
              <a:t>race = Student('Grace', 35894)</a:t>
            </a:r>
            <a:endParaRPr sz="10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nancy = Student('Nancy', 34567)</a:t>
            </a:r>
            <a:endParaRPr sz="10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1000">
                <a:solidFill>
                  <a:schemeClr val="dk1"/>
                </a:solidFill>
                <a:latin typeface="Roboto Mono Light"/>
                <a:ea typeface="Roboto Mono Light"/>
                <a:cs typeface="Roboto Mono Light"/>
                <a:sym typeface="Roboto Mono Light"/>
              </a:rPr>
              <a:t>print(</a:t>
            </a:r>
            <a:r>
              <a:rPr b="1" lang="en-US" sz="1000">
                <a:solidFill>
                  <a:schemeClr val="dk1"/>
                </a:solidFill>
                <a:latin typeface="Roboto Mono"/>
                <a:ea typeface="Roboto Mono"/>
                <a:cs typeface="Roboto Mono"/>
                <a:sym typeface="Roboto Mono"/>
              </a:rPr>
              <a:t>Student.num_students</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&gt;&gt;&gt; 2</a:t>
            </a:r>
            <a:endParaRPr sz="10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Attributes: accessing</a:t>
            </a:r>
            <a:endParaRPr/>
          </a:p>
        </p:txBody>
      </p:sp>
      <p:sp>
        <p:nvSpPr>
          <p:cNvPr id="257" name="Google Shape;257;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58" name="Google Shape;258;p2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know that you access an object's methods using the </a:t>
            </a:r>
            <a:r>
              <a:rPr b="1" lang="en-US"/>
              <a:t>dot operator</a:t>
            </a:r>
            <a:r>
              <a:rPr lang="en-US"/>
              <a:t>. But how do you access their attributes? It turns out that you </a:t>
            </a:r>
            <a:r>
              <a:rPr i="1" lang="en-US"/>
              <a:t>can</a:t>
            </a:r>
            <a:r>
              <a:rPr lang="en-US"/>
              <a:t> use the same technique: the dot operator. But this can have unintended consequences.</a:t>
            </a:r>
            <a:endParaRPr/>
          </a:p>
        </p:txBody>
      </p:sp>
      <p:sp>
        <p:nvSpPr>
          <p:cNvPr id="259" name="Google Shape;259;p2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class Student(object):</a:t>
            </a:r>
            <a:endParaRPr sz="11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def __init__(self, </a:t>
            </a:r>
            <a:r>
              <a:rPr lang="en-US" sz="1100">
                <a:solidFill>
                  <a:schemeClr val="dk1"/>
                </a:solidFill>
                <a:latin typeface="Roboto Mono Light"/>
                <a:ea typeface="Roboto Mono Light"/>
                <a:cs typeface="Roboto Mono Light"/>
                <a:sym typeface="Roboto Mono Light"/>
              </a:rPr>
              <a:t>name_param, </a:t>
            </a:r>
            <a:r>
              <a:rPr b="1" lang="en-US" sz="1100">
                <a:solidFill>
                  <a:schemeClr val="dk1"/>
                </a:solidFill>
                <a:latin typeface="Roboto Mono"/>
                <a:ea typeface="Roboto Mono"/>
                <a:cs typeface="Roboto Mono"/>
                <a:sym typeface="Roboto Mono"/>
              </a:rPr>
              <a:t>crss_param</a:t>
            </a:r>
            <a:r>
              <a:rPr lang="en-US" sz="1100">
                <a:solidFill>
                  <a:schemeClr val="dk1"/>
                </a:solidFill>
                <a:latin typeface="Roboto Mono Light"/>
                <a:ea typeface="Roboto Mono Light"/>
                <a:cs typeface="Roboto Mono Light"/>
                <a:sym typeface="Roboto Mono Light"/>
              </a:rPr>
              <a:t>):</a:t>
            </a:r>
            <a:endParaRPr sz="11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100">
                <a:solidFill>
                  <a:schemeClr val="dk1"/>
                </a:solidFill>
                <a:latin typeface="Roboto Mono Light"/>
                <a:ea typeface="Roboto Mono Light"/>
                <a:cs typeface="Roboto Mono Light"/>
                <a:sym typeface="Roboto Mono Light"/>
              </a:rPr>
              <a:t>self.name = name_param</a:t>
            </a:r>
            <a:endParaRPr sz="11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100">
                <a:solidFill>
                  <a:schemeClr val="dk1"/>
                </a:solidFill>
                <a:latin typeface="Roboto Mono Light"/>
                <a:ea typeface="Roboto Mono Light"/>
                <a:cs typeface="Roboto Mono Light"/>
                <a:sym typeface="Roboto Mono Light"/>
              </a:rPr>
              <a:t>self.ID = ID_param</a:t>
            </a:r>
            <a:endParaRPr sz="11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b="1" lang="en-US" sz="1100">
                <a:solidFill>
                  <a:schemeClr val="dk1"/>
                </a:solidFill>
                <a:latin typeface="Roboto Mono"/>
                <a:ea typeface="Roboto Mono"/>
                <a:cs typeface="Roboto Mono"/>
                <a:sym typeface="Roboto Mono"/>
              </a:rPr>
              <a:t>self.courses_list = crss_param</a:t>
            </a:r>
            <a:endParaRPr b="1" sz="11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grace = Student('Grace', 35894, ['ITP-216', ITP-449'])</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1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def main():</a:t>
            </a:r>
            <a:endParaRPr sz="11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b="1" lang="en-US" sz="1100">
                <a:solidFill>
                  <a:schemeClr val="dk1"/>
                </a:solidFill>
                <a:latin typeface="Roboto Mono"/>
                <a:ea typeface="Roboto Mono"/>
                <a:cs typeface="Roboto Mono"/>
                <a:sym typeface="Roboto Mono"/>
              </a:rPr>
              <a:t>print(grace.courses_list[0])</a:t>
            </a:r>
            <a:endParaRPr b="1" sz="1100">
              <a:solidFill>
                <a:schemeClr val="dk1"/>
              </a:solidFill>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b="1" lang="en-US" sz="1100">
                <a:solidFill>
                  <a:schemeClr val="dk1"/>
                </a:solidFill>
                <a:latin typeface="Roboto Mono"/>
                <a:ea typeface="Roboto Mono"/>
                <a:cs typeface="Roboto Mono"/>
                <a:sym typeface="Roboto Mono"/>
              </a:rPr>
              <a:t>print(grace.courses_list[2])</a:t>
            </a:r>
            <a:endParaRPr b="1" sz="1100">
              <a:solidFill>
                <a:schemeClr val="dk1"/>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Attributes: getters and setters</a:t>
            </a:r>
            <a:endParaRPr/>
          </a:p>
        </p:txBody>
      </p:sp>
      <p:sp>
        <p:nvSpPr>
          <p:cNvPr id="266" name="Google Shape;266;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67" name="Google Shape;267;p2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700">
                <a:solidFill>
                  <a:schemeClr val="dk1"/>
                </a:solidFill>
              </a:rPr>
              <a:t>What you really need is a way to do error checking so that your program doesn't crash when the user tries to access or change attributes incorrectly. The solution is with two tools:</a:t>
            </a:r>
            <a:endParaRPr sz="1700">
              <a:solidFill>
                <a:schemeClr val="dk1"/>
              </a:solidFill>
            </a:endParaRPr>
          </a:p>
          <a:p>
            <a:pPr indent="0" lvl="0" marL="0" rtl="0" algn="l">
              <a:spcBef>
                <a:spcPts val="0"/>
              </a:spcBef>
              <a:spcAft>
                <a:spcPts val="0"/>
              </a:spcAft>
              <a:buClr>
                <a:schemeClr val="dk1"/>
              </a:buClr>
              <a:buSzPts val="1100"/>
              <a:buFont typeface="Arial"/>
              <a:buNone/>
            </a:pPr>
            <a:r>
              <a:t/>
            </a:r>
            <a:endParaRPr sz="1700">
              <a:solidFill>
                <a:schemeClr val="dk1"/>
              </a:solidFill>
            </a:endParaRPr>
          </a:p>
          <a:p>
            <a:pPr indent="-336550" lvl="0" marL="457200" rtl="0" algn="l">
              <a:spcBef>
                <a:spcPts val="0"/>
              </a:spcBef>
              <a:spcAft>
                <a:spcPts val="0"/>
              </a:spcAft>
              <a:buClr>
                <a:schemeClr val="dk1"/>
              </a:buClr>
              <a:buSzPts val="1700"/>
              <a:buAutoNum type="arabicPeriod"/>
            </a:pPr>
            <a:r>
              <a:rPr b="1" lang="en-US" sz="1700">
                <a:solidFill>
                  <a:schemeClr val="dk1"/>
                </a:solidFill>
              </a:rPr>
              <a:t>Getter</a:t>
            </a:r>
            <a:r>
              <a:rPr lang="en-US" sz="1700">
                <a:solidFill>
                  <a:schemeClr val="dk1"/>
                </a:solidFill>
              </a:rPr>
              <a:t>: a method which will error check input and return an attribute.</a:t>
            </a:r>
            <a:endParaRPr sz="1700">
              <a:solidFill>
                <a:schemeClr val="dk1"/>
              </a:solidFill>
            </a:endParaRPr>
          </a:p>
          <a:p>
            <a:pPr indent="-336550" lvl="0" marL="457200" rtl="0" algn="l">
              <a:spcBef>
                <a:spcPts val="0"/>
              </a:spcBef>
              <a:spcAft>
                <a:spcPts val="0"/>
              </a:spcAft>
              <a:buClr>
                <a:schemeClr val="dk1"/>
              </a:buClr>
              <a:buSzPts val="1700"/>
              <a:buAutoNum type="arabicPeriod"/>
            </a:pPr>
            <a:r>
              <a:rPr b="1" lang="en-US" sz="1700">
                <a:solidFill>
                  <a:schemeClr val="dk1"/>
                </a:solidFill>
              </a:rPr>
              <a:t>Setter</a:t>
            </a:r>
            <a:r>
              <a:rPr lang="en-US" sz="1700">
                <a:solidFill>
                  <a:schemeClr val="dk1"/>
                </a:solidFill>
              </a:rPr>
              <a:t>: a method which will error check input and change an attribute.</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US" sz="1700">
                <a:solidFill>
                  <a:schemeClr val="dk1"/>
                </a:solidFill>
              </a:rPr>
              <a:t>Convention dictates that you should only provide a getter for an attribute you want a user to be able to access, and only provide a setter for an attribute you want a user to be able to modify.</a:t>
            </a:r>
            <a:endParaRPr sz="17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Attributes: getters and setters</a:t>
            </a:r>
            <a:endParaRPr/>
          </a:p>
        </p:txBody>
      </p:sp>
      <p:sp>
        <p:nvSpPr>
          <p:cNvPr id="274" name="Google Shape;274;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75" name="Google Shape;275;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So a solution to the issue from before is to add a getter for the particular attribute in question. For either getters or setters, the convention you should be using for this course is to precede a getter with </a:t>
            </a:r>
            <a:r>
              <a:rPr lang="en-US">
                <a:latin typeface="Courier New"/>
                <a:ea typeface="Courier New"/>
                <a:cs typeface="Courier New"/>
                <a:sym typeface="Courier New"/>
              </a:rPr>
              <a:t>get_</a:t>
            </a:r>
            <a:r>
              <a:rPr lang="en-US"/>
              <a:t> and a setter with </a:t>
            </a:r>
            <a:r>
              <a:rPr lang="en-US">
                <a:latin typeface="Courier New"/>
                <a:ea typeface="Courier New"/>
                <a:cs typeface="Courier New"/>
                <a:sym typeface="Courier New"/>
              </a:rPr>
              <a:t>set_</a:t>
            </a:r>
            <a:r>
              <a:rPr lang="en-US"/>
              <a:t> .</a:t>
            </a:r>
            <a:endParaRPr/>
          </a:p>
        </p:txBody>
      </p:sp>
      <p:sp>
        <p:nvSpPr>
          <p:cNvPr id="276" name="Google Shape;276;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class Student(object):</a:t>
            </a:r>
            <a:endParaRPr sz="11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def __init__(self, name_param, crss_param):</a:t>
            </a:r>
            <a:endParaRPr sz="11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100">
                <a:solidFill>
                  <a:schemeClr val="dk1"/>
                </a:solidFill>
                <a:latin typeface="Roboto Mono Light"/>
                <a:ea typeface="Roboto Mono Light"/>
                <a:cs typeface="Roboto Mono Light"/>
                <a:sym typeface="Roboto Mono Light"/>
              </a:rPr>
              <a:t>self.name = name_param</a:t>
            </a:r>
            <a:endParaRPr sz="11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100">
                <a:solidFill>
                  <a:schemeClr val="dk1"/>
                </a:solidFill>
                <a:latin typeface="Roboto Mono Light"/>
                <a:ea typeface="Roboto Mono Light"/>
                <a:cs typeface="Roboto Mono Light"/>
                <a:sym typeface="Roboto Mono Light"/>
              </a:rPr>
              <a:t>self.ID = ID_param</a:t>
            </a:r>
            <a:endParaRPr sz="11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1100">
                <a:solidFill>
                  <a:schemeClr val="dk1"/>
                </a:solidFill>
                <a:latin typeface="Roboto Mono Light"/>
                <a:ea typeface="Roboto Mono Light"/>
                <a:cs typeface="Roboto Mono Light"/>
                <a:sym typeface="Roboto Mono Light"/>
              </a:rPr>
              <a:t>self.courses_list = crss_param</a:t>
            </a:r>
            <a:endParaRPr sz="11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b="1" lang="en-US" sz="1100">
                <a:solidFill>
                  <a:schemeClr val="dk1"/>
                </a:solidFill>
                <a:latin typeface="Roboto Mono"/>
                <a:ea typeface="Roboto Mono"/>
                <a:cs typeface="Roboto Mono"/>
                <a:sym typeface="Roboto Mono"/>
              </a:rPr>
              <a:t>def get_course(self, index):</a:t>
            </a:r>
            <a:endParaRPr b="1" sz="1100">
              <a:solidFill>
                <a:schemeClr val="dk1"/>
              </a:solidFill>
              <a:latin typeface="Roboto Mono"/>
              <a:ea typeface="Roboto Mono"/>
              <a:cs typeface="Roboto Mono"/>
              <a:sym typeface="Roboto Mono"/>
            </a:endParaRPr>
          </a:p>
          <a:p>
            <a:pPr indent="457200" lvl="0" marL="457200" rtl="0" algn="l">
              <a:spcBef>
                <a:spcPts val="0"/>
              </a:spcBef>
              <a:spcAft>
                <a:spcPts val="0"/>
              </a:spcAft>
              <a:buNone/>
            </a:pPr>
            <a:r>
              <a:rPr b="1" lang="en-US" sz="1100">
                <a:solidFill>
                  <a:schemeClr val="dk1"/>
                </a:solidFill>
                <a:latin typeface="Roboto Mono"/>
                <a:ea typeface="Roboto Mono"/>
                <a:cs typeface="Roboto Mono"/>
                <a:sym typeface="Roboto Mono"/>
              </a:rPr>
              <a:t>if index &lt; len(self.courses_list):</a:t>
            </a:r>
            <a:endParaRPr b="1" sz="1100">
              <a:solidFill>
                <a:schemeClr val="dk1"/>
              </a:solidFill>
              <a:latin typeface="Roboto Mono"/>
              <a:ea typeface="Roboto Mono"/>
              <a:cs typeface="Roboto Mono"/>
              <a:sym typeface="Roboto Mono"/>
            </a:endParaRPr>
          </a:p>
          <a:p>
            <a:pPr indent="457200" lvl="0" marL="914400" rtl="0" algn="l">
              <a:spcBef>
                <a:spcPts val="0"/>
              </a:spcBef>
              <a:spcAft>
                <a:spcPts val="0"/>
              </a:spcAft>
              <a:buNone/>
            </a:pPr>
            <a:r>
              <a:rPr b="1" lang="en-US" sz="1100">
                <a:solidFill>
                  <a:schemeClr val="dk1"/>
                </a:solidFill>
                <a:latin typeface="Roboto Mono"/>
                <a:ea typeface="Roboto Mono"/>
                <a:cs typeface="Roboto Mono"/>
                <a:sym typeface="Roboto Mono"/>
              </a:rPr>
              <a:t>return self.courses_list[index]</a:t>
            </a:r>
            <a:endParaRPr b="1" sz="1100">
              <a:solidFill>
                <a:schemeClr val="dk1"/>
              </a:solidFill>
              <a:latin typeface="Roboto Mono"/>
              <a:ea typeface="Roboto Mono"/>
              <a:cs typeface="Roboto Mono"/>
              <a:sym typeface="Roboto Mono"/>
            </a:endParaRPr>
          </a:p>
          <a:p>
            <a:pPr indent="0" lvl="0" marL="914400" rtl="0" algn="l">
              <a:spcBef>
                <a:spcPts val="0"/>
              </a:spcBef>
              <a:spcAft>
                <a:spcPts val="0"/>
              </a:spcAft>
              <a:buNone/>
            </a:pPr>
            <a:r>
              <a:rPr b="1" lang="en-US" sz="1100">
                <a:solidFill>
                  <a:schemeClr val="dk1"/>
                </a:solidFill>
                <a:latin typeface="Roboto Mono"/>
                <a:ea typeface="Roboto Mono"/>
                <a:cs typeface="Roboto Mono"/>
                <a:sym typeface="Roboto Mono"/>
              </a:rPr>
              <a:t>else:</a:t>
            </a:r>
            <a:endParaRPr b="1" sz="1100">
              <a:solidFill>
                <a:schemeClr val="dk1"/>
              </a:solidFill>
              <a:latin typeface="Roboto Mono"/>
              <a:ea typeface="Roboto Mono"/>
              <a:cs typeface="Roboto Mono"/>
              <a:sym typeface="Roboto Mono"/>
            </a:endParaRPr>
          </a:p>
          <a:p>
            <a:pPr indent="457200" lvl="0" marL="914400" rtl="0" algn="l">
              <a:spcBef>
                <a:spcPts val="0"/>
              </a:spcBef>
              <a:spcAft>
                <a:spcPts val="0"/>
              </a:spcAft>
              <a:buNone/>
            </a:pPr>
            <a:r>
              <a:rPr b="1" lang="en-US" sz="1100">
                <a:solidFill>
                  <a:schemeClr val="dk1"/>
                </a:solidFill>
                <a:latin typeface="Roboto Mono"/>
                <a:ea typeface="Roboto Mono"/>
                <a:cs typeface="Roboto Mono"/>
                <a:sym typeface="Roboto Mono"/>
              </a:rPr>
              <a:t>return 'Index', index, 'out of range.'</a:t>
            </a:r>
            <a:endParaRPr b="1" sz="1100">
              <a:solidFill>
                <a:schemeClr val="dk1"/>
              </a:solidFill>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Methods: dunders</a:t>
            </a:r>
            <a:endParaRPr/>
          </a:p>
        </p:txBody>
      </p:sp>
      <p:sp>
        <p:nvSpPr>
          <p:cNvPr id="283" name="Google Shape;283;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84" name="Google Shape;284;p31"/>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solidFill>
                  <a:schemeClr val="dk1"/>
                </a:solidFill>
              </a:rPr>
              <a:t>A final note on methods: there are a whole host of other </a:t>
            </a:r>
            <a:r>
              <a:rPr b="1" lang="en-US" sz="2000">
                <a:solidFill>
                  <a:schemeClr val="dk1"/>
                </a:solidFill>
              </a:rPr>
              <a:t>double-underscore (dunder) methods</a:t>
            </a:r>
            <a:r>
              <a:rPr lang="en-US" sz="2000">
                <a:solidFill>
                  <a:schemeClr val="dk1"/>
                </a:solidFill>
              </a:rPr>
              <a:t> that can be implemented in your classes. Just like </a:t>
            </a:r>
            <a:r>
              <a:rPr lang="en-US" sz="2000">
                <a:solidFill>
                  <a:schemeClr val="dk1"/>
                </a:solidFill>
                <a:latin typeface="Roboto Mono Light"/>
                <a:ea typeface="Roboto Mono Light"/>
                <a:cs typeface="Roboto Mono Light"/>
                <a:sym typeface="Roboto Mono Light"/>
              </a:rPr>
              <a:t>__init__()</a:t>
            </a:r>
            <a:r>
              <a:rPr lang="en-US" sz="2000">
                <a:solidFill>
                  <a:schemeClr val="dk1"/>
                </a:solidFill>
              </a:rPr>
              <a:t>, all dunder methods are called automatically in certain scenarios. It's why they are also sometimes called ‘special methods'.</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rPr lang="en-US" sz="2000">
                <a:solidFill>
                  <a:schemeClr val="dk1"/>
                </a:solidFill>
              </a:rPr>
              <a:t>There are only a small handful that will be covered in this course, but there are many that can be used.</a:t>
            </a:r>
            <a:endParaRPr sz="20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Side note: underscores</a:t>
            </a:r>
            <a:endParaRPr/>
          </a:p>
        </p:txBody>
      </p:sp>
      <p:sp>
        <p:nvSpPr>
          <p:cNvPr id="291" name="Google Shape;291;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92" name="Google Shape;292;p32"/>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know that you can add underscores to variable and function names. But there is also a convention for when leading and trailing underscores are added to names of any object in Python:</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b="1" lang="en-US">
                <a:latin typeface="Roboto Mono"/>
                <a:ea typeface="Roboto Mono"/>
                <a:cs typeface="Roboto Mono"/>
                <a:sym typeface="Roboto Mono"/>
              </a:rPr>
              <a:t>_</a:t>
            </a:r>
            <a:r>
              <a:rPr lang="en-US">
                <a:latin typeface="Roboto Mono Light"/>
                <a:ea typeface="Roboto Mono Light"/>
                <a:cs typeface="Roboto Mono Light"/>
                <a:sym typeface="Roboto Mono Light"/>
              </a:rPr>
              <a:t>obj_name</a:t>
            </a:r>
            <a:r>
              <a:rPr lang="en-US"/>
              <a:t> : protected. Don’t directly change me (convention, not enforced by interpreter)!</a:t>
            </a:r>
            <a:endParaRPr/>
          </a:p>
          <a:p>
            <a:pPr indent="-330200" lvl="0" marL="457200" rtl="0" algn="l">
              <a:spcBef>
                <a:spcPts val="0"/>
              </a:spcBef>
              <a:spcAft>
                <a:spcPts val="0"/>
              </a:spcAft>
              <a:buSzPts val="1600"/>
              <a:buChar char="•"/>
            </a:pPr>
            <a:r>
              <a:rPr b="1" lang="en-US">
                <a:latin typeface="Roboto Mono"/>
                <a:ea typeface="Roboto Mono"/>
                <a:cs typeface="Roboto Mono"/>
                <a:sym typeface="Roboto Mono"/>
              </a:rPr>
              <a:t>__</a:t>
            </a:r>
            <a:r>
              <a:rPr lang="en-US">
                <a:solidFill>
                  <a:schemeClr val="dk1"/>
                </a:solidFill>
                <a:latin typeface="Roboto Mono Light"/>
                <a:ea typeface="Roboto Mono Light"/>
                <a:cs typeface="Roboto Mono Light"/>
                <a:sym typeface="Roboto Mono Light"/>
              </a:rPr>
              <a:t>obj</a:t>
            </a:r>
            <a:r>
              <a:rPr lang="en-US">
                <a:latin typeface="Roboto Mono Light"/>
                <a:ea typeface="Roboto Mono Light"/>
                <a:cs typeface="Roboto Mono Light"/>
                <a:sym typeface="Roboto Mono Light"/>
              </a:rPr>
              <a:t>_name</a:t>
            </a:r>
            <a:r>
              <a:rPr lang="en-US"/>
              <a:t>: private. Don’t directly access me (name mangled)!</a:t>
            </a:r>
            <a:endParaRPr/>
          </a:p>
          <a:p>
            <a:pPr indent="-330200" lvl="0" marL="457200" rtl="0" algn="l">
              <a:spcBef>
                <a:spcPts val="0"/>
              </a:spcBef>
              <a:spcAft>
                <a:spcPts val="0"/>
              </a:spcAft>
              <a:buSzPts val="1600"/>
              <a:buChar char="•"/>
            </a:pPr>
            <a:r>
              <a:rPr b="1" lang="en-US">
                <a:latin typeface="Roboto Mono"/>
                <a:ea typeface="Roboto Mono"/>
                <a:cs typeface="Roboto Mono"/>
                <a:sym typeface="Roboto Mono"/>
              </a:rPr>
              <a:t>__</a:t>
            </a:r>
            <a:r>
              <a:rPr lang="en-US">
                <a:solidFill>
                  <a:schemeClr val="dk1"/>
                </a:solidFill>
                <a:latin typeface="Roboto Mono Light"/>
                <a:ea typeface="Roboto Mono Light"/>
                <a:cs typeface="Roboto Mono Light"/>
                <a:sym typeface="Roboto Mono Light"/>
              </a:rPr>
              <a:t>obj</a:t>
            </a:r>
            <a:r>
              <a:rPr lang="en-US">
                <a:latin typeface="Roboto Mono Light"/>
                <a:ea typeface="Roboto Mono Light"/>
                <a:cs typeface="Roboto Mono Light"/>
                <a:sym typeface="Roboto Mono Light"/>
              </a:rPr>
              <a:t>_name</a:t>
            </a:r>
            <a:r>
              <a:rPr b="1" lang="en-US">
                <a:latin typeface="Roboto Mono"/>
                <a:ea typeface="Roboto Mono"/>
                <a:cs typeface="Roboto Mono"/>
                <a:sym typeface="Roboto Mono"/>
              </a:rPr>
              <a:t>__</a:t>
            </a:r>
            <a:r>
              <a:rPr lang="en-US"/>
              <a:t> : built-in, special object.</a:t>
            </a:r>
            <a:endParaRPr/>
          </a:p>
          <a:p>
            <a:pPr indent="-323850" lvl="1" marL="914400" rtl="0" algn="l">
              <a:spcBef>
                <a:spcPts val="0"/>
              </a:spcBef>
              <a:spcAft>
                <a:spcPts val="0"/>
              </a:spcAft>
              <a:buSzPts val="1500"/>
              <a:buChar char="–"/>
            </a:pPr>
            <a:r>
              <a:rPr lang="en-US"/>
              <a:t>If a function: don’t directly</a:t>
            </a:r>
            <a:r>
              <a:rPr lang="en-US"/>
              <a:t> call</a:t>
            </a:r>
            <a:r>
              <a:rPr lang="en-US"/>
              <a:t> me, I get called automatically at the appropriate time</a:t>
            </a:r>
            <a:endParaRPr/>
          </a:p>
          <a:p>
            <a:pPr indent="-323850" lvl="1" marL="914400" rtl="0" algn="l">
              <a:spcBef>
                <a:spcPts val="0"/>
              </a:spcBef>
              <a:spcAft>
                <a:spcPts val="0"/>
              </a:spcAft>
              <a:buSzPts val="1500"/>
              <a:buChar char="–"/>
            </a:pPr>
            <a:r>
              <a:rPr lang="en-US"/>
              <a:t>If a variable: don't directly change me, my value was already set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Dunder m</a:t>
            </a:r>
            <a:r>
              <a:rPr lang="en-US"/>
              <a:t>ethods: </a:t>
            </a:r>
            <a:r>
              <a:rPr lang="en-US">
                <a:latin typeface="Roboto Mono"/>
                <a:ea typeface="Roboto Mono"/>
                <a:cs typeface="Roboto Mono"/>
                <a:sym typeface="Roboto Mono"/>
              </a:rPr>
              <a:t>__str__()</a:t>
            </a:r>
            <a:endParaRPr>
              <a:latin typeface="Roboto Mono"/>
              <a:ea typeface="Roboto Mono"/>
              <a:cs typeface="Roboto Mono"/>
              <a:sym typeface="Roboto Mono"/>
            </a:endParaRPr>
          </a:p>
        </p:txBody>
      </p:sp>
      <p:sp>
        <p:nvSpPr>
          <p:cNvPr id="299" name="Google Shape;299;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00" name="Google Shape;300;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When you go to print an existing object, you may be greeted with something like the following:</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grace = Student('Grace', 35894)</a:t>
            </a:r>
            <a:endParaRPr sz="13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print(grace)</a:t>
            </a:r>
            <a:endParaRPr sz="13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&gt;&gt;&gt; &lt;__main__.Student object at 0x7fb548124c40&gt;</a:t>
            </a:r>
            <a:endParaRPr sz="13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US" sz="1300">
                <a:solidFill>
                  <a:schemeClr val="dk1"/>
                </a:solidFill>
              </a:rPr>
              <a:t>So to fix it, just add the </a:t>
            </a:r>
            <a:r>
              <a:rPr b="1" lang="en-US" sz="1300">
                <a:solidFill>
                  <a:schemeClr val="dk1"/>
                </a:solidFill>
                <a:latin typeface="Roboto Mono"/>
                <a:ea typeface="Roboto Mono"/>
                <a:cs typeface="Roboto Mono"/>
                <a:sym typeface="Roboto Mono"/>
              </a:rPr>
              <a:t>__str__()</a:t>
            </a:r>
            <a:r>
              <a:rPr lang="en-US" sz="1300">
                <a:solidFill>
                  <a:schemeClr val="dk1"/>
                </a:solidFill>
              </a:rPr>
              <a:t> method definition in the class. This method is called automatically when an object is inside a print statement. It should return a string.</a:t>
            </a:r>
            <a:endParaRPr sz="1300">
              <a:solidFill>
                <a:schemeClr val="dk1"/>
              </a:solidFill>
            </a:endParaRPr>
          </a:p>
        </p:txBody>
      </p:sp>
      <p:sp>
        <p:nvSpPr>
          <p:cNvPr id="301" name="Google Shape;301;p3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class Student(object):</a:t>
            </a:r>
            <a:endParaRPr sz="13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 ...</a:t>
            </a:r>
            <a:endParaRPr sz="13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def </a:t>
            </a:r>
            <a:r>
              <a:rPr b="1" lang="en-US" sz="1300">
                <a:solidFill>
                  <a:schemeClr val="dk1"/>
                </a:solidFill>
                <a:latin typeface="Roboto Mono"/>
                <a:ea typeface="Roboto Mono"/>
                <a:cs typeface="Roboto Mono"/>
                <a:sym typeface="Roboto Mono"/>
              </a:rPr>
              <a:t>__str__(self)</a:t>
            </a:r>
            <a:r>
              <a:rPr lang="en-US" sz="1300">
                <a:solidFill>
                  <a:schemeClr val="dk1"/>
                </a:solidFill>
                <a:latin typeface="Roboto Mono Light"/>
                <a:ea typeface="Roboto Mono Light"/>
                <a:cs typeface="Roboto Mono Light"/>
                <a:sym typeface="Roboto Mono Light"/>
              </a:rPr>
              <a:t>:</a:t>
            </a:r>
            <a:endParaRPr sz="1300">
              <a:solidFill>
                <a:schemeClr val="dk1"/>
              </a:solidFill>
              <a:latin typeface="Roboto Mono Light"/>
              <a:ea typeface="Roboto Mono Light"/>
              <a:cs typeface="Roboto Mono Light"/>
              <a:sym typeface="Roboto Mono Light"/>
            </a:endParaRPr>
          </a:p>
          <a:p>
            <a:pPr indent="0" lvl="0" marL="914400" rtl="0" algn="l">
              <a:spcBef>
                <a:spcPts val="0"/>
              </a:spcBef>
              <a:spcAft>
                <a:spcPts val="0"/>
              </a:spcAft>
              <a:buNone/>
            </a:pPr>
            <a:r>
              <a:rPr lang="en-US" sz="1300">
                <a:solidFill>
                  <a:schemeClr val="dk1"/>
                </a:solidFill>
                <a:latin typeface="Roboto Mono Light"/>
                <a:ea typeface="Roboto Mono Light"/>
                <a:cs typeface="Roboto Mono Light"/>
                <a:sym typeface="Roboto Mono Light"/>
              </a:rPr>
              <a:t>return 'The student ' + self.name + ' has an ID of ' + str(self.ID)</a:t>
            </a:r>
            <a:endParaRPr sz="13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3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grace = Student('Grace', 35894)</a:t>
            </a:r>
            <a:endParaRPr sz="13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print(grace) # calls grace.__str__()</a:t>
            </a:r>
            <a:endParaRPr sz="13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300">
                <a:solidFill>
                  <a:schemeClr val="dk1"/>
                </a:solidFill>
                <a:latin typeface="Roboto Mono Light"/>
                <a:ea typeface="Roboto Mono Light"/>
                <a:cs typeface="Roboto Mono Light"/>
                <a:sym typeface="Roboto Mono Light"/>
              </a:rPr>
              <a:t>&gt;&gt;&gt; The student Grace has an ID of 35894</a:t>
            </a:r>
            <a:endParaRPr sz="13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Class Creation Checklist</a:t>
            </a:r>
            <a:endParaRPr/>
          </a:p>
        </p:txBody>
      </p:sp>
      <p:sp>
        <p:nvSpPr>
          <p:cNvPr id="308" name="Google Shape;308;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09" name="Google Shape;309;p34"/>
          <p:cNvSpPr txBox="1"/>
          <p:nvPr>
            <p:ph idx="1" type="body"/>
          </p:nvPr>
        </p:nvSpPr>
        <p:spPr>
          <a:xfrm>
            <a:off x="40100" y="998800"/>
            <a:ext cx="8999400" cy="3324600"/>
          </a:xfrm>
          <a:prstGeom prst="rect">
            <a:avLst/>
          </a:prstGeom>
        </p:spPr>
        <p:txBody>
          <a:bodyPr anchorCtr="0" anchor="t" bIns="45700" lIns="91425" spcFirstLastPara="1" rIns="91425" wrap="square" tIns="45700">
            <a:noAutofit/>
          </a:bodyPr>
          <a:lstStyle/>
          <a:p>
            <a:pPr indent="-330200" lvl="0" marL="457200" rtl="0" algn="l">
              <a:spcBef>
                <a:spcPts val="0"/>
              </a:spcBef>
              <a:spcAft>
                <a:spcPts val="0"/>
              </a:spcAft>
              <a:buSzPts val="1600"/>
              <a:buAutoNum type="arabicPeriod"/>
            </a:pPr>
            <a:r>
              <a:rPr lang="en-US">
                <a:latin typeface="Roboto Mono Light"/>
                <a:ea typeface="Roboto Mono Light"/>
                <a:cs typeface="Roboto Mono Light"/>
                <a:sym typeface="Roboto Mono Light"/>
              </a:rPr>
              <a:t>__init__()</a:t>
            </a:r>
            <a:r>
              <a:rPr lang="en-US"/>
              <a:t> </a:t>
            </a:r>
            <a:endParaRPr/>
          </a:p>
          <a:p>
            <a:pPr indent="-323850" lvl="1" marL="914400" rtl="0" algn="l">
              <a:spcBef>
                <a:spcPts val="0"/>
              </a:spcBef>
              <a:spcAft>
                <a:spcPts val="0"/>
              </a:spcAft>
              <a:buSzPts val="1500"/>
              <a:buAutoNum type="alphaLcPeriod"/>
            </a:pPr>
            <a:r>
              <a:rPr lang="en-US"/>
              <a:t>define instance attributes and </a:t>
            </a:r>
            <a:r>
              <a:rPr lang="en-US"/>
              <a:t>initial</a:t>
            </a:r>
            <a:r>
              <a:rPr lang="en-US"/>
              <a:t> values</a:t>
            </a:r>
            <a:endParaRPr/>
          </a:p>
          <a:p>
            <a:pPr indent="-330200" lvl="0" marL="457200" rtl="0" algn="l">
              <a:spcBef>
                <a:spcPts val="0"/>
              </a:spcBef>
              <a:spcAft>
                <a:spcPts val="0"/>
              </a:spcAft>
              <a:buSzPts val="1600"/>
              <a:buAutoNum type="arabicPeriod"/>
            </a:pPr>
            <a:r>
              <a:rPr lang="en-US">
                <a:latin typeface="Roboto Mono Light"/>
                <a:ea typeface="Roboto Mono Light"/>
                <a:cs typeface="Roboto Mono Light"/>
                <a:sym typeface="Roboto Mono Light"/>
              </a:rPr>
              <a:t>__str__()</a:t>
            </a:r>
            <a:r>
              <a:rPr lang="en-US"/>
              <a:t> </a:t>
            </a:r>
            <a:endParaRPr/>
          </a:p>
          <a:p>
            <a:pPr indent="-323850" lvl="1" marL="914400" rtl="0" algn="l">
              <a:spcBef>
                <a:spcPts val="0"/>
              </a:spcBef>
              <a:spcAft>
                <a:spcPts val="0"/>
              </a:spcAft>
              <a:buSzPts val="1500"/>
              <a:buAutoNum type="alphaLcPeriod"/>
            </a:pPr>
            <a:r>
              <a:rPr lang="en-US"/>
              <a:t>what will this thing look like printed out as a string?</a:t>
            </a:r>
            <a:endParaRPr/>
          </a:p>
          <a:p>
            <a:pPr indent="-330200" lvl="0" marL="457200" rtl="0" algn="l">
              <a:spcBef>
                <a:spcPts val="0"/>
              </a:spcBef>
              <a:spcAft>
                <a:spcPts val="0"/>
              </a:spcAft>
              <a:buSzPts val="1600"/>
              <a:buAutoNum type="arabicPeriod"/>
            </a:pPr>
            <a:r>
              <a:rPr lang="en-US"/>
              <a:t>getters and setters</a:t>
            </a:r>
            <a:endParaRPr/>
          </a:p>
          <a:p>
            <a:pPr indent="-323850" lvl="1" marL="914400" rtl="0" algn="l">
              <a:spcBef>
                <a:spcPts val="0"/>
              </a:spcBef>
              <a:spcAft>
                <a:spcPts val="0"/>
              </a:spcAft>
              <a:buSzPts val="1500"/>
              <a:buAutoNum type="alphaLcPeriod"/>
            </a:pPr>
            <a:r>
              <a:rPr lang="en-US"/>
              <a:t>encapsulation</a:t>
            </a:r>
            <a:r>
              <a:rPr lang="en-US"/>
              <a:t>, what are valid values? think hospital/operation</a:t>
            </a:r>
            <a:endParaRPr/>
          </a:p>
          <a:p>
            <a:pPr indent="-330200" lvl="0" marL="457200" rtl="0" algn="l">
              <a:spcBef>
                <a:spcPts val="0"/>
              </a:spcBef>
              <a:spcAft>
                <a:spcPts val="0"/>
              </a:spcAft>
              <a:buSzPts val="1600"/>
              <a:buAutoNum type="arabicPeriod"/>
            </a:pPr>
            <a:r>
              <a:rPr lang="en-US"/>
              <a:t>separate implementation from interfaces</a:t>
            </a:r>
            <a:endParaRPr/>
          </a:p>
          <a:p>
            <a:pPr indent="-323850" lvl="1" marL="914400" rtl="0" algn="l">
              <a:spcBef>
                <a:spcPts val="0"/>
              </a:spcBef>
              <a:spcAft>
                <a:spcPts val="0"/>
              </a:spcAft>
              <a:buSzPts val="1500"/>
              <a:buAutoNum type="alphaLcPeriod"/>
            </a:pPr>
            <a:r>
              <a:rPr lang="en-US"/>
              <a:t>separate method bodies from method signatures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INHERITANCE</a:t>
            </a:r>
            <a:endParaRPr/>
          </a:p>
        </p:txBody>
      </p:sp>
      <p:sp>
        <p:nvSpPr>
          <p:cNvPr id="316" name="Google Shape;316;p35"/>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317" name="Google Shape;317;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Inheritance: the basics</a:t>
            </a:r>
            <a:endParaRPr/>
          </a:p>
        </p:txBody>
      </p:sp>
      <p:sp>
        <p:nvSpPr>
          <p:cNvPr id="324" name="Google Shape;324;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25" name="Google Shape;325;p36"/>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Inheritance</a:t>
            </a:r>
            <a:r>
              <a:rPr lang="en-US"/>
              <a:t> is a property of classes that allows you to define a class which inherits all attributes and methods from another class. It is a parent/child relationship:</a:t>
            </a:r>
            <a:endParaRPr/>
          </a:p>
          <a:p>
            <a:pPr indent="-330200" lvl="0" marL="457200" rtl="0" algn="l">
              <a:spcBef>
                <a:spcPts val="0"/>
              </a:spcBef>
              <a:spcAft>
                <a:spcPts val="0"/>
              </a:spcAft>
              <a:buSzPts val="1600"/>
              <a:buChar char="•"/>
            </a:pPr>
            <a:r>
              <a:rPr lang="en-US"/>
              <a:t>The parent class defines a set of features. It is the class being inherited from.</a:t>
            </a:r>
            <a:r>
              <a:rPr lang="en-US"/>
              <a:t> (It can also be called the base class or </a:t>
            </a:r>
            <a:r>
              <a:rPr b="1" lang="en-US"/>
              <a:t>super</a:t>
            </a:r>
            <a:r>
              <a:rPr lang="en-US"/>
              <a:t> class.)</a:t>
            </a:r>
            <a:endParaRPr/>
          </a:p>
          <a:p>
            <a:pPr indent="-330200" lvl="0" marL="457200" rtl="0" algn="l">
              <a:spcBef>
                <a:spcPts val="0"/>
              </a:spcBef>
              <a:spcAft>
                <a:spcPts val="0"/>
              </a:spcAft>
              <a:buSzPts val="1600"/>
              <a:buChar char="•"/>
            </a:pPr>
            <a:r>
              <a:rPr lang="en-US"/>
              <a:t>The child class acquires features from the parent. It is the class doing the inheriting. (It can also be called the derived or sub class.)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Inheritance: wait but why?</a:t>
            </a:r>
            <a:endParaRPr/>
          </a:p>
        </p:txBody>
      </p:sp>
      <p:sp>
        <p:nvSpPr>
          <p:cNvPr id="332" name="Google Shape;332;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33" name="Google Shape;333;p3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Remember one of the fundamental tenets of programming: DRY (Don't Repeat Yourself). I</a:t>
            </a:r>
            <a:r>
              <a:rPr lang="en-US"/>
              <a:t>nheritance helps reduce code duplication between similar classes. It also helps to abstract functionality.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The parent provides a basis for all the children, and the children build upon or refine the Parent.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Inheritance: syntax</a:t>
            </a:r>
            <a:endParaRPr/>
          </a:p>
        </p:txBody>
      </p:sp>
      <p:sp>
        <p:nvSpPr>
          <p:cNvPr id="340" name="Google Shape;340;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41" name="Google Shape;341;p3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Any class can be a parent class. The syntax for a Parent class is the same as always:</a:t>
            </a:r>
            <a:endParaRPr sz="1300"/>
          </a:p>
          <a:p>
            <a:pPr indent="0" lvl="0" marL="0" rtl="0" algn="l">
              <a:spcBef>
                <a:spcPts val="0"/>
              </a:spcBef>
              <a:spcAft>
                <a:spcPts val="0"/>
              </a:spcAft>
              <a:buClr>
                <a:schemeClr val="dk1"/>
              </a:buClr>
              <a:buSzPts val="1100"/>
              <a:buFont typeface="Arial"/>
              <a:buNone/>
            </a:pPr>
            <a:r>
              <a:t/>
            </a:r>
            <a:endParaRPr sz="1300"/>
          </a:p>
          <a:p>
            <a:pPr indent="0" lvl="0" marL="45720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class Parent(</a:t>
            </a:r>
            <a:r>
              <a:rPr b="1" lang="en-US" sz="1300">
                <a:latin typeface="Roboto Mono"/>
                <a:ea typeface="Roboto Mono"/>
                <a:cs typeface="Roboto Mono"/>
                <a:sym typeface="Roboto Mono"/>
              </a:rPr>
              <a:t>object</a:t>
            </a:r>
            <a:r>
              <a:rPr lang="en-US" sz="1300">
                <a:latin typeface="Roboto Mono Light"/>
                <a:ea typeface="Roboto Mono Light"/>
                <a:cs typeface="Roboto Mono Light"/>
                <a:sym typeface="Roboto Mono Light"/>
              </a:rPr>
              <a:t>)</a:t>
            </a:r>
            <a:r>
              <a:rPr lang="en-US" sz="1300">
                <a:latin typeface="Roboto Mono Light"/>
                <a:ea typeface="Roboto Mono Light"/>
                <a:cs typeface="Roboto Mono Light"/>
                <a:sym typeface="Roboto Mono Light"/>
              </a:rPr>
              <a:t>:</a:t>
            </a:r>
            <a:endParaRPr sz="1300">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US" sz="1300"/>
              <a:t>The syntax for the child class (at least initially) really only has one modification:</a:t>
            </a:r>
            <a:endParaRPr sz="1300"/>
          </a:p>
          <a:p>
            <a:pPr indent="0" lvl="0" marL="0" rtl="0" algn="l">
              <a:spcBef>
                <a:spcPts val="0"/>
              </a:spcBef>
              <a:spcAft>
                <a:spcPts val="0"/>
              </a:spcAft>
              <a:buClr>
                <a:schemeClr val="dk1"/>
              </a:buClr>
              <a:buSzPts val="1100"/>
              <a:buFont typeface="Arial"/>
              <a:buNone/>
            </a:pPr>
            <a:r>
              <a:t/>
            </a:r>
            <a:endParaRPr sz="1300"/>
          </a:p>
          <a:p>
            <a:pPr indent="0" lvl="0" marL="457200" marR="0" rtl="0" algn="l">
              <a:lnSpc>
                <a:spcPct val="150000"/>
              </a:lnSpc>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class Child(</a:t>
            </a:r>
            <a:r>
              <a:rPr b="1" lang="en-US" sz="1300">
                <a:latin typeface="Roboto Mono"/>
                <a:ea typeface="Roboto Mono"/>
                <a:cs typeface="Roboto Mono"/>
                <a:sym typeface="Roboto Mono"/>
              </a:rPr>
              <a:t>Parent</a:t>
            </a:r>
            <a:r>
              <a:rPr lang="en-US" sz="1300">
                <a:latin typeface="Roboto Mono Light"/>
                <a:ea typeface="Roboto Mono Light"/>
                <a:cs typeface="Roboto Mono Light"/>
                <a:sym typeface="Roboto Mono Light"/>
              </a:rPr>
              <a:t>):</a:t>
            </a:r>
            <a:endParaRPr sz="1300">
              <a:latin typeface="Roboto Mono Light"/>
              <a:ea typeface="Roboto Mono Light"/>
              <a:cs typeface="Roboto Mono Light"/>
              <a:sym typeface="Roboto Mono Light"/>
            </a:endParaRPr>
          </a:p>
          <a:p>
            <a:pPr indent="457200" lvl="0" marL="457200" marR="0" rtl="0" algn="l">
              <a:lnSpc>
                <a:spcPct val="150000"/>
              </a:lnSpc>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 ...</a:t>
            </a:r>
            <a:endParaRPr sz="1300">
              <a:latin typeface="Courier New"/>
              <a:ea typeface="Courier New"/>
              <a:cs typeface="Courier New"/>
              <a:sym typeface="Courier New"/>
            </a:endParaRPr>
          </a:p>
        </p:txBody>
      </p:sp>
      <p:sp>
        <p:nvSpPr>
          <p:cNvPr id="342" name="Google Shape;342;p3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class Animal:</a:t>
            </a:r>
            <a:endParaRPr sz="1100">
              <a:latin typeface="Roboto Mono Light"/>
              <a:ea typeface="Roboto Mono Light"/>
              <a:cs typeface="Roboto Mono Light"/>
              <a:sym typeface="Roboto Mono Light"/>
            </a:endParaRPr>
          </a:p>
          <a:p>
            <a:pPr indent="457200" lvl="0" marL="0" rtl="0" algn="l">
              <a:spcBef>
                <a:spcPts val="0"/>
              </a:spcBef>
              <a:spcAft>
                <a:spcPts val="0"/>
              </a:spcAft>
              <a:buNone/>
            </a:pPr>
            <a:r>
              <a:rPr lang="en-US" sz="1100">
                <a:latin typeface="Roboto Mono Light"/>
                <a:ea typeface="Roboto Mono Light"/>
                <a:cs typeface="Roboto Mono Light"/>
                <a:sym typeface="Roboto Mono Light"/>
              </a:rPr>
              <a:t>def __init__(self, name):</a:t>
            </a:r>
            <a:endParaRPr sz="1100">
              <a:latin typeface="Roboto Mono Light"/>
              <a:ea typeface="Roboto Mono Light"/>
              <a:cs typeface="Roboto Mono Light"/>
              <a:sym typeface="Roboto Mono Light"/>
            </a:endParaRPr>
          </a:p>
          <a:p>
            <a:pPr indent="457200" lvl="0" marL="457200" rtl="0" algn="l">
              <a:spcBef>
                <a:spcPts val="0"/>
              </a:spcBef>
              <a:spcAft>
                <a:spcPts val="0"/>
              </a:spcAft>
              <a:buNone/>
            </a:pPr>
            <a:r>
              <a:rPr lang="en-US" sz="1100">
                <a:latin typeface="Roboto Mono Light"/>
                <a:ea typeface="Roboto Mono Light"/>
                <a:cs typeface="Roboto Mono Light"/>
                <a:sym typeface="Roboto Mono Light"/>
              </a:rPr>
              <a:t>self.name = name</a:t>
            </a:r>
            <a:endParaRPr sz="1100">
              <a:latin typeface="Roboto Mono Light"/>
              <a:ea typeface="Roboto Mono Light"/>
              <a:cs typeface="Roboto Mono Light"/>
              <a:sym typeface="Roboto Mono Light"/>
            </a:endParaRPr>
          </a:p>
          <a:p>
            <a:pPr indent="0" lvl="0" marL="457200" rtl="0" algn="l">
              <a:spcBef>
                <a:spcPts val="0"/>
              </a:spcBef>
              <a:spcAft>
                <a:spcPts val="0"/>
              </a:spcAft>
              <a:buNone/>
            </a:pPr>
            <a:r>
              <a:rPr lang="en-US" sz="1100">
                <a:latin typeface="Roboto Mono Light"/>
                <a:ea typeface="Roboto Mono Light"/>
                <a:cs typeface="Roboto Mono Light"/>
                <a:sym typeface="Roboto Mono Light"/>
              </a:rPr>
              <a:t>def print_name(self):</a:t>
            </a:r>
            <a:endParaRPr sz="1100">
              <a:latin typeface="Roboto Mono Light"/>
              <a:ea typeface="Roboto Mono Light"/>
              <a:cs typeface="Roboto Mono Light"/>
              <a:sym typeface="Roboto Mono Light"/>
            </a:endParaRPr>
          </a:p>
          <a:p>
            <a:pPr indent="457200" lvl="0" marL="457200" rtl="0" algn="l">
              <a:spcBef>
                <a:spcPts val="0"/>
              </a:spcBef>
              <a:spcAft>
                <a:spcPts val="0"/>
              </a:spcAft>
              <a:buNone/>
            </a:pPr>
            <a:r>
              <a:rPr lang="en-US" sz="1100">
                <a:latin typeface="Roboto Mono Light"/>
                <a:ea typeface="Roboto Mono Light"/>
                <a:cs typeface="Roboto Mono Light"/>
                <a:sym typeface="Roboto Mono Light"/>
              </a:rPr>
              <a:t>print(self.name)</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None/>
            </a:pPr>
            <a:r>
              <a:rPr lang="en-US" sz="1100">
                <a:latin typeface="Roboto Mono Light"/>
                <a:ea typeface="Roboto Mono Light"/>
                <a:cs typeface="Roboto Mono Light"/>
                <a:sym typeface="Roboto Mono Light"/>
              </a:rPr>
              <a:t>class Carnivore(</a:t>
            </a:r>
            <a:r>
              <a:rPr b="1" lang="en-US" sz="1100">
                <a:latin typeface="Roboto Mono"/>
                <a:ea typeface="Roboto Mono"/>
                <a:cs typeface="Roboto Mono"/>
                <a:sym typeface="Roboto Mono"/>
              </a:rPr>
              <a:t>Animal</a:t>
            </a:r>
            <a:r>
              <a:rPr lang="en-US" sz="1100">
                <a:latin typeface="Roboto Mono Light"/>
                <a:ea typeface="Roboto Mono Light"/>
                <a:cs typeface="Roboto Mono Light"/>
                <a:sym typeface="Roboto Mono Light"/>
              </a:rPr>
              <a:t>):</a:t>
            </a:r>
            <a:endParaRPr sz="1100">
              <a:latin typeface="Roboto Mono Light"/>
              <a:ea typeface="Roboto Mono Light"/>
              <a:cs typeface="Roboto Mono Light"/>
              <a:sym typeface="Roboto Mono Light"/>
            </a:endParaRPr>
          </a:p>
          <a:p>
            <a:pPr indent="457200" lvl="0" marL="0" rtl="0" algn="l">
              <a:spcBef>
                <a:spcPts val="0"/>
              </a:spcBef>
              <a:spcAft>
                <a:spcPts val="0"/>
              </a:spcAft>
              <a:buNone/>
            </a:pPr>
            <a:r>
              <a:rPr lang="en-US" sz="1100">
                <a:latin typeface="Roboto Mono Light"/>
                <a:ea typeface="Roboto Mono Light"/>
                <a:cs typeface="Roboto Mono Light"/>
                <a:sym typeface="Roboto Mono Light"/>
              </a:rPr>
              <a:t># Inherits methods and attributes</a:t>
            </a:r>
            <a:endParaRPr sz="11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pass</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1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100">
                <a:latin typeface="Roboto Mono Light"/>
                <a:ea typeface="Roboto Mono Light"/>
                <a:cs typeface="Roboto Mono Light"/>
                <a:sym typeface="Roboto Mono Light"/>
              </a:rPr>
              <a:t>class Herbivore(</a:t>
            </a:r>
            <a:r>
              <a:rPr b="1" lang="en-US" sz="1100">
                <a:latin typeface="Roboto Mono"/>
                <a:ea typeface="Roboto Mono"/>
                <a:cs typeface="Roboto Mono"/>
                <a:sym typeface="Roboto Mono"/>
              </a:rPr>
              <a:t>Animal</a:t>
            </a:r>
            <a:r>
              <a:rPr lang="en-US" sz="1100">
                <a:latin typeface="Roboto Mono Light"/>
                <a:ea typeface="Roboto Mono Light"/>
                <a:cs typeface="Roboto Mono Light"/>
                <a:sym typeface="Roboto Mono Light"/>
              </a:rPr>
              <a:t>):</a:t>
            </a:r>
            <a:endParaRPr sz="1100">
              <a:latin typeface="Roboto Mono Light"/>
              <a:ea typeface="Roboto Mono Light"/>
              <a:cs typeface="Roboto Mono Light"/>
              <a:sym typeface="Roboto Mono Light"/>
            </a:endParaRPr>
          </a:p>
          <a:p>
            <a:pPr indent="45720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 Inherits methods and attributes</a:t>
            </a:r>
            <a:endParaRPr sz="11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100">
                <a:solidFill>
                  <a:schemeClr val="dk1"/>
                </a:solidFill>
                <a:latin typeface="Roboto Mono Light"/>
                <a:ea typeface="Roboto Mono Light"/>
                <a:cs typeface="Roboto Mono Light"/>
                <a:sym typeface="Roboto Mono Light"/>
              </a:rPr>
              <a:t>pass</a:t>
            </a:r>
            <a:endParaRPr sz="11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Inheritance </a:t>
            </a:r>
            <a:r>
              <a:rPr lang="en-US"/>
              <a:t>Hierarchy</a:t>
            </a:r>
            <a:endParaRPr/>
          </a:p>
        </p:txBody>
      </p:sp>
      <p:sp>
        <p:nvSpPr>
          <p:cNvPr id="349" name="Google Shape;349;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50" name="Google Shape;350;p3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330200" lvl="0" marL="457200" rtl="0" algn="l">
              <a:spcBef>
                <a:spcPts val="0"/>
              </a:spcBef>
              <a:spcAft>
                <a:spcPts val="0"/>
              </a:spcAft>
              <a:buSzPts val="1600"/>
              <a:buChar char="•"/>
            </a:pPr>
            <a:r>
              <a:rPr lang="en-US">
                <a:latin typeface="Roboto Mono Light"/>
                <a:ea typeface="Roboto Mono Light"/>
                <a:cs typeface="Roboto Mono Light"/>
                <a:sym typeface="Roboto Mono Light"/>
              </a:rPr>
              <a:t>Animal</a:t>
            </a:r>
            <a:r>
              <a:rPr lang="en-US"/>
              <a:t> is base, parent, super class</a:t>
            </a:r>
            <a:endParaRPr/>
          </a:p>
          <a:p>
            <a:pPr indent="-330200" lvl="0" marL="457200" rtl="0" algn="l">
              <a:spcBef>
                <a:spcPts val="0"/>
              </a:spcBef>
              <a:spcAft>
                <a:spcPts val="0"/>
              </a:spcAft>
              <a:buSzPts val="1600"/>
              <a:buChar char="•"/>
            </a:pPr>
            <a:r>
              <a:rPr lang="en-US">
                <a:latin typeface="Roboto Mono Light"/>
                <a:ea typeface="Roboto Mono Light"/>
                <a:cs typeface="Roboto Mono Light"/>
                <a:sym typeface="Roboto Mono Light"/>
              </a:rPr>
              <a:t>Herbivore</a:t>
            </a:r>
            <a:r>
              <a:rPr lang="en-US"/>
              <a:t> and </a:t>
            </a:r>
            <a:r>
              <a:rPr lang="en-US">
                <a:latin typeface="Roboto Mono Light"/>
                <a:ea typeface="Roboto Mono Light"/>
                <a:cs typeface="Roboto Mono Light"/>
                <a:sym typeface="Roboto Mono Light"/>
              </a:rPr>
              <a:t>Carnivore</a:t>
            </a:r>
            <a:r>
              <a:rPr lang="en-US"/>
              <a:t> are both derived, child, sub-classes of </a:t>
            </a:r>
            <a:r>
              <a:rPr lang="en-US">
                <a:latin typeface="Roboto Mono Light"/>
                <a:ea typeface="Roboto Mono Light"/>
                <a:cs typeface="Roboto Mono Light"/>
                <a:sym typeface="Roboto Mono Light"/>
              </a:rPr>
              <a:t>Animal</a:t>
            </a:r>
            <a:r>
              <a:rPr lang="en-US"/>
              <a:t>.</a:t>
            </a:r>
            <a:endParaRPr/>
          </a:p>
          <a:p>
            <a:pPr indent="-330200" lvl="0" marL="457200" rtl="0" algn="l">
              <a:spcBef>
                <a:spcPts val="0"/>
              </a:spcBef>
              <a:spcAft>
                <a:spcPts val="0"/>
              </a:spcAft>
              <a:buSzPts val="1600"/>
              <a:buChar char="•"/>
            </a:pPr>
            <a:r>
              <a:rPr lang="en-US">
                <a:latin typeface="Roboto Mono Light"/>
                <a:ea typeface="Roboto Mono Light"/>
                <a:cs typeface="Roboto Mono Light"/>
                <a:sym typeface="Roboto Mono Light"/>
              </a:rPr>
              <a:t>Animal</a:t>
            </a:r>
            <a:r>
              <a:rPr lang="en-US"/>
              <a:t>/all classes inherit from the cosmic super class </a:t>
            </a:r>
            <a:r>
              <a:rPr b="1" lang="en-US">
                <a:latin typeface="Roboto Mono"/>
                <a:ea typeface="Roboto Mono"/>
                <a:cs typeface="Roboto Mono"/>
                <a:sym typeface="Roboto Mono"/>
              </a:rPr>
              <a:t>object</a:t>
            </a:r>
            <a:r>
              <a:rPr lang="en-US"/>
              <a:t> in Python which has default implementations of </a:t>
            </a:r>
            <a:r>
              <a:rPr lang="en-US">
                <a:latin typeface="Roboto Mono Light"/>
                <a:ea typeface="Roboto Mono Light"/>
                <a:cs typeface="Roboto Mono Light"/>
                <a:sym typeface="Roboto Mono Light"/>
              </a:rPr>
              <a:t>__str__()</a:t>
            </a:r>
            <a:r>
              <a:rPr lang="en-US"/>
              <a:t> and other dunder methods.</a:t>
            </a:r>
            <a:endParaRPr/>
          </a:p>
          <a:p>
            <a:pPr indent="-323850" lvl="1" marL="914400" rtl="0" algn="l">
              <a:spcBef>
                <a:spcPts val="0"/>
              </a:spcBef>
              <a:spcAft>
                <a:spcPts val="0"/>
              </a:spcAft>
              <a:buSzPts val="1500"/>
              <a:buFont typeface="Roboto Mono Light"/>
              <a:buChar char="–"/>
            </a:pPr>
            <a:r>
              <a:rPr lang="en-US">
                <a:latin typeface="Roboto Mono Light"/>
                <a:ea typeface="Roboto Mono Light"/>
                <a:cs typeface="Roboto Mono Light"/>
                <a:sym typeface="Roboto Mono Light"/>
              </a:rPr>
              <a:t>e.g. &lt;__main__.Vehicle object at 0x79e821147b60&gt;</a:t>
            </a:r>
            <a:endParaRPr>
              <a:latin typeface="Roboto Mono Light"/>
              <a:ea typeface="Roboto Mono Light"/>
              <a:cs typeface="Roboto Mono Light"/>
              <a:sym typeface="Roboto Mono Light"/>
            </a:endParaRPr>
          </a:p>
        </p:txBody>
      </p:sp>
      <p:pic>
        <p:nvPicPr>
          <p:cNvPr id="351" name="Google Shape;351;p39"/>
          <p:cNvPicPr preferRelativeResize="0"/>
          <p:nvPr/>
        </p:nvPicPr>
        <p:blipFill>
          <a:blip r:embed="rId3">
            <a:alphaModFix/>
          </a:blip>
          <a:stretch>
            <a:fillRect/>
          </a:stretch>
        </p:blipFill>
        <p:spPr>
          <a:xfrm>
            <a:off x="152400" y="1094194"/>
            <a:ext cx="4345774" cy="2878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Inheritance: overriding</a:t>
            </a:r>
            <a:endParaRPr/>
          </a:p>
        </p:txBody>
      </p:sp>
      <p:sp>
        <p:nvSpPr>
          <p:cNvPr id="358" name="Google Shape;358;p4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59" name="Google Shape;359;p4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t>You've created a child class that inherits the properties and methods from its parent; awesome. However, you may have noticed a drawback: the child has no defining attributes of its own! Let's fix that. To start, add the </a:t>
            </a:r>
            <a:r>
              <a:rPr lang="en-US" sz="1300">
                <a:solidFill>
                  <a:schemeClr val="dk1"/>
                </a:solidFill>
                <a:latin typeface="Roboto Mono Light"/>
                <a:ea typeface="Roboto Mono Light"/>
                <a:cs typeface="Roboto Mono Light"/>
                <a:sym typeface="Roboto Mono Light"/>
              </a:rPr>
              <a:t>__init__()</a:t>
            </a:r>
            <a:r>
              <a:rPr lang="en-US" sz="1300"/>
              <a:t> method to the child class (instead of just pass).</a:t>
            </a:r>
            <a:endParaRPr sz="1300"/>
          </a:p>
          <a:p>
            <a:pPr indent="0" lvl="0" marL="0" rtl="0" algn="l">
              <a:spcBef>
                <a:spcPts val="0"/>
              </a:spcBef>
              <a:spcAft>
                <a:spcPts val="0"/>
              </a:spcAft>
              <a:buNone/>
            </a:pPr>
            <a:r>
              <a:t/>
            </a:r>
            <a:endParaRPr sz="1300"/>
          </a:p>
          <a:p>
            <a:pPr indent="0" lvl="0" marL="457200" rtl="0" algn="l">
              <a:spcBef>
                <a:spcPts val="0"/>
              </a:spcBef>
              <a:spcAft>
                <a:spcPts val="0"/>
              </a:spcAft>
              <a:buNone/>
            </a:pPr>
            <a:r>
              <a:rPr lang="en-US" sz="1300">
                <a:latin typeface="Roboto Mono Light"/>
                <a:ea typeface="Roboto Mono Light"/>
                <a:cs typeface="Roboto Mono Light"/>
                <a:sym typeface="Roboto Mono Light"/>
              </a:rPr>
              <a:t>class Carnivore(Animal):</a:t>
            </a:r>
            <a:endParaRPr sz="1300">
              <a:latin typeface="Roboto Mono Light"/>
              <a:ea typeface="Roboto Mono Light"/>
              <a:cs typeface="Roboto Mono Light"/>
              <a:sym typeface="Roboto Mono Light"/>
            </a:endParaRPr>
          </a:p>
          <a:p>
            <a:pPr indent="0" lvl="0" marL="914400" rtl="0" algn="l">
              <a:spcBef>
                <a:spcPts val="0"/>
              </a:spcBef>
              <a:spcAft>
                <a:spcPts val="0"/>
              </a:spcAft>
              <a:buNone/>
            </a:pPr>
            <a:r>
              <a:rPr lang="en-US" sz="1300">
                <a:latin typeface="Roboto Mono Light"/>
                <a:ea typeface="Roboto Mono Light"/>
                <a:cs typeface="Roboto Mono Light"/>
                <a:sym typeface="Roboto Mono Light"/>
              </a:rPr>
              <a:t>def __init__(self, name, food):</a:t>
            </a:r>
            <a:endParaRPr sz="1300">
              <a:latin typeface="Roboto Mono Light"/>
              <a:ea typeface="Roboto Mono Light"/>
              <a:cs typeface="Roboto Mono Light"/>
              <a:sym typeface="Roboto Mono Light"/>
            </a:endParaRPr>
          </a:p>
          <a:p>
            <a:pPr indent="457200" lvl="0" marL="914400" rtl="0" algn="l">
              <a:spcBef>
                <a:spcPts val="0"/>
              </a:spcBef>
              <a:spcAft>
                <a:spcPts val="0"/>
              </a:spcAft>
              <a:buNone/>
            </a:pPr>
            <a:r>
              <a:rPr b="1" lang="en-US" sz="1300">
                <a:solidFill>
                  <a:srgbClr val="FF0000"/>
                </a:solidFill>
                <a:latin typeface="Roboto Mono"/>
                <a:ea typeface="Roboto Mono"/>
                <a:cs typeface="Roboto Mono"/>
                <a:sym typeface="Roboto Mono"/>
              </a:rPr>
              <a:t>self.name = name</a:t>
            </a:r>
            <a:endParaRPr b="1" sz="1300">
              <a:solidFill>
                <a:srgbClr val="FF0000"/>
              </a:solidFill>
              <a:latin typeface="Roboto Mono"/>
              <a:ea typeface="Roboto Mono"/>
              <a:cs typeface="Roboto Mono"/>
              <a:sym typeface="Roboto Mono"/>
            </a:endParaRPr>
          </a:p>
          <a:p>
            <a:pPr indent="457200" lvl="0" marL="914400" rtl="0" algn="l">
              <a:spcBef>
                <a:spcPts val="0"/>
              </a:spcBef>
              <a:spcAft>
                <a:spcPts val="0"/>
              </a:spcAft>
              <a:buNone/>
            </a:pPr>
            <a:r>
              <a:rPr lang="en-US" sz="1300">
                <a:latin typeface="Roboto Mono Light"/>
                <a:ea typeface="Roboto Mono Light"/>
                <a:cs typeface="Roboto Mono Light"/>
                <a:sym typeface="Roboto Mono Light"/>
              </a:rPr>
              <a:t>self.food = food</a:t>
            </a:r>
            <a:endParaRPr sz="1300">
              <a:latin typeface="Roboto Mono Light"/>
              <a:ea typeface="Roboto Mono Light"/>
              <a:cs typeface="Roboto Mono Light"/>
              <a:sym typeface="Roboto Mono Light"/>
            </a:endParaRPr>
          </a:p>
        </p:txBody>
      </p:sp>
      <p:sp>
        <p:nvSpPr>
          <p:cNvPr id="360" name="Google Shape;360;p4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As soon as the </a:t>
            </a:r>
            <a:r>
              <a:rPr lang="en-US" sz="1400">
                <a:solidFill>
                  <a:schemeClr val="dk1"/>
                </a:solidFill>
                <a:latin typeface="Roboto Mono Light"/>
                <a:ea typeface="Roboto Mono Light"/>
                <a:cs typeface="Roboto Mono Light"/>
                <a:sym typeface="Roboto Mono Light"/>
              </a:rPr>
              <a:t>__init__()</a:t>
            </a:r>
            <a:r>
              <a:rPr lang="en-US" sz="1400">
                <a:solidFill>
                  <a:schemeClr val="dk1"/>
                </a:solidFill>
              </a:rPr>
              <a:t> method is added, the child class will no longer inherit the parent's </a:t>
            </a:r>
            <a:r>
              <a:rPr lang="en-US" sz="1400">
                <a:solidFill>
                  <a:schemeClr val="dk1"/>
                </a:solidFill>
                <a:latin typeface="Roboto Mono Light"/>
                <a:ea typeface="Roboto Mono Light"/>
                <a:cs typeface="Roboto Mono Light"/>
                <a:sym typeface="Roboto Mono Light"/>
              </a:rPr>
              <a:t>__init__()</a:t>
            </a:r>
            <a:r>
              <a:rPr lang="en-US" sz="1400">
                <a:solidFill>
                  <a:schemeClr val="dk1"/>
                </a:solidFill>
              </a:rPr>
              <a:t> method. It is </a:t>
            </a:r>
            <a:r>
              <a:rPr b="1" lang="en-US" sz="1400">
                <a:solidFill>
                  <a:schemeClr val="dk1"/>
                </a:solidFill>
              </a:rPr>
              <a:t>overridden</a:t>
            </a:r>
            <a:r>
              <a:rPr lang="en-US" sz="1400">
                <a:solidFill>
                  <a:schemeClr val="dk1"/>
                </a:solidFill>
              </a:rPr>
              <a:t> by the child's method.</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US" sz="1400">
                <a:solidFill>
                  <a:schemeClr val="dk1"/>
                </a:solidFill>
              </a:rPr>
              <a:t>Why would you want to override? Sometimes, you may want slightly different functionality for the child class than what was provided in the parent class. In this case, overriding is actually very useful.</a:t>
            </a:r>
            <a:endParaRPr sz="14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Inheritance: super duper</a:t>
            </a:r>
            <a:endParaRPr/>
          </a:p>
        </p:txBody>
      </p:sp>
      <p:sp>
        <p:nvSpPr>
          <p:cNvPr id="367" name="Google Shape;367;p4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68" name="Google Shape;368;p4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rPr>
              <a:t>You can update and improve the Carnivore class using </a:t>
            </a:r>
            <a:r>
              <a:rPr lang="en-US" sz="1200">
                <a:solidFill>
                  <a:schemeClr val="dk1"/>
                </a:solidFill>
                <a:latin typeface="Roboto Mono Light"/>
                <a:ea typeface="Roboto Mono Light"/>
                <a:cs typeface="Roboto Mono Light"/>
                <a:sym typeface="Roboto Mono Light"/>
              </a:rPr>
              <a:t>super()</a:t>
            </a:r>
            <a:r>
              <a:rPr lang="en-US" sz="1200">
                <a:solidFill>
                  <a:schemeClr val="dk1"/>
                </a:solidFill>
              </a:rPr>
              <a:t> power:</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4572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class Carnivore(Animal):</a:t>
            </a:r>
            <a:endParaRPr sz="1200">
              <a:solidFill>
                <a:schemeClr val="dk1"/>
              </a:solidFill>
              <a:latin typeface="Roboto Mono Light"/>
              <a:ea typeface="Roboto Mono Light"/>
              <a:cs typeface="Roboto Mono Light"/>
              <a:sym typeface="Roboto Mono Light"/>
            </a:endParaRPr>
          </a:p>
          <a:p>
            <a:pPr indent="0" lvl="0" marL="914400" rtl="0" algn="l">
              <a:spcBef>
                <a:spcPts val="0"/>
              </a:spcBef>
              <a:spcAft>
                <a:spcPts val="0"/>
              </a:spcAft>
              <a:buNone/>
            </a:pPr>
            <a:r>
              <a:rPr lang="en-US" sz="1200">
                <a:solidFill>
                  <a:schemeClr val="dk1"/>
                </a:solidFill>
                <a:latin typeface="Roboto Mono Light"/>
                <a:ea typeface="Roboto Mono Light"/>
                <a:cs typeface="Roboto Mono Light"/>
                <a:sym typeface="Roboto Mono Light"/>
              </a:rPr>
              <a:t>def __init__(self, name, food):</a:t>
            </a:r>
            <a:endParaRPr sz="1200">
              <a:solidFill>
                <a:schemeClr val="dk1"/>
              </a:solidFill>
              <a:latin typeface="Roboto Mono Light"/>
              <a:ea typeface="Roboto Mono Light"/>
              <a:cs typeface="Roboto Mono Light"/>
              <a:sym typeface="Roboto Mono Light"/>
            </a:endParaRPr>
          </a:p>
          <a:p>
            <a:pPr indent="457200" lvl="0" marL="914400" rtl="0" algn="l">
              <a:spcBef>
                <a:spcPts val="0"/>
              </a:spcBef>
              <a:spcAft>
                <a:spcPts val="0"/>
              </a:spcAft>
              <a:buNone/>
            </a:pPr>
            <a:r>
              <a:rPr b="1" lang="en-US" sz="1200">
                <a:solidFill>
                  <a:schemeClr val="dk1"/>
                </a:solidFill>
                <a:latin typeface="Roboto Mono"/>
                <a:ea typeface="Roboto Mono"/>
                <a:cs typeface="Roboto Mono"/>
                <a:sym typeface="Roboto Mono"/>
              </a:rPr>
              <a:t>super().__init__(name)</a:t>
            </a:r>
            <a:endParaRPr b="1" sz="1200">
              <a:solidFill>
                <a:schemeClr val="dk1"/>
              </a:solidFill>
              <a:latin typeface="Roboto Mono"/>
              <a:ea typeface="Roboto Mono"/>
              <a:cs typeface="Roboto Mono"/>
              <a:sym typeface="Roboto Mono"/>
            </a:endParaRPr>
          </a:p>
          <a:p>
            <a:pPr indent="457200" lvl="0" marL="914400" rtl="0" algn="l">
              <a:spcBef>
                <a:spcPts val="0"/>
              </a:spcBef>
              <a:spcAft>
                <a:spcPts val="0"/>
              </a:spcAft>
              <a:buClr>
                <a:schemeClr val="dk1"/>
              </a:buClr>
              <a:buSzPts val="1100"/>
              <a:buFont typeface="Arial"/>
              <a:buNone/>
            </a:pPr>
            <a:r>
              <a:rPr lang="en-US" sz="1200">
                <a:solidFill>
                  <a:schemeClr val="dk1"/>
                </a:solidFill>
                <a:latin typeface="Roboto Mono Light"/>
                <a:ea typeface="Roboto Mono Light"/>
                <a:cs typeface="Roboto Mono Light"/>
                <a:sym typeface="Roboto Mono Light"/>
              </a:rPr>
              <a:t>self.food = food</a:t>
            </a:r>
            <a:endParaRPr sz="12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200">
                <a:solidFill>
                  <a:schemeClr val="dk1"/>
                </a:solidFill>
              </a:rPr>
              <a:t># note how data is passed to the parent</a:t>
            </a:r>
            <a:endParaRPr sz="1200">
              <a:solidFill>
                <a:schemeClr val="dk1"/>
              </a:solidFill>
            </a:endParaRPr>
          </a:p>
          <a:p>
            <a:pPr indent="457200" lvl="0" marL="0" rtl="0" algn="l">
              <a:spcBef>
                <a:spcPts val="0"/>
              </a:spcBef>
              <a:spcAft>
                <a:spcPts val="0"/>
              </a:spcAft>
              <a:buNone/>
            </a:pPr>
            <a:r>
              <a:rPr lang="en-US" sz="1200">
                <a:solidFill>
                  <a:schemeClr val="dk1"/>
                </a:solidFill>
              </a:rPr>
              <a:t># also see MRO (Method Resolution Order)</a:t>
            </a:r>
            <a:endParaRPr sz="1200">
              <a:solidFill>
                <a:schemeClr val="dk1"/>
              </a:solidFill>
            </a:endParaRPr>
          </a:p>
          <a:p>
            <a:pPr indent="457200" lvl="0" marL="0" rtl="0" algn="l">
              <a:spcBef>
                <a:spcPts val="0"/>
              </a:spcBef>
              <a:spcAft>
                <a:spcPts val="0"/>
              </a:spcAft>
              <a:buNone/>
            </a:pPr>
            <a:r>
              <a:rPr lang="en-US" sz="1200">
                <a:solidFill>
                  <a:schemeClr val="dk1"/>
                </a:solidFill>
                <a:latin typeface="Roboto Mono Light"/>
                <a:ea typeface="Roboto Mono Light"/>
                <a:cs typeface="Roboto Mono Light"/>
                <a:sym typeface="Roboto Mono Light"/>
              </a:rPr>
              <a:t>tiger = Carnivore('Tiger', 'Meat')</a:t>
            </a:r>
            <a:endParaRPr sz="1200">
              <a:solidFill>
                <a:schemeClr val="dk1"/>
              </a:solidFill>
              <a:latin typeface="Roboto Mono Light"/>
              <a:ea typeface="Roboto Mono Light"/>
              <a:cs typeface="Roboto Mono Light"/>
              <a:sym typeface="Roboto Mono Light"/>
            </a:endParaRPr>
          </a:p>
        </p:txBody>
      </p:sp>
      <p:sp>
        <p:nvSpPr>
          <p:cNvPr id="369" name="Google Shape;369;p4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t>However: you'll notice that - at least for the </a:t>
            </a:r>
            <a:r>
              <a:rPr lang="en-US" sz="1200"/>
              <a:t>constructor</a:t>
            </a:r>
            <a:r>
              <a:rPr lang="en-US" sz="1200"/>
              <a:t> - you'll have to re-write the </a:t>
            </a:r>
            <a:r>
              <a:rPr lang="en-US" sz="1200"/>
              <a:t>entire</a:t>
            </a:r>
            <a:r>
              <a:rPr lang="en-US" sz="1200"/>
              <a:t> thing! That kind of defeats the purpose of inheritance. What if you want to keep the existing functionality of a particular method </a:t>
            </a:r>
            <a:r>
              <a:rPr i="1" lang="en-US" sz="1200"/>
              <a:t>and then expand on it afterward</a:t>
            </a:r>
            <a:r>
              <a:rPr lang="en-US" sz="1200"/>
              <a:t>? This is done using the </a:t>
            </a:r>
            <a:r>
              <a:rPr lang="en-US" sz="1200">
                <a:solidFill>
                  <a:schemeClr val="dk1"/>
                </a:solidFill>
                <a:latin typeface="Roboto Mono Light"/>
                <a:ea typeface="Roboto Mono Light"/>
                <a:cs typeface="Roboto Mono Light"/>
                <a:sym typeface="Roboto Mono Light"/>
              </a:rPr>
              <a:t>super()</a:t>
            </a:r>
            <a:r>
              <a:rPr lang="en-US" sz="1200"/>
              <a:t> function.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a:t>
            </a:r>
            <a:r>
              <a:rPr b="1" lang="en-US" sz="1200">
                <a:solidFill>
                  <a:schemeClr val="dk1"/>
                </a:solidFill>
                <a:latin typeface="Roboto Mono"/>
                <a:ea typeface="Roboto Mono"/>
                <a:cs typeface="Roboto Mono"/>
                <a:sym typeface="Roboto Mono"/>
              </a:rPr>
              <a:t>super()</a:t>
            </a:r>
            <a:r>
              <a:rPr lang="en-US" sz="1200"/>
              <a:t> function allows you to refer to the parent class directly within the child class. This is handy if you still want to use some of the inherited functionality but then expand on it. When used smartly, it is also good programming practice!</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Distinction</a:t>
            </a:r>
            <a:r>
              <a:rPr lang="en-US"/>
              <a:t>: "is a" vs "has a"</a:t>
            </a:r>
            <a:endParaRPr/>
          </a:p>
        </p:txBody>
      </p:sp>
      <p:sp>
        <p:nvSpPr>
          <p:cNvPr id="376" name="Google Shape;376;p4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77" name="Google Shape;377;p4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Inheritance</a:t>
            </a:r>
            <a:endParaRPr b="1"/>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US"/>
              <a:t>A </a:t>
            </a:r>
            <a:r>
              <a:rPr i="1" lang="en-US"/>
              <a:t>Carnivore</a:t>
            </a:r>
            <a:r>
              <a:rPr lang="en-US"/>
              <a:t> “is a” type of Animal</a:t>
            </a:r>
            <a:endParaRPr/>
          </a:p>
          <a:p>
            <a:pPr indent="-323850" lvl="1" marL="914400" rtl="0" algn="l">
              <a:spcBef>
                <a:spcPts val="0"/>
              </a:spcBef>
              <a:spcAft>
                <a:spcPts val="0"/>
              </a:spcAft>
              <a:buSzPts val="1500"/>
              <a:buFont typeface="Roboto Mono Light"/>
              <a:buChar char="–"/>
            </a:pPr>
            <a:r>
              <a:rPr lang="en-US">
                <a:latin typeface="Roboto Mono Light"/>
                <a:ea typeface="Roboto Mono Light"/>
                <a:cs typeface="Roboto Mono Light"/>
                <a:sym typeface="Roboto Mono Light"/>
              </a:rPr>
              <a:t>class Carnivore(Animal)</a:t>
            </a:r>
            <a:endParaRPr>
              <a:latin typeface="Roboto Mono Light"/>
              <a:ea typeface="Roboto Mono Light"/>
              <a:cs typeface="Roboto Mono Light"/>
              <a:sym typeface="Roboto Mono Light"/>
            </a:endParaRPr>
          </a:p>
          <a:p>
            <a:pPr indent="-330200" lvl="0" marL="457200" rtl="0" algn="l">
              <a:spcBef>
                <a:spcPts val="0"/>
              </a:spcBef>
              <a:spcAft>
                <a:spcPts val="0"/>
              </a:spcAft>
              <a:buSzPts val="1600"/>
              <a:buChar char="•"/>
            </a:pPr>
            <a:r>
              <a:rPr lang="en-US"/>
              <a:t>An </a:t>
            </a:r>
            <a:r>
              <a:rPr i="1" lang="en-US"/>
              <a:t>Herbivore</a:t>
            </a:r>
            <a:r>
              <a:rPr lang="en-US"/>
              <a:t> “is a” type of Animal</a:t>
            </a:r>
            <a:endParaRPr/>
          </a:p>
          <a:p>
            <a:pPr indent="-323850" lvl="1" marL="914400" marR="0" rtl="0" algn="l">
              <a:lnSpc>
                <a:spcPct val="150000"/>
              </a:lnSpc>
              <a:spcBef>
                <a:spcPts val="0"/>
              </a:spcBef>
              <a:spcAft>
                <a:spcPts val="0"/>
              </a:spcAft>
              <a:buSzPts val="1500"/>
              <a:buFont typeface="Roboto Mono Light"/>
              <a:buChar char="–"/>
            </a:pPr>
            <a:r>
              <a:rPr lang="en-US">
                <a:latin typeface="Roboto Mono Light"/>
                <a:ea typeface="Roboto Mono Light"/>
                <a:cs typeface="Roboto Mono Light"/>
                <a:sym typeface="Roboto Mono Light"/>
              </a:rPr>
              <a:t>class Herbivore(Animal)</a:t>
            </a:r>
            <a:endParaRPr>
              <a:latin typeface="Roboto Mono Light"/>
              <a:ea typeface="Roboto Mono Light"/>
              <a:cs typeface="Roboto Mono Light"/>
              <a:sym typeface="Roboto Mono Light"/>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US"/>
              <a:t>A </a:t>
            </a:r>
            <a:r>
              <a:rPr i="1" lang="en-US"/>
              <a:t>square</a:t>
            </a:r>
            <a:r>
              <a:rPr lang="en-US"/>
              <a:t> is a type of </a:t>
            </a:r>
            <a:r>
              <a:rPr i="1" lang="en-US"/>
              <a:t>rectangle</a:t>
            </a:r>
            <a:endParaRPr i="1"/>
          </a:p>
          <a:p>
            <a:pPr indent="-330200" lvl="0" marL="457200" rtl="0" algn="l">
              <a:spcBef>
                <a:spcPts val="0"/>
              </a:spcBef>
              <a:spcAft>
                <a:spcPts val="0"/>
              </a:spcAft>
              <a:buSzPts val="1600"/>
              <a:buChar char="•"/>
            </a:pPr>
            <a:r>
              <a:rPr lang="en-US"/>
              <a:t>A </a:t>
            </a:r>
            <a:r>
              <a:rPr i="1" lang="en-US"/>
              <a:t>rectangle</a:t>
            </a:r>
            <a:r>
              <a:rPr lang="en-US"/>
              <a:t> is a type of </a:t>
            </a:r>
            <a:r>
              <a:rPr i="1" lang="en-US"/>
              <a:t>Shape</a:t>
            </a:r>
            <a:endParaRPr i="1"/>
          </a:p>
        </p:txBody>
      </p:sp>
      <p:sp>
        <p:nvSpPr>
          <p:cNvPr id="378" name="Google Shape;378;p4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500"/>
              <a:t>Composition</a:t>
            </a:r>
            <a:endParaRPr b="1"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US" sz="1500"/>
              <a:t>An </a:t>
            </a:r>
            <a:r>
              <a:rPr i="1" lang="en-US" sz="1500"/>
              <a:t>Animal</a:t>
            </a:r>
            <a:r>
              <a:rPr lang="en-US" sz="1500"/>
              <a:t> ”has a” name</a:t>
            </a:r>
            <a:endParaRPr sz="1500"/>
          </a:p>
          <a:p>
            <a:pPr indent="-323850" lvl="0" marL="457200" rtl="0" algn="l">
              <a:spcBef>
                <a:spcPts val="0"/>
              </a:spcBef>
              <a:spcAft>
                <a:spcPts val="0"/>
              </a:spcAft>
              <a:buSzPts val="1500"/>
              <a:buChar char="•"/>
            </a:pPr>
            <a:r>
              <a:rPr lang="en-US" sz="1500"/>
              <a:t>A </a:t>
            </a:r>
            <a:r>
              <a:rPr i="1" lang="en-US" sz="1500"/>
              <a:t>Carnivore</a:t>
            </a:r>
            <a:r>
              <a:rPr lang="en-US" sz="1500"/>
              <a:t> “has a” name and a food</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i="1" lang="en-US" sz="1500"/>
              <a:t>Shape</a:t>
            </a:r>
            <a:r>
              <a:rPr lang="en-US" sz="1500"/>
              <a:t> has a </a:t>
            </a:r>
            <a:r>
              <a:rPr lang="en-US" sz="1500">
                <a:latin typeface="Roboto Mono Light"/>
                <a:ea typeface="Roboto Mono Light"/>
                <a:cs typeface="Roboto Mono Light"/>
                <a:sym typeface="Roboto Mono Light"/>
              </a:rPr>
              <a:t>.getArea()</a:t>
            </a:r>
            <a:r>
              <a:rPr lang="en-US" sz="1500"/>
              <a:t> method</a:t>
            </a:r>
            <a:endParaRPr sz="1500"/>
          </a:p>
          <a:p>
            <a:pPr indent="-323850" lvl="0" marL="457200" rtl="0" algn="l">
              <a:spcBef>
                <a:spcPts val="0"/>
              </a:spcBef>
              <a:spcAft>
                <a:spcPts val="0"/>
              </a:spcAft>
              <a:buSzPts val="1500"/>
              <a:buChar char="•"/>
            </a:pPr>
            <a:r>
              <a:rPr lang="en-US" sz="1500"/>
              <a:t>A </a:t>
            </a:r>
            <a:r>
              <a:rPr i="1" lang="en-US" sz="1500"/>
              <a:t>rectangle</a:t>
            </a:r>
            <a:r>
              <a:rPr lang="en-US" sz="1500"/>
              <a:t> has a </a:t>
            </a:r>
            <a:r>
              <a:rPr lang="en-US" sz="1500">
                <a:latin typeface="Roboto Mono Light"/>
                <a:ea typeface="Roboto Mono Light"/>
                <a:cs typeface="Roboto Mono Light"/>
                <a:sym typeface="Roboto Mono Light"/>
              </a:rPr>
              <a:t>getArea()</a:t>
            </a:r>
            <a:r>
              <a:rPr lang="en-US" sz="1500"/>
              <a:t> method override</a:t>
            </a:r>
            <a:endParaRPr sz="1500"/>
          </a:p>
          <a:p>
            <a:pPr indent="-323850" lvl="0" marL="457200" rtl="0" algn="l">
              <a:spcBef>
                <a:spcPts val="0"/>
              </a:spcBef>
              <a:spcAft>
                <a:spcPts val="0"/>
              </a:spcAft>
              <a:buSzPts val="1500"/>
              <a:buChar char="•"/>
            </a:pPr>
            <a:r>
              <a:rPr lang="en-US" sz="1500"/>
              <a:t>A </a:t>
            </a:r>
            <a:r>
              <a:rPr i="1" lang="en-US" sz="1500"/>
              <a:t>square</a:t>
            </a:r>
            <a:r>
              <a:rPr lang="en-US" sz="1500"/>
              <a:t> has a </a:t>
            </a:r>
            <a:r>
              <a:rPr lang="en-US" sz="1500">
                <a:latin typeface="Roboto Mono Light"/>
                <a:ea typeface="Roboto Mono Light"/>
                <a:cs typeface="Roboto Mono Light"/>
                <a:sym typeface="Roboto Mono Light"/>
              </a:rPr>
              <a:t>getArea()</a:t>
            </a:r>
            <a:r>
              <a:rPr lang="en-US" sz="1500"/>
              <a:t> method override</a:t>
            </a:r>
            <a:endParaRPr sz="1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385" name="Google Shape;385;p4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86" name="Google Shape;386;p4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solidFill>
                  <a:schemeClr val="dk1"/>
                </a:solidFill>
              </a:rPr>
              <a:t>Terminology:</a:t>
            </a:r>
            <a:endParaRPr b="1"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Class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Object</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Class attribute (variable)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Instance attribute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Method</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Dot operator</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Instantiate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Constructor</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Getters and Setters</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Scope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Inheritance</a:t>
            </a:r>
            <a:endParaRPr sz="1100">
              <a:solidFill>
                <a:schemeClr val="dk1"/>
              </a:solidFill>
            </a:endParaRPr>
          </a:p>
          <a:p>
            <a:pPr indent="-298450" lvl="0" marL="457200" rtl="0" algn="l">
              <a:spcBef>
                <a:spcPts val="0"/>
              </a:spcBef>
              <a:spcAft>
                <a:spcPts val="0"/>
              </a:spcAft>
              <a:buClr>
                <a:schemeClr val="dk1"/>
              </a:buClr>
              <a:buSzPts val="1100"/>
              <a:buChar char="•"/>
            </a:pPr>
            <a:r>
              <a:rPr lang="en-US" sz="1100">
                <a:solidFill>
                  <a:schemeClr val="dk1"/>
                </a:solidFill>
              </a:rPr>
              <a:t>Overriding</a:t>
            </a:r>
            <a:endParaRPr sz="1100"/>
          </a:p>
        </p:txBody>
      </p:sp>
      <p:sp>
        <p:nvSpPr>
          <p:cNvPr id="387" name="Google Shape;387;p4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solidFill>
                  <a:schemeClr val="dk1"/>
                </a:solidFill>
              </a:rPr>
              <a:t>Specific vocab/syntax:</a:t>
            </a:r>
            <a:endParaRPr b="1" sz="1100">
              <a:solidFill>
                <a:schemeClr val="dk1"/>
              </a:solidFill>
            </a:endParaRPr>
          </a:p>
          <a:p>
            <a:pPr indent="-298450" lvl="0" marL="457200" rtl="0" algn="l">
              <a:spcBef>
                <a:spcPts val="0"/>
              </a:spcBef>
              <a:spcAft>
                <a:spcPts val="0"/>
              </a:spcAft>
              <a:buClr>
                <a:schemeClr val="dk1"/>
              </a:buClr>
              <a:buSzPts val="1100"/>
              <a:buFont typeface="Roboto Mono Light"/>
              <a:buChar char="•"/>
            </a:pPr>
            <a:r>
              <a:rPr lang="en-US" sz="1100">
                <a:solidFill>
                  <a:schemeClr val="dk1"/>
                </a:solidFill>
                <a:latin typeface="Roboto Mono Light"/>
                <a:ea typeface="Roboto Mono Light"/>
                <a:cs typeface="Roboto Mono Light"/>
                <a:sym typeface="Roboto Mono Light"/>
              </a:rPr>
              <a:t>class</a:t>
            </a:r>
            <a:endParaRPr sz="1100">
              <a:solidFill>
                <a:schemeClr val="dk1"/>
              </a:solidFill>
              <a:latin typeface="Roboto Mono Light"/>
              <a:ea typeface="Roboto Mono Light"/>
              <a:cs typeface="Roboto Mono Light"/>
              <a:sym typeface="Roboto Mono Light"/>
            </a:endParaRPr>
          </a:p>
          <a:p>
            <a:pPr indent="-298450" lvl="0" marL="457200" rtl="0" algn="l">
              <a:spcBef>
                <a:spcPts val="0"/>
              </a:spcBef>
              <a:spcAft>
                <a:spcPts val="0"/>
              </a:spcAft>
              <a:buClr>
                <a:schemeClr val="dk1"/>
              </a:buClr>
              <a:buSzPts val="1100"/>
              <a:buFont typeface="Roboto Mono Light"/>
              <a:buChar char="•"/>
            </a:pPr>
            <a:r>
              <a:rPr lang="en-US" sz="1100">
                <a:solidFill>
                  <a:schemeClr val="dk1"/>
                </a:solidFill>
                <a:latin typeface="Roboto Mono Light"/>
                <a:ea typeface="Roboto Mono Light"/>
                <a:cs typeface="Roboto Mono Light"/>
                <a:sym typeface="Roboto Mono Light"/>
              </a:rPr>
              <a:t>self</a:t>
            </a:r>
            <a:endParaRPr sz="1100">
              <a:solidFill>
                <a:schemeClr val="dk1"/>
              </a:solidFill>
              <a:latin typeface="Roboto Mono Light"/>
              <a:ea typeface="Roboto Mono Light"/>
              <a:cs typeface="Roboto Mono Light"/>
              <a:sym typeface="Roboto Mono Light"/>
            </a:endParaRPr>
          </a:p>
          <a:p>
            <a:pPr indent="-298450" lvl="0" marL="457200" rtl="0" algn="l">
              <a:spcBef>
                <a:spcPts val="0"/>
              </a:spcBef>
              <a:spcAft>
                <a:spcPts val="0"/>
              </a:spcAft>
              <a:buClr>
                <a:schemeClr val="dk1"/>
              </a:buClr>
              <a:buSzPts val="1100"/>
              <a:buFont typeface="Roboto Mono Light"/>
              <a:buChar char="•"/>
            </a:pPr>
            <a:r>
              <a:rPr lang="en-US" sz="1100">
                <a:solidFill>
                  <a:schemeClr val="dk1"/>
                </a:solidFill>
                <a:latin typeface="Roboto Mono Light"/>
                <a:ea typeface="Roboto Mono Light"/>
                <a:cs typeface="Roboto Mono Light"/>
                <a:sym typeface="Roboto Mono Light"/>
              </a:rPr>
              <a:t>pass</a:t>
            </a:r>
            <a:endParaRPr sz="1100">
              <a:solidFill>
                <a:schemeClr val="dk1"/>
              </a:solidFill>
              <a:latin typeface="Roboto Mono Light"/>
              <a:ea typeface="Roboto Mono Light"/>
              <a:cs typeface="Roboto Mono Light"/>
              <a:sym typeface="Roboto Mono Light"/>
            </a:endParaRPr>
          </a:p>
          <a:p>
            <a:pPr indent="-298450" lvl="0" marL="457200" rtl="0" algn="l">
              <a:spcBef>
                <a:spcPts val="0"/>
              </a:spcBef>
              <a:spcAft>
                <a:spcPts val="0"/>
              </a:spcAft>
              <a:buClr>
                <a:schemeClr val="dk1"/>
              </a:buClr>
              <a:buSzPts val="1100"/>
              <a:buFont typeface="Roboto Mono Light"/>
              <a:buChar char="•"/>
            </a:pPr>
            <a:r>
              <a:rPr lang="en-US" sz="1100">
                <a:solidFill>
                  <a:schemeClr val="dk1"/>
                </a:solidFill>
                <a:latin typeface="Roboto Mono Light"/>
                <a:ea typeface="Roboto Mono Light"/>
                <a:cs typeface="Roboto Mono Light"/>
                <a:sym typeface="Roboto Mono Light"/>
              </a:rPr>
              <a:t>__init__()</a:t>
            </a:r>
            <a:endParaRPr sz="1100">
              <a:solidFill>
                <a:schemeClr val="dk1"/>
              </a:solidFill>
              <a:latin typeface="Roboto Mono Light"/>
              <a:ea typeface="Roboto Mono Light"/>
              <a:cs typeface="Roboto Mono Light"/>
              <a:sym typeface="Roboto Mono Light"/>
            </a:endParaRPr>
          </a:p>
          <a:p>
            <a:pPr indent="-298450" lvl="0" marL="457200" rtl="0" algn="l">
              <a:spcBef>
                <a:spcPts val="0"/>
              </a:spcBef>
              <a:spcAft>
                <a:spcPts val="0"/>
              </a:spcAft>
              <a:buClr>
                <a:schemeClr val="dk1"/>
              </a:buClr>
              <a:buSzPts val="1100"/>
              <a:buFont typeface="Roboto Mono Light"/>
              <a:buChar char="•"/>
            </a:pPr>
            <a:r>
              <a:rPr lang="en-US" sz="1100">
                <a:solidFill>
                  <a:schemeClr val="dk1"/>
                </a:solidFill>
                <a:latin typeface="Roboto Mono Light"/>
                <a:ea typeface="Roboto Mono Light"/>
                <a:cs typeface="Roboto Mono Light"/>
                <a:sym typeface="Roboto Mono Light"/>
              </a:rPr>
              <a:t>__str__()</a:t>
            </a:r>
            <a:endParaRPr sz="1100">
              <a:solidFill>
                <a:schemeClr val="dk1"/>
              </a:solidFill>
              <a:latin typeface="Roboto Mono Light"/>
              <a:ea typeface="Roboto Mono Light"/>
              <a:cs typeface="Roboto Mono Light"/>
              <a:sym typeface="Roboto Mono Light"/>
            </a:endParaRPr>
          </a:p>
          <a:p>
            <a:pPr indent="-298450" lvl="0" marL="457200" rtl="0" algn="l">
              <a:spcBef>
                <a:spcPts val="0"/>
              </a:spcBef>
              <a:spcAft>
                <a:spcPts val="0"/>
              </a:spcAft>
              <a:buClr>
                <a:schemeClr val="dk1"/>
              </a:buClr>
              <a:buSzPts val="1100"/>
              <a:buChar char="•"/>
            </a:pPr>
            <a:r>
              <a:rPr lang="en-US" sz="1100">
                <a:solidFill>
                  <a:schemeClr val="dk1"/>
                </a:solidFill>
              </a:rPr>
              <a:t>dunder</a:t>
            </a:r>
            <a:endParaRPr sz="1100">
              <a:solidFill>
                <a:schemeClr val="dk1"/>
              </a:solidFill>
            </a:endParaRPr>
          </a:p>
          <a:p>
            <a:pPr indent="-298450" lvl="0" marL="457200" rtl="0" algn="l">
              <a:spcBef>
                <a:spcPts val="0"/>
              </a:spcBef>
              <a:spcAft>
                <a:spcPts val="0"/>
              </a:spcAft>
              <a:buClr>
                <a:schemeClr val="dk1"/>
              </a:buClr>
              <a:buSzPts val="1100"/>
              <a:buFont typeface="Roboto Mono Light"/>
              <a:buChar char="•"/>
            </a:pPr>
            <a:r>
              <a:rPr lang="en-US" sz="1100">
                <a:solidFill>
                  <a:schemeClr val="dk1"/>
                </a:solidFill>
                <a:latin typeface="Roboto Mono Light"/>
                <a:ea typeface="Roboto Mono Light"/>
                <a:cs typeface="Roboto Mono Light"/>
                <a:sym typeface="Roboto Mono Light"/>
              </a:rPr>
              <a:t>super()</a:t>
            </a:r>
            <a:endParaRPr sz="1100">
              <a:solidFill>
                <a:schemeClr val="dk1"/>
              </a:solidFill>
              <a:latin typeface="Roboto Mono Light"/>
              <a:ea typeface="Roboto Mono Light"/>
              <a:cs typeface="Roboto Mono Light"/>
              <a:sym typeface="Roboto Mon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