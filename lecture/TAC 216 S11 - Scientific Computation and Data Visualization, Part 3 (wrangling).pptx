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7315200" cy="9601200"/>
  <p:embeddedFontLst>
    <p:embeddedFont>
      <p:font typeface="Proxima Nova"/>
      <p:regular r:id="rId35"/>
      <p:bold r:id="rId36"/>
      <p:italic r:id="rId37"/>
      <p:boldItalic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5.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roximaNova-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roximaNova-italic.fntdata"/><Relationship Id="rId14" Type="http://schemas.openxmlformats.org/officeDocument/2006/relationships/slide" Target="slides/slide9.xml"/><Relationship Id="rId36" Type="http://schemas.openxmlformats.org/officeDocument/2006/relationships/font" Target="fonts/ProximaNova-bold.fntdata"/><Relationship Id="rId17" Type="http://schemas.openxmlformats.org/officeDocument/2006/relationships/slide" Target="slides/slide12.xml"/><Relationship Id="rId39" Type="http://schemas.openxmlformats.org/officeDocument/2006/relationships/font" Target="fonts/OpenSans-regular.fntdata"/><Relationship Id="rId16" Type="http://schemas.openxmlformats.org/officeDocument/2006/relationships/slide" Target="slides/slide11.xml"/><Relationship Id="rId38" Type="http://schemas.openxmlformats.org/officeDocument/2006/relationships/font" Target="fonts/ProximaNova-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cc18617f6c_0_5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0" name="Google Shape;50;gcc18617f6c_0_5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 name="Google Shape;51;gcc18617f6c_0_5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e168c4afe_0_424:notes"/>
          <p:cNvSpPr/>
          <p:nvPr>
            <p:ph idx="2" type="sldImg"/>
          </p:nvPr>
        </p:nvSpPr>
        <p:spPr>
          <a:xfrm>
            <a:off x="457200" y="720725"/>
            <a:ext cx="6401100" cy="36006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e168c4afe_0_42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 name="Google Shape;59;g33e168c4afe_0_42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3e168c4afe_0_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67" name="Google Shape;67;g33e168c4afe_0_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 name="Google Shape;68;g33e168c4afe_0_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3e168c4afe_0_7: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75" name="Google Shape;75;g33e168c4afe_0_7: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 name="Google Shape;76;g33e168c4afe_0_7: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3e168c4afe_0_14: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83" name="Google Shape;83;g33e168c4afe_0_14: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4" name="Google Shape;84;g33e168c4afe_0_14: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3e168c4afe_0_21: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91" name="Google Shape;91;g33e168c4afe_0_21: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 name="Google Shape;92;g33e168c4afe_0_21: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e168c4afe_0_28: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e168c4afe_0_28: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 name="Google Shape;100;g33e168c4afe_0_28: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e168c4afe_0_74: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e168c4afe_0_74: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8" name="Google Shape;108;g33e168c4afe_0_74: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e168c4afe_0_81: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e168c4afe_0_81: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6" name="Google Shape;116;g33e168c4afe_0_81: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3e168c4afe_0_37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3e168c4afe_0_37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4" name="Google Shape;124;g33e168c4afe_0_37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3e168c4afe_0_88: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3e168c4afe_0_88: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2" name="Google Shape;132;g33e168c4afe_0_88: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3e168c4afe_0_95: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3e168c4afe_0_95: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0" name="Google Shape;140;g33e168c4afe_0_95: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3e168c4afe_0_104: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3e168c4afe_0_104: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0" name="Google Shape;150;g33e168c4afe_0_104: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3e168c4afe_0_12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3e168c4afe_0_12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 name="Google Shape;159;g33e168c4afe_0_12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3e168c4afe_0_127: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3e168c4afe_0_127: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7" name="Google Shape;167;g33e168c4afe_0_127: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e168c4afe_0_134: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e168c4afe_0_134: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 name="Google Shape;175;g33e168c4afe_0_134: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3e168c4afe_0_142: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3e168c4afe_0_142: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4" name="Google Shape;184;g33e168c4afe_0_142: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3e168c4afe_0_15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3e168c4afe_0_15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3" name="Google Shape;193;g33e168c4afe_0_15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3e168c4afe_0_165: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3e168c4afe_0_165: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1" name="Google Shape;201;g33e168c4afe_0_165: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3e168c4afe_0_157: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3e168c4afe_0_157: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0" name="Google Shape;210;g33e168c4afe_0_157: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3e168c4afe_0_173: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3e168c4afe_0_173: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9" name="Google Shape;219;g33e168c4afe_0_173: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3e168c4afe_0_189: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3e168c4afe_0_189: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9" name="Google Shape;229;g33e168c4afe_0_189: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3e168c4afe_0_267: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3e168c4afe_0_267: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7" name="Google Shape;237;g33e168c4afe_0_267: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3e168c4afe_0_275: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3e168c4afe_0_275: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6" name="Google Shape;246;g33e168c4afe_0_275: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3e168c4afe_0_283: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3e168c4afe_0_283: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5" name="Google Shape;255;g33e168c4afe_0_283: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3e168c4afe_0_291: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3e168c4afe_0_291: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4" name="Google Shape;264;g33e168c4afe_0_291: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3e168c4afe_0_299: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3e168c4afe_0_299: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3" name="Google Shape;273;g33e168c4afe_0_299: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3e168c4afe_0_47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3e168c4afe_0_47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2" name="Google Shape;282;g33e168c4afe_0_47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3e168c4afe_0_377: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3e168c4afe_0_377: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0" name="Google Shape;290;g33e168c4afe_0_377: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5" name="Google Shape;25;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 name="Google Shape;28;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29" name="Google Shape;29;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 name="Google Shape;32;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4" name="Shape 34"/>
        <p:cNvGrpSpPr/>
        <p:nvPr/>
      </p:nvGrpSpPr>
      <p:grpSpPr>
        <a:xfrm>
          <a:off x="0" y="0"/>
          <a:ext cx="0" cy="0"/>
          <a:chOff x="0" y="0"/>
          <a:chExt cx="0" cy="0"/>
        </a:xfrm>
      </p:grpSpPr>
      <p:sp>
        <p:nvSpPr>
          <p:cNvPr id="35" name="Google Shape;35;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 name="Google Shape;36;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7" name="Google Shape;37;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8" name="Google Shape;38;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39" name="Shape 39"/>
        <p:cNvGrpSpPr/>
        <p:nvPr/>
      </p:nvGrpSpPr>
      <p:grpSpPr>
        <a:xfrm>
          <a:off x="0" y="0"/>
          <a:ext cx="0" cy="0"/>
          <a:chOff x="0" y="0"/>
          <a:chExt cx="0" cy="0"/>
        </a:xfrm>
      </p:grpSpPr>
      <p:sp>
        <p:nvSpPr>
          <p:cNvPr id="40" name="Google Shape;40;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 name="Google Shape;41;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2" name="Google Shape;42;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5" name="Shape 45"/>
        <p:cNvGrpSpPr/>
        <p:nvPr/>
      </p:nvGrpSpPr>
      <p:grpSpPr>
        <a:xfrm>
          <a:off x="0" y="0"/>
          <a:ext cx="0" cy="0"/>
          <a:chOff x="0" y="0"/>
          <a:chExt cx="0" cy="0"/>
        </a:xfrm>
      </p:grpSpPr>
      <p:sp>
        <p:nvSpPr>
          <p:cNvPr id="46" name="Google Shape;46;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7" name="Google Shape;47;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2" Type="http://schemas.openxmlformats.org/officeDocument/2006/relationships/theme" Target="../theme/theme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Z6ozwvfqUGHkbGtnuOubx0ZjRAKOVt3-pmPF32P2X4/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hyperlink" Target="https://en.wikipedia.org/wiki/Imputation_(statistic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hyperlink" Target="https://en.wikipedia.org/wiki/Outlier#Definitions_and_detection" TargetMode="Externa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solidFill>
                  <a:schemeClr val="hlink"/>
                </a:solidFill>
              </a:rPr>
              <a:t>Scientific Computation</a:t>
            </a:r>
            <a:r>
              <a:rPr lang="en-US">
                <a:solidFill>
                  <a:schemeClr val="hlink"/>
                </a:solidFill>
              </a:rPr>
              <a:t> and Data Visualization, </a:t>
            </a:r>
            <a:r>
              <a:rPr lang="en-US">
                <a:solidFill>
                  <a:schemeClr val="hlink"/>
                </a:solidFill>
              </a:rPr>
              <a:t>Part 3</a:t>
            </a:r>
            <a:endParaRPr/>
          </a:p>
        </p:txBody>
      </p:sp>
      <p:sp>
        <p:nvSpPr>
          <p:cNvPr id="54" name="Google Shape;54;p10"/>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t>Applied Python</a:t>
            </a:r>
            <a:endParaRPr/>
          </a:p>
        </p:txBody>
      </p:sp>
      <p:sp>
        <p:nvSpPr>
          <p:cNvPr id="55" name="Google Shape;55;p10"/>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2" name="Google Shape;62;p1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63" name="Google Shape;63;p1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500">
                <a:solidFill>
                  <a:schemeClr val="dk1"/>
                </a:solidFill>
              </a:rPr>
              <a:t>Learning Objectives</a:t>
            </a:r>
            <a:endParaRPr b="1" sz="1500">
              <a:solidFill>
                <a:schemeClr val="dk1"/>
              </a:solidFill>
            </a:endParaRPr>
          </a:p>
          <a:p>
            <a:pPr indent="0" lvl="0" marL="0" rtl="0" algn="l">
              <a:spcBef>
                <a:spcPts val="0"/>
              </a:spcBef>
              <a:spcAft>
                <a:spcPts val="0"/>
              </a:spcAft>
              <a:buClr>
                <a:schemeClr val="dk1"/>
              </a:buClr>
              <a:buSzPts val="1100"/>
              <a:buFont typeface="Arial"/>
              <a:buNone/>
            </a:pPr>
            <a:r>
              <a:rPr lang="en-US" sz="1500">
                <a:solidFill>
                  <a:schemeClr val="dk1"/>
                </a:solidFill>
              </a:rPr>
              <a:t>By the end of this session, you should:</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understand the process of data wrangling.</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identify the key steps in transforming data from its raw form into a target form.</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know how to deal with missing values, both numeric and categorical.</a:t>
            </a:r>
            <a:endParaRPr sz="1500">
              <a:solidFill>
                <a:schemeClr val="dk1"/>
              </a:solidFill>
            </a:endParaRPr>
          </a:p>
        </p:txBody>
      </p:sp>
      <p:sp>
        <p:nvSpPr>
          <p:cNvPr id="64" name="Google Shape;64;p1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500">
                <a:solidFill>
                  <a:schemeClr val="dk1"/>
                </a:solidFill>
              </a:rPr>
              <a:t>Measurable Outcomes</a:t>
            </a:r>
            <a:endParaRPr sz="1500">
              <a:solidFill>
                <a:schemeClr val="dk1"/>
              </a:solidFill>
            </a:endParaRPr>
          </a:p>
          <a:p>
            <a:pPr indent="0" lvl="0" marL="0" rtl="0" algn="l">
              <a:spcBef>
                <a:spcPts val="0"/>
              </a:spcBef>
              <a:spcAft>
                <a:spcPts val="0"/>
              </a:spcAft>
              <a:buClr>
                <a:schemeClr val="dk1"/>
              </a:buClr>
              <a:buSzPts val="1100"/>
              <a:buFont typeface="Arial"/>
              <a:buNone/>
            </a:pPr>
            <a:r>
              <a:rPr lang="en-US" sz="1500">
                <a:solidFill>
                  <a:schemeClr val="dk1"/>
                </a:solidFill>
              </a:rPr>
              <a:t>By the end of this session, you should be able to:</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gather up data into a DataFrame.</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analyze a DataFrame for malformed data.</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drop columns and rows in a Dataframe.</a:t>
            </a:r>
            <a:endParaRPr sz="15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DATA TYPES</a:t>
            </a:r>
            <a:endParaRPr/>
          </a:p>
        </p:txBody>
      </p:sp>
      <p:sp>
        <p:nvSpPr>
          <p:cNvPr id="71" name="Google Shape;71;p1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72" name="Google Shape;72;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Types of data</a:t>
            </a:r>
            <a:endParaRPr/>
          </a:p>
        </p:txBody>
      </p:sp>
      <p:sp>
        <p:nvSpPr>
          <p:cNvPr id="79" name="Google Shape;79;p1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t>Generally, there are three classifications of how data are organized:</a:t>
            </a:r>
            <a:endParaRPr sz="2000"/>
          </a:p>
          <a:p>
            <a:pPr indent="0" lvl="0" marL="0" rtl="0" algn="l">
              <a:spcBef>
                <a:spcPts val="0"/>
              </a:spcBef>
              <a:spcAft>
                <a:spcPts val="0"/>
              </a:spcAft>
              <a:buNone/>
            </a:pPr>
            <a:r>
              <a:t/>
            </a:r>
            <a:endParaRPr sz="2000"/>
          </a:p>
          <a:p>
            <a:pPr indent="-292100" lvl="0" marL="342900" rtl="0" algn="l">
              <a:spcBef>
                <a:spcPts val="0"/>
              </a:spcBef>
              <a:spcAft>
                <a:spcPts val="0"/>
              </a:spcAft>
              <a:buSzPts val="2000"/>
              <a:buChar char="•"/>
            </a:pPr>
            <a:r>
              <a:rPr lang="en-US" sz="2000"/>
              <a:t>Cross Sectional Data</a:t>
            </a:r>
            <a:endParaRPr sz="2000"/>
          </a:p>
          <a:p>
            <a:pPr indent="-292100" lvl="0" marL="342900" rtl="0" algn="l">
              <a:spcBef>
                <a:spcPts val="0"/>
              </a:spcBef>
              <a:spcAft>
                <a:spcPts val="0"/>
              </a:spcAft>
              <a:buSzPts val="2000"/>
              <a:buChar char="•"/>
            </a:pPr>
            <a:r>
              <a:rPr lang="en-US" sz="2000"/>
              <a:t>Time Series Data</a:t>
            </a:r>
            <a:endParaRPr sz="2000"/>
          </a:p>
          <a:p>
            <a:pPr indent="-292100" lvl="0" marL="342900" rtl="0" algn="l">
              <a:spcBef>
                <a:spcPts val="0"/>
              </a:spcBef>
              <a:spcAft>
                <a:spcPts val="0"/>
              </a:spcAft>
              <a:buSzPts val="2000"/>
              <a:buChar char="•"/>
            </a:pPr>
            <a:r>
              <a:rPr lang="en-US" sz="2000"/>
              <a:t>Panel Data</a:t>
            </a:r>
            <a:endParaRPr sz="2000"/>
          </a:p>
        </p:txBody>
      </p:sp>
      <p:sp>
        <p:nvSpPr>
          <p:cNvPr id="80" name="Google Shape;80;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Cross Sectional Data</a:t>
            </a:r>
            <a:endParaRPr/>
          </a:p>
        </p:txBody>
      </p:sp>
      <p:sp>
        <p:nvSpPr>
          <p:cNvPr id="87" name="Google Shape;87;p1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000"/>
              <a:t>Cross sectional data</a:t>
            </a:r>
            <a:r>
              <a:rPr lang="en-US" sz="2000"/>
              <a:t> are data from </a:t>
            </a:r>
            <a:r>
              <a:rPr i="1" lang="en-US" sz="2000"/>
              <a:t>multiple sources</a:t>
            </a:r>
            <a:r>
              <a:rPr lang="en-US" sz="2000"/>
              <a:t> during </a:t>
            </a:r>
            <a:r>
              <a:rPr i="1" lang="en-US" sz="2000"/>
              <a:t>one time period</a:t>
            </a:r>
            <a:r>
              <a:rPr lang="en-US" sz="2000"/>
              <a:t>. Examples include:</a:t>
            </a:r>
            <a:endParaRPr sz="2000"/>
          </a:p>
          <a:p>
            <a:pPr indent="0" lvl="0" marL="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The final grade of all students in this class during one semester</a:t>
            </a:r>
            <a:endParaRPr sz="2000"/>
          </a:p>
          <a:p>
            <a:pPr indent="-355600" lvl="0" marL="457200" rtl="0" algn="l">
              <a:spcBef>
                <a:spcPts val="0"/>
              </a:spcBef>
              <a:spcAft>
                <a:spcPts val="0"/>
              </a:spcAft>
              <a:buSzPts val="2000"/>
              <a:buChar char="•"/>
            </a:pPr>
            <a:r>
              <a:rPr lang="en-US" sz="2000"/>
              <a:t>The number of riders of each ride at an </a:t>
            </a:r>
            <a:r>
              <a:rPr lang="en-US" sz="2000">
                <a:solidFill>
                  <a:schemeClr val="dk1"/>
                </a:solidFill>
              </a:rPr>
              <a:t>amusement park </a:t>
            </a:r>
            <a:r>
              <a:rPr lang="en-US" sz="2000"/>
              <a:t>last Tuesday</a:t>
            </a:r>
            <a:endParaRPr sz="2000"/>
          </a:p>
          <a:p>
            <a:pPr indent="-355600" lvl="0" marL="457200" rtl="0" algn="l">
              <a:spcBef>
                <a:spcPts val="0"/>
              </a:spcBef>
              <a:spcAft>
                <a:spcPts val="0"/>
              </a:spcAft>
              <a:buSzPts val="2000"/>
              <a:buChar char="•"/>
            </a:pPr>
            <a:r>
              <a:rPr lang="en-US" sz="2000"/>
              <a:t>The US census (or any other state census, for that matter)</a:t>
            </a:r>
            <a:endParaRPr sz="2000"/>
          </a:p>
        </p:txBody>
      </p:sp>
      <p:sp>
        <p:nvSpPr>
          <p:cNvPr id="88" name="Google Shape;88;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Time Series Data</a:t>
            </a:r>
            <a:endParaRPr/>
          </a:p>
        </p:txBody>
      </p:sp>
      <p:sp>
        <p:nvSpPr>
          <p:cNvPr id="95" name="Google Shape;95;p1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000"/>
              <a:t>Time series data</a:t>
            </a:r>
            <a:r>
              <a:rPr lang="en-US" sz="2000"/>
              <a:t> are data from </a:t>
            </a:r>
            <a:r>
              <a:rPr i="1" lang="en-US" sz="2000"/>
              <a:t>a single source</a:t>
            </a:r>
            <a:r>
              <a:rPr lang="en-US" sz="2000"/>
              <a:t> during </a:t>
            </a:r>
            <a:r>
              <a:rPr i="1" lang="en-US" sz="2000"/>
              <a:t>multiple time periods</a:t>
            </a:r>
            <a:r>
              <a:rPr lang="en-US" sz="2000"/>
              <a:t>. Examples include:</a:t>
            </a:r>
            <a:endParaRPr sz="2000"/>
          </a:p>
          <a:p>
            <a:pPr indent="0" lvl="0" marL="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The number of students enrolled in this class every semester for the last three years.</a:t>
            </a:r>
            <a:endParaRPr sz="2000"/>
          </a:p>
          <a:p>
            <a:pPr indent="-355600" lvl="0" marL="457200" rtl="0" algn="l">
              <a:spcBef>
                <a:spcPts val="0"/>
              </a:spcBef>
              <a:spcAft>
                <a:spcPts val="0"/>
              </a:spcAft>
              <a:buSzPts val="2000"/>
              <a:buChar char="•"/>
            </a:pPr>
            <a:r>
              <a:rPr lang="en-US" sz="2000"/>
              <a:t>The number of people at an amusement park every day in the last 12 months.</a:t>
            </a:r>
            <a:endParaRPr sz="2000"/>
          </a:p>
        </p:txBody>
      </p:sp>
      <p:sp>
        <p:nvSpPr>
          <p:cNvPr id="96" name="Google Shape;96;p1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Panel Data</a:t>
            </a:r>
            <a:endParaRPr/>
          </a:p>
        </p:txBody>
      </p:sp>
      <p:sp>
        <p:nvSpPr>
          <p:cNvPr id="103" name="Google Shape;103;p16"/>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000"/>
              <a:t>Panel data</a:t>
            </a:r>
            <a:r>
              <a:rPr lang="en-US" sz="2000"/>
              <a:t> are a combination of both cross sectional and time series: data from </a:t>
            </a:r>
            <a:r>
              <a:rPr i="1" lang="en-US" sz="2000"/>
              <a:t>multiple sources</a:t>
            </a:r>
            <a:r>
              <a:rPr lang="en-US" sz="2000"/>
              <a:t> during </a:t>
            </a:r>
            <a:r>
              <a:rPr i="1" lang="en-US" sz="2000"/>
              <a:t>multiple time periods</a:t>
            </a:r>
            <a:r>
              <a:rPr lang="en-US" sz="2000"/>
              <a:t>. Examples include:</a:t>
            </a:r>
            <a:endParaRPr sz="2000"/>
          </a:p>
          <a:p>
            <a:pPr indent="0" lvl="0" marL="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The final grades of students enrolled in all classes during every semester for the last three years.</a:t>
            </a:r>
            <a:endParaRPr sz="2000"/>
          </a:p>
          <a:p>
            <a:pPr indent="-355600" lvl="0" marL="457200" rtl="0" algn="l">
              <a:spcBef>
                <a:spcPts val="0"/>
              </a:spcBef>
              <a:spcAft>
                <a:spcPts val="0"/>
              </a:spcAft>
              <a:buSzPts val="2000"/>
              <a:buChar char="•"/>
            </a:pPr>
            <a:r>
              <a:rPr lang="en-US" sz="2000"/>
              <a:t>The number of riders of each ride at an amusement park every day in the last 12 months.</a:t>
            </a:r>
            <a:endParaRPr sz="2000"/>
          </a:p>
        </p:txBody>
      </p:sp>
      <p:sp>
        <p:nvSpPr>
          <p:cNvPr id="104" name="Google Shape;104;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DATA WRANGLING</a:t>
            </a:r>
            <a:endParaRPr/>
          </a:p>
        </p:txBody>
      </p:sp>
      <p:sp>
        <p:nvSpPr>
          <p:cNvPr id="111" name="Google Shape;111;p17"/>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12" name="Google Shape;112;p1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Big data and you</a:t>
            </a:r>
            <a:endParaRPr/>
          </a:p>
        </p:txBody>
      </p:sp>
      <p:sp>
        <p:nvSpPr>
          <p:cNvPr id="119" name="Google Shape;119;p1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t>Given that you live in the era of big data, let's talk about data.</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b="1" i="1" lang="en-US" sz="2000"/>
              <a:t>Data is messy.</a:t>
            </a:r>
            <a:r>
              <a:rPr lang="en-US" sz="2000"/>
              <a:t> It might:</a:t>
            </a:r>
            <a:endParaRPr sz="2000"/>
          </a:p>
          <a:p>
            <a:pPr indent="-355600" lvl="0" marL="457200" rtl="0" algn="l">
              <a:spcBef>
                <a:spcPts val="0"/>
              </a:spcBef>
              <a:spcAft>
                <a:spcPts val="0"/>
              </a:spcAft>
              <a:buSzPts val="2000"/>
              <a:buChar char="•"/>
            </a:pPr>
            <a:r>
              <a:rPr lang="en-US" sz="2000"/>
              <a:t>come from several sources.</a:t>
            </a:r>
            <a:endParaRPr sz="2000"/>
          </a:p>
          <a:p>
            <a:pPr indent="-355600" lvl="0" marL="457200" rtl="0" algn="l">
              <a:spcBef>
                <a:spcPts val="0"/>
              </a:spcBef>
              <a:spcAft>
                <a:spcPts val="0"/>
              </a:spcAft>
              <a:buSzPts val="2000"/>
              <a:buChar char="•"/>
            </a:pPr>
            <a:r>
              <a:rPr lang="en-US" sz="2000"/>
              <a:t>contain data that isn't relevant to your project.</a:t>
            </a:r>
            <a:endParaRPr sz="2000"/>
          </a:p>
          <a:p>
            <a:pPr indent="-355600" lvl="0" marL="457200" rtl="0" algn="l">
              <a:spcBef>
                <a:spcPts val="0"/>
              </a:spcBef>
              <a:spcAft>
                <a:spcPts val="0"/>
              </a:spcAft>
              <a:buSzPts val="2000"/>
              <a:buChar char="•"/>
            </a:pPr>
            <a:r>
              <a:rPr lang="en-US" sz="2000"/>
              <a:t>be missing values.</a:t>
            </a:r>
            <a:endParaRPr sz="2000"/>
          </a:p>
          <a:p>
            <a:pPr indent="-355600" lvl="0" marL="457200" rtl="0" algn="l">
              <a:spcBef>
                <a:spcPts val="0"/>
              </a:spcBef>
              <a:spcAft>
                <a:spcPts val="0"/>
              </a:spcAft>
              <a:buSzPts val="2000"/>
              <a:buChar char="•"/>
            </a:pPr>
            <a:r>
              <a:rPr lang="en-US" sz="2000"/>
              <a:t>contain wild outliers or other discrepancies.</a:t>
            </a:r>
            <a:endParaRPr sz="2000"/>
          </a:p>
        </p:txBody>
      </p:sp>
      <p:sp>
        <p:nvSpPr>
          <p:cNvPr id="120" name="Google Shape;120;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 wrangling: nothing is perfect </a:t>
            </a:r>
            <a:endParaRPr/>
          </a:p>
        </p:txBody>
      </p:sp>
      <p:sp>
        <p:nvSpPr>
          <p:cNvPr id="127" name="Google Shape;127;p19"/>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solidFill>
                  <a:schemeClr val="dk1"/>
                </a:solidFill>
              </a:rPr>
              <a:t>If you want to work with a dataset, then, what do you do? If it's messy, how do you clean it up?</a:t>
            </a:r>
            <a:endParaRPr sz="2000">
              <a:solidFill>
                <a:schemeClr val="dk1"/>
              </a:solidFill>
            </a:endParaRPr>
          </a:p>
          <a:p>
            <a:pPr indent="0" lvl="0" marL="0" rtl="0" algn="l">
              <a:spcBef>
                <a:spcPts val="0"/>
              </a:spcBef>
              <a:spcAft>
                <a:spcPts val="0"/>
              </a:spcAft>
              <a:buNone/>
            </a:pPr>
            <a:r>
              <a:t/>
            </a:r>
            <a:endParaRPr sz="2000">
              <a:solidFill>
                <a:schemeClr val="dk1"/>
              </a:solidFill>
            </a:endParaRPr>
          </a:p>
          <a:p>
            <a:pPr indent="0" lvl="0" marL="0" rtl="0" algn="l">
              <a:spcBef>
                <a:spcPts val="0"/>
              </a:spcBef>
              <a:spcAft>
                <a:spcPts val="0"/>
              </a:spcAft>
              <a:buNone/>
            </a:pPr>
            <a:r>
              <a:rPr b="1" lang="en-US" sz="2000">
                <a:solidFill>
                  <a:schemeClr val="dk1"/>
                </a:solidFill>
              </a:rPr>
              <a:t>Data wrangling</a:t>
            </a:r>
            <a:r>
              <a:rPr lang="en-US" sz="2000">
                <a:solidFill>
                  <a:schemeClr val="dk1"/>
                </a:solidFill>
              </a:rPr>
              <a:t> refers to the process of transforming your data - which could contain any of the above issues - into a usable format.</a:t>
            </a:r>
            <a:endParaRPr sz="2000"/>
          </a:p>
        </p:txBody>
      </p:sp>
      <p:sp>
        <p:nvSpPr>
          <p:cNvPr id="128" name="Google Shape;128;p1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Wrangling process</a:t>
            </a:r>
            <a:endParaRPr/>
          </a:p>
        </p:txBody>
      </p:sp>
      <p:sp>
        <p:nvSpPr>
          <p:cNvPr id="135" name="Google Shape;135;p20"/>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t>The data wrangling process is multistep. but believe it or not, you've already been doing this informally. It's just going to be formalized this week. The process is simple:</a:t>
            </a:r>
            <a:endParaRPr sz="2000"/>
          </a:p>
          <a:p>
            <a:pPr indent="0" lvl="0" marL="0" rtl="0" algn="l">
              <a:spcBef>
                <a:spcPts val="0"/>
              </a:spcBef>
              <a:spcAft>
                <a:spcPts val="0"/>
              </a:spcAft>
              <a:buNone/>
            </a:pPr>
            <a:r>
              <a:t/>
            </a:r>
            <a:endParaRPr sz="2000"/>
          </a:p>
          <a:p>
            <a:pPr indent="-355600" lvl="0" marL="457200" rtl="0" algn="l">
              <a:spcBef>
                <a:spcPts val="0"/>
              </a:spcBef>
              <a:spcAft>
                <a:spcPts val="0"/>
              </a:spcAft>
              <a:buClr>
                <a:schemeClr val="dk1"/>
              </a:buClr>
              <a:buSzPts val="2000"/>
              <a:buAutoNum type="arabicPeriod"/>
            </a:pPr>
            <a:r>
              <a:rPr b="1" lang="en-US" sz="2000"/>
              <a:t>Collect</a:t>
            </a:r>
            <a:r>
              <a:rPr lang="en-US" sz="2000"/>
              <a:t> the data into one place.</a:t>
            </a:r>
            <a:endParaRPr sz="2000"/>
          </a:p>
          <a:p>
            <a:pPr indent="-355600" lvl="0" marL="457200" rtl="0" algn="l">
              <a:spcBef>
                <a:spcPts val="0"/>
              </a:spcBef>
              <a:spcAft>
                <a:spcPts val="0"/>
              </a:spcAft>
              <a:buClr>
                <a:schemeClr val="dk1"/>
              </a:buClr>
              <a:buSzPts val="2000"/>
              <a:buAutoNum type="arabicPeriod"/>
            </a:pPr>
            <a:r>
              <a:rPr lang="en-US" sz="2000"/>
              <a:t>Select the desired </a:t>
            </a:r>
            <a:r>
              <a:rPr b="1" lang="en-US" sz="2000"/>
              <a:t>attributes</a:t>
            </a:r>
            <a:r>
              <a:rPr lang="en-US" sz="2000"/>
              <a:t> and</a:t>
            </a:r>
            <a:r>
              <a:rPr lang="en-US" sz="2000"/>
              <a:t> </a:t>
            </a:r>
            <a:r>
              <a:rPr b="1" lang="en-US" sz="2000"/>
              <a:t>records</a:t>
            </a:r>
            <a:r>
              <a:rPr lang="en-US" sz="2000"/>
              <a:t>.</a:t>
            </a:r>
            <a:endParaRPr sz="2000"/>
          </a:p>
        </p:txBody>
      </p:sp>
      <p:sp>
        <p:nvSpPr>
          <p:cNvPr id="136" name="Google Shape;136;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Context: Titanic</a:t>
            </a:r>
            <a:endParaRPr/>
          </a:p>
        </p:txBody>
      </p:sp>
      <p:sp>
        <p:nvSpPr>
          <p:cNvPr id="143" name="Google Shape;143;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44" name="Google Shape;144;p21"/>
          <p:cNvSpPr txBox="1"/>
          <p:nvPr>
            <p:ph idx="1"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April 15, 1912, during her maiden voyage, the widely considered “unsinkable” RMS Titanic sank after colliding with an iceberg.</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rPr lang="en-US" sz="1200"/>
              <a:t>Unfortunately, there weren’t enough lifeboats for everyone onboard, resulting in the death of 1502 out of 2224 passengers and crew.</a:t>
            </a:r>
            <a:endParaRPr sz="1200"/>
          </a:p>
        </p:txBody>
      </p:sp>
      <p:pic>
        <p:nvPicPr>
          <p:cNvPr descr="itanic | National Museum of American History" id="145" name="Google Shape;145;p21"/>
          <p:cNvPicPr preferRelativeResize="0"/>
          <p:nvPr/>
        </p:nvPicPr>
        <p:blipFill rotWithShape="1">
          <a:blip r:embed="rId3">
            <a:alphaModFix/>
          </a:blip>
          <a:srcRect b="0" l="0" r="0" t="0"/>
          <a:stretch/>
        </p:blipFill>
        <p:spPr>
          <a:xfrm>
            <a:off x="119500" y="1207350"/>
            <a:ext cx="4399150" cy="2911751"/>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descr="Leonardo DiCaprio didn't want to say 'I'm king of the world' in ..." id="146" name="Google Shape;146;p21"/>
          <p:cNvPicPr preferRelativeResize="0"/>
          <p:nvPr/>
        </p:nvPicPr>
        <p:blipFill rotWithShape="1">
          <a:blip r:embed="rId4">
            <a:alphaModFix/>
          </a:blip>
          <a:srcRect b="0" l="0" r="0" t="0"/>
          <a:stretch/>
        </p:blipFill>
        <p:spPr>
          <a:xfrm>
            <a:off x="5752737" y="2899958"/>
            <a:ext cx="2403336" cy="143601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Wrangling step 1: gather the data</a:t>
            </a:r>
            <a:endParaRPr/>
          </a:p>
        </p:txBody>
      </p:sp>
      <p:sp>
        <p:nvSpPr>
          <p:cNvPr id="153" name="Google Shape;153;p2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first step in the data wrangling process is to actually collect all the data you want to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already know how to do this.</a:t>
            </a:r>
            <a:endParaRPr/>
          </a:p>
        </p:txBody>
      </p:sp>
      <p:sp>
        <p:nvSpPr>
          <p:cNvPr id="154" name="Google Shape;154;p2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import pandas as pd</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def main():</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	# import the file</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	</a:t>
            </a:r>
            <a:r>
              <a:rPr b="1" lang="en-US" sz="800">
                <a:solidFill>
                  <a:schemeClr val="dk1"/>
                </a:solidFill>
                <a:latin typeface="Courier New"/>
                <a:ea typeface="Courier New"/>
                <a:cs typeface="Courier New"/>
                <a:sym typeface="Courier New"/>
              </a:rPr>
              <a:t>file_path = 'titanic.csv'</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800">
                <a:solidFill>
                  <a:schemeClr val="dk1"/>
                </a:solidFill>
                <a:latin typeface="Courier New"/>
                <a:ea typeface="Courier New"/>
                <a:cs typeface="Courier New"/>
                <a:sym typeface="Courier New"/>
              </a:rPr>
              <a:t>	df_titanic = pd.read_csv(file_path)</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if __name__ == '__main__':</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main()</a:t>
            </a:r>
            <a:endParaRPr>
              <a:solidFill>
                <a:schemeClr val="dk1"/>
              </a:solidFill>
            </a:endParaRPr>
          </a:p>
        </p:txBody>
      </p:sp>
      <p:sp>
        <p:nvSpPr>
          <p:cNvPr id="155" name="Google Shape;155;p2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Wrangling step 2: select attributes</a:t>
            </a:r>
            <a:endParaRPr/>
          </a:p>
        </p:txBody>
      </p:sp>
      <p:sp>
        <p:nvSpPr>
          <p:cNvPr id="162" name="Google Shape;162;p2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63" name="Google Shape;163;p2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800">
                <a:solidFill>
                  <a:schemeClr val="dk1"/>
                </a:solidFill>
              </a:rPr>
              <a:t>Once you've got the data collected up, you're going to want to do a little bit of analysis. The first part of this analysis is: what data do you even want to use?</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rPr lang="en-US" sz="1800">
                <a:solidFill>
                  <a:schemeClr val="dk1"/>
                </a:solidFill>
              </a:rPr>
              <a:t>This can be done either by a quantitative analysis or a qualitative inspection of the data. In future weeks, you'll learn how to do this quantitatively. For now, recognize that </a:t>
            </a:r>
            <a:r>
              <a:rPr b="1" lang="en-US" sz="1800">
                <a:solidFill>
                  <a:schemeClr val="dk1"/>
                </a:solidFill>
              </a:rPr>
              <a:t>evaluating </a:t>
            </a:r>
            <a:r>
              <a:rPr b="1" i="1" lang="en-US" sz="1800">
                <a:solidFill>
                  <a:schemeClr val="dk1"/>
                </a:solidFill>
              </a:rPr>
              <a:t>qualitatively</a:t>
            </a:r>
            <a:r>
              <a:rPr b="1" lang="en-US" sz="1800">
                <a:solidFill>
                  <a:schemeClr val="dk1"/>
                </a:solidFill>
              </a:rPr>
              <a:t> means using domain-specific knowledge</a:t>
            </a:r>
            <a:r>
              <a:rPr lang="en-US" sz="1800">
                <a:solidFill>
                  <a:schemeClr val="dk1"/>
                </a:solidFill>
              </a:rPr>
              <a:t>.</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Coding Challenge</a:t>
            </a:r>
            <a:endParaRPr/>
          </a:p>
        </p:txBody>
      </p:sp>
      <p:sp>
        <p:nvSpPr>
          <p:cNvPr id="170" name="Google Shape;170;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71" name="Google Shape;171;p2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Coding Challenge: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Analyze the DataFrame and get rid of the data you don't want, leaving only the desired data remaining. Take a qualitative approach.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Attribute selection: solution 1</a:t>
            </a:r>
            <a:endParaRPr>
              <a:solidFill>
                <a:schemeClr val="hlink"/>
              </a:solidFill>
            </a:endParaRPr>
          </a:p>
        </p:txBody>
      </p:sp>
      <p:sp>
        <p:nvSpPr>
          <p:cNvPr id="178" name="Google Shape;178;p2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79" name="Google Shape;179;p2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plan:</a:t>
            </a:r>
            <a:endParaRPr/>
          </a:p>
          <a:p>
            <a:pPr indent="-330200" lvl="0" marL="457200" rtl="0" algn="l">
              <a:spcBef>
                <a:spcPts val="0"/>
              </a:spcBef>
              <a:spcAft>
                <a:spcPts val="0"/>
              </a:spcAft>
              <a:buSzPts val="1600"/>
              <a:buChar char="•"/>
            </a:pPr>
            <a:r>
              <a:rPr lang="en-US"/>
              <a:t>show the info of the DataFrame</a:t>
            </a:r>
            <a:endParaRPr/>
          </a:p>
          <a:p>
            <a:pPr indent="-330200" lvl="0" marL="457200" rtl="0" algn="l">
              <a:spcBef>
                <a:spcPts val="0"/>
              </a:spcBef>
              <a:spcAft>
                <a:spcPts val="0"/>
              </a:spcAft>
              <a:buSzPts val="1600"/>
              <a:buChar char="•"/>
            </a:pPr>
            <a:r>
              <a:rPr lang="en-US"/>
              <a:t>qualitatively analyze the columns</a:t>
            </a:r>
            <a:endParaRPr/>
          </a:p>
          <a:p>
            <a:pPr indent="-330200" lvl="0" marL="457200" rtl="0" algn="l">
              <a:spcBef>
                <a:spcPts val="0"/>
              </a:spcBef>
              <a:spcAft>
                <a:spcPts val="0"/>
              </a:spcAft>
              <a:buSzPts val="1600"/>
              <a:buChar char="•"/>
            </a:pPr>
            <a:r>
              <a:rPr b="1" lang="en-US"/>
              <a:t>select</a:t>
            </a:r>
            <a:r>
              <a:rPr lang="en-US"/>
              <a:t> the columns to keep</a:t>
            </a:r>
            <a:endParaRPr/>
          </a:p>
        </p:txBody>
      </p:sp>
      <p:sp>
        <p:nvSpPr>
          <p:cNvPr id="180" name="Google Shape;180;p2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def main():</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 previous code goes here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show information about the DataFrame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print(df_titanic.info())</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Pclass, Sex, and Age will likely contribute to the state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of the Survived attribute, so keep those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a:t>
            </a:r>
            <a:r>
              <a:rPr b="1" lang="en-US" sz="700">
                <a:solidFill>
                  <a:schemeClr val="dk1"/>
                </a:solidFill>
                <a:latin typeface="Courier New"/>
                <a:ea typeface="Courier New"/>
                <a:cs typeface="Courier New"/>
                <a:sym typeface="Courier New"/>
              </a:rPr>
              <a:t>df_titanic = df_titanic[ ['pclass', 'sex', 'age', 'survived'] ]</a:t>
            </a:r>
            <a:endParaRPr b="1"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if __name__ == '__main__':</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main()</a:t>
            </a:r>
            <a:endParaRPr sz="700">
              <a:solidFill>
                <a:schemeClr val="dk1"/>
              </a:solidFill>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Attribute selection: solution 2</a:t>
            </a:r>
            <a:endParaRPr>
              <a:solidFill>
                <a:schemeClr val="hlink"/>
              </a:solidFill>
            </a:endParaRPr>
          </a:p>
        </p:txBody>
      </p:sp>
      <p:sp>
        <p:nvSpPr>
          <p:cNvPr id="187" name="Google Shape;187;p2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88" name="Google Shape;188;p2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plan:</a:t>
            </a:r>
            <a:endParaRPr/>
          </a:p>
          <a:p>
            <a:pPr indent="-330200" lvl="0" marL="457200" rtl="0" algn="l">
              <a:spcBef>
                <a:spcPts val="0"/>
              </a:spcBef>
              <a:spcAft>
                <a:spcPts val="0"/>
              </a:spcAft>
              <a:buClr>
                <a:schemeClr val="dk1"/>
              </a:buClr>
              <a:buSzPts val="1600"/>
              <a:buChar char="•"/>
            </a:pPr>
            <a:r>
              <a:rPr lang="en-US">
                <a:solidFill>
                  <a:schemeClr val="dk1"/>
                </a:solidFill>
              </a:rPr>
              <a:t>show the info of the DataFrame</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qualitatively analyze the columns</a:t>
            </a:r>
            <a:endParaRPr>
              <a:solidFill>
                <a:schemeClr val="dk1"/>
              </a:solidFill>
            </a:endParaRPr>
          </a:p>
          <a:p>
            <a:pPr indent="-330200" lvl="0" marL="457200" rtl="0" algn="l">
              <a:spcBef>
                <a:spcPts val="0"/>
              </a:spcBef>
              <a:spcAft>
                <a:spcPts val="0"/>
              </a:spcAft>
              <a:buClr>
                <a:schemeClr val="dk1"/>
              </a:buClr>
              <a:buSzPts val="1600"/>
              <a:buChar char="•"/>
            </a:pPr>
            <a:r>
              <a:rPr b="1" lang="en-US">
                <a:solidFill>
                  <a:schemeClr val="dk1"/>
                </a:solidFill>
              </a:rPr>
              <a:t>remove</a:t>
            </a:r>
            <a:r>
              <a:rPr lang="en-US">
                <a:solidFill>
                  <a:schemeClr val="dk1"/>
                </a:solidFill>
              </a:rPr>
              <a:t> the unwanted columns</a:t>
            </a:r>
            <a:endParaRPr/>
          </a:p>
        </p:txBody>
      </p:sp>
      <p:sp>
        <p:nvSpPr>
          <p:cNvPr id="189" name="Google Shape;189;p2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def main():</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 previous code goes here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show information about the DataFrame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df_titanic.info()</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print(df_titanic.describe())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Pclass, Sex, and Age will likely contribute to the state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of the Survived attribute, so drop everything else</a:t>
            </a:r>
            <a:endParaRPr sz="700">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lang="en-US" sz="700">
                <a:solidFill>
                  <a:schemeClr val="dk1"/>
                </a:solidFill>
                <a:latin typeface="Courier New"/>
                <a:ea typeface="Courier New"/>
                <a:cs typeface="Courier New"/>
                <a:sym typeface="Courier New"/>
              </a:rPr>
              <a:t>	</a:t>
            </a:r>
            <a:r>
              <a:rPr b="1" lang="en-US" sz="700">
                <a:solidFill>
                  <a:schemeClr val="dk1"/>
                </a:solidFill>
                <a:latin typeface="Courier New"/>
                <a:ea typeface="Courier New"/>
                <a:cs typeface="Courier New"/>
                <a:sym typeface="Courier New"/>
              </a:rPr>
              <a:t>df_titanic = df_titanic.drop(columns=['name', 'sibsp', 'parch', 'ticket', 'fare', 'cabin', 'embarked', 'boat', 'body', 'home.dest'])</a:t>
            </a:r>
            <a:endParaRPr b="1"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if __name__ == '__main__':</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main()</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Wrangling step 2: select records</a:t>
            </a:r>
            <a:endParaRPr/>
          </a:p>
        </p:txBody>
      </p:sp>
      <p:sp>
        <p:nvSpPr>
          <p:cNvPr id="196" name="Google Shape;196;p2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97" name="Google Shape;197;p27"/>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What is called "selecting records" here is really a several sub-step process. Records could be messy in a number of ways:</a:t>
            </a:r>
            <a:endParaRPr/>
          </a:p>
          <a:p>
            <a:pPr indent="-330200" lvl="0" marL="457200" rtl="0" algn="l">
              <a:spcBef>
                <a:spcPts val="0"/>
              </a:spcBef>
              <a:spcAft>
                <a:spcPts val="0"/>
              </a:spcAft>
              <a:buClr>
                <a:schemeClr val="dk1"/>
              </a:buClr>
              <a:buSzPts val="1600"/>
              <a:buAutoNum type="arabicPeriod"/>
            </a:pPr>
            <a:r>
              <a:rPr b="1" lang="en-US">
                <a:solidFill>
                  <a:schemeClr val="dk1"/>
                </a:solidFill>
              </a:rPr>
              <a:t>Duplicate</a:t>
            </a:r>
            <a:r>
              <a:rPr lang="en-US">
                <a:solidFill>
                  <a:schemeClr val="dk1"/>
                </a:solidFill>
              </a:rPr>
              <a:t> records could exist.</a:t>
            </a:r>
            <a:endParaRPr>
              <a:solidFill>
                <a:schemeClr val="dk1"/>
              </a:solidFill>
            </a:endParaRPr>
          </a:p>
          <a:p>
            <a:pPr indent="-330200" lvl="0" marL="457200" rtl="0" algn="l">
              <a:spcBef>
                <a:spcPts val="0"/>
              </a:spcBef>
              <a:spcAft>
                <a:spcPts val="0"/>
              </a:spcAft>
              <a:buClr>
                <a:schemeClr val="dk1"/>
              </a:buClr>
              <a:buSzPts val="1600"/>
              <a:buAutoNum type="arabicPeriod"/>
            </a:pPr>
            <a:r>
              <a:rPr lang="en-US">
                <a:solidFill>
                  <a:schemeClr val="dk1"/>
                </a:solidFill>
              </a:rPr>
              <a:t>Values could have been entered incorrectly - i.e. </a:t>
            </a:r>
            <a:r>
              <a:rPr b="1" lang="en-US">
                <a:solidFill>
                  <a:schemeClr val="dk1"/>
                </a:solidFill>
              </a:rPr>
              <a:t>malformed</a:t>
            </a:r>
            <a:r>
              <a:rPr lang="en-US">
                <a:solidFill>
                  <a:schemeClr val="dk1"/>
                </a:solidFill>
              </a:rPr>
              <a:t> - on some records.</a:t>
            </a:r>
            <a:endParaRPr b="1"/>
          </a:p>
          <a:p>
            <a:pPr indent="-330200" lvl="0" marL="457200" rtl="0" algn="l">
              <a:spcBef>
                <a:spcPts val="0"/>
              </a:spcBef>
              <a:spcAft>
                <a:spcPts val="0"/>
              </a:spcAft>
              <a:buSzPts val="1600"/>
              <a:buAutoNum type="arabicPeriod"/>
            </a:pPr>
            <a:r>
              <a:rPr lang="en-US"/>
              <a:t>Values could be </a:t>
            </a:r>
            <a:r>
              <a:rPr b="1" lang="en-US"/>
              <a:t>missing</a:t>
            </a:r>
            <a:r>
              <a:rPr lang="en-US"/>
              <a:t> from records.</a:t>
            </a:r>
            <a:endParaRPr/>
          </a:p>
          <a:p>
            <a:pPr indent="-330200" lvl="0" marL="457200" rtl="0" algn="l">
              <a:spcBef>
                <a:spcPts val="0"/>
              </a:spcBef>
              <a:spcAft>
                <a:spcPts val="0"/>
              </a:spcAft>
              <a:buSzPts val="1600"/>
              <a:buAutoNum type="arabicPeriod"/>
            </a:pPr>
            <a:r>
              <a:rPr lang="en-US"/>
              <a:t>There could be records which contain values far away from the rest of the dataset; </a:t>
            </a:r>
            <a:r>
              <a:rPr b="1" lang="en-US"/>
              <a:t>outliers</a:t>
            </a:r>
            <a:r>
              <a:rPr lang="en-US"/>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Wrangling</a:t>
            </a:r>
            <a:r>
              <a:rPr lang="en-US"/>
              <a:t>: duplicates</a:t>
            </a:r>
            <a:endParaRPr/>
          </a:p>
        </p:txBody>
      </p:sp>
      <p:sp>
        <p:nvSpPr>
          <p:cNvPr id="204" name="Google Shape;204;p2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There may be times when there are identical records in a dataset; typically you'll want to remove the duplicates so that you don't end up training with the same data more than once!</a:t>
            </a:r>
            <a:endParaRPr sz="1500"/>
          </a:p>
          <a:p>
            <a:pPr indent="0" lvl="0" marL="0" rtl="0" algn="l">
              <a:spcBef>
                <a:spcPts val="0"/>
              </a:spcBef>
              <a:spcAft>
                <a:spcPts val="0"/>
              </a:spcAft>
              <a:buNone/>
            </a:pPr>
            <a:r>
              <a:t/>
            </a:r>
            <a:endParaRPr sz="1500"/>
          </a:p>
          <a:p>
            <a:pPr indent="0" lvl="0" marL="0" rtl="0" algn="l">
              <a:spcBef>
                <a:spcPts val="0"/>
              </a:spcBef>
              <a:spcAft>
                <a:spcPts val="0"/>
              </a:spcAft>
              <a:buClr>
                <a:schemeClr val="dk1"/>
              </a:buClr>
              <a:buSzPts val="1100"/>
              <a:buFont typeface="Arial"/>
              <a:buNone/>
            </a:pPr>
            <a:r>
              <a:rPr lang="en-US" sz="1500">
                <a:solidFill>
                  <a:schemeClr val="dk1"/>
                </a:solidFill>
              </a:rPr>
              <a:t>To do this with pandas, simply use the </a:t>
            </a:r>
            <a:r>
              <a:rPr b="1" lang="en-US" sz="1500">
                <a:solidFill>
                  <a:schemeClr val="dk1"/>
                </a:solidFill>
                <a:latin typeface="Courier New"/>
                <a:ea typeface="Courier New"/>
                <a:cs typeface="Courier New"/>
                <a:sym typeface="Courier New"/>
              </a:rPr>
              <a:t>.drop_duplicates()</a:t>
            </a:r>
            <a:r>
              <a:rPr lang="en-US" sz="1500">
                <a:solidFill>
                  <a:schemeClr val="dk1"/>
                </a:solidFill>
              </a:rPr>
              <a:t> method:</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0" lvl="0" marL="0" rtl="0" algn="l">
              <a:spcBef>
                <a:spcPts val="0"/>
              </a:spcBef>
              <a:spcAft>
                <a:spcPts val="0"/>
              </a:spcAft>
              <a:buNone/>
            </a:pPr>
            <a:r>
              <a:rPr lang="en-US" sz="1500">
                <a:solidFill>
                  <a:schemeClr val="dk1"/>
                </a:solidFill>
                <a:latin typeface="Courier New"/>
                <a:ea typeface="Courier New"/>
                <a:cs typeface="Courier New"/>
                <a:sym typeface="Courier New"/>
              </a:rPr>
              <a:t>	df = df.drop_duplicates()</a:t>
            </a:r>
            <a:endParaRPr sz="1500"/>
          </a:p>
        </p:txBody>
      </p:sp>
      <p:sp>
        <p:nvSpPr>
          <p:cNvPr id="205" name="Google Shape;205;p2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There is certainly some nuance here, however: what actually constitutes a duplicate? It is worth noting that it's probably appropriate to </a:t>
            </a:r>
            <a:r>
              <a:rPr b="1" i="1" lang="en-US">
                <a:solidFill>
                  <a:schemeClr val="dk1"/>
                </a:solidFill>
              </a:rPr>
              <a:t>check for and remove duplicates when there is as much information as possible, i.e. before selecting attributes.</a:t>
            </a:r>
            <a:endParaRPr b="1" i="1">
              <a:latin typeface="Courier New"/>
              <a:ea typeface="Courier New"/>
              <a:cs typeface="Courier New"/>
              <a:sym typeface="Courier New"/>
            </a:endParaRPr>
          </a:p>
        </p:txBody>
      </p:sp>
      <p:sp>
        <p:nvSpPr>
          <p:cNvPr id="206" name="Google Shape;206;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Wrangling: m</a:t>
            </a:r>
            <a:r>
              <a:rPr lang="en-US">
                <a:solidFill>
                  <a:schemeClr val="hlink"/>
                </a:solidFill>
              </a:rPr>
              <a:t>alformed</a:t>
            </a:r>
            <a:endParaRPr>
              <a:solidFill>
                <a:schemeClr val="hlink"/>
              </a:solidFill>
            </a:endParaRPr>
          </a:p>
        </p:txBody>
      </p:sp>
      <p:sp>
        <p:nvSpPr>
          <p:cNvPr id="213" name="Google Shape;213;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14" name="Google Shape;214;p2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solidFill>
                  <a:schemeClr val="dk1"/>
                </a:solidFill>
              </a:rPr>
              <a:t>Data can be malformed in all sorts of ways. Examples include but are not limited to:</a:t>
            </a:r>
            <a:endParaRPr sz="1300">
              <a:solidFill>
                <a:schemeClr val="dk1"/>
              </a:solidFill>
            </a:endParaRPr>
          </a:p>
          <a:p>
            <a:pPr indent="-311150" lvl="0" marL="457200" rtl="0" algn="l">
              <a:spcBef>
                <a:spcPts val="0"/>
              </a:spcBef>
              <a:spcAft>
                <a:spcPts val="0"/>
              </a:spcAft>
              <a:buClr>
                <a:schemeClr val="dk1"/>
              </a:buClr>
              <a:buSzPts val="1300"/>
              <a:buChar char="•"/>
            </a:pPr>
            <a:r>
              <a:rPr lang="en-US" sz="1300">
                <a:solidFill>
                  <a:schemeClr val="dk1"/>
                </a:solidFill>
              </a:rPr>
              <a:t>one alphabetic character in a column meant to be numeric; importing it will cause the entire column to become string data.</a:t>
            </a:r>
            <a:endParaRPr sz="1300">
              <a:solidFill>
                <a:schemeClr val="dk1"/>
              </a:solidFill>
            </a:endParaRPr>
          </a:p>
          <a:p>
            <a:pPr indent="-311150" lvl="0" marL="457200" rtl="0" algn="l">
              <a:spcBef>
                <a:spcPts val="0"/>
              </a:spcBef>
              <a:spcAft>
                <a:spcPts val="0"/>
              </a:spcAft>
              <a:buClr>
                <a:schemeClr val="dk1"/>
              </a:buClr>
              <a:buSzPts val="1300"/>
              <a:buChar char="•"/>
            </a:pPr>
            <a:r>
              <a:rPr lang="en-US" sz="1300">
                <a:solidFill>
                  <a:schemeClr val="dk1"/>
                </a:solidFill>
              </a:rPr>
              <a:t>incorrect categorical information, such as a third category for a binary attribute (e.g. 'yes', 'no', and 'peter'.</a:t>
            </a:r>
            <a:endParaRPr sz="1300">
              <a:solidFill>
                <a:schemeClr val="dk1"/>
              </a:solidFill>
            </a:endParaRPr>
          </a:p>
          <a:p>
            <a:pPr indent="0" lvl="0" marL="0" rtl="0" algn="l">
              <a:spcBef>
                <a:spcPts val="0"/>
              </a:spcBef>
              <a:spcAft>
                <a:spcPts val="0"/>
              </a:spcAft>
              <a:buNone/>
            </a:pPr>
            <a:r>
              <a:rPr lang="en-US" sz="1300">
                <a:solidFill>
                  <a:schemeClr val="dk1"/>
                </a:solidFill>
              </a:rPr>
              <a:t>Dealing with malformed data, therefore, requires you to evaluate each column individually for discrepancies, </a:t>
            </a:r>
            <a:r>
              <a:rPr b="1" lang="en-US" sz="1300">
                <a:solidFill>
                  <a:schemeClr val="dk1"/>
                </a:solidFill>
              </a:rPr>
              <a:t>using your domain specific knowledge</a:t>
            </a:r>
            <a:r>
              <a:rPr lang="en-US" sz="1300">
                <a:solidFill>
                  <a:schemeClr val="dk1"/>
                </a:solidFill>
              </a:rPr>
              <a:t>.</a:t>
            </a:r>
            <a:endParaRPr sz="1300">
              <a:solidFill>
                <a:schemeClr val="dk1"/>
              </a:solidFill>
            </a:endParaRPr>
          </a:p>
        </p:txBody>
      </p:sp>
      <p:sp>
        <p:nvSpPr>
          <p:cNvPr id="215" name="Google Shape;215;p2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previous code goes here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def main():</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 previous code goes here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a:t>
            </a:r>
            <a:r>
              <a:rPr lang="en-US" sz="700">
                <a:solidFill>
                  <a:schemeClr val="dk1"/>
                </a:solidFill>
                <a:latin typeface="Courier New"/>
                <a:ea typeface="Courier New"/>
                <a:cs typeface="Courier New"/>
                <a:sym typeface="Courier New"/>
              </a:rPr>
              <a:t># show information about the DataFrame</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00">
                <a:solidFill>
                  <a:schemeClr val="dk1"/>
                </a:solidFill>
                <a:latin typeface="Courier New"/>
                <a:ea typeface="Courier New"/>
                <a:cs typeface="Courier New"/>
                <a:sym typeface="Courier New"/>
              </a:rPr>
              <a:t>	df_titanic.info()</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00">
                <a:solidFill>
                  <a:schemeClr val="dk1"/>
                </a:solidFill>
                <a:latin typeface="Courier New"/>
                <a:ea typeface="Courier New"/>
                <a:cs typeface="Courier New"/>
                <a:sym typeface="Courier New"/>
              </a:rPr>
              <a:t>	print(df_titanic.describe())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make sure each categorical attribute has the correct number</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of unique values in it</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print(</a:t>
            </a:r>
            <a:r>
              <a:rPr b="1" lang="en-US" sz="700">
                <a:solidFill>
                  <a:schemeClr val="dk1"/>
                </a:solidFill>
                <a:latin typeface="Courier New"/>
                <a:ea typeface="Courier New"/>
                <a:cs typeface="Courier New"/>
                <a:sym typeface="Courier New"/>
              </a:rPr>
              <a:t>df_titanic.nunique()</a:t>
            </a:r>
            <a:r>
              <a:rPr lang="en-US" sz="700">
                <a:solidFill>
                  <a:schemeClr val="dk1"/>
                </a:solidFill>
                <a:latin typeface="Courier New"/>
                <a:ea typeface="Courier New"/>
                <a:cs typeface="Courier New"/>
                <a:sym typeface="Courier New"/>
              </a:rPr>
              <a:t>)</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make sure the unique values make sense</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for column in df_titanic.columns:</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print(column, </a:t>
            </a:r>
            <a:r>
              <a:rPr b="1" lang="en-US" sz="700">
                <a:solidFill>
                  <a:schemeClr val="dk1"/>
                </a:solidFill>
                <a:latin typeface="Courier New"/>
                <a:ea typeface="Courier New"/>
                <a:cs typeface="Courier New"/>
                <a:sym typeface="Courier New"/>
              </a:rPr>
              <a:t>df_titanic[column].unique()</a:t>
            </a:r>
            <a:r>
              <a:rPr lang="en-US" sz="700">
                <a:solidFill>
                  <a:schemeClr val="dk1"/>
                </a:solidFill>
                <a:latin typeface="Courier New"/>
                <a:ea typeface="Courier New"/>
                <a:cs typeface="Courier New"/>
                <a:sym typeface="Courier New"/>
              </a:rPr>
              <a:t>)</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a:t>
            </a:r>
            <a:r>
              <a:rPr b="1" lang="en-US" sz="700">
                <a:solidFill>
                  <a:schemeClr val="dk1"/>
                </a:solidFill>
                <a:latin typeface="Courier New"/>
                <a:ea typeface="Courier New"/>
                <a:cs typeface="Courier New"/>
                <a:sym typeface="Courier New"/>
              </a:rPr>
              <a:t># if there is any malformed data, filter it out!</a:t>
            </a:r>
            <a:endParaRPr b="1"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if __name__ == '__main__':</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main()</a:t>
            </a:r>
            <a:endParaRPr sz="700">
              <a:solidFill>
                <a:schemeClr val="dk1"/>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Wrangling</a:t>
            </a:r>
            <a:r>
              <a:rPr lang="en-US"/>
              <a:t>: missing values</a:t>
            </a:r>
            <a:endParaRPr/>
          </a:p>
        </p:txBody>
      </p:sp>
      <p:sp>
        <p:nvSpPr>
          <p:cNvPr id="222" name="Google Shape;222;p3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Once you've slimmed down the DataFrame so that it only contains the attributes you want, the next step is to check to see if there are any missing values and deal with them accordingly.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In this course, you'll be </a:t>
            </a:r>
            <a:r>
              <a:rPr b="1" lang="en-US" sz="1400"/>
              <a:t>dropping</a:t>
            </a:r>
            <a:r>
              <a:rPr lang="en-US" sz="1400"/>
              <a:t> any record that has a missing value. Note that what's actually happening here is a process called </a:t>
            </a:r>
            <a:r>
              <a:rPr b="1" lang="en-US" sz="1400" u="sng">
                <a:solidFill>
                  <a:schemeClr val="hlink"/>
                </a:solidFill>
                <a:hlinkClick r:id="rId3"/>
              </a:rPr>
              <a:t>imputation</a:t>
            </a:r>
            <a:r>
              <a:rPr lang="en-US" sz="1400"/>
              <a:t>.</a:t>
            </a:r>
            <a:endParaRPr sz="1400"/>
          </a:p>
        </p:txBody>
      </p:sp>
      <p:sp>
        <p:nvSpPr>
          <p:cNvPr id="223" name="Google Shape;223;p30"/>
          <p:cNvSpPr txBox="1"/>
          <p:nvPr>
            <p:ph idx="2" type="body"/>
          </p:nvPr>
        </p:nvSpPr>
        <p:spPr>
          <a:xfrm>
            <a:off x="4650575" y="998800"/>
            <a:ext cx="4456500" cy="2189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def main():</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 ... previous code goes here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 various ways to show missing values</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print(df_titanic.isnull().any()) # True for a column if there are any NaNs in it</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print(df_titanic.isnull().sum()) # counts all of the Trues in each column</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print(df_titanic.isnull().sum()/df_titanic.shape[0]*100) # gives the % of missing</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 drop all rows with any NaNs in them</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t>
            </a:r>
            <a:r>
              <a:rPr b="1" lang="en-US" sz="600">
                <a:solidFill>
                  <a:schemeClr val="dk1"/>
                </a:solidFill>
                <a:latin typeface="Courier New"/>
                <a:ea typeface="Courier New"/>
                <a:cs typeface="Courier New"/>
                <a:sym typeface="Courier New"/>
              </a:rPr>
              <a:t>df_titanic = df_titanic.dropna(axis=0)</a:t>
            </a:r>
            <a:endParaRPr b="1"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if __name__ == '__main__':</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main()</a:t>
            </a:r>
            <a:endParaRPr/>
          </a:p>
        </p:txBody>
      </p:sp>
      <p:sp>
        <p:nvSpPr>
          <p:cNvPr id="224" name="Google Shape;224;p3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25" name="Google Shape;225;p30"/>
          <p:cNvSpPr txBox="1"/>
          <p:nvPr/>
        </p:nvSpPr>
        <p:spPr>
          <a:xfrm>
            <a:off x="4103000" y="3449050"/>
            <a:ext cx="4465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latin typeface="Proxima Nova"/>
                <a:ea typeface="Proxima Nova"/>
                <a:cs typeface="Proxima Nova"/>
                <a:sym typeface="Proxima Nova"/>
              </a:rPr>
              <a:t>Note: It’s a best practice to dropna() </a:t>
            </a:r>
            <a:r>
              <a:rPr b="1" lang="en-US" sz="1600">
                <a:latin typeface="Proxima Nova"/>
                <a:ea typeface="Proxima Nova"/>
                <a:cs typeface="Proxima Nova"/>
                <a:sym typeface="Proxima Nova"/>
              </a:rPr>
              <a:t>AFTER</a:t>
            </a:r>
            <a:r>
              <a:rPr lang="en-US" sz="1600">
                <a:latin typeface="Proxima Nova"/>
                <a:ea typeface="Proxima Nova"/>
                <a:cs typeface="Proxima Nova"/>
                <a:sym typeface="Proxima Nova"/>
              </a:rPr>
              <a:t> you down select your columns</a:t>
            </a:r>
            <a:endParaRPr sz="1600">
              <a:latin typeface="Proxima Nova"/>
              <a:ea typeface="Proxima Nova"/>
              <a:cs typeface="Proxima Nova"/>
              <a:sym typeface="Proxima Nov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Missing values: drop observation</a:t>
            </a:r>
            <a:endParaRPr/>
          </a:p>
        </p:txBody>
      </p:sp>
      <p:sp>
        <p:nvSpPr>
          <p:cNvPr id="232" name="Google Shape;232;p31"/>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That </a:t>
            </a:r>
            <a:r>
              <a:rPr b="1" lang="en-US" sz="1400">
                <a:latin typeface="Courier New"/>
                <a:ea typeface="Courier New"/>
                <a:cs typeface="Courier New"/>
                <a:sym typeface="Courier New"/>
              </a:rPr>
              <a:t>axis=0</a:t>
            </a:r>
            <a:r>
              <a:rPr lang="en-US" sz="1400"/>
              <a:t> kwarg is important. what happens if you change:</a:t>
            </a:r>
            <a:endParaRPr sz="1400"/>
          </a:p>
          <a:p>
            <a:pPr indent="0" lvl="0" marL="0" rtl="0" algn="l">
              <a:spcBef>
                <a:spcPts val="0"/>
              </a:spcBef>
              <a:spcAft>
                <a:spcPts val="0"/>
              </a:spcAft>
              <a:buNone/>
            </a:pPr>
            <a:r>
              <a:t/>
            </a:r>
            <a:endParaRPr sz="1400"/>
          </a:p>
          <a:p>
            <a:pPr indent="457200" lvl="0" marL="0" rtl="0" algn="l">
              <a:spcBef>
                <a:spcPts val="0"/>
              </a:spcBef>
              <a:spcAft>
                <a:spcPts val="0"/>
              </a:spcAft>
              <a:buNone/>
            </a:pPr>
            <a:r>
              <a:rPr lang="en-US" sz="1400">
                <a:solidFill>
                  <a:schemeClr val="dk1"/>
                </a:solidFill>
                <a:latin typeface="Courier New"/>
                <a:ea typeface="Courier New"/>
                <a:cs typeface="Courier New"/>
                <a:sym typeface="Courier New"/>
              </a:rPr>
              <a:t>	df_titanic = df_titanic.dropna(axis=0)</a:t>
            </a:r>
            <a:endParaRPr sz="14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US" sz="1400">
                <a:solidFill>
                  <a:schemeClr val="dk1"/>
                </a:solidFill>
              </a:rPr>
              <a:t>to this?: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US" sz="1400">
                <a:solidFill>
                  <a:schemeClr val="dk1"/>
                </a:solidFill>
                <a:latin typeface="Courier New"/>
                <a:ea typeface="Courier New"/>
                <a:cs typeface="Courier New"/>
                <a:sym typeface="Courier New"/>
              </a:rPr>
              <a:t>		df_titanic = df_titanic.dropna(axis=1)</a:t>
            </a:r>
            <a:endParaRPr sz="1400">
              <a:solidFill>
                <a:schemeClr val="dk1"/>
              </a:solidFill>
              <a:latin typeface="Courier New"/>
              <a:ea typeface="Courier New"/>
              <a:cs typeface="Courier New"/>
              <a:sym typeface="Courier New"/>
            </a:endParaRPr>
          </a:p>
        </p:txBody>
      </p:sp>
      <p:sp>
        <p:nvSpPr>
          <p:cNvPr id="233" name="Google Shape;233;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Wrangling: outliers</a:t>
            </a:r>
            <a:endParaRPr/>
          </a:p>
        </p:txBody>
      </p:sp>
      <p:sp>
        <p:nvSpPr>
          <p:cNvPr id="240" name="Google Shape;240;p3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41" name="Google Shape;241;p3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500"/>
              <a:t>Outliers potentially skew your data analysis. For example:</a:t>
            </a:r>
            <a:endParaRPr sz="1500"/>
          </a:p>
          <a:p>
            <a:pPr indent="0" lvl="0" marL="0" rtl="0" algn="l">
              <a:spcBef>
                <a:spcPts val="0"/>
              </a:spcBef>
              <a:spcAft>
                <a:spcPts val="0"/>
              </a:spcAft>
              <a:buClr>
                <a:schemeClr val="dk1"/>
              </a:buClr>
              <a:buSzPts val="1100"/>
              <a:buFont typeface="Arial"/>
              <a:buNone/>
            </a:pPr>
            <a:r>
              <a:t/>
            </a:r>
            <a:endParaRPr sz="1500"/>
          </a:p>
          <a:p>
            <a:pPr indent="-323850" lvl="0" marL="457200" rtl="0" algn="l">
              <a:spcBef>
                <a:spcPts val="0"/>
              </a:spcBef>
              <a:spcAft>
                <a:spcPts val="0"/>
              </a:spcAft>
              <a:buSzPts val="1500"/>
              <a:buChar char="-"/>
            </a:pPr>
            <a:r>
              <a:rPr lang="en-US" sz="1500"/>
              <a:t>A contractor is bidding on a project to construct an 875 square foot addition to a home. How much do they bid?</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US" sz="1500"/>
              <a:t>The addition of the point at approx. (900, 28,000) changes the trendline to something that no longer fits the rest of the data as well.</a:t>
            </a:r>
            <a:endParaRPr sz="1500"/>
          </a:p>
        </p:txBody>
      </p:sp>
      <p:pic>
        <p:nvPicPr>
          <p:cNvPr descr="22_28-48" id="242" name="Google Shape;242;p32"/>
          <p:cNvPicPr preferRelativeResize="0"/>
          <p:nvPr/>
        </p:nvPicPr>
        <p:blipFill rotWithShape="1">
          <a:blip r:embed="rId3">
            <a:alphaModFix/>
          </a:blip>
          <a:srcRect b="0" l="0" r="0" t="0"/>
          <a:stretch/>
        </p:blipFill>
        <p:spPr>
          <a:xfrm>
            <a:off x="4572000" y="1047422"/>
            <a:ext cx="4572000" cy="33173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Outliers: many approaches</a:t>
            </a:r>
            <a:endParaRPr/>
          </a:p>
        </p:txBody>
      </p:sp>
      <p:sp>
        <p:nvSpPr>
          <p:cNvPr id="249" name="Google Shape;249;p3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50" name="Google Shape;250;p3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solidFill>
                  <a:schemeClr val="dk1"/>
                </a:solidFill>
              </a:rPr>
              <a:t>There are many approaches to </a:t>
            </a:r>
            <a:r>
              <a:rPr lang="en-US" sz="1400" u="sng">
                <a:solidFill>
                  <a:schemeClr val="hlink"/>
                </a:solidFill>
                <a:hlinkClick r:id="rId3"/>
              </a:rPr>
              <a:t>defining and identifying</a:t>
            </a:r>
            <a:r>
              <a:rPr lang="en-US" sz="1400">
                <a:solidFill>
                  <a:schemeClr val="dk1"/>
                </a:solidFill>
              </a:rPr>
              <a:t> outliers. The one you'll use in this class is via the interquartile range; this technique is also called Tukey's fences. (</a:t>
            </a:r>
            <a:r>
              <a:rPr b="1" lang="en-US" sz="1400">
                <a:solidFill>
                  <a:schemeClr val="dk1"/>
                </a:solidFill>
              </a:rPr>
              <a:t>Note that this approach assumes a standard distribution!</a:t>
            </a:r>
            <a:r>
              <a:rPr lang="en-US" sz="1400">
                <a:solidFill>
                  <a:schemeClr val="dk1"/>
                </a:solidFill>
              </a:rPr>
              <a: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US" sz="1400">
                <a:solidFill>
                  <a:schemeClr val="dk1"/>
                </a:solidFill>
              </a:rPr>
              <a:t>More importantly, however: what the heck is that plot on the top?</a:t>
            </a:r>
            <a:endParaRPr sz="1400">
              <a:solidFill>
                <a:schemeClr val="dk1"/>
              </a:solidFill>
            </a:endParaRPr>
          </a:p>
        </p:txBody>
      </p:sp>
      <p:pic>
        <p:nvPicPr>
          <p:cNvPr id="251" name="Google Shape;251;p33"/>
          <p:cNvPicPr preferRelativeResize="0"/>
          <p:nvPr/>
        </p:nvPicPr>
        <p:blipFill>
          <a:blip r:embed="rId4">
            <a:alphaModFix/>
          </a:blip>
          <a:stretch>
            <a:fillRect/>
          </a:stretch>
        </p:blipFill>
        <p:spPr>
          <a:xfrm>
            <a:off x="5254283" y="998801"/>
            <a:ext cx="3133542" cy="3414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Outlier identification: boxplots</a:t>
            </a:r>
            <a:endParaRPr/>
          </a:p>
        </p:txBody>
      </p:sp>
      <p:sp>
        <p:nvSpPr>
          <p:cNvPr id="258" name="Google Shape;258;p3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59" name="Google Shape;259;p3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chemeClr val="dk1"/>
                </a:solidFill>
              </a:rPr>
              <a:t>In order to visualize and identify outliers, you're going to need to understand (and use!) a new type of plot: the </a:t>
            </a:r>
            <a:r>
              <a:rPr b="1" lang="en-US" sz="1100">
                <a:solidFill>
                  <a:schemeClr val="dk1"/>
                </a:solidFill>
              </a:rPr>
              <a:t>box plot</a:t>
            </a:r>
            <a:r>
              <a:rPr lang="en-US" sz="1100">
                <a:solidFill>
                  <a:schemeClr val="dk1"/>
                </a:solidFill>
              </a:rPr>
              <a:t>. The box plot, like the histogram, visualizes the </a:t>
            </a:r>
            <a:r>
              <a:rPr i="1" lang="en-US" sz="1100">
                <a:solidFill>
                  <a:schemeClr val="dk1"/>
                </a:solidFill>
              </a:rPr>
              <a:t>distribution</a:t>
            </a:r>
            <a:r>
              <a:rPr lang="en-US" sz="1100">
                <a:solidFill>
                  <a:schemeClr val="dk1"/>
                </a:solidFill>
              </a:rPr>
              <a:t> of the data:</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The </a:t>
            </a:r>
            <a:r>
              <a:rPr b="1" lang="en-US" sz="1100">
                <a:solidFill>
                  <a:schemeClr val="dk1"/>
                </a:solidFill>
              </a:rPr>
              <a:t>median</a:t>
            </a:r>
            <a:r>
              <a:rPr lang="en-US" sz="1100">
                <a:solidFill>
                  <a:schemeClr val="dk1"/>
                </a:solidFill>
              </a:rPr>
              <a:t> is the midpoint of the distribution</a:t>
            </a:r>
            <a:endParaRPr sz="1100">
              <a:solidFill>
                <a:schemeClr val="dk1"/>
              </a:solidFill>
            </a:endParaRPr>
          </a:p>
          <a:p>
            <a:pPr indent="-298450" lvl="0" marL="457200" rtl="0" algn="l">
              <a:spcBef>
                <a:spcPts val="0"/>
              </a:spcBef>
              <a:spcAft>
                <a:spcPts val="0"/>
              </a:spcAft>
              <a:buClr>
                <a:schemeClr val="dk1"/>
              </a:buClr>
              <a:buSzPts val="1100"/>
              <a:buChar char="-"/>
            </a:pPr>
            <a:r>
              <a:rPr b="1" lang="en-US" sz="1100">
                <a:solidFill>
                  <a:schemeClr val="dk1"/>
                </a:solidFill>
              </a:rPr>
              <a:t>Q1</a:t>
            </a:r>
            <a:r>
              <a:rPr lang="en-US" sz="1100">
                <a:solidFill>
                  <a:schemeClr val="dk1"/>
                </a:solidFill>
              </a:rPr>
              <a:t> and </a:t>
            </a:r>
            <a:r>
              <a:rPr b="1" lang="en-US" sz="1100">
                <a:solidFill>
                  <a:schemeClr val="dk1"/>
                </a:solidFill>
              </a:rPr>
              <a:t>Q3</a:t>
            </a:r>
            <a:r>
              <a:rPr lang="en-US" sz="1100">
                <a:solidFill>
                  <a:schemeClr val="dk1"/>
                </a:solidFill>
              </a:rPr>
              <a:t> represent the midpoints of the lower and upper halves of the dataset, respectively.</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The </a:t>
            </a:r>
            <a:r>
              <a:rPr b="1" lang="en-US" sz="1100">
                <a:solidFill>
                  <a:schemeClr val="dk1"/>
                </a:solidFill>
              </a:rPr>
              <a:t>IQR</a:t>
            </a:r>
            <a:r>
              <a:rPr lang="en-US" sz="1100">
                <a:solidFill>
                  <a:schemeClr val="dk1"/>
                </a:solidFill>
              </a:rPr>
              <a:t>, or the </a:t>
            </a:r>
            <a:r>
              <a:rPr b="1" lang="en-US" sz="1100">
                <a:solidFill>
                  <a:schemeClr val="dk1"/>
                </a:solidFill>
              </a:rPr>
              <a:t>I</a:t>
            </a:r>
            <a:r>
              <a:rPr b="1" lang="en-US" sz="1100">
                <a:solidFill>
                  <a:schemeClr val="dk1"/>
                </a:solidFill>
              </a:rPr>
              <a:t>nterQuartile Range</a:t>
            </a:r>
            <a:r>
              <a:rPr lang="en-US" sz="1100">
                <a:solidFill>
                  <a:schemeClr val="dk1"/>
                </a:solidFill>
              </a:rPr>
              <a:t>, represents the range from Q1 to Q3. It is 50% of the dataset.</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Those vertical lines at the far left and right of the horizontal lines are the </a:t>
            </a:r>
            <a:r>
              <a:rPr b="1" lang="en-US" sz="1100">
                <a:solidFill>
                  <a:schemeClr val="dk1"/>
                </a:solidFill>
              </a:rPr>
              <a:t>minimum</a:t>
            </a:r>
            <a:r>
              <a:rPr lang="en-US" sz="1100">
                <a:solidFill>
                  <a:schemeClr val="dk1"/>
                </a:solidFill>
              </a:rPr>
              <a:t> and </a:t>
            </a:r>
            <a:r>
              <a:rPr b="1" lang="en-US" sz="1100">
                <a:solidFill>
                  <a:schemeClr val="dk1"/>
                </a:solidFill>
              </a:rPr>
              <a:t>maximum</a:t>
            </a:r>
            <a:r>
              <a:rPr lang="en-US" sz="1100">
                <a:solidFill>
                  <a:schemeClr val="dk1"/>
                </a:solidFill>
              </a:rPr>
              <a:t> values considered to still be within acceptable range; anything above or below are deemed </a:t>
            </a:r>
            <a:r>
              <a:rPr b="1" lang="en-US" sz="1100">
                <a:solidFill>
                  <a:schemeClr val="dk1"/>
                </a:solidFill>
              </a:rPr>
              <a:t>outliers</a:t>
            </a:r>
            <a:r>
              <a:rPr lang="en-US" sz="1100">
                <a:solidFill>
                  <a:schemeClr val="dk1"/>
                </a:solidFill>
              </a:rPr>
              <a:t>. These lines are also called </a:t>
            </a:r>
            <a:r>
              <a:rPr b="1" lang="en-US" sz="1100">
                <a:solidFill>
                  <a:schemeClr val="dk1"/>
                </a:solidFill>
              </a:rPr>
              <a:t>whiskers</a:t>
            </a:r>
            <a:r>
              <a:rPr lang="en-US" sz="1100">
                <a:solidFill>
                  <a:schemeClr val="dk1"/>
                </a:solidFill>
              </a:rPr>
              <a:t>.</a:t>
            </a:r>
            <a:endParaRPr sz="1100">
              <a:solidFill>
                <a:schemeClr val="dk1"/>
              </a:solidFill>
            </a:endParaRPr>
          </a:p>
        </p:txBody>
      </p:sp>
      <p:pic>
        <p:nvPicPr>
          <p:cNvPr id="260" name="Google Shape;260;p34"/>
          <p:cNvPicPr preferRelativeResize="0"/>
          <p:nvPr/>
        </p:nvPicPr>
        <p:blipFill rotWithShape="1">
          <a:blip r:embed="rId3">
            <a:alphaModFix/>
          </a:blip>
          <a:srcRect b="69169" l="0" r="0" t="0"/>
          <a:stretch/>
        </p:blipFill>
        <p:spPr>
          <a:xfrm>
            <a:off x="4572000" y="1803737"/>
            <a:ext cx="4571999" cy="153601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Coding Challenge</a:t>
            </a:r>
            <a:endParaRPr/>
          </a:p>
        </p:txBody>
      </p:sp>
      <p:sp>
        <p:nvSpPr>
          <p:cNvPr id="267" name="Google Shape;267;p3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68" name="Google Shape;268;p3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dk1"/>
                </a:solidFill>
              </a:rPr>
              <a:t>Coding Challenge:</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Now that you've gotten a good idea of what the anatomy of a </a:t>
            </a:r>
            <a:r>
              <a:rPr b="1" lang="en-US" sz="1500">
                <a:solidFill>
                  <a:schemeClr val="dk1"/>
                </a:solidFill>
                <a:latin typeface="Courier New"/>
                <a:ea typeface="Courier New"/>
                <a:cs typeface="Courier New"/>
                <a:sym typeface="Courier New"/>
              </a:rPr>
              <a:t>boxplot</a:t>
            </a:r>
            <a:r>
              <a:rPr lang="en-US" sz="1500">
                <a:solidFill>
                  <a:schemeClr val="dk1"/>
                </a:solidFill>
              </a:rPr>
              <a:t> is, create one which shows the Age data from the Titanic dataset. (You can see the outliers on the plot - they are shown as circle markers.)</a:t>
            </a:r>
            <a:endParaRPr sz="1500">
              <a:solidFill>
                <a:schemeClr val="dk1"/>
              </a:solidFill>
            </a:endParaRPr>
          </a:p>
        </p:txBody>
      </p:sp>
      <p:pic>
        <p:nvPicPr>
          <p:cNvPr id="269" name="Google Shape;269;p35"/>
          <p:cNvPicPr preferRelativeResize="0"/>
          <p:nvPr/>
        </p:nvPicPr>
        <p:blipFill rotWithShape="1">
          <a:blip r:embed="rId3">
            <a:alphaModFix/>
          </a:blip>
          <a:srcRect b="49331" l="0" r="0" t="6815"/>
          <a:stretch/>
        </p:blipFill>
        <p:spPr>
          <a:xfrm>
            <a:off x="4649000" y="1849550"/>
            <a:ext cx="4342600" cy="14283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Outliers: boxplot solution</a:t>
            </a:r>
            <a:endParaRPr>
              <a:solidFill>
                <a:schemeClr val="hlink"/>
              </a:solidFill>
            </a:endParaRPr>
          </a:p>
        </p:txBody>
      </p:sp>
      <p:sp>
        <p:nvSpPr>
          <p:cNvPr id="276" name="Google Shape;276;p3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77" name="Google Shape;277;p36"/>
          <p:cNvSpPr txBox="1"/>
          <p:nvPr>
            <p:ph idx="1" type="body"/>
          </p:nvPr>
        </p:nvSpPr>
        <p:spPr>
          <a:xfrm>
            <a:off x="13905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The plan:</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create a Figure with two Axes</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extract the Age data and create a boxplot with it</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add labelling</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save the Figure</a:t>
            </a:r>
            <a:endParaRPr/>
          </a:p>
        </p:txBody>
      </p:sp>
      <p:sp>
        <p:nvSpPr>
          <p:cNvPr id="278" name="Google Shape;278;p3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def main():</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 ... previous code goes here</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a:t>
            </a:r>
            <a:r>
              <a:rPr lang="en-US" sz="600">
                <a:solidFill>
                  <a:schemeClr val="dk1"/>
                </a:solidFill>
                <a:latin typeface="Courier New"/>
                <a:ea typeface="Courier New"/>
                <a:cs typeface="Courier New"/>
                <a:sym typeface="Courier New"/>
              </a:rPr>
              <a:t># create and plot a boxplot of Age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fig, ax = plt.subplots(1, 1, sharex=True)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a:t>
            </a:r>
            <a:r>
              <a:rPr b="1" lang="en-US" sz="600">
                <a:solidFill>
                  <a:schemeClr val="dk1"/>
                </a:solidFill>
                <a:latin typeface="Courier New"/>
                <a:ea typeface="Courier New"/>
                <a:cs typeface="Courier New"/>
                <a:sym typeface="Courier New"/>
              </a:rPr>
              <a:t>boxplot</a:t>
            </a:r>
            <a:r>
              <a:rPr lang="en-US" sz="600">
                <a:solidFill>
                  <a:schemeClr val="dk1"/>
                </a:solidFill>
                <a:latin typeface="Courier New"/>
                <a:ea typeface="Courier New"/>
                <a:cs typeface="Courier New"/>
                <a:sym typeface="Courier New"/>
              </a:rPr>
              <a:t>(df_titanic['age'], tick_labels=['age'], vert=False)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 style and save figure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ax.set(xlabel='Raw Age values')</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fig.suptitle('Titanic dataset: visualizing Age outliers')</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fig.tight_layout()</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fig.savefig('titanic_analysis.png')</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if __name__ == '__main__':</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main()</a:t>
            </a:r>
            <a:endParaRPr sz="600">
              <a:solidFill>
                <a:schemeClr val="dk1"/>
              </a:solidFill>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Outliers: let them lie</a:t>
            </a:r>
            <a:endParaRPr/>
          </a:p>
        </p:txBody>
      </p:sp>
      <p:sp>
        <p:nvSpPr>
          <p:cNvPr id="285" name="Google Shape;285;p37"/>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It's worth noting that there are several approaches to dealing with outliers once you've defined and identified them. One of the approaches - the one you'll be taking in this course - is the following:</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b="1" i="1" lang="en-US"/>
              <a:t>Unless explicitly asked to do so, just l</a:t>
            </a:r>
            <a:r>
              <a:rPr b="1" i="1" lang="en-US"/>
              <a:t>eave them there - don't even bother finding them.</a:t>
            </a:r>
            <a:endParaRPr b="1" i="1"/>
          </a:p>
          <a:p>
            <a:pPr indent="0" lvl="0" marL="0" rtl="0" algn="l">
              <a:spcBef>
                <a:spcPts val="0"/>
              </a:spcBef>
              <a:spcAft>
                <a:spcPts val="0"/>
              </a:spcAft>
              <a:buNone/>
            </a:pPr>
            <a:r>
              <a:t/>
            </a:r>
            <a:endParaRPr/>
          </a:p>
          <a:p>
            <a:pPr indent="0" lvl="0" marL="0" rtl="0" algn="l">
              <a:spcBef>
                <a:spcPts val="0"/>
              </a:spcBef>
              <a:spcAft>
                <a:spcPts val="0"/>
              </a:spcAft>
              <a:buNone/>
            </a:pPr>
            <a:r>
              <a:rPr lang="en-US"/>
              <a:t>Ultimately, they </a:t>
            </a:r>
            <a:r>
              <a:rPr i="1" lang="en-US"/>
              <a:t>may</a:t>
            </a:r>
            <a:r>
              <a:rPr lang="en-US"/>
              <a:t> skew your data analysis, but you won't know until you actually do the analysis. So keep 'em for now!</a:t>
            </a:r>
            <a:endParaRPr/>
          </a:p>
        </p:txBody>
      </p:sp>
      <p:sp>
        <p:nvSpPr>
          <p:cNvPr id="286" name="Google Shape;286;p3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Summary of terms</a:t>
            </a:r>
            <a:endParaRPr/>
          </a:p>
        </p:txBody>
      </p:sp>
      <p:sp>
        <p:nvSpPr>
          <p:cNvPr id="293" name="Google Shape;293;p3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Terminology:</a:t>
            </a:r>
            <a:endParaRPr/>
          </a:p>
          <a:p>
            <a:pPr indent="-285750" lvl="0" marL="457200" rtl="0" algn="l">
              <a:spcBef>
                <a:spcPts val="0"/>
              </a:spcBef>
              <a:spcAft>
                <a:spcPts val="0"/>
              </a:spcAft>
              <a:buSzPts val="900"/>
              <a:buChar char="•"/>
            </a:pPr>
            <a:r>
              <a:rPr lang="en-US" sz="900"/>
              <a:t>Data type:</a:t>
            </a:r>
            <a:endParaRPr sz="900"/>
          </a:p>
          <a:p>
            <a:pPr indent="-285750" lvl="1" marL="914400" rtl="0" algn="l">
              <a:spcBef>
                <a:spcPts val="0"/>
              </a:spcBef>
              <a:spcAft>
                <a:spcPts val="0"/>
              </a:spcAft>
              <a:buSzPts val="900"/>
              <a:buAutoNum type="arabicPeriod"/>
            </a:pPr>
            <a:r>
              <a:rPr lang="en-US" sz="900"/>
              <a:t>Cross Sectional</a:t>
            </a:r>
            <a:endParaRPr sz="900"/>
          </a:p>
          <a:p>
            <a:pPr indent="-285750" lvl="1" marL="914400" rtl="0" algn="l">
              <a:spcBef>
                <a:spcPts val="0"/>
              </a:spcBef>
              <a:spcAft>
                <a:spcPts val="0"/>
              </a:spcAft>
              <a:buSzPts val="900"/>
              <a:buAutoNum type="arabicPeriod"/>
            </a:pPr>
            <a:r>
              <a:rPr lang="en-US" sz="900"/>
              <a:t>Time Series</a:t>
            </a:r>
            <a:endParaRPr sz="900"/>
          </a:p>
          <a:p>
            <a:pPr indent="-285750" lvl="1" marL="914400" rtl="0" algn="l">
              <a:spcBef>
                <a:spcPts val="0"/>
              </a:spcBef>
              <a:spcAft>
                <a:spcPts val="0"/>
              </a:spcAft>
              <a:buSzPts val="900"/>
              <a:buAutoNum type="arabicPeriod"/>
            </a:pPr>
            <a:r>
              <a:rPr lang="en-US" sz="900"/>
              <a:t>Panel</a:t>
            </a:r>
            <a:endParaRPr sz="900"/>
          </a:p>
          <a:p>
            <a:pPr indent="-285750" lvl="0" marL="457200" rtl="0" algn="l">
              <a:spcBef>
                <a:spcPts val="0"/>
              </a:spcBef>
              <a:spcAft>
                <a:spcPts val="0"/>
              </a:spcAft>
              <a:buSzPts val="900"/>
              <a:buChar char="•"/>
            </a:pPr>
            <a:r>
              <a:rPr lang="en-US" sz="900"/>
              <a:t>Data wrangling:</a:t>
            </a:r>
            <a:endParaRPr sz="900"/>
          </a:p>
          <a:p>
            <a:pPr indent="-285750" lvl="1" marL="914400" rtl="0" algn="l">
              <a:spcBef>
                <a:spcPts val="0"/>
              </a:spcBef>
              <a:spcAft>
                <a:spcPts val="0"/>
              </a:spcAft>
              <a:buSzPts val="900"/>
              <a:buAutoNum type="arabicPeriod"/>
            </a:pPr>
            <a:r>
              <a:rPr lang="en-US" sz="900"/>
              <a:t>Collect data</a:t>
            </a:r>
            <a:endParaRPr sz="900"/>
          </a:p>
          <a:p>
            <a:pPr indent="-285750" lvl="1" marL="914400" rtl="0" algn="l">
              <a:spcBef>
                <a:spcPts val="0"/>
              </a:spcBef>
              <a:spcAft>
                <a:spcPts val="0"/>
              </a:spcAft>
              <a:buSzPts val="900"/>
              <a:buAutoNum type="arabicPeriod"/>
            </a:pPr>
            <a:r>
              <a:rPr lang="en-US" sz="900"/>
              <a:t>Select records and attributes</a:t>
            </a:r>
            <a:endParaRPr sz="900"/>
          </a:p>
          <a:p>
            <a:pPr indent="-285750" lvl="0" marL="457200" rtl="0" algn="l">
              <a:spcBef>
                <a:spcPts val="0"/>
              </a:spcBef>
              <a:spcAft>
                <a:spcPts val="0"/>
              </a:spcAft>
              <a:buClr>
                <a:schemeClr val="dk1"/>
              </a:buClr>
              <a:buSzPts val="900"/>
              <a:buChar char="•"/>
            </a:pPr>
            <a:r>
              <a:rPr lang="en-US" sz="900">
                <a:solidFill>
                  <a:schemeClr val="dk1"/>
                </a:solidFill>
              </a:rPr>
              <a:t>box plot</a:t>
            </a:r>
            <a:endParaRPr sz="900"/>
          </a:p>
          <a:p>
            <a:pPr indent="-285750" lvl="0" marL="457200" rtl="0" algn="l">
              <a:spcBef>
                <a:spcPts val="0"/>
              </a:spcBef>
              <a:spcAft>
                <a:spcPts val="0"/>
              </a:spcAft>
              <a:buSzPts val="900"/>
              <a:buChar char="•"/>
            </a:pPr>
            <a:r>
              <a:rPr lang="en-US" sz="900"/>
              <a:t>outliers</a:t>
            </a:r>
            <a:endParaRPr sz="900"/>
          </a:p>
          <a:p>
            <a:pPr indent="-285750" lvl="0" marL="457200" rtl="0" algn="l">
              <a:spcBef>
                <a:spcPts val="0"/>
              </a:spcBef>
              <a:spcAft>
                <a:spcPts val="0"/>
              </a:spcAft>
              <a:buSzPts val="900"/>
              <a:buChar char="•"/>
            </a:pPr>
            <a:r>
              <a:rPr lang="en-US" sz="900"/>
              <a:t>Interquartile range</a:t>
            </a:r>
            <a:endParaRPr sz="900"/>
          </a:p>
          <a:p>
            <a:pPr indent="-285750" lvl="0" marL="457200" rtl="0" algn="l">
              <a:spcBef>
                <a:spcPts val="0"/>
              </a:spcBef>
              <a:spcAft>
                <a:spcPts val="0"/>
              </a:spcAft>
              <a:buSzPts val="900"/>
              <a:buChar char="•"/>
            </a:pPr>
            <a:r>
              <a:rPr lang="en-US" sz="900"/>
              <a:t>dropping</a:t>
            </a:r>
            <a:endParaRPr sz="900"/>
          </a:p>
        </p:txBody>
      </p:sp>
      <p:sp>
        <p:nvSpPr>
          <p:cNvPr id="294" name="Google Shape;294;p3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specific terminology/syntax:</a:t>
            </a:r>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DataFrame.drop_duplicates()</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DataFrame.drop()</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DataFrame.isna()</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DataFrame.dropna()</a:t>
            </a:r>
            <a:endParaRPr sz="1200">
              <a:solidFill>
                <a:schemeClr val="dk1"/>
              </a:solidFill>
              <a:latin typeface="Courier New"/>
              <a:ea typeface="Courier New"/>
              <a:cs typeface="Courier New"/>
              <a:sym typeface="Courier New"/>
            </a:endParaRPr>
          </a:p>
        </p:txBody>
      </p:sp>
      <p:sp>
        <p:nvSpPr>
          <p:cNvPr id="295" name="Google Shape;295;p3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