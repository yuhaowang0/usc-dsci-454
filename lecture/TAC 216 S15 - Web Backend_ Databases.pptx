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7315200" cy="9601200"/>
  <p:embeddedFontLst>
    <p:embeddedFont>
      <p:font typeface="Proxima Nova"/>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regular.fntdata"/><Relationship Id="rId50" Type="http://schemas.openxmlformats.org/officeDocument/2006/relationships/font" Target="fonts/ProximaNova-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ccecb9d54c_0_5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6" name="Google Shape;56;gccecb9d54c_0_5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 name="Google Shape;57;gccecb9d54c_0_5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fc300aabd7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5" name="Google Shape;65;gfc300aabd7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 name="Google Shape;66;gfc300aabd7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ccecb9d54c_0_6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4" name="Google Shape;74;gccecb9d54c_0_6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5" name="Google Shape;75;gccecb9d54c_0_6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fc300aabd7_0_6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2" name="Google Shape;82;gfc300aabd7_0_6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 name="Google Shape;83;gfc300aabd7_0_6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bdbaa2308_0_5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bdbaa2308_0_5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1" name="Google Shape;91;g34bdbaa2308_0_5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fc300aabd7_0_6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8" name="Google Shape;98;gfc300aabd7_0_6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9" name="Google Shape;99;gfc300aabd7_0_6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ccdcf53503_0_3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ccdcf53503_0_3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7" name="Google Shape;107;gccdcf53503_0_3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fc300aabd7_0_9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fc300aabd7_0_9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5" name="Google Shape;115;gfc300aabd7_0_9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fc300aabd7_0_9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fc300aabd7_0_9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 name="Google Shape;123;gfc300aabd7_0_9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ccecb9d54c_0_11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ccecb9d54c_0_11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gccecb9d54c_0_11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ccecb9d54c_0_7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ccecb9d54c_0_7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gccecb9d54c_0_7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ccecb9d54c_0_11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ccecb9d54c_0_11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gccecb9d54c_0_11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ccecb9d54c_0_12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ccecb9d54c_0_12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 name="Google Shape;157;gccecb9d54c_0_12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ccecb9d54c_0_8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ccecb9d54c_0_8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 name="Google Shape;166;gccecb9d54c_0_8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cecb9d54c_0_13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cecb9d54c_0_13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gccecb9d54c_0_13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ccdcf53503_0_8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ccdcf53503_0_8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4" name="Google Shape;184;gccdcf53503_0_8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fc300aabd7_0_16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fc300aabd7_0_16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2" name="Google Shape;192;gfc300aabd7_0_16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fc300aabd7_0_15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fc300aabd7_0_15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1" name="Google Shape;201;gfc300aabd7_0_15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fc300aabd7_0_17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fc300aabd7_0_17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 name="Google Shape;211;gfc300aabd7_0_17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fc300aabd7_0_17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fc300aabd7_0_17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0" name="Google Shape;220;gfc300aabd7_0_17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fc300aabd7_0_19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fc300aabd7_0_19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gfc300aabd7_0_19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fc300aabd7_0_18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fc300aabd7_0_18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8" name="Google Shape;238;gfc300aabd7_0_18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fc300aabd7_0_20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fc300aabd7_0_20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7" name="Google Shape;247;gfc300aabd7_0_20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fc300aabd7_0_20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fc300aabd7_0_20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6" name="Google Shape;256;gfc300aabd7_0_20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fc300aabd7_0_21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fc300aabd7_0_21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5" name="Google Shape;265;gfc300aabd7_0_21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fc300aabd7_0_22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fc300aabd7_0_22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4" name="Google Shape;274;gfc300aabd7_0_22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fc300aabd7_0_22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fc300aabd7_0_22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3" name="Google Shape;283;gfc300aabd7_0_22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fc300aabd7_0_24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fc300aabd7_0_24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2" name="Google Shape;292;gfc300aabd7_0_24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fc300aabd7_0_24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fc300aabd7_0_24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1" name="Google Shape;301;gfc300aabd7_0_24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fc300aabd7_0_23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fc300aabd7_0_23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0" name="Google Shape;310;gfc300aabd7_0_23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4bdbaa2308_0_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8" name="Google Shape;318;g34bdbaa2308_0_5:notes"/>
          <p:cNvSpPr txBox="1"/>
          <p:nvPr>
            <p:ph idx="1" type="body"/>
          </p:nvPr>
        </p:nvSpPr>
        <p:spPr>
          <a:xfrm>
            <a:off x="731838" y="4560888"/>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9" name="Google Shape;319;g34bdbaa2308_0_5:notes"/>
          <p:cNvSpPr txBox="1"/>
          <p:nvPr>
            <p:ph idx="12" type="sldNum"/>
          </p:nvPr>
        </p:nvSpPr>
        <p:spPr>
          <a:xfrm>
            <a:off x="4143375" y="9120188"/>
            <a:ext cx="3170100" cy="479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fc300aabd7_0_25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fc300aabd7_0_25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8" name="Google Shape;328;gfc300aabd7_0_25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fc300aabd7_0_26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fc300aabd7_0_26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6" name="Google Shape;336;gfc300aabd7_0_26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fc300aabd7_0_26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fc300aabd7_0_26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6" name="Google Shape;346;gfc300aabd7_0_26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fc300aabd7_0_27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fc300aabd7_0_27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5" name="Google Shape;355;gfc300aabd7_0_27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fc300aabd7_0_28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fc300aabd7_0_28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4" name="Google Shape;364;gfc300aabd7_0_28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fc300aabd7_0_28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fc300aabd7_0_28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3" name="Google Shape;373;gfc300aabd7_0_28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fc300aabd7_0_29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fc300aabd7_0_29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2" name="Google Shape;382;gfc300aabd7_0_29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fc300aabd7_0_30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fc300aabd7_0_30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1" name="Google Shape;391;gfc300aabd7_0_30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fc300aabd7_0_31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fc300aabd7_0_31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0" name="Google Shape;400;gfc300aabd7_0_31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fc300aabd7_0_32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fc300aabd7_0_32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9" name="Google Shape;409;gfc300aabd7_0_32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
        <p:nvSpPr>
          <p:cNvPr id="22" name="Google Shape;22;p2"/>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lvl1pPr lvl="0" algn="r">
              <a:buNone/>
              <a:defRPr sz="1300">
                <a:solidFill>
                  <a:srgbClr val="990000"/>
                </a:solidFill>
              </a:defRPr>
            </a:lvl1pPr>
            <a:lvl2pPr lvl="1" algn="r">
              <a:buNone/>
              <a:defRPr sz="1300">
                <a:solidFill>
                  <a:srgbClr val="990000"/>
                </a:solidFill>
              </a:defRPr>
            </a:lvl2pPr>
            <a:lvl3pPr lvl="2" algn="r">
              <a:buNone/>
              <a:defRPr sz="1300">
                <a:solidFill>
                  <a:srgbClr val="990000"/>
                </a:solidFill>
              </a:defRPr>
            </a:lvl3pPr>
            <a:lvl4pPr lvl="3" algn="r">
              <a:buNone/>
              <a:defRPr sz="1300">
                <a:solidFill>
                  <a:srgbClr val="990000"/>
                </a:solidFill>
              </a:defRPr>
            </a:lvl4pPr>
            <a:lvl5pPr lvl="4" algn="r">
              <a:buNone/>
              <a:defRPr sz="1300">
                <a:solidFill>
                  <a:srgbClr val="990000"/>
                </a:solidFill>
              </a:defRPr>
            </a:lvl5pPr>
            <a:lvl6pPr lvl="5" algn="r">
              <a:buNone/>
              <a:defRPr sz="1300">
                <a:solidFill>
                  <a:srgbClr val="990000"/>
                </a:solidFill>
              </a:defRPr>
            </a:lvl6pPr>
            <a:lvl7pPr lvl="6" algn="r">
              <a:buNone/>
              <a:defRPr sz="1300">
                <a:solidFill>
                  <a:srgbClr val="990000"/>
                </a:solidFill>
              </a:defRPr>
            </a:lvl7pPr>
            <a:lvl8pPr lvl="7" algn="r">
              <a:buNone/>
              <a:defRPr sz="1300">
                <a:solidFill>
                  <a:srgbClr val="990000"/>
                </a:solidFill>
              </a:defRPr>
            </a:lvl8pPr>
            <a:lvl9pPr lvl="8" algn="r">
              <a:buNone/>
              <a:defRPr sz="1300">
                <a:solidFill>
                  <a:srgbClr val="99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6" name="Google Shape;26;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7" name="Shape 27"/>
        <p:cNvGrpSpPr/>
        <p:nvPr/>
      </p:nvGrpSpPr>
      <p:grpSpPr>
        <a:xfrm>
          <a:off x="0" y="0"/>
          <a:ext cx="0" cy="0"/>
          <a:chOff x="0" y="0"/>
          <a:chExt cx="0" cy="0"/>
        </a:xfrm>
      </p:grpSpPr>
      <p:sp>
        <p:nvSpPr>
          <p:cNvPr id="28" name="Google Shape;28;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9" name="Google Shape;29;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0" name="Google Shape;30;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 name="Google Shape;33;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4" name="Google Shape;34;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5" name="Shape 35"/>
        <p:cNvGrpSpPr/>
        <p:nvPr/>
      </p:nvGrpSpPr>
      <p:grpSpPr>
        <a:xfrm>
          <a:off x="0" y="0"/>
          <a:ext cx="0" cy="0"/>
          <a:chOff x="0" y="0"/>
          <a:chExt cx="0" cy="0"/>
        </a:xfrm>
      </p:grpSpPr>
      <p:sp>
        <p:nvSpPr>
          <p:cNvPr id="36" name="Google Shape;36;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 name="Google Shape;37;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8" name="Google Shape;38;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9" name="Google Shape;39;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40" name="Shape 40"/>
        <p:cNvGrpSpPr/>
        <p:nvPr/>
      </p:nvGrpSpPr>
      <p:grpSpPr>
        <a:xfrm>
          <a:off x="0" y="0"/>
          <a:ext cx="0" cy="0"/>
          <a:chOff x="0" y="0"/>
          <a:chExt cx="0" cy="0"/>
        </a:xfrm>
      </p:grpSpPr>
      <p:sp>
        <p:nvSpPr>
          <p:cNvPr id="41" name="Google Shape;41;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2" name="Google Shape;42;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3" name="Google Shape;43;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6" name="Shape 46"/>
        <p:cNvGrpSpPr/>
        <p:nvPr/>
      </p:nvGrpSpPr>
      <p:grpSpPr>
        <a:xfrm>
          <a:off x="0" y="0"/>
          <a:ext cx="0" cy="0"/>
          <a:chOff x="0" y="0"/>
          <a:chExt cx="0" cy="0"/>
        </a:xfrm>
      </p:grpSpPr>
      <p:sp>
        <p:nvSpPr>
          <p:cNvPr id="47" name="Google Shape;47;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8" name="Google Shape;48;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1">
  <p:cSld name="TWO_OBJECTS_1_2">
    <p:spTree>
      <p:nvGrpSpPr>
        <p:cNvPr id="49" name="Shape 49"/>
        <p:cNvGrpSpPr/>
        <p:nvPr/>
      </p:nvGrpSpPr>
      <p:grpSpPr>
        <a:xfrm>
          <a:off x="0" y="0"/>
          <a:ext cx="0" cy="0"/>
          <a:chOff x="0" y="0"/>
          <a:chExt cx="0" cy="0"/>
        </a:xfrm>
      </p:grpSpPr>
      <p:sp>
        <p:nvSpPr>
          <p:cNvPr id="50" name="Google Shape;50;p10"/>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
        <p:nvSpPr>
          <p:cNvPr id="52" name="Google Shape;52;p10"/>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rgbClr val="000000"/>
              </a:buClr>
              <a:buSzPts val="1600"/>
              <a:buChar char="•"/>
              <a:defRPr/>
            </a:lvl1pPr>
            <a:lvl2pPr indent="-323850" lvl="1" marL="914400" algn="l">
              <a:lnSpc>
                <a:spcPct val="150000"/>
              </a:lnSpc>
              <a:spcBef>
                <a:spcPts val="0"/>
              </a:spcBef>
              <a:spcAft>
                <a:spcPts val="0"/>
              </a:spcAft>
              <a:buClr>
                <a:srgbClr val="000000"/>
              </a:buClr>
              <a:buSzPts val="1500"/>
              <a:buChar char="–"/>
              <a:defRPr/>
            </a:lvl2pPr>
            <a:lvl3pPr indent="-317500" lvl="2" marL="1371600" algn="l">
              <a:lnSpc>
                <a:spcPct val="150000"/>
              </a:lnSpc>
              <a:spcBef>
                <a:spcPts val="0"/>
              </a:spcBef>
              <a:spcAft>
                <a:spcPts val="0"/>
              </a:spcAft>
              <a:buClr>
                <a:srgbClr val="000000"/>
              </a:buClr>
              <a:buSzPts val="1400"/>
              <a:buChar char="•"/>
              <a:defRPr/>
            </a:lvl3pPr>
            <a:lvl4pPr indent="-311150" lvl="3" marL="1828800" algn="l">
              <a:lnSpc>
                <a:spcPct val="150000"/>
              </a:lnSpc>
              <a:spcBef>
                <a:spcPts val="0"/>
              </a:spcBef>
              <a:spcAft>
                <a:spcPts val="0"/>
              </a:spcAft>
              <a:buClr>
                <a:srgbClr val="000000"/>
              </a:buClr>
              <a:buSzPts val="1300"/>
              <a:buChar char="–"/>
              <a:defRPr/>
            </a:lvl4pPr>
            <a:lvl5pPr indent="-304800" lvl="4" marL="2286000" algn="l">
              <a:lnSpc>
                <a:spcPct val="150000"/>
              </a:lnSpc>
              <a:spcBef>
                <a:spcPts val="0"/>
              </a:spcBef>
              <a:spcAft>
                <a:spcPts val="0"/>
              </a:spcAft>
              <a:buClr>
                <a:srgbClr val="000000"/>
              </a:buClr>
              <a:buSzPts val="1200"/>
              <a:buChar char="»"/>
              <a:defRPr/>
            </a:lvl5pPr>
            <a:lvl6pPr indent="-292100" lvl="5" marL="2743200" algn="l">
              <a:lnSpc>
                <a:spcPct val="150000"/>
              </a:lnSpc>
              <a:spcBef>
                <a:spcPts val="0"/>
              </a:spcBef>
              <a:spcAft>
                <a:spcPts val="0"/>
              </a:spcAft>
              <a:buClr>
                <a:schemeClr val="dk1"/>
              </a:buClr>
              <a:buSzPts val="1000"/>
              <a:buChar char="•"/>
              <a:defRPr/>
            </a:lvl6pPr>
            <a:lvl7pPr indent="-285750" lvl="6" marL="3200400" algn="l">
              <a:lnSpc>
                <a:spcPct val="150000"/>
              </a:lnSpc>
              <a:spcBef>
                <a:spcPts val="0"/>
              </a:spcBef>
              <a:spcAft>
                <a:spcPts val="0"/>
              </a:spcAft>
              <a:buClr>
                <a:schemeClr val="dk1"/>
              </a:buClr>
              <a:buSzPts val="900"/>
              <a:buChar char="•"/>
              <a:defRPr/>
            </a:lvl7pPr>
            <a:lvl8pPr indent="-279400" lvl="7" marL="3657600" algn="l">
              <a:lnSpc>
                <a:spcPct val="150000"/>
              </a:lnSpc>
              <a:spcBef>
                <a:spcPts val="0"/>
              </a:spcBef>
              <a:spcAft>
                <a:spcPts val="0"/>
              </a:spcAft>
              <a:buClr>
                <a:schemeClr val="dk1"/>
              </a:buClr>
              <a:buSzPts val="800"/>
              <a:buChar char="•"/>
              <a:defRPr/>
            </a:lvl8pPr>
            <a:lvl9pPr indent="-273050" lvl="8" marL="4114800" algn="l">
              <a:lnSpc>
                <a:spcPct val="150000"/>
              </a:lnSpc>
              <a:spcBef>
                <a:spcPts val="0"/>
              </a:spcBef>
              <a:spcAft>
                <a:spcPts val="0"/>
              </a:spcAft>
              <a:buClr>
                <a:schemeClr val="dk1"/>
              </a:buClr>
              <a:buSzPts val="700"/>
              <a:buChar char="•"/>
              <a:defRPr/>
            </a:lvl9pPr>
          </a:lstStyle>
          <a:p/>
        </p:txBody>
      </p:sp>
      <p:sp>
        <p:nvSpPr>
          <p:cNvPr id="53" name="Google Shape;53;p10"/>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rgbClr val="000000"/>
              </a:buClr>
              <a:buSzPts val="1600"/>
              <a:buChar char="•"/>
              <a:defRPr/>
            </a:lvl1pPr>
            <a:lvl2pPr indent="-323850" lvl="1" marL="914400" algn="l">
              <a:lnSpc>
                <a:spcPct val="150000"/>
              </a:lnSpc>
              <a:spcBef>
                <a:spcPts val="0"/>
              </a:spcBef>
              <a:spcAft>
                <a:spcPts val="0"/>
              </a:spcAft>
              <a:buClr>
                <a:srgbClr val="000000"/>
              </a:buClr>
              <a:buSzPts val="1500"/>
              <a:buChar char="–"/>
              <a:defRPr/>
            </a:lvl2pPr>
            <a:lvl3pPr indent="-317500" lvl="2" marL="1371600" algn="l">
              <a:lnSpc>
                <a:spcPct val="150000"/>
              </a:lnSpc>
              <a:spcBef>
                <a:spcPts val="0"/>
              </a:spcBef>
              <a:spcAft>
                <a:spcPts val="0"/>
              </a:spcAft>
              <a:buClr>
                <a:srgbClr val="000000"/>
              </a:buClr>
              <a:buSzPts val="1400"/>
              <a:buChar char="•"/>
              <a:defRPr/>
            </a:lvl3pPr>
            <a:lvl4pPr indent="-311150" lvl="3" marL="1828800" algn="l">
              <a:lnSpc>
                <a:spcPct val="150000"/>
              </a:lnSpc>
              <a:spcBef>
                <a:spcPts val="0"/>
              </a:spcBef>
              <a:spcAft>
                <a:spcPts val="0"/>
              </a:spcAft>
              <a:buClr>
                <a:srgbClr val="000000"/>
              </a:buClr>
              <a:buSzPts val="1300"/>
              <a:buChar char="–"/>
              <a:defRPr/>
            </a:lvl4pPr>
            <a:lvl5pPr indent="-304800" lvl="4" marL="2286000" algn="l">
              <a:lnSpc>
                <a:spcPct val="150000"/>
              </a:lnSpc>
              <a:spcBef>
                <a:spcPts val="0"/>
              </a:spcBef>
              <a:spcAft>
                <a:spcPts val="0"/>
              </a:spcAft>
              <a:buClr>
                <a:srgbClr val="000000"/>
              </a:buClr>
              <a:buSzPts val="1200"/>
              <a:buChar char="»"/>
              <a:defRPr/>
            </a:lvl5pPr>
            <a:lvl6pPr indent="-292100" lvl="5" marL="2743200" algn="l">
              <a:lnSpc>
                <a:spcPct val="150000"/>
              </a:lnSpc>
              <a:spcBef>
                <a:spcPts val="0"/>
              </a:spcBef>
              <a:spcAft>
                <a:spcPts val="0"/>
              </a:spcAft>
              <a:buClr>
                <a:schemeClr val="dk1"/>
              </a:buClr>
              <a:buSzPts val="1000"/>
              <a:buChar char="•"/>
              <a:defRPr/>
            </a:lvl6pPr>
            <a:lvl7pPr indent="-285750" lvl="6" marL="3200400" algn="l">
              <a:lnSpc>
                <a:spcPct val="150000"/>
              </a:lnSpc>
              <a:spcBef>
                <a:spcPts val="0"/>
              </a:spcBef>
              <a:spcAft>
                <a:spcPts val="0"/>
              </a:spcAft>
              <a:buClr>
                <a:schemeClr val="dk1"/>
              </a:buClr>
              <a:buSzPts val="900"/>
              <a:buChar char="•"/>
              <a:defRPr/>
            </a:lvl7pPr>
            <a:lvl8pPr indent="-279400" lvl="7" marL="3657600" algn="l">
              <a:lnSpc>
                <a:spcPct val="150000"/>
              </a:lnSpc>
              <a:spcBef>
                <a:spcPts val="0"/>
              </a:spcBef>
              <a:spcAft>
                <a:spcPts val="0"/>
              </a:spcAft>
              <a:buClr>
                <a:schemeClr val="dk1"/>
              </a:buClr>
              <a:buSzPts val="800"/>
              <a:buChar char="•"/>
              <a:defRPr/>
            </a:lvl8pPr>
            <a:lvl9pPr indent="-273050" lvl="8" marL="411480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theme" Target="../theme/theme1.xml"/><Relationship Id="rId12" Type="http://schemas.openxmlformats.org/officeDocument/2006/relationships/slideLayout" Target="../slideLayouts/slideLayout9.xml"/><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CnIxQVQO5kse1bK0u6Zq5lq9iFSTQFTDKWxBXG1DUM4/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en.wikipedia.org/wiki/Grave_accen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www.youtube.com/watch?v=_jKylhJtPmI"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hyperlink" Target="https://github.com/lerocha/chinook-database" TargetMode="Externa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1"/>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Web Backend: Databases</a:t>
            </a:r>
            <a:endParaRPr/>
          </a:p>
        </p:txBody>
      </p:sp>
      <p:sp>
        <p:nvSpPr>
          <p:cNvPr id="60" name="Google Shape;60;p11"/>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61" name="Google Shape;61;p11"/>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
        <p:nvSpPr>
          <p:cNvPr id="62" name="Google Shape;62;p11"/>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9" name="Google Shape;69;p1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Learning Objectives</a:t>
            </a:r>
            <a:endParaRPr b="1"/>
          </a:p>
          <a:p>
            <a:pPr indent="0" lvl="0" marL="0" rtl="0" algn="l">
              <a:spcBef>
                <a:spcPts val="0"/>
              </a:spcBef>
              <a:spcAft>
                <a:spcPts val="0"/>
              </a:spcAft>
              <a:buClr>
                <a:schemeClr val="dk1"/>
              </a:buClr>
              <a:buSzPts val="1100"/>
              <a:buFont typeface="Arial"/>
              <a:buNone/>
            </a:pPr>
            <a:r>
              <a:rPr lang="en-US"/>
              <a:t>By the end of this week, you should:</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understand the purpose of databases</a:t>
            </a:r>
            <a:endParaRPr/>
          </a:p>
          <a:p>
            <a:pPr indent="-330200" lvl="0" marL="457200" rtl="0" algn="l">
              <a:spcBef>
                <a:spcPts val="0"/>
              </a:spcBef>
              <a:spcAft>
                <a:spcPts val="0"/>
              </a:spcAft>
              <a:buSzPts val="1600"/>
              <a:buChar char="•"/>
            </a:pPr>
            <a:r>
              <a:rPr lang="en-US"/>
              <a:t>identify the features of a database</a:t>
            </a:r>
            <a:endParaRPr/>
          </a:p>
          <a:p>
            <a:pPr indent="-330200" lvl="0" marL="457200" rtl="0" algn="l">
              <a:spcBef>
                <a:spcPts val="0"/>
              </a:spcBef>
              <a:spcAft>
                <a:spcPts val="0"/>
              </a:spcAft>
              <a:buSzPts val="1600"/>
              <a:buChar char="•"/>
            </a:pPr>
            <a:r>
              <a:rPr lang="en-US"/>
              <a:t>know how to interact with an API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70" name="Google Shape;70;p1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Measurable Outcomes</a:t>
            </a:r>
            <a:endParaRPr b="1"/>
          </a:p>
          <a:p>
            <a:pPr indent="0" lvl="0" marL="0" rtl="0" algn="l">
              <a:spcBef>
                <a:spcPts val="0"/>
              </a:spcBef>
              <a:spcAft>
                <a:spcPts val="0"/>
              </a:spcAft>
              <a:buClr>
                <a:schemeClr val="dk1"/>
              </a:buClr>
              <a:buSzPts val="1100"/>
              <a:buFont typeface="Arial"/>
              <a:buNone/>
            </a:pPr>
            <a:r>
              <a:rPr lang="en-US"/>
              <a:t>By the end of this week, you should be able to:</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create and query a database</a:t>
            </a:r>
            <a:endParaRPr/>
          </a:p>
          <a:p>
            <a:pPr indent="-330200" lvl="0" marL="457200" rtl="0" algn="l">
              <a:spcBef>
                <a:spcPts val="0"/>
              </a:spcBef>
              <a:spcAft>
                <a:spcPts val="0"/>
              </a:spcAft>
              <a:buSzPts val="1600"/>
              <a:buChar char="•"/>
            </a:pPr>
            <a:r>
              <a:rPr lang="en-US"/>
              <a:t>mutate data in a database</a:t>
            </a:r>
            <a:endParaRPr/>
          </a:p>
          <a:p>
            <a:pPr indent="-330200" lvl="0" marL="457200" rtl="0" algn="l">
              <a:spcBef>
                <a:spcPts val="0"/>
              </a:spcBef>
              <a:spcAft>
                <a:spcPts val="0"/>
              </a:spcAft>
              <a:buSzPts val="1600"/>
              <a:buChar char="•"/>
            </a:pPr>
            <a:r>
              <a:rPr lang="en-US"/>
              <a:t>interact with an external API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71" name="Google Shape;71;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DATABASES</a:t>
            </a:r>
            <a:endParaRPr/>
          </a:p>
        </p:txBody>
      </p:sp>
      <p:sp>
        <p:nvSpPr>
          <p:cNvPr id="78" name="Google Shape;78;p13"/>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9" name="Google Shape;79;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welcome</a:t>
            </a:r>
            <a:endParaRPr/>
          </a:p>
        </p:txBody>
      </p:sp>
      <p:sp>
        <p:nvSpPr>
          <p:cNvPr id="86" name="Google Shape;86;p1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800"/>
              <a:t>A </a:t>
            </a:r>
            <a:r>
              <a:rPr b="1" lang="en-US" sz="1800"/>
              <a:t>database</a:t>
            </a:r>
            <a:r>
              <a:rPr lang="en-US" sz="1800"/>
              <a:t> is a tool for collecting and organizing information. Databases can store information about people, products, orders, or anything else. Many databases start as a list in a word-processing program or spreadsheet. As the list grows bigger, redundancies and inconsistencies begin to appear in the data. The data becomes hard to understand in list form, and there are limited ways of searching or pulling subsets of data out for review. Once these problems start to appear, it's a good idea to transfer the data to a database created by a </a:t>
            </a:r>
            <a:r>
              <a:rPr b="1" lang="en-US" sz="1800"/>
              <a:t>database management system (DBMS)</a:t>
            </a:r>
            <a:r>
              <a:rPr lang="en-US" sz="1800"/>
              <a:t>.</a:t>
            </a:r>
            <a:endParaRPr sz="1800"/>
          </a:p>
        </p:txBody>
      </p:sp>
      <p:sp>
        <p:nvSpPr>
          <p:cNvPr id="87" name="Google Shape;87;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clients and servers</a:t>
            </a:r>
            <a:endParaRPr/>
          </a:p>
        </p:txBody>
      </p:sp>
      <p:sp>
        <p:nvSpPr>
          <p:cNvPr id="94" name="Google Shape;94;p1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Databases utilize a client/server model:</a:t>
            </a:r>
            <a:endParaRPr/>
          </a:p>
          <a:p>
            <a:pPr indent="-330200" lvl="0" marL="457200" rtl="0" algn="l">
              <a:spcBef>
                <a:spcPts val="0"/>
              </a:spcBef>
              <a:spcAft>
                <a:spcPts val="0"/>
              </a:spcAft>
              <a:buSzPts val="1600"/>
              <a:buChar char="•"/>
            </a:pPr>
            <a:r>
              <a:rPr lang="en-US"/>
              <a:t>the </a:t>
            </a:r>
            <a:r>
              <a:rPr b="1" lang="en-US"/>
              <a:t>client</a:t>
            </a:r>
            <a:r>
              <a:rPr lang="en-US"/>
              <a:t> (a computing device) makes a request to the </a:t>
            </a:r>
            <a:r>
              <a:rPr lang="en-US"/>
              <a:t>server.</a:t>
            </a:r>
            <a:endParaRPr/>
          </a:p>
          <a:p>
            <a:pPr indent="-330200" lvl="0" marL="457200" rtl="0" algn="l">
              <a:spcBef>
                <a:spcPts val="0"/>
              </a:spcBef>
              <a:spcAft>
                <a:spcPts val="0"/>
              </a:spcAft>
              <a:buSzPts val="1600"/>
              <a:buChar char="•"/>
            </a:pPr>
            <a:r>
              <a:rPr lang="en-US"/>
              <a:t>the </a:t>
            </a:r>
            <a:r>
              <a:rPr b="1" lang="en-US"/>
              <a:t>server</a:t>
            </a:r>
            <a:r>
              <a:rPr lang="en-US"/>
              <a:t> (also a computing device, where the data is stored) then </a:t>
            </a:r>
            <a:r>
              <a:rPr lang="en-US"/>
              <a:t>acts on that request - assuming it's a valid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Requests may come in many forms, including things like (casually) "update this", "delete that", "give me those", etc.</a:t>
            </a:r>
            <a:endParaRPr/>
          </a:p>
        </p:txBody>
      </p:sp>
      <p:sp>
        <p:nvSpPr>
          <p:cNvPr id="95" name="Google Shape;95;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tables</a:t>
            </a:r>
            <a:endParaRPr/>
          </a:p>
        </p:txBody>
      </p:sp>
      <p:sp>
        <p:nvSpPr>
          <p:cNvPr id="102" name="Google Shape;102;p16"/>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Typically, a database is a collection of related </a:t>
            </a:r>
            <a:r>
              <a:rPr b="1" lang="en-US"/>
              <a:t>tables</a:t>
            </a:r>
            <a:r>
              <a:rPr lang="en-US"/>
              <a:t>; </a:t>
            </a:r>
            <a:r>
              <a:rPr b="1" lang="en-US"/>
              <a:t>statements</a:t>
            </a:r>
            <a:r>
              <a:rPr lang="en-US"/>
              <a:t> can be issued to the database to read information from it and write information to any of its tables. A database table is where the data is actually stored. It is similar in appearance to a spreadsheet, in that data is stored in </a:t>
            </a:r>
            <a:r>
              <a:rPr b="1" lang="en-US"/>
              <a:t>rows</a:t>
            </a:r>
            <a:r>
              <a:rPr lang="en-US"/>
              <a:t> (also called </a:t>
            </a:r>
            <a:r>
              <a:rPr b="1" lang="en-US"/>
              <a:t>records</a:t>
            </a:r>
            <a:r>
              <a:rPr lang="en-US"/>
              <a:t>) and </a:t>
            </a:r>
            <a:r>
              <a:rPr b="1" lang="en-US"/>
              <a:t>columns</a:t>
            </a:r>
            <a:r>
              <a:rPr lang="en-US"/>
              <a:t> (also called </a:t>
            </a:r>
            <a:r>
              <a:rPr b="1" lang="en-US"/>
              <a:t>attributes</a:t>
            </a:r>
            <a:r>
              <a:rPr lang="en-US"/>
              <a:t>). As a result, it is usually quite easy to import a spreadsheet into a database table. The main difference between storing your data in a spreadsheet and storing it in a database is in how the data is organized.</a:t>
            </a:r>
            <a:endParaRPr/>
          </a:p>
        </p:txBody>
      </p:sp>
      <p:sp>
        <p:nvSpPr>
          <p:cNvPr id="103" name="Google Shape;103;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DATABASE OPERATIONS</a:t>
            </a:r>
            <a:endParaRPr/>
          </a:p>
        </p:txBody>
      </p:sp>
      <p:sp>
        <p:nvSpPr>
          <p:cNvPr id="110" name="Google Shape;110;p17"/>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11" name="Google Shape;111;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the process</a:t>
            </a:r>
            <a:endParaRPr/>
          </a:p>
        </p:txBody>
      </p:sp>
      <p:sp>
        <p:nvSpPr>
          <p:cNvPr id="118" name="Google Shape;118;p1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Typically, utilizing a database is done programmatically in three steps:</a:t>
            </a:r>
            <a:endParaRPr/>
          </a:p>
          <a:p>
            <a:pPr indent="-330200" lvl="0" marL="457200" rtl="0" algn="l">
              <a:spcBef>
                <a:spcPts val="0"/>
              </a:spcBef>
              <a:spcAft>
                <a:spcPts val="0"/>
              </a:spcAft>
              <a:buSzPts val="1600"/>
              <a:buAutoNum type="arabicPeriod"/>
            </a:pPr>
            <a:r>
              <a:rPr lang="en-US"/>
              <a:t>Acquire a connection with the database.</a:t>
            </a:r>
            <a:endParaRPr/>
          </a:p>
          <a:p>
            <a:pPr indent="-330200" lvl="0" marL="457200" rtl="0" algn="l">
              <a:spcBef>
                <a:spcPts val="0"/>
              </a:spcBef>
              <a:spcAft>
                <a:spcPts val="0"/>
              </a:spcAft>
              <a:buSzPts val="1600"/>
              <a:buAutoNum type="arabicPeriod"/>
            </a:pPr>
            <a:r>
              <a:rPr lang="en-US"/>
              <a:t>Issue statements.</a:t>
            </a:r>
            <a:endParaRPr/>
          </a:p>
          <a:p>
            <a:pPr indent="-330200" lvl="0" marL="457200" rtl="0" algn="l">
              <a:spcBef>
                <a:spcPts val="0"/>
              </a:spcBef>
              <a:spcAft>
                <a:spcPts val="0"/>
              </a:spcAft>
              <a:buSzPts val="1600"/>
              <a:buAutoNum type="arabicPeriod"/>
            </a:pPr>
            <a:r>
              <a:rPr lang="en-US"/>
              <a:t>Close the connection.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Let's focus a bit on the second step, since it's where a majority of the work is done.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19" name="Google Shape;119;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statements</a:t>
            </a:r>
            <a:endParaRPr/>
          </a:p>
        </p:txBody>
      </p:sp>
      <p:sp>
        <p:nvSpPr>
          <p:cNvPr id="126" name="Google Shape;126;p19"/>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 database </a:t>
            </a:r>
            <a:r>
              <a:rPr b="1" lang="en-US"/>
              <a:t>statement</a:t>
            </a:r>
            <a:r>
              <a:rPr lang="en-US"/>
              <a:t> can perform many different functions in a database. Their most common function is to retrieve specific data from the tables. The data you want to see is could be contained on one table, or spread across several tables, and statements allow you to </a:t>
            </a:r>
            <a:r>
              <a:rPr b="1" lang="en-US"/>
              <a:t>view</a:t>
            </a:r>
            <a:r>
              <a:rPr lang="en-US"/>
              <a:t> it in a single dataset. Also, since you usually don't want to see all the records at once, statements let you add criteria to "filter" the data down to just the records you want.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 statement to solely retrieve information (i.e. read) is called a </a:t>
            </a:r>
            <a:r>
              <a:rPr b="1" lang="en-US"/>
              <a:t>query</a:t>
            </a:r>
            <a:r>
              <a:rPr lang="en-US"/>
              <a:t>. A statement to change data in the database in some way (i.e. write) is called a </a:t>
            </a:r>
            <a:r>
              <a:rPr b="1" lang="en-US"/>
              <a:t>mutation</a:t>
            </a:r>
            <a:r>
              <a:rPr lang="en-US"/>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7" name="Google Shape;127;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syntax</a:t>
            </a:r>
            <a:endParaRPr/>
          </a:p>
        </p:txBody>
      </p:sp>
      <p:sp>
        <p:nvSpPr>
          <p:cNvPr id="134" name="Google Shape;134;p20"/>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So what kind of syntax does a database actually use? Well - it depends on the database! For this course, you're going to be using a</a:t>
            </a:r>
            <a:r>
              <a:rPr lang="en-US"/>
              <a:t> DBMS w</a:t>
            </a:r>
            <a:r>
              <a:rPr lang="en-US"/>
              <a:t>hich uses a syntax called </a:t>
            </a:r>
            <a:r>
              <a:rPr b="1" lang="en-US"/>
              <a:t>Structured Query Language (SQL)</a:t>
            </a:r>
            <a:r>
              <a:rPr lang="en-US"/>
              <a:t> to ask the database to do things. It's not a fully-fledged programming language - but it does allow you to interact with the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this course, there are some s</a:t>
            </a:r>
            <a:r>
              <a:rPr lang="en-US"/>
              <a:t>yntactic</a:t>
            </a:r>
            <a:r>
              <a:rPr lang="en-US"/>
              <a:t> conventions to follow:</a:t>
            </a:r>
            <a:endParaRPr/>
          </a:p>
          <a:p>
            <a:pPr indent="-330200" lvl="0" marL="457200" rtl="0" algn="l">
              <a:spcBef>
                <a:spcPts val="0"/>
              </a:spcBef>
              <a:spcAft>
                <a:spcPts val="0"/>
              </a:spcAft>
              <a:buSzPts val="1600"/>
              <a:buChar char="•"/>
            </a:pPr>
            <a:r>
              <a:rPr lang="en-US"/>
              <a:t>Each SQL line must end with a semicolon. (This is true everywhere.)</a:t>
            </a:r>
            <a:endParaRPr/>
          </a:p>
          <a:p>
            <a:pPr indent="-330200" lvl="0" marL="457200" rtl="0" algn="l">
              <a:spcBef>
                <a:spcPts val="0"/>
              </a:spcBef>
              <a:spcAft>
                <a:spcPts val="0"/>
              </a:spcAft>
              <a:buSzPts val="1600"/>
              <a:buChar char="•"/>
            </a:pPr>
            <a:r>
              <a:rPr lang="en-US"/>
              <a:t>All SQL keywords will appear in CAPS.</a:t>
            </a:r>
            <a:endParaRPr/>
          </a:p>
          <a:p>
            <a:pPr indent="-330200" lvl="0" marL="457200" rtl="0" algn="l">
              <a:spcBef>
                <a:spcPts val="0"/>
              </a:spcBef>
              <a:spcAft>
                <a:spcPts val="0"/>
              </a:spcAft>
              <a:buSzPts val="1600"/>
              <a:buChar char="•"/>
            </a:pPr>
            <a:r>
              <a:rPr lang="en-US"/>
              <a:t>Any user-created attributes or other properties will be in lowercase.</a:t>
            </a:r>
            <a:endParaRPr/>
          </a:p>
        </p:txBody>
      </p:sp>
      <p:sp>
        <p:nvSpPr>
          <p:cNvPr id="135" name="Google Shape;135;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 commands: CREATE </a:t>
            </a:r>
            <a:endParaRPr/>
          </a:p>
        </p:txBody>
      </p:sp>
      <p:sp>
        <p:nvSpPr>
          <p:cNvPr id="142" name="Google Shape;142;p2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Before you can actually start querying and mutating data, you've got to have a place to store it. The </a:t>
            </a:r>
            <a:r>
              <a:rPr b="1" lang="en-US"/>
              <a:t>CREATE</a:t>
            </a:r>
            <a:r>
              <a:rPr lang="en-US"/>
              <a:t> operation allows you to make new databases themselves, as well as new tables in existing databases.</a:t>
            </a:r>
            <a:endParaRPr/>
          </a:p>
        </p:txBody>
      </p:sp>
      <p:sp>
        <p:nvSpPr>
          <p:cNvPr id="143" name="Google Shape;143;p2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200">
                <a:solidFill>
                  <a:schemeClr val="dk1"/>
                </a:solidFill>
                <a:latin typeface="Courier New"/>
                <a:ea typeface="Courier New"/>
                <a:cs typeface="Courier New"/>
                <a:sym typeface="Courier New"/>
              </a:rPr>
              <a:t>CREATE</a:t>
            </a:r>
            <a:r>
              <a:rPr lang="en-US" sz="1200">
                <a:solidFill>
                  <a:schemeClr val="dk1"/>
                </a:solidFill>
                <a:latin typeface="Courier New"/>
                <a:ea typeface="Courier New"/>
                <a:cs typeface="Courier New"/>
                <a:sym typeface="Courier New"/>
              </a:rPr>
              <a:t> DATABASE</a:t>
            </a:r>
            <a:endParaRPr sz="1200">
              <a:solidFill>
                <a:schemeClr val="dk1"/>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favouriteFoods;</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200">
                <a:solidFill>
                  <a:schemeClr val="dk1"/>
                </a:solidFill>
                <a:latin typeface="Courier New"/>
                <a:ea typeface="Courier New"/>
                <a:cs typeface="Courier New"/>
                <a:sym typeface="Courier New"/>
              </a:rPr>
              <a:t>CREATE</a:t>
            </a:r>
            <a:r>
              <a:rPr lang="en-US" sz="1200">
                <a:solidFill>
                  <a:schemeClr val="dk1"/>
                </a:solidFill>
                <a:latin typeface="Courier New"/>
                <a:ea typeface="Courier New"/>
                <a:cs typeface="Courier New"/>
                <a:sym typeface="Courier New"/>
              </a:rPr>
              <a:t> TABLE IF NOT EXISTS credentials (</a:t>
            </a:r>
            <a:endParaRPr sz="12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sz="1200">
                <a:solidFill>
                  <a:schemeClr val="dk1"/>
                </a:solidFill>
                <a:latin typeface="Courier New"/>
                <a:ea typeface="Courier New"/>
                <a:cs typeface="Courier New"/>
                <a:sym typeface="Courier New"/>
              </a:rPr>
              <a:t>username		VARCHAR NOT NULL UNIQUE,</a:t>
            </a:r>
            <a:endParaRPr sz="12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sz="1200">
                <a:solidFill>
                  <a:schemeClr val="dk1"/>
                </a:solidFill>
                <a:latin typeface="Courier New"/>
                <a:ea typeface="Courier New"/>
                <a:cs typeface="Courier New"/>
                <a:sym typeface="Courier New"/>
              </a:rPr>
              <a:t>password		VARCHAR NOT NULL</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200">
                <a:solidFill>
                  <a:schemeClr val="dk1"/>
                </a:solidFill>
                <a:latin typeface="Courier New"/>
                <a:ea typeface="Courier New"/>
                <a:cs typeface="Courier New"/>
                <a:sym typeface="Courier New"/>
              </a:rPr>
              <a:t>CREATE</a:t>
            </a:r>
            <a:r>
              <a:rPr lang="en-US" sz="1200">
                <a:solidFill>
                  <a:schemeClr val="dk1"/>
                </a:solidFill>
                <a:latin typeface="Courier New"/>
                <a:ea typeface="Courier New"/>
                <a:cs typeface="Courier New"/>
                <a:sym typeface="Courier New"/>
              </a:rPr>
              <a:t> TABLE IF NOT EXISTS userfoods (</a:t>
            </a:r>
            <a:endParaRPr sz="1200">
              <a:solidFill>
                <a:schemeClr val="dk1"/>
              </a:solidFill>
            </a:endParaRPr>
          </a:p>
          <a:p>
            <a:pPr indent="457200" lvl="0" marL="0" rtl="0" algn="l">
              <a:spcBef>
                <a:spcPts val="0"/>
              </a:spcBef>
              <a:spcAft>
                <a:spcPts val="0"/>
              </a:spcAft>
              <a:buClr>
                <a:schemeClr val="dk1"/>
              </a:buClr>
              <a:buSzPts val="1600"/>
              <a:buFont typeface="Arial"/>
              <a:buNone/>
            </a:pPr>
            <a:r>
              <a:rPr lang="en-US" sz="1200">
                <a:solidFill>
                  <a:schemeClr val="dk1"/>
                </a:solidFill>
                <a:latin typeface="Courier New"/>
                <a:ea typeface="Courier New"/>
                <a:cs typeface="Courier New"/>
                <a:sym typeface="Courier New"/>
              </a:rPr>
              <a:t>username	VARCHAR NOT NULL UNIQUE,</a:t>
            </a:r>
            <a:endParaRPr sz="1200">
              <a:solidFill>
                <a:schemeClr val="dk1"/>
              </a:solidFill>
            </a:endParaRPr>
          </a:p>
          <a:p>
            <a:pPr indent="457200" lvl="0" marL="0" rtl="0" algn="l">
              <a:spcBef>
                <a:spcPts val="0"/>
              </a:spcBef>
              <a:spcAft>
                <a:spcPts val="0"/>
              </a:spcAft>
              <a:buClr>
                <a:schemeClr val="dk1"/>
              </a:buClr>
              <a:buSzPts val="1600"/>
              <a:buFont typeface="Arial"/>
              <a:buNone/>
            </a:pPr>
            <a:r>
              <a:rPr lang="en-US" sz="1200">
                <a:solidFill>
                  <a:schemeClr val="dk1"/>
                </a:solidFill>
                <a:latin typeface="Courier New"/>
                <a:ea typeface="Courier New"/>
                <a:cs typeface="Courier New"/>
                <a:sym typeface="Courier New"/>
              </a:rPr>
              <a:t>food	VARCHAR NOT NULL</a:t>
            </a:r>
            <a:endParaRPr sz="1200">
              <a:solidFill>
                <a:schemeClr val="dk1"/>
              </a:solidFill>
            </a:endParaRPr>
          </a:p>
          <a:p>
            <a:pPr indent="0" lvl="0" marL="0" rtl="0" algn="l">
              <a:spcBef>
                <a:spcPts val="0"/>
              </a:spcBef>
              <a:spcAft>
                <a:spcPts val="0"/>
              </a:spcAft>
              <a:buClr>
                <a:schemeClr val="dk1"/>
              </a:buClr>
              <a:buSzPts val="1600"/>
              <a:buFont typeface="Arial"/>
              <a:buNone/>
            </a:pPr>
            <a:r>
              <a:rPr lang="en-US"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p:txBody>
      </p:sp>
      <p:sp>
        <p:nvSpPr>
          <p:cNvPr id="144" name="Google Shape;144;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 commands: INSERT </a:t>
            </a:r>
            <a:endParaRPr/>
          </a:p>
        </p:txBody>
      </p:sp>
      <p:sp>
        <p:nvSpPr>
          <p:cNvPr id="151" name="Google Shape;151;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INSERT</a:t>
            </a:r>
            <a:r>
              <a:rPr lang="en-US"/>
              <a:t> operation creates a new record or set of records. This is a write operation.</a:t>
            </a:r>
            <a:endParaRPr/>
          </a:p>
        </p:txBody>
      </p:sp>
      <p:sp>
        <p:nvSpPr>
          <p:cNvPr id="152" name="Google Shape;152;p2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Courier New"/>
                <a:ea typeface="Courier New"/>
                <a:cs typeface="Courier New"/>
                <a:sym typeface="Courier New"/>
              </a:rPr>
              <a:t>INSERT OR IGNORE INTO</a:t>
            </a:r>
            <a:r>
              <a:rPr lang="en-US">
                <a:solidFill>
                  <a:schemeClr val="dk1"/>
                </a:solidFill>
                <a:latin typeface="Courier New"/>
                <a:ea typeface="Courier New"/>
                <a:cs typeface="Courier New"/>
                <a:sym typeface="Courier New"/>
              </a:rPr>
              <a:t> credentials</a:t>
            </a:r>
            <a:endParaRPr>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a:solidFill>
                  <a:schemeClr val="dk1"/>
                </a:solidFill>
                <a:latin typeface="Courier New"/>
                <a:ea typeface="Courier New"/>
                <a:cs typeface="Courier New"/>
                <a:sym typeface="Courier New"/>
              </a:rPr>
              <a:t>(username, password)</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a:solidFill>
                  <a:schemeClr val="dk1"/>
                </a:solidFill>
                <a:latin typeface="Courier New"/>
                <a:ea typeface="Courier New"/>
                <a:cs typeface="Courier New"/>
                <a:sym typeface="Courier New"/>
              </a:rPr>
              <a:t>VALUES</a:t>
            </a:r>
            <a:endParaRPr>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a:solidFill>
                  <a:schemeClr val="dk1"/>
                </a:solidFill>
                <a:latin typeface="Courier New"/>
                <a:ea typeface="Courier New"/>
                <a:cs typeface="Courier New"/>
                <a:sym typeface="Courier New"/>
              </a:rPr>
              <a:t>('admin', 'passwords'),</a:t>
            </a:r>
            <a:endParaRPr>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a:solidFill>
                  <a:schemeClr val="dk1"/>
                </a:solidFill>
                <a:latin typeface="Courier New"/>
                <a:ea typeface="Courier New"/>
                <a:cs typeface="Courier New"/>
                <a:sym typeface="Courier New"/>
              </a:rPr>
              <a:t>('greg', 'securePassword'),</a:t>
            </a:r>
            <a:endParaRPr>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a:solidFill>
                  <a:schemeClr val="dk1"/>
                </a:solidFill>
                <a:latin typeface="Courier New"/>
                <a:ea typeface="Courier New"/>
                <a:cs typeface="Courier New"/>
                <a:sym typeface="Courier New"/>
              </a:rPr>
              <a:t>('martin', '456789'),</a:t>
            </a:r>
            <a:endParaRPr>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a:solidFill>
                  <a:schemeClr val="dk1"/>
                </a:solidFill>
                <a:latin typeface="Courier New"/>
                <a:ea typeface="Courier New"/>
                <a:cs typeface="Courier New"/>
                <a:sym typeface="Courier New"/>
              </a:rPr>
              <a:t>('kristof', '1234');</a:t>
            </a:r>
            <a:endParaRPr>
              <a:solidFill>
                <a:schemeClr val="dk1"/>
              </a:solidFill>
              <a:latin typeface="Courier New"/>
              <a:ea typeface="Courier New"/>
              <a:cs typeface="Courier New"/>
              <a:sym typeface="Courier New"/>
            </a:endParaRPr>
          </a:p>
        </p:txBody>
      </p:sp>
      <p:sp>
        <p:nvSpPr>
          <p:cNvPr id="153" name="Google Shape;153;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 commands: UPDATE </a:t>
            </a:r>
            <a:endParaRPr/>
          </a:p>
        </p:txBody>
      </p:sp>
      <p:sp>
        <p:nvSpPr>
          <p:cNvPr id="160" name="Google Shape;160;p2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UPDATE</a:t>
            </a:r>
            <a:r>
              <a:rPr lang="en-US"/>
              <a:t> operation changes an existing record or set of records. This is a write operation.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Notice that there are a couple new keywords here.</a:t>
            </a:r>
            <a:endParaRPr/>
          </a:p>
          <a:p>
            <a:pPr indent="-330200" lvl="0" marL="457200" rtl="0" algn="l">
              <a:spcBef>
                <a:spcPts val="0"/>
              </a:spcBef>
              <a:spcAft>
                <a:spcPts val="0"/>
              </a:spcAft>
              <a:buSzPts val="1600"/>
              <a:buChar char="•"/>
            </a:pPr>
            <a:r>
              <a:rPr b="1" lang="en-US"/>
              <a:t>SET</a:t>
            </a:r>
            <a:r>
              <a:rPr lang="en-US"/>
              <a:t> is the data to be written.</a:t>
            </a:r>
            <a:endParaRPr/>
          </a:p>
          <a:p>
            <a:pPr indent="-330200" lvl="0" marL="457200" rtl="0" algn="l">
              <a:spcBef>
                <a:spcPts val="0"/>
              </a:spcBef>
              <a:spcAft>
                <a:spcPts val="0"/>
              </a:spcAft>
              <a:buSzPts val="1600"/>
              <a:buChar char="•"/>
            </a:pPr>
            <a:r>
              <a:rPr b="1" lang="en-US"/>
              <a:t>WHERE</a:t>
            </a:r>
            <a:r>
              <a:rPr lang="en-US"/>
              <a:t> allows you to specify a condition under which the statement happens.</a:t>
            </a:r>
            <a:endParaRPr/>
          </a:p>
        </p:txBody>
      </p:sp>
      <p:sp>
        <p:nvSpPr>
          <p:cNvPr id="161" name="Google Shape;161;p2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Courier New"/>
                <a:ea typeface="Courier New"/>
                <a:cs typeface="Courier New"/>
                <a:sym typeface="Courier New"/>
              </a:rPr>
              <a:t>UPDATE</a:t>
            </a:r>
            <a:endParaRPr b="1">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a:solidFill>
                  <a:schemeClr val="dk1"/>
                </a:solidFill>
                <a:latin typeface="Courier New"/>
                <a:ea typeface="Courier New"/>
                <a:cs typeface="Courier New"/>
                <a:sym typeface="Courier New"/>
              </a:rPr>
              <a:t>userfoods</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a:solidFill>
                  <a:schemeClr val="dk1"/>
                </a:solidFill>
                <a:latin typeface="Courier New"/>
                <a:ea typeface="Courier New"/>
                <a:cs typeface="Courier New"/>
                <a:sym typeface="Courier New"/>
              </a:rPr>
              <a:t>SET</a:t>
            </a:r>
            <a:endParaRPr b="1">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a:solidFill>
                  <a:schemeClr val="dk1"/>
                </a:solidFill>
                <a:latin typeface="Courier New"/>
                <a:ea typeface="Courier New"/>
                <a:cs typeface="Courier New"/>
                <a:sym typeface="Courier New"/>
              </a:rPr>
              <a:t>food = 'sprinkles'</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a:solidFill>
                  <a:schemeClr val="dk1"/>
                </a:solidFill>
                <a:latin typeface="Courier New"/>
                <a:ea typeface="Courier New"/>
                <a:cs typeface="Courier New"/>
                <a:sym typeface="Courier New"/>
              </a:rPr>
              <a:t>WHERE</a:t>
            </a:r>
            <a:endParaRPr b="1">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a:solidFill>
                  <a:schemeClr val="dk1"/>
                </a:solidFill>
                <a:latin typeface="Courier New"/>
                <a:ea typeface="Courier New"/>
                <a:cs typeface="Courier New"/>
                <a:sym typeface="Courier New"/>
              </a:rPr>
              <a:t>username = 'kristof';</a:t>
            </a:r>
            <a:endParaRPr/>
          </a:p>
        </p:txBody>
      </p:sp>
      <p:sp>
        <p:nvSpPr>
          <p:cNvPr id="162" name="Google Shape;162;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 commands: SELECT</a:t>
            </a:r>
            <a:endParaRPr/>
          </a:p>
        </p:txBody>
      </p:sp>
      <p:sp>
        <p:nvSpPr>
          <p:cNvPr id="169" name="Google Shape;169;p2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SELECT</a:t>
            </a:r>
            <a:r>
              <a:rPr lang="en-US"/>
              <a:t> operation allows you to fetch some information from a table. This is a read action.</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US"/>
              <a:t>Also note</a:t>
            </a:r>
            <a:r>
              <a:rPr lang="en-US"/>
              <a:t>: if you ever use an attribute with a space in its name, it needs to be surrounded by </a:t>
            </a:r>
            <a:r>
              <a:rPr lang="en-US" u="sng">
                <a:solidFill>
                  <a:schemeClr val="hlink"/>
                </a:solidFill>
                <a:hlinkClick r:id="rId3"/>
              </a:rPr>
              <a:t>grave accents</a:t>
            </a:r>
            <a:r>
              <a:rPr lang="en-US"/>
              <a:t>!</a:t>
            </a:r>
            <a:endParaRPr/>
          </a:p>
        </p:txBody>
      </p:sp>
      <p:sp>
        <p:nvSpPr>
          <p:cNvPr id="170" name="Google Shape;170;p2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chemeClr val="dk1"/>
                </a:solidFill>
                <a:latin typeface="Courier New"/>
                <a:ea typeface="Courier New"/>
                <a:cs typeface="Courier New"/>
                <a:sym typeface="Courier New"/>
              </a:rPr>
              <a:t>SELECT</a:t>
            </a:r>
            <a:endParaRPr b="1" sz="12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1200">
                <a:solidFill>
                  <a:schemeClr val="dk1"/>
                </a:solidFill>
                <a:latin typeface="Courier New"/>
                <a:ea typeface="Courier New"/>
                <a:cs typeface="Courier New"/>
                <a:sym typeface="Courier New"/>
              </a:rPr>
              <a:t>FROM</a:t>
            </a:r>
            <a:endParaRPr b="1" sz="12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sz="1200">
                <a:solidFill>
                  <a:schemeClr val="dk1"/>
                </a:solidFill>
                <a:latin typeface="Courier New"/>
                <a:ea typeface="Courier New"/>
                <a:cs typeface="Courier New"/>
                <a:sym typeface="Courier New"/>
              </a:rPr>
              <a:t>userfoods;</a:t>
            </a:r>
            <a:endParaRPr sz="1200">
              <a:solidFill>
                <a:schemeClr val="dk1"/>
              </a:solidFill>
              <a:latin typeface="Courier New"/>
              <a:ea typeface="Courier New"/>
              <a:cs typeface="Courier New"/>
              <a:sym typeface="Courier New"/>
            </a:endParaRPr>
          </a:p>
          <a:p>
            <a:pPr indent="45720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1200">
                <a:solidFill>
                  <a:schemeClr val="dk1"/>
                </a:solidFill>
                <a:latin typeface="Courier New"/>
                <a:ea typeface="Courier New"/>
                <a:cs typeface="Courier New"/>
                <a:sym typeface="Courier New"/>
              </a:rPr>
              <a:t>SELECT</a:t>
            </a:r>
            <a:endParaRPr b="1" sz="12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sz="1200">
                <a:solidFill>
                  <a:schemeClr val="dk1"/>
                </a:solidFill>
                <a:latin typeface="Courier New"/>
                <a:ea typeface="Courier New"/>
                <a:cs typeface="Courier New"/>
                <a:sym typeface="Courier New"/>
              </a:rPr>
              <a:t>username</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1200">
                <a:solidFill>
                  <a:schemeClr val="dk1"/>
                </a:solidFill>
                <a:latin typeface="Courier New"/>
                <a:ea typeface="Courier New"/>
                <a:cs typeface="Courier New"/>
                <a:sym typeface="Courier New"/>
              </a:rPr>
              <a:t>FROM</a:t>
            </a:r>
            <a:endParaRPr b="1" sz="12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sz="1200">
                <a:solidFill>
                  <a:schemeClr val="dk1"/>
                </a:solidFill>
                <a:latin typeface="Courier New"/>
                <a:ea typeface="Courier New"/>
                <a:cs typeface="Courier New"/>
                <a:sym typeface="Courier New"/>
              </a:rPr>
              <a:t>userfoods</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1200">
                <a:solidFill>
                  <a:schemeClr val="dk1"/>
                </a:solidFill>
                <a:latin typeface="Courier New"/>
                <a:ea typeface="Courier New"/>
                <a:cs typeface="Courier New"/>
                <a:sym typeface="Courier New"/>
              </a:rPr>
              <a:t>WHERE</a:t>
            </a:r>
            <a:endParaRPr b="1" sz="12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sz="1200">
                <a:solidFill>
                  <a:schemeClr val="dk1"/>
                </a:solidFill>
                <a:latin typeface="Courier New"/>
                <a:ea typeface="Courier New"/>
                <a:cs typeface="Courier New"/>
                <a:sym typeface="Courier New"/>
              </a:rPr>
              <a:t>`</a:t>
            </a:r>
            <a:r>
              <a:rPr lang="en-US" sz="1200">
                <a:solidFill>
                  <a:schemeClr val="dk1"/>
                </a:solidFill>
                <a:latin typeface="Courier New"/>
                <a:ea typeface="Courier New"/>
                <a:cs typeface="Courier New"/>
                <a:sym typeface="Courier New"/>
              </a:rPr>
              <a:t>food` = 'sprinkles';</a:t>
            </a:r>
            <a:endParaRPr sz="1200">
              <a:solidFill>
                <a:schemeClr val="dk1"/>
              </a:solidFill>
              <a:latin typeface="Courier New"/>
              <a:ea typeface="Courier New"/>
              <a:cs typeface="Courier New"/>
              <a:sym typeface="Courier New"/>
            </a:endParaRPr>
          </a:p>
        </p:txBody>
      </p:sp>
      <p:sp>
        <p:nvSpPr>
          <p:cNvPr id="171" name="Google Shape;171;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 commands: DELETE </a:t>
            </a:r>
            <a:endParaRPr/>
          </a:p>
        </p:txBody>
      </p:sp>
      <p:sp>
        <p:nvSpPr>
          <p:cNvPr id="178" name="Google Shape;178;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DELETE</a:t>
            </a:r>
            <a:r>
              <a:rPr lang="en-US"/>
              <a:t> operation removes a record or set of records. This is a write operation.</a:t>
            </a:r>
            <a:endParaRPr/>
          </a:p>
        </p:txBody>
      </p:sp>
      <p:sp>
        <p:nvSpPr>
          <p:cNvPr id="179" name="Google Shape;179;p2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ourier New"/>
                <a:ea typeface="Courier New"/>
                <a:cs typeface="Courier New"/>
                <a:sym typeface="Courier New"/>
              </a:rPr>
              <a:t>DELETE FROM</a:t>
            </a:r>
            <a:endParaRPr b="1">
              <a:latin typeface="Courier New"/>
              <a:ea typeface="Courier New"/>
              <a:cs typeface="Courier New"/>
              <a:sym typeface="Courier New"/>
            </a:endParaRPr>
          </a:p>
          <a:p>
            <a:pPr indent="457200" lvl="0" marL="0" rtl="0" algn="l">
              <a:spcBef>
                <a:spcPts val="0"/>
              </a:spcBef>
              <a:spcAft>
                <a:spcPts val="0"/>
              </a:spcAft>
              <a:buNone/>
            </a:pPr>
            <a:r>
              <a:rPr lang="en-US">
                <a:latin typeface="Courier New"/>
                <a:ea typeface="Courier New"/>
                <a:cs typeface="Courier New"/>
                <a:sym typeface="Courier New"/>
              </a:rPr>
              <a:t>userfoods</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WHERE</a:t>
            </a:r>
            <a:endParaRPr>
              <a:latin typeface="Courier New"/>
              <a:ea typeface="Courier New"/>
              <a:cs typeface="Courier New"/>
              <a:sym typeface="Courier New"/>
            </a:endParaRPr>
          </a:p>
          <a:p>
            <a:pPr indent="457200" lvl="0" marL="0" rtl="0" algn="l">
              <a:spcBef>
                <a:spcPts val="0"/>
              </a:spcBef>
              <a:spcAft>
                <a:spcPts val="0"/>
              </a:spcAft>
              <a:buNone/>
            </a:pPr>
            <a:r>
              <a:rPr lang="en-US">
                <a:latin typeface="Courier New"/>
                <a:ea typeface="Courier New"/>
                <a:cs typeface="Courier New"/>
                <a:sym typeface="Courier New"/>
              </a:rPr>
              <a:t>username = 'kristof';</a:t>
            </a:r>
            <a:endParaRPr>
              <a:latin typeface="Courier New"/>
              <a:ea typeface="Courier New"/>
              <a:cs typeface="Courier New"/>
              <a:sym typeface="Courier New"/>
            </a:endParaRPr>
          </a:p>
          <a:p>
            <a:pPr indent="45720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a:solidFill>
                  <a:schemeClr val="dk1"/>
                </a:solidFill>
                <a:latin typeface="Courier New"/>
                <a:ea typeface="Courier New"/>
                <a:cs typeface="Courier New"/>
                <a:sym typeface="Courier New"/>
              </a:rPr>
              <a:t>DELETE FROM</a:t>
            </a:r>
            <a:endParaRPr b="1">
              <a:solidFill>
                <a:schemeClr val="dk1"/>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credentials</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WHERE</a:t>
            </a:r>
            <a:endParaRPr>
              <a:solidFill>
                <a:schemeClr val="dk1"/>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username = 'kristof';</a:t>
            </a:r>
            <a:endParaRPr>
              <a:latin typeface="Courier New"/>
              <a:ea typeface="Courier New"/>
              <a:cs typeface="Courier New"/>
              <a:sym typeface="Courier New"/>
            </a:endParaRPr>
          </a:p>
        </p:txBody>
      </p:sp>
      <p:sp>
        <p:nvSpPr>
          <p:cNvPr id="180" name="Google Shape;180;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SQLITE3</a:t>
            </a:r>
            <a:endParaRPr/>
          </a:p>
        </p:txBody>
      </p:sp>
      <p:sp>
        <p:nvSpPr>
          <p:cNvPr id="187" name="Google Shape;187;p26"/>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88" name="Google Shape;188;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Python DB-API</a:t>
            </a:r>
            <a:endParaRPr/>
          </a:p>
        </p:txBody>
      </p:sp>
      <p:sp>
        <p:nvSpPr>
          <p:cNvPr id="195" name="Google Shape;195;p2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The Python standard for database interfaces is the Python DB-API. Most Python database interfaces follow this standard. </a:t>
            </a:r>
            <a:r>
              <a:rPr lang="en-US" sz="1500"/>
              <a:t>The Python DB-API supports a wide range of database servers (</a:t>
            </a:r>
            <a:r>
              <a:rPr lang="en-US" sz="1500"/>
              <a:t>implementations</a:t>
            </a:r>
            <a:r>
              <a:rPr lang="en-US" sz="1500"/>
              <a:t>) including but not limited to:</a:t>
            </a:r>
            <a:endParaRPr sz="1500"/>
          </a:p>
          <a:p>
            <a:pPr indent="-323850" lvl="0" marL="457200" rtl="0" algn="l">
              <a:spcBef>
                <a:spcPts val="0"/>
              </a:spcBef>
              <a:spcAft>
                <a:spcPts val="0"/>
              </a:spcAft>
              <a:buSzPts val="1500"/>
              <a:buChar char="•"/>
            </a:pPr>
            <a:r>
              <a:rPr lang="en-US" sz="1500"/>
              <a:t>MySQL (MariaDB)</a:t>
            </a:r>
            <a:endParaRPr sz="1500"/>
          </a:p>
          <a:p>
            <a:pPr indent="-323850" lvl="0" marL="457200" rtl="0" algn="l">
              <a:spcBef>
                <a:spcPts val="0"/>
              </a:spcBef>
              <a:spcAft>
                <a:spcPts val="0"/>
              </a:spcAft>
              <a:buSzPts val="1500"/>
              <a:buChar char="•"/>
            </a:pPr>
            <a:r>
              <a:rPr lang="en-US" sz="1500"/>
              <a:t>Microsoft SQL Server</a:t>
            </a:r>
            <a:endParaRPr sz="1500"/>
          </a:p>
          <a:p>
            <a:pPr indent="-323850" lvl="0" marL="457200" rtl="0" algn="l">
              <a:spcBef>
                <a:spcPts val="0"/>
              </a:spcBef>
              <a:spcAft>
                <a:spcPts val="0"/>
              </a:spcAft>
              <a:buSzPts val="1500"/>
              <a:buChar char="•"/>
            </a:pPr>
            <a:r>
              <a:rPr lang="en-US" sz="1500"/>
              <a:t>Oracle</a:t>
            </a:r>
            <a:endParaRPr sz="1500"/>
          </a:p>
          <a:p>
            <a:pPr indent="-323850" lvl="0" marL="457200" rtl="0" algn="l">
              <a:spcBef>
                <a:spcPts val="0"/>
              </a:spcBef>
              <a:spcAft>
                <a:spcPts val="0"/>
              </a:spcAft>
              <a:buSzPts val="1500"/>
              <a:buChar char="•"/>
            </a:pPr>
            <a:r>
              <a:rPr lang="en-US" sz="1500"/>
              <a:t>SQLite</a:t>
            </a:r>
            <a:endParaRPr sz="1500"/>
          </a:p>
          <a:p>
            <a:pPr indent="-323850" lvl="0" marL="457200" rtl="0" algn="l">
              <a:spcBef>
                <a:spcPts val="0"/>
              </a:spcBef>
              <a:spcAft>
                <a:spcPts val="0"/>
              </a:spcAft>
              <a:buSzPts val="1500"/>
              <a:buChar char="•"/>
            </a:pPr>
            <a:r>
              <a:rPr lang="en-US" sz="1500"/>
              <a:t>PostgreSQL</a:t>
            </a:r>
            <a:endParaRPr sz="1500"/>
          </a:p>
        </p:txBody>
      </p:sp>
      <p:sp>
        <p:nvSpPr>
          <p:cNvPr id="196" name="Google Shape;196;p2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For the purposes of this course, you're going to be using </a:t>
            </a:r>
            <a:r>
              <a:rPr b="1" lang="en-US">
                <a:solidFill>
                  <a:schemeClr val="dk1"/>
                </a:solidFill>
              </a:rPr>
              <a:t>sqlite3</a:t>
            </a:r>
            <a:r>
              <a:rPr lang="en-US">
                <a:solidFill>
                  <a:schemeClr val="dk1"/>
                </a:solidFill>
              </a:rPr>
              <a:t> as your Python DB-API.</a:t>
            </a:r>
            <a:endParaRPr/>
          </a:p>
        </p:txBody>
      </p:sp>
      <p:sp>
        <p:nvSpPr>
          <p:cNvPr id="197" name="Google Shape;197;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internal structure</a:t>
            </a:r>
            <a:endParaRPr/>
          </a:p>
        </p:txBody>
      </p:sp>
      <p:sp>
        <p:nvSpPr>
          <p:cNvPr id="204" name="Google Shape;204;p2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the right</a:t>
            </a:r>
            <a:r>
              <a:rPr lang="en-US"/>
              <a:t> is a block diagram of how the different parts of a Python project which utilizes databases is organized.</a:t>
            </a:r>
            <a:endParaRPr/>
          </a:p>
        </p:txBody>
      </p:sp>
      <p:pic>
        <p:nvPicPr>
          <p:cNvPr id="205" name="Google Shape;205;p28"/>
          <p:cNvPicPr preferRelativeResize="0"/>
          <p:nvPr/>
        </p:nvPicPr>
        <p:blipFill rotWithShape="1">
          <a:blip r:embed="rId3">
            <a:alphaModFix/>
          </a:blip>
          <a:srcRect b="0" l="0" r="8341" t="0"/>
          <a:stretch/>
        </p:blipFill>
        <p:spPr>
          <a:xfrm>
            <a:off x="4682425" y="1513225"/>
            <a:ext cx="4198576" cy="1923051"/>
          </a:xfrm>
          <a:prstGeom prst="rect">
            <a:avLst/>
          </a:prstGeom>
          <a:noFill/>
          <a:ln>
            <a:noFill/>
          </a:ln>
        </p:spPr>
      </p:pic>
      <p:sp>
        <p:nvSpPr>
          <p:cNvPr id="206" name="Google Shape;206;p28"/>
          <p:cNvSpPr txBox="1"/>
          <p:nvPr/>
        </p:nvSpPr>
        <p:spPr>
          <a:xfrm>
            <a:off x="0" y="4166250"/>
            <a:ext cx="9144000" cy="273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i="1" lang="en-US" sz="600">
                <a:latin typeface="Proxima Nova"/>
                <a:ea typeface="Proxima Nova"/>
                <a:cs typeface="Proxima Nova"/>
                <a:sym typeface="Proxima Nova"/>
              </a:rPr>
              <a:t>source: https://medium.com/@yuiltripathee/connect-your-database-in-python-code-works-almost-everywhere-21637b311bb4</a:t>
            </a:r>
            <a:endParaRPr i="1" sz="600">
              <a:latin typeface="Proxima Nova"/>
              <a:ea typeface="Proxima Nova"/>
              <a:cs typeface="Proxima Nova"/>
              <a:sym typeface="Proxima Nova"/>
            </a:endParaRPr>
          </a:p>
        </p:txBody>
      </p:sp>
      <p:sp>
        <p:nvSpPr>
          <p:cNvPr id="207" name="Google Shape;207;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sqlite3</a:t>
            </a:r>
            <a:endParaRPr/>
          </a:p>
        </p:txBody>
      </p:sp>
      <p:sp>
        <p:nvSpPr>
          <p:cNvPr id="214" name="Google Shape;214;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In order to contextualize databases, you're actually going to build a database from the ground up.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Let's begin by creating a new project and importing sqlite3.</a:t>
            </a:r>
            <a:endParaRPr/>
          </a:p>
        </p:txBody>
      </p:sp>
      <p:sp>
        <p:nvSpPr>
          <p:cNvPr id="215" name="Google Shape;215;p2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000">
                <a:latin typeface="Courier New"/>
                <a:ea typeface="Courier New"/>
                <a:cs typeface="Courier New"/>
                <a:sym typeface="Courier New"/>
              </a:rPr>
              <a:t>import sqlite3 as sl</a:t>
            </a:r>
            <a:endParaRPr b="1"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def main():</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	# nothing yet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if __name__ == '__main__':</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216" name="Google Shape;216;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create a db</a:t>
            </a:r>
            <a:endParaRPr/>
          </a:p>
        </p:txBody>
      </p:sp>
      <p:sp>
        <p:nvSpPr>
          <p:cNvPr id="223" name="Google Shape;223;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first thing you'll need for this project is an actual database! Let's do so by establishing a connection with a database.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It turns out that with sqlite3, when you accomplish the first step of the database process - connecting to the database - if the specified database is not found, it will make one.</a:t>
            </a:r>
            <a:endParaRPr/>
          </a:p>
        </p:txBody>
      </p:sp>
      <p:sp>
        <p:nvSpPr>
          <p:cNvPr id="224" name="Google Shape;224;p3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conn = </a:t>
            </a:r>
            <a:r>
              <a:rPr b="1" lang="en-US" sz="1000">
                <a:solidFill>
                  <a:schemeClr val="dk1"/>
                </a:solidFill>
                <a:latin typeface="Courier New"/>
                <a:ea typeface="Courier New"/>
                <a:cs typeface="Courier New"/>
                <a:sym typeface="Courier New"/>
              </a:rPr>
              <a:t>sl.connect('my_first_database.db')</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225" name="Google Shape;225;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the cursor</a:t>
            </a:r>
            <a:endParaRPr/>
          </a:p>
        </p:txBody>
      </p:sp>
      <p:sp>
        <p:nvSpPr>
          <p:cNvPr id="232" name="Google Shape;232;p3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a:t>
            </a:r>
            <a:r>
              <a:rPr b="1" lang="en-US"/>
              <a:t>cursor</a:t>
            </a:r>
            <a:r>
              <a:rPr lang="en-US"/>
              <a:t> is the object which allows for traversal of the database itself, and facilitates executing statements. Creating it is very simple, and once you do, you can execute whatever </a:t>
            </a:r>
            <a:r>
              <a:rPr b="1" lang="en-US"/>
              <a:t>statements</a:t>
            </a:r>
            <a:r>
              <a:rPr lang="en-US"/>
              <a:t> you would like.</a:t>
            </a:r>
            <a:endParaRPr/>
          </a:p>
        </p:txBody>
      </p:sp>
      <p:sp>
        <p:nvSpPr>
          <p:cNvPr id="233" name="Google Shape;233;p3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curs = </a:t>
            </a:r>
            <a:r>
              <a:rPr b="1" lang="en-US" sz="1000">
                <a:solidFill>
                  <a:schemeClr val="dk1"/>
                </a:solidFill>
                <a:latin typeface="Courier New"/>
                <a:ea typeface="Courier New"/>
                <a:cs typeface="Courier New"/>
                <a:sym typeface="Courier New"/>
              </a:rPr>
              <a:t>conn.cursor()</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234" name="Google Shape;234;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design a statement</a:t>
            </a:r>
            <a:endParaRPr/>
          </a:p>
        </p:txBody>
      </p:sp>
      <p:sp>
        <p:nvSpPr>
          <p:cNvPr id="241" name="Google Shape;241;p3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Databases work based on being issued statements. For reference, there are several different statements constructed to the right. Each will have a keyword - as discussed earlier - followed by whatever options are appropriate.</a:t>
            </a:r>
            <a:endParaRPr/>
          </a:p>
        </p:txBody>
      </p:sp>
      <p:sp>
        <p:nvSpPr>
          <p:cNvPr id="242" name="Google Shape;242;p3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457200" lvl="0" marL="914400" rtl="0" algn="l">
              <a:spcBef>
                <a:spcPts val="0"/>
              </a:spcBef>
              <a:spcAft>
                <a:spcPts val="0"/>
              </a:spcAft>
              <a:buNone/>
            </a:pPr>
            <a:r>
              <a:rPr lang="en-US" sz="1000">
                <a:latin typeface="Courier New"/>
                <a:ea typeface="Courier New"/>
                <a:cs typeface="Courier New"/>
                <a:sym typeface="Courier New"/>
              </a:rPr>
              <a:t># example statement</a:t>
            </a:r>
            <a:endParaRPr sz="1000">
              <a:latin typeface="Courier New"/>
              <a:ea typeface="Courier New"/>
              <a:cs typeface="Courier New"/>
              <a:sym typeface="Courier New"/>
            </a:endParaRPr>
          </a:p>
          <a:p>
            <a:pPr indent="-457200" lvl="0" marL="914400" rtl="0" algn="l">
              <a:spcBef>
                <a:spcPts val="0"/>
              </a:spcBef>
              <a:spcAft>
                <a:spcPts val="0"/>
              </a:spcAft>
              <a:buNone/>
            </a:pPr>
            <a:r>
              <a:rPr lang="en-US" sz="1000">
                <a:latin typeface="Courier New"/>
                <a:ea typeface="Courier New"/>
                <a:cs typeface="Courier New"/>
                <a:sym typeface="Courier New"/>
              </a:rPr>
              <a:t>stmt1 = </a:t>
            </a:r>
            <a:r>
              <a:rPr b="1" lang="en-US" sz="1000">
                <a:latin typeface="Courier New"/>
                <a:ea typeface="Courier New"/>
                <a:cs typeface="Courier New"/>
                <a:sym typeface="Courier New"/>
              </a:rPr>
              <a:t>"CREATE TABLE IF NOT EXISTS credentials(username VARCHAR NOT NULL UNIQUE, password VARCHAR NOT NULL)"</a:t>
            </a:r>
            <a:endParaRPr b="1" sz="1000">
              <a:latin typeface="Courier New"/>
              <a:ea typeface="Courier New"/>
              <a:cs typeface="Courier New"/>
              <a:sym typeface="Courier New"/>
            </a:endParaRPr>
          </a:p>
          <a:p>
            <a:pPr indent="-457200" lvl="0" marL="91440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457200" lvl="0" marL="91440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another example statement</a:t>
            </a:r>
            <a:endParaRPr sz="1000">
              <a:latin typeface="Courier New"/>
              <a:ea typeface="Courier New"/>
              <a:cs typeface="Courier New"/>
              <a:sym typeface="Courier New"/>
            </a:endParaRPr>
          </a:p>
          <a:p>
            <a:pPr indent="-457200" lvl="0" marL="91440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stmt2 = </a:t>
            </a:r>
            <a:r>
              <a:rPr b="1" lang="en-US" sz="1000">
                <a:latin typeface="Courier New"/>
                <a:ea typeface="Courier New"/>
                <a:cs typeface="Courier New"/>
                <a:sym typeface="Courier New"/>
              </a:rPr>
              <a:t>"INSERT OR IGNORE INTO credentials (username, password) VALUES ('admin', 'passwords')"</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main()</a:t>
            </a:r>
            <a:endParaRPr b="1" sz="1000">
              <a:latin typeface="Courier New"/>
              <a:ea typeface="Courier New"/>
              <a:cs typeface="Courier New"/>
              <a:sym typeface="Courier New"/>
            </a:endParaRPr>
          </a:p>
        </p:txBody>
      </p:sp>
      <p:sp>
        <p:nvSpPr>
          <p:cNvPr id="243" name="Google Shape;243;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create a table</a:t>
            </a:r>
            <a:endParaRPr/>
          </a:p>
        </p:txBody>
      </p:sp>
      <p:sp>
        <p:nvSpPr>
          <p:cNvPr id="250" name="Google Shape;250;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You're going to need a </a:t>
            </a:r>
            <a:r>
              <a:rPr b="1" lang="en-US"/>
              <a:t>table</a:t>
            </a:r>
            <a:r>
              <a:rPr lang="en-US"/>
              <a:t> in this newly-created database; let's create it now. Each of the values inside the table name parentheses will become a new column.</a:t>
            </a:r>
            <a:endParaRPr/>
          </a:p>
        </p:txBody>
      </p:sp>
      <p:sp>
        <p:nvSpPr>
          <p:cNvPr id="251" name="Google Shape;251;p3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 ... previous code goes here</a:t>
            </a:r>
            <a:endParaRPr sz="1000">
              <a:solidFill>
                <a:schemeClr val="dk1"/>
              </a:solidFill>
              <a:latin typeface="Courier New"/>
              <a:ea typeface="Courier New"/>
              <a:cs typeface="Courier New"/>
              <a:sym typeface="Courier New"/>
            </a:endParaRPr>
          </a:p>
          <a:p>
            <a:pPr indent="-457200" lvl="0" marL="91440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stmt1 = "</a:t>
            </a:r>
            <a:r>
              <a:rPr b="1" lang="en-US" sz="1000">
                <a:solidFill>
                  <a:schemeClr val="dk1"/>
                </a:solidFill>
                <a:latin typeface="Courier New"/>
                <a:ea typeface="Courier New"/>
                <a:cs typeface="Courier New"/>
                <a:sym typeface="Courier New"/>
              </a:rPr>
              <a:t>CREATE TABLE</a:t>
            </a:r>
            <a:r>
              <a:rPr lang="en-US" sz="1000">
                <a:solidFill>
                  <a:schemeClr val="dk1"/>
                </a:solidFill>
                <a:latin typeface="Courier New"/>
                <a:ea typeface="Courier New"/>
                <a:cs typeface="Courier New"/>
                <a:sym typeface="Courier New"/>
              </a:rPr>
              <a:t> IF NOT EXISTS credentials(username VARCHAR NOT NULL UNIQUE , password VARCHAR NOT NULL)"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curs.execute(stmt1)</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252" name="Google Shape;252;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add data</a:t>
            </a:r>
            <a:endParaRPr/>
          </a:p>
        </p:txBody>
      </p:sp>
      <p:sp>
        <p:nvSpPr>
          <p:cNvPr id="259" name="Google Shape;259;p3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Let's add some data to the fruits. This is a mutate statement, as it changes information in the database. (More specifically, it will add a new row.)</a:t>
            </a:r>
            <a:endParaRPr/>
          </a:p>
        </p:txBody>
      </p:sp>
      <p:sp>
        <p:nvSpPr>
          <p:cNvPr id="260" name="Google Shape;260;p3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 ... previous code goes here</a:t>
            </a:r>
            <a:endParaRPr sz="1000">
              <a:solidFill>
                <a:schemeClr val="dk1"/>
              </a:solidFill>
              <a:latin typeface="Courier New"/>
              <a:ea typeface="Courier New"/>
              <a:cs typeface="Courier New"/>
              <a:sym typeface="Courier New"/>
            </a:endParaRPr>
          </a:p>
          <a:p>
            <a:pPr indent="-457200" lvl="0" marL="91440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stmt2 = "</a:t>
            </a:r>
            <a:r>
              <a:rPr b="1" lang="en-US" sz="1000">
                <a:solidFill>
                  <a:schemeClr val="dk1"/>
                </a:solidFill>
                <a:latin typeface="Courier New"/>
                <a:ea typeface="Courier New"/>
                <a:cs typeface="Courier New"/>
                <a:sym typeface="Courier New"/>
              </a:rPr>
              <a:t>INSERT OR IGNORE INTO</a:t>
            </a:r>
            <a:r>
              <a:rPr lang="en-US" sz="1000">
                <a:solidFill>
                  <a:schemeClr val="dk1"/>
                </a:solidFill>
                <a:latin typeface="Courier New"/>
                <a:ea typeface="Courier New"/>
                <a:cs typeface="Courier New"/>
                <a:sym typeface="Courier New"/>
              </a:rPr>
              <a:t> credentials (username, password) </a:t>
            </a:r>
            <a:r>
              <a:rPr b="1" lang="en-US" sz="1000">
                <a:solidFill>
                  <a:schemeClr val="dk1"/>
                </a:solidFill>
                <a:latin typeface="Courier New"/>
                <a:ea typeface="Courier New"/>
                <a:cs typeface="Courier New"/>
                <a:sym typeface="Courier New"/>
              </a:rPr>
              <a:t>VALUES</a:t>
            </a:r>
            <a:r>
              <a:rPr lang="en-US" sz="1000">
                <a:solidFill>
                  <a:schemeClr val="dk1"/>
                </a:solidFill>
                <a:latin typeface="Courier New"/>
                <a:ea typeface="Courier New"/>
                <a:cs typeface="Courier New"/>
                <a:sym typeface="Courier New"/>
              </a:rPr>
              <a:t> ('admin', 'passwords')"</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curs.execute(stmt2)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261" name="Google Shape;261;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get data</a:t>
            </a:r>
            <a:endParaRPr/>
          </a:p>
        </p:txBody>
      </p:sp>
      <p:sp>
        <p:nvSpPr>
          <p:cNvPr id="268" name="Google Shape;268;p3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Let's query for all items in the table which have a Value greater than 1000.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A SELECT statement will return an iterable object, which means you can iterate through it and do whatever you want with each result - in this case, just print them.</a:t>
            </a:r>
            <a:endParaRPr/>
          </a:p>
        </p:txBody>
      </p:sp>
      <p:sp>
        <p:nvSpPr>
          <p:cNvPr id="269" name="Google Shape;269;p3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import sqlite3 as sl</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stmt3 = "SELECT * FROM credentials"</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 OR</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v = ('Alice',)</a:t>
            </a:r>
            <a:endParaRPr b="1" sz="900">
              <a:solidFill>
                <a:schemeClr val="dk1"/>
              </a:solidFill>
              <a:latin typeface="Courier New"/>
              <a:ea typeface="Courier New"/>
              <a:cs typeface="Courier New"/>
              <a:sym typeface="Courier New"/>
            </a:endParaRPr>
          </a:p>
          <a:p>
            <a:pPr indent="-457200" lvl="0" marL="914400" rtl="0" algn="l">
              <a:spcBef>
                <a:spcPts val="0"/>
              </a:spcBef>
              <a:spcAft>
                <a:spcPts val="0"/>
              </a:spcAft>
              <a:buNone/>
            </a:pPr>
            <a:r>
              <a:rPr b="1" lang="en-US" sz="900">
                <a:solidFill>
                  <a:schemeClr val="dk1"/>
                </a:solidFill>
                <a:latin typeface="Courier New"/>
                <a:ea typeface="Courier New"/>
                <a:cs typeface="Courier New"/>
                <a:sym typeface="Courier New"/>
              </a:rPr>
              <a:t>stmt3 = "SELECT * FROM credentials WHERE `username`=?"</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 THEN</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data = curs.execute(stmt3, v)</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for record in data:</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print(record)</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main()</a:t>
            </a:r>
            <a:endParaRPr sz="900">
              <a:latin typeface="Courier New"/>
              <a:ea typeface="Courier New"/>
              <a:cs typeface="Courier New"/>
              <a:sym typeface="Courier New"/>
            </a:endParaRPr>
          </a:p>
        </p:txBody>
      </p:sp>
      <p:sp>
        <p:nvSpPr>
          <p:cNvPr id="270" name="Google Shape;270;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security</a:t>
            </a:r>
            <a:endParaRPr/>
          </a:p>
        </p:txBody>
      </p:sp>
      <p:sp>
        <p:nvSpPr>
          <p:cNvPr id="277" name="Google Shape;277;p3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Notice that the previous slide's code used a </a:t>
            </a:r>
            <a:r>
              <a:rPr b="1" lang="en-US"/>
              <a:t>parameter substitution</a:t>
            </a:r>
            <a:r>
              <a:rPr lang="en-US"/>
              <a:t>. This is because Python's string operations are insecure and may leave your code vulnerable to attacks like SQL injections. An explanation of SQL injection attacks can be found </a:t>
            </a:r>
            <a:r>
              <a:rPr lang="en-US" u="sng">
                <a:solidFill>
                  <a:schemeClr val="hlink"/>
                </a:solidFill>
                <a:hlinkClick r:id="rId3"/>
              </a:rPr>
              <a:t>here</a:t>
            </a:r>
            <a:r>
              <a:rPr lang="en-US"/>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In summary: don't use string substitution using modulo!</a:t>
            </a:r>
            <a:endParaRPr/>
          </a:p>
        </p:txBody>
      </p:sp>
      <p:sp>
        <p:nvSpPr>
          <p:cNvPr id="278" name="Google Shape;278;p3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import sqlite3 as sl</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def main():</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 ... previous code goes here</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a:t>
            </a:r>
            <a:r>
              <a:rPr b="1" lang="en-US" sz="800">
                <a:solidFill>
                  <a:schemeClr val="dk1"/>
                </a:solidFill>
                <a:latin typeface="Courier New"/>
                <a:ea typeface="Courier New"/>
                <a:cs typeface="Courier New"/>
                <a:sym typeface="Courier New"/>
              </a:rPr>
              <a:t># parameter substitution - this is good</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800">
                <a:solidFill>
                  <a:schemeClr val="dk1"/>
                </a:solidFill>
                <a:latin typeface="Courier New"/>
                <a:ea typeface="Courier New"/>
                <a:cs typeface="Courier New"/>
                <a:sym typeface="Courier New"/>
              </a:rPr>
              <a:t>	</a:t>
            </a:r>
            <a:r>
              <a:rPr lang="en-US" sz="800">
                <a:solidFill>
                  <a:schemeClr val="dk1"/>
                </a:solidFill>
                <a:latin typeface="Courier New"/>
                <a:ea typeface="Courier New"/>
                <a:cs typeface="Courier New"/>
                <a:sym typeface="Courier New"/>
              </a:rPr>
              <a:t>v = ('Alice',)</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stmt3 = "SELECT * FROM credentials WHERE `username`=?"</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a:t>
            </a:r>
            <a:r>
              <a:rPr b="1" lang="en-US" sz="800">
                <a:solidFill>
                  <a:schemeClr val="dk1"/>
                </a:solidFill>
                <a:latin typeface="Courier New"/>
                <a:ea typeface="Courier New"/>
                <a:cs typeface="Courier New"/>
                <a:sym typeface="Courier New"/>
              </a:rPr>
              <a:t># THIS IS BAD DON'T DO THIS</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800">
                <a:solidFill>
                  <a:schemeClr val="dk1"/>
                </a:solidFill>
                <a:latin typeface="Courier New"/>
                <a:ea typeface="Courier New"/>
                <a:cs typeface="Courier New"/>
                <a:sym typeface="Courier New"/>
              </a:rPr>
              <a:t>	</a:t>
            </a:r>
            <a:r>
              <a:rPr lang="en-US" sz="800">
                <a:solidFill>
                  <a:schemeClr val="dk1"/>
                </a:solidFill>
                <a:latin typeface="Courier New"/>
                <a:ea typeface="Courier New"/>
                <a:cs typeface="Courier New"/>
                <a:sym typeface="Courier New"/>
              </a:rPr>
              <a:t>v = 'Alice'</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stmt3 = "SELECT * FROM credentials WHERE `username`=%s' % v</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if __name__ == '__main__':</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main()</a:t>
            </a:r>
            <a:endParaRPr sz="800">
              <a:latin typeface="Courier New"/>
              <a:ea typeface="Courier New"/>
              <a:cs typeface="Courier New"/>
              <a:sym typeface="Courier New"/>
            </a:endParaRPr>
          </a:p>
        </p:txBody>
      </p:sp>
      <p:sp>
        <p:nvSpPr>
          <p:cNvPr id="279" name="Google Shape;279;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get data differently</a:t>
            </a:r>
            <a:endParaRPr/>
          </a:p>
        </p:txBody>
      </p:sp>
      <p:sp>
        <p:nvSpPr>
          <p:cNvPr id="286" name="Google Shape;286;p3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If you didn't want to iterate through the entire set of results, you can fetch a result or several results using the following methods.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87" name="Google Shape;287;p3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curs.fetchone()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 OR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size = 3</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1000">
                <a:solidFill>
                  <a:schemeClr val="dk1"/>
                </a:solidFill>
                <a:latin typeface="Courier New"/>
                <a:ea typeface="Courier New"/>
                <a:cs typeface="Courier New"/>
                <a:sym typeface="Courier New"/>
              </a:rPr>
              <a:t>	curs.fetchmany(size)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 OR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curs.fetchall()</a:t>
            </a:r>
            <a:r>
              <a:rPr lang="en-US" sz="1000">
                <a:solidFill>
                  <a:schemeClr val="dk1"/>
                </a:solidFill>
                <a:latin typeface="Courier New"/>
                <a:ea typeface="Courier New"/>
                <a:cs typeface="Courier New"/>
                <a:sym typeface="Courier New"/>
              </a:rPr>
              <a:t>  # and then iterate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288" name="Google Shape;288;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commit changes</a:t>
            </a:r>
            <a:endParaRPr/>
          </a:p>
        </p:txBody>
      </p:sp>
      <p:sp>
        <p:nvSpPr>
          <p:cNvPr id="295" name="Google Shape;295;p3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may notice that every time you rerun your code, the database is there, and the table is there, but there's no data in the table. This is because you haven't properly finalized the changes!</a:t>
            </a:r>
            <a:endParaRPr/>
          </a:p>
        </p:txBody>
      </p:sp>
      <p:sp>
        <p:nvSpPr>
          <p:cNvPr id="296" name="Google Shape;296;p3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conn.commit()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297" name="Google Shape;297;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rollback changes</a:t>
            </a:r>
            <a:endParaRPr/>
          </a:p>
        </p:txBody>
      </p:sp>
      <p:sp>
        <p:nvSpPr>
          <p:cNvPr id="304" name="Google Shape;304;p3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But wait! If you're not satisfied with the changes you've committed and you want to revert back those changes completely, you can roll them back.</a:t>
            </a:r>
            <a:endParaRPr/>
          </a:p>
        </p:txBody>
      </p:sp>
      <p:sp>
        <p:nvSpPr>
          <p:cNvPr id="305" name="Google Shape;305;p3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conn.rollback()</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306" name="Google Shape;306;p3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closing connections</a:t>
            </a:r>
            <a:endParaRPr/>
          </a:p>
        </p:txBody>
      </p:sp>
      <p:sp>
        <p:nvSpPr>
          <p:cNvPr id="313" name="Google Shape;313;p4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final action you'll want to do when working with databases is closing the connection you made at the beginning.</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US"/>
              <a:t>It’s a best practice to open/connect and close your connections per function.</a:t>
            </a:r>
            <a:endParaRPr b="1"/>
          </a:p>
          <a:p>
            <a:pPr indent="0" lvl="0" marL="0" rtl="0" algn="l">
              <a:spcBef>
                <a:spcPts val="0"/>
              </a:spcBef>
              <a:spcAft>
                <a:spcPts val="0"/>
              </a:spcAft>
              <a:buNone/>
            </a:pPr>
            <a:r>
              <a:t/>
            </a:r>
            <a:endParaRPr/>
          </a:p>
        </p:txBody>
      </p:sp>
      <p:sp>
        <p:nvSpPr>
          <p:cNvPr id="314" name="Google Shape;314;p4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sqlite3 as sl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conn.close()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latin typeface="Courier New"/>
              <a:ea typeface="Courier New"/>
              <a:cs typeface="Courier New"/>
              <a:sym typeface="Courier New"/>
            </a:endParaRPr>
          </a:p>
        </p:txBody>
      </p:sp>
      <p:sp>
        <p:nvSpPr>
          <p:cNvPr id="315" name="Google Shape;315;p4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t>Databases: Checklist</a:t>
            </a:r>
            <a:endParaRPr/>
          </a:p>
        </p:txBody>
      </p:sp>
      <p:sp>
        <p:nvSpPr>
          <p:cNvPr id="322" name="Google Shape;322;p41"/>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600"/>
              <a:buNone/>
            </a:pPr>
            <a:r>
              <a:rPr lang="en-US"/>
              <a:t>Laid out to the right is the convention you'll be using in this course for any sort of database interactions. In other words, write your db functions like this.</a:t>
            </a:r>
            <a:endParaRPr/>
          </a:p>
        </p:txBody>
      </p:sp>
      <p:sp>
        <p:nvSpPr>
          <p:cNvPr id="323" name="Google Shape;323;p41"/>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600"/>
              <a:buNone/>
            </a:pPr>
            <a:r>
              <a:rPr lang="en-US"/>
              <a:t>def db_function_name(any_params):</a:t>
            </a:r>
            <a:endParaRPr/>
          </a:p>
          <a:p>
            <a:pPr indent="-234950" lvl="1" marL="685800" rtl="0" algn="l">
              <a:lnSpc>
                <a:spcPct val="150000"/>
              </a:lnSpc>
              <a:spcBef>
                <a:spcPts val="0"/>
              </a:spcBef>
              <a:spcAft>
                <a:spcPts val="0"/>
              </a:spcAft>
              <a:buSzPts val="1600"/>
              <a:buAutoNum type="arabicPeriod"/>
            </a:pPr>
            <a:r>
              <a:rPr lang="en-US" sz="1600"/>
              <a:t>Connect</a:t>
            </a:r>
            <a:endParaRPr sz="1600"/>
          </a:p>
          <a:p>
            <a:pPr indent="-234950" lvl="1" marL="685800" rtl="0" algn="l">
              <a:lnSpc>
                <a:spcPct val="150000"/>
              </a:lnSpc>
              <a:spcBef>
                <a:spcPts val="0"/>
              </a:spcBef>
              <a:spcAft>
                <a:spcPts val="0"/>
              </a:spcAft>
              <a:buSzPts val="1600"/>
              <a:buAutoNum type="arabicPeriod"/>
            </a:pPr>
            <a:r>
              <a:rPr lang="en-US" sz="1600"/>
              <a:t>Get a cursor</a:t>
            </a:r>
            <a:endParaRPr sz="1600"/>
          </a:p>
          <a:p>
            <a:pPr indent="-234950" lvl="1" marL="685800" rtl="0" algn="l">
              <a:lnSpc>
                <a:spcPct val="150000"/>
              </a:lnSpc>
              <a:spcBef>
                <a:spcPts val="0"/>
              </a:spcBef>
              <a:spcAft>
                <a:spcPts val="0"/>
              </a:spcAft>
              <a:buSzPts val="1600"/>
              <a:buAutoNum type="arabicPeriod"/>
            </a:pPr>
            <a:r>
              <a:rPr lang="en-US" sz="1600"/>
              <a:t>Execute 1 or more statements</a:t>
            </a:r>
            <a:endParaRPr sz="1600"/>
          </a:p>
          <a:p>
            <a:pPr indent="-234950" lvl="1" marL="685800" rtl="0" algn="l">
              <a:lnSpc>
                <a:spcPct val="150000"/>
              </a:lnSpc>
              <a:spcBef>
                <a:spcPts val="0"/>
              </a:spcBef>
              <a:spcAft>
                <a:spcPts val="0"/>
              </a:spcAft>
              <a:buSzPts val="1600"/>
              <a:buAutoNum type="arabicPeriod"/>
            </a:pPr>
            <a:r>
              <a:rPr lang="en-US" sz="1600"/>
              <a:t>Process data #doWork</a:t>
            </a:r>
            <a:endParaRPr sz="1600"/>
          </a:p>
          <a:p>
            <a:pPr indent="-234950" lvl="1" marL="685800" rtl="0" algn="l">
              <a:lnSpc>
                <a:spcPct val="150000"/>
              </a:lnSpc>
              <a:spcBef>
                <a:spcPts val="0"/>
              </a:spcBef>
              <a:spcAft>
                <a:spcPts val="0"/>
              </a:spcAft>
              <a:buSzPts val="1600"/>
              <a:buAutoNum type="arabicPeriod"/>
            </a:pPr>
            <a:r>
              <a:rPr lang="en-US" sz="1600"/>
              <a:t>Commit changes</a:t>
            </a:r>
            <a:endParaRPr sz="1600"/>
          </a:p>
          <a:p>
            <a:pPr indent="-234950" lvl="1" marL="685800" rtl="0" algn="l">
              <a:lnSpc>
                <a:spcPct val="150000"/>
              </a:lnSpc>
              <a:spcBef>
                <a:spcPts val="0"/>
              </a:spcBef>
              <a:spcAft>
                <a:spcPts val="0"/>
              </a:spcAft>
              <a:buSzPts val="1600"/>
              <a:buAutoNum type="arabicPeriod"/>
            </a:pPr>
            <a:r>
              <a:rPr lang="en-US" sz="1600"/>
              <a:t>Close connection</a:t>
            </a:r>
            <a:endParaRPr sz="1600"/>
          </a:p>
          <a:p>
            <a:pPr indent="-234950" lvl="1" marL="685800" rtl="0" algn="l">
              <a:lnSpc>
                <a:spcPct val="150000"/>
              </a:lnSpc>
              <a:spcBef>
                <a:spcPts val="0"/>
              </a:spcBef>
              <a:spcAft>
                <a:spcPts val="0"/>
              </a:spcAft>
              <a:buSzPts val="1600"/>
              <a:buAutoNum type="arabicPeriod"/>
            </a:pPr>
            <a:r>
              <a:rPr lang="en-US" sz="1600"/>
              <a:t>return</a:t>
            </a:r>
            <a:endParaRPr/>
          </a:p>
        </p:txBody>
      </p:sp>
      <p:sp>
        <p:nvSpPr>
          <p:cNvPr id="324" name="Google Shape;324;p4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MORE DATABASES</a:t>
            </a:r>
            <a:endParaRPr/>
          </a:p>
        </p:txBody>
      </p:sp>
      <p:sp>
        <p:nvSpPr>
          <p:cNvPr id="331" name="Google Shape;331;p4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332" name="Google Shape;332;p4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 new database</a:t>
            </a:r>
            <a:endParaRPr/>
          </a:p>
        </p:txBody>
      </p:sp>
      <p:sp>
        <p:nvSpPr>
          <p:cNvPr id="339" name="Google Shape;339;p43"/>
          <p:cNvSpPr txBox="1"/>
          <p:nvPr>
            <p:ph idx="1" type="body"/>
          </p:nvPr>
        </p:nvSpPr>
        <p:spPr>
          <a:xfrm>
            <a:off x="40100" y="998800"/>
            <a:ext cx="2791500" cy="3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Let's work with </a:t>
            </a:r>
            <a:r>
              <a:rPr lang="en-US" sz="1300" u="sng">
                <a:solidFill>
                  <a:schemeClr val="hlink"/>
                </a:solidFill>
                <a:hlinkClick r:id="rId3"/>
              </a:rPr>
              <a:t>this existing database</a:t>
            </a:r>
            <a:r>
              <a:rPr lang="en-US" sz="1300"/>
              <a:t> to see some of the relational information contained within, so that you don't have to assemble it yourself.</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None/>
            </a:pPr>
            <a:r>
              <a:rPr lang="en-US" sz="1300"/>
              <a:t>The schema (organizational structure) of the database is to the right, represented in an </a:t>
            </a:r>
            <a:r>
              <a:rPr b="1" lang="en-US" sz="1300"/>
              <a:t>entity-relationship diagram (E-R diagram)</a:t>
            </a:r>
            <a:r>
              <a:rPr lang="en-US" sz="1300"/>
              <a:t>.</a:t>
            </a:r>
            <a:endParaRPr sz="1300"/>
          </a:p>
        </p:txBody>
      </p:sp>
      <p:pic>
        <p:nvPicPr>
          <p:cNvPr id="340" name="Google Shape;340;p43"/>
          <p:cNvPicPr preferRelativeResize="0"/>
          <p:nvPr/>
        </p:nvPicPr>
        <p:blipFill>
          <a:blip r:embed="rId4">
            <a:alphaModFix/>
          </a:blip>
          <a:stretch>
            <a:fillRect/>
          </a:stretch>
        </p:blipFill>
        <p:spPr>
          <a:xfrm>
            <a:off x="2727172" y="836550"/>
            <a:ext cx="6416828" cy="3224450"/>
          </a:xfrm>
          <a:prstGeom prst="rect">
            <a:avLst/>
          </a:prstGeom>
          <a:noFill/>
          <a:ln>
            <a:noFill/>
          </a:ln>
        </p:spPr>
      </p:pic>
      <p:sp>
        <p:nvSpPr>
          <p:cNvPr id="341" name="Google Shape;341;p43"/>
          <p:cNvSpPr txBox="1"/>
          <p:nvPr/>
        </p:nvSpPr>
        <p:spPr>
          <a:xfrm>
            <a:off x="0" y="4166250"/>
            <a:ext cx="9144000" cy="273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i="1" lang="en-US" sz="600">
                <a:latin typeface="Proxima Nova"/>
                <a:ea typeface="Proxima Nova"/>
                <a:cs typeface="Proxima Nova"/>
                <a:sym typeface="Proxima Nova"/>
              </a:rPr>
              <a:t>source: https://www.sqlitetutorial.net/sqlite-sample-database/</a:t>
            </a:r>
            <a:endParaRPr i="1" sz="600">
              <a:latin typeface="Proxima Nova"/>
              <a:ea typeface="Proxima Nova"/>
              <a:cs typeface="Proxima Nova"/>
              <a:sym typeface="Proxima Nova"/>
            </a:endParaRPr>
          </a:p>
        </p:txBody>
      </p:sp>
      <p:sp>
        <p:nvSpPr>
          <p:cNvPr id="342" name="Google Shape;342;p4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data types</a:t>
            </a:r>
            <a:endParaRPr/>
          </a:p>
        </p:txBody>
      </p:sp>
      <p:sp>
        <p:nvSpPr>
          <p:cNvPr id="349" name="Google Shape;349;p4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will notice that each attribute has beside it, in gray, some text. This text represents the datatype of the attribute.</a:t>
            </a:r>
            <a:endParaRPr/>
          </a:p>
        </p:txBody>
      </p:sp>
      <p:sp>
        <p:nvSpPr>
          <p:cNvPr id="350" name="Google Shape;350;p4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Within the genres table:</a:t>
            </a:r>
            <a:endParaRPr/>
          </a:p>
          <a:p>
            <a:pPr indent="-330200" lvl="0" marL="457200" rtl="0" algn="l">
              <a:spcBef>
                <a:spcPts val="0"/>
              </a:spcBef>
              <a:spcAft>
                <a:spcPts val="0"/>
              </a:spcAft>
              <a:buSzPts val="1600"/>
              <a:buChar char="•"/>
            </a:pPr>
            <a:r>
              <a:rPr lang="en-US"/>
              <a:t>GenreID is an INTEGER</a:t>
            </a:r>
            <a:endParaRPr/>
          </a:p>
          <a:p>
            <a:pPr indent="-330200" lvl="0" marL="457200" rtl="0" algn="l">
              <a:spcBef>
                <a:spcPts val="0"/>
              </a:spcBef>
              <a:spcAft>
                <a:spcPts val="0"/>
              </a:spcAft>
              <a:buSzPts val="1600"/>
              <a:buChar char="•"/>
            </a:pPr>
            <a:r>
              <a:rPr lang="en-US"/>
              <a:t>Name is an an NVARCHAR(120) - effectively, a 120-char long string.</a:t>
            </a:r>
            <a:endParaRPr/>
          </a:p>
        </p:txBody>
      </p:sp>
      <p:sp>
        <p:nvSpPr>
          <p:cNvPr id="351" name="Google Shape;351;p4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key attributes</a:t>
            </a:r>
            <a:endParaRPr/>
          </a:p>
        </p:txBody>
      </p:sp>
      <p:sp>
        <p:nvSpPr>
          <p:cNvPr id="358" name="Google Shape;358;p4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will also notice that each table contains one attribute with a yellow key beside it. This is the </a:t>
            </a:r>
            <a:r>
              <a:rPr b="1" lang="en-US"/>
              <a:t>primary key</a:t>
            </a:r>
            <a:r>
              <a:rPr lang="en-US"/>
              <a:t>, which is the one column that uniquely identifies each record in the table.</a:t>
            </a:r>
            <a:endParaRPr/>
          </a:p>
        </p:txBody>
      </p:sp>
      <p:sp>
        <p:nvSpPr>
          <p:cNvPr id="359" name="Google Shape;359;p4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Within the genres table, </a:t>
            </a:r>
            <a:r>
              <a:rPr i="1" lang="en-US"/>
              <a:t>GenreID</a:t>
            </a:r>
            <a:r>
              <a:rPr lang="en-US"/>
              <a:t> is the primary key.</a:t>
            </a:r>
            <a:endParaRPr/>
          </a:p>
        </p:txBody>
      </p:sp>
      <p:sp>
        <p:nvSpPr>
          <p:cNvPr id="360" name="Google Shape;360;p4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what tables?</a:t>
            </a:r>
            <a:endParaRPr/>
          </a:p>
        </p:txBody>
      </p:sp>
      <p:sp>
        <p:nvSpPr>
          <p:cNvPr id="367" name="Google Shape;367;p4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a:t>
            </a:r>
            <a:r>
              <a:rPr lang="en-US"/>
              <a:t>he schema for this database is clearly shown in these slides. However, if you don't have a diagram for your particular database handy, you can at the very least list the table names using SELECT.</a:t>
            </a:r>
            <a:endParaRPr/>
          </a:p>
        </p:txBody>
      </p:sp>
      <p:sp>
        <p:nvSpPr>
          <p:cNvPr id="368" name="Google Shape;368;p4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stmt = '</a:t>
            </a:r>
            <a:r>
              <a:rPr b="1" lang="en-US" sz="1000">
                <a:latin typeface="Courier New"/>
                <a:ea typeface="Courier New"/>
                <a:cs typeface="Courier New"/>
                <a:sym typeface="Courier New"/>
              </a:rPr>
              <a:t>SELECT name FROM sqlite_master WHERE type=?</a:t>
            </a:r>
            <a:r>
              <a:rPr lang="en-US"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v = ('table',)</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data = curs.execute(stmt, v)</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for record in data:</a:t>
            </a:r>
            <a:endParaRPr sz="10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print(record)</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&gt;&gt;&gt; ('Album',)</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&gt;&gt;&gt; ('sqlite_sequence',)</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&gt;&gt;&gt; ('Artist',)</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&gt;&gt;&gt; ...</a:t>
            </a:r>
            <a:endParaRPr sz="1000">
              <a:latin typeface="Courier New"/>
              <a:ea typeface="Courier New"/>
              <a:cs typeface="Courier New"/>
              <a:sym typeface="Courier New"/>
            </a:endParaRPr>
          </a:p>
        </p:txBody>
      </p:sp>
      <p:sp>
        <p:nvSpPr>
          <p:cNvPr id="369" name="Google Shape;369;p4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let's look at genres</a:t>
            </a:r>
            <a:endParaRPr/>
          </a:p>
        </p:txBody>
      </p:sp>
      <p:sp>
        <p:nvSpPr>
          <p:cNvPr id="376" name="Google Shape;376;p4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It looks like the genres table contains all of the genres of music currently held in the system. Let's list all of them.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It turns out that there are 25, each of which has a particular number associated with it.</a:t>
            </a:r>
            <a:endParaRPr/>
          </a:p>
        </p:txBody>
      </p:sp>
      <p:sp>
        <p:nvSpPr>
          <p:cNvPr id="377" name="Google Shape;377;p4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stmt = 'SELECT * FROM Genre'</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data = curs.execute(stmt)</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for record in data:</a:t>
            </a:r>
            <a:endParaRPr sz="10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print(record)</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&gt;&gt;&gt; (1, 'Rock')</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&gt;&gt;&gt; (2, 'Jazz')</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&gt;&gt;&gt; (3, 'Metal')</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&gt;&gt;&gt; ...</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&gt;&gt;&gt; (25, 'Opera')</a:t>
            </a:r>
            <a:endParaRPr sz="1000">
              <a:latin typeface="Courier New"/>
              <a:ea typeface="Courier New"/>
              <a:cs typeface="Courier New"/>
              <a:sym typeface="Courier New"/>
            </a:endParaRPr>
          </a:p>
        </p:txBody>
      </p:sp>
      <p:sp>
        <p:nvSpPr>
          <p:cNvPr id="378" name="Google Shape;378;p4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aggregations</a:t>
            </a:r>
            <a:endParaRPr/>
          </a:p>
        </p:txBody>
      </p:sp>
      <p:sp>
        <p:nvSpPr>
          <p:cNvPr id="385" name="Google Shape;385;p4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Let's </a:t>
            </a:r>
            <a:r>
              <a:rPr b="1" lang="en-US"/>
              <a:t>aggregate</a:t>
            </a:r>
            <a:r>
              <a:rPr lang="en-US"/>
              <a:t> - collapse a collection of records down into one number - the tracks table to count the number of tracks.</a:t>
            </a:r>
            <a:endParaRPr/>
          </a:p>
        </p:txBody>
      </p:sp>
      <p:sp>
        <p:nvSpPr>
          <p:cNvPr id="386" name="Google Shape;386;p4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stmt = 'SELECT </a:t>
            </a:r>
            <a:r>
              <a:rPr b="1" lang="en-US" sz="1000">
                <a:latin typeface="Courier New"/>
                <a:ea typeface="Courier New"/>
                <a:cs typeface="Courier New"/>
                <a:sym typeface="Courier New"/>
              </a:rPr>
              <a:t>COUNT(*)</a:t>
            </a:r>
            <a:r>
              <a:rPr lang="en-US" sz="1000">
                <a:latin typeface="Courier New"/>
                <a:ea typeface="Courier New"/>
                <a:cs typeface="Courier New"/>
                <a:sym typeface="Courier New"/>
              </a:rPr>
              <a:t> FROM Track</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data = curs.execute(stmt)</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for record in data:</a:t>
            </a:r>
            <a:endParaRPr sz="10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print(record)</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&gt;&gt;&gt; (3503,)</a:t>
            </a:r>
            <a:endParaRPr sz="1000">
              <a:latin typeface="Courier New"/>
              <a:ea typeface="Courier New"/>
              <a:cs typeface="Courier New"/>
              <a:sym typeface="Courier New"/>
            </a:endParaRPr>
          </a:p>
        </p:txBody>
      </p:sp>
      <p:sp>
        <p:nvSpPr>
          <p:cNvPr id="387" name="Google Shape;387;p4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aggregating with filter</a:t>
            </a:r>
            <a:endParaRPr/>
          </a:p>
        </p:txBody>
      </p:sp>
      <p:sp>
        <p:nvSpPr>
          <p:cNvPr id="394" name="Google Shape;394;p4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Let's </a:t>
            </a:r>
            <a:r>
              <a:rPr b="1" lang="en-US"/>
              <a:t>filter</a:t>
            </a:r>
            <a:r>
              <a:rPr lang="en-US"/>
              <a:t> - only select a certain subset of a collection based on a condition - to count only the tracks in the tracks table which are of type "metal".</a:t>
            </a:r>
            <a:endParaRPr/>
          </a:p>
        </p:txBody>
      </p:sp>
      <p:sp>
        <p:nvSpPr>
          <p:cNvPr id="395" name="Google Shape;395;p4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v = '3'  # metal has a genreID of 3</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stmt = 'SELECT COUNT(*) FROM Track </a:t>
            </a:r>
            <a:r>
              <a:rPr b="1" lang="en-US" sz="1000">
                <a:latin typeface="Courier New"/>
                <a:ea typeface="Courier New"/>
                <a:cs typeface="Courier New"/>
                <a:sym typeface="Courier New"/>
              </a:rPr>
              <a:t>WHERE Genreid=?</a:t>
            </a:r>
            <a:r>
              <a:rPr lang="en-US"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data = curs.execute(stmt, v)</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for record in data:</a:t>
            </a:r>
            <a:endParaRPr sz="10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print(record)</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&gt;&gt;&gt; (374,)</a:t>
            </a:r>
            <a:endParaRPr sz="1000">
              <a:latin typeface="Courier New"/>
              <a:ea typeface="Courier New"/>
              <a:cs typeface="Courier New"/>
              <a:sym typeface="Courier New"/>
            </a:endParaRPr>
          </a:p>
        </p:txBody>
      </p:sp>
      <p:sp>
        <p:nvSpPr>
          <p:cNvPr id="396" name="Google Shape;396;p4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Databases: mutating</a:t>
            </a:r>
            <a:endParaRPr/>
          </a:p>
        </p:txBody>
      </p:sp>
      <p:sp>
        <p:nvSpPr>
          <p:cNvPr id="403" name="Google Shape;403;p5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modify existing records within a table. Let's </a:t>
            </a:r>
            <a:r>
              <a:rPr lang="en-US"/>
              <a:t>change the genre of all tracks with the genre of "Rock" to "Roll”.</a:t>
            </a:r>
            <a:endParaRPr/>
          </a:p>
        </p:txBody>
      </p:sp>
      <p:sp>
        <p:nvSpPr>
          <p:cNvPr id="404" name="Google Shape;404;p5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v = ('Roll', 'Rock')</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stmt = '</a:t>
            </a:r>
            <a:r>
              <a:rPr b="1" lang="en-US" sz="1000">
                <a:latin typeface="Courier New"/>
                <a:ea typeface="Courier New"/>
                <a:cs typeface="Courier New"/>
                <a:sym typeface="Courier New"/>
              </a:rPr>
              <a:t>UPDATE</a:t>
            </a:r>
            <a:r>
              <a:rPr lang="en-US" sz="1000">
                <a:latin typeface="Courier New"/>
                <a:ea typeface="Courier New"/>
                <a:cs typeface="Courier New"/>
                <a:sym typeface="Courier New"/>
              </a:rPr>
              <a:t> Genre </a:t>
            </a:r>
            <a:r>
              <a:rPr b="1" lang="en-US" sz="1000">
                <a:latin typeface="Courier New"/>
                <a:ea typeface="Courier New"/>
                <a:cs typeface="Courier New"/>
                <a:sym typeface="Courier New"/>
              </a:rPr>
              <a:t>SET</a:t>
            </a:r>
            <a:r>
              <a:rPr lang="en-US" sz="1000">
                <a:latin typeface="Courier New"/>
                <a:ea typeface="Courier New"/>
                <a:cs typeface="Courier New"/>
                <a:sym typeface="Courier New"/>
              </a:rPr>
              <a:t> Name=? WHERE Name=?'</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curs.execute(stmt, v)</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stmt = 'SELECT * FROM Genre'</a:t>
            </a:r>
            <a:endParaRPr sz="1000">
              <a:latin typeface="Courier New"/>
              <a:ea typeface="Courier New"/>
              <a:cs typeface="Courier New"/>
              <a:sym typeface="Courier New"/>
            </a:endParaRPr>
          </a:p>
          <a:p>
            <a:pPr indent="0" lvl="0" marL="0" rtl="0" algn="l">
              <a:spcBef>
                <a:spcPts val="0"/>
              </a:spcBef>
              <a:spcAft>
                <a:spcPts val="0"/>
              </a:spcAft>
              <a:buNone/>
            </a:pPr>
            <a:r>
              <a:rPr lang="en-US" sz="1000">
                <a:latin typeface="Courier New"/>
                <a:ea typeface="Courier New"/>
                <a:cs typeface="Courier New"/>
                <a:sym typeface="Courier New"/>
              </a:rPr>
              <a:t>data = curs.execute(stmt)</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for record in data:</a:t>
            </a:r>
            <a:endParaRPr sz="1000">
              <a:latin typeface="Courier New"/>
              <a:ea typeface="Courier New"/>
              <a:cs typeface="Courier New"/>
              <a:sym typeface="Courier New"/>
            </a:endParaRPr>
          </a:p>
          <a:p>
            <a:pPr indent="457200" lvl="0" marL="0" rtl="0" algn="l">
              <a:spcBef>
                <a:spcPts val="0"/>
              </a:spcBef>
              <a:spcAft>
                <a:spcPts val="0"/>
              </a:spcAft>
              <a:buNone/>
            </a:pPr>
            <a:r>
              <a:rPr lang="en-US" sz="1000">
                <a:latin typeface="Courier New"/>
                <a:ea typeface="Courier New"/>
                <a:cs typeface="Courier New"/>
                <a:sym typeface="Courier New"/>
              </a:rPr>
              <a:t>print(record)</a:t>
            </a:r>
            <a:endParaRPr sz="1000">
              <a:latin typeface="Courier New"/>
              <a:ea typeface="Courier New"/>
              <a:cs typeface="Courier New"/>
              <a:sym typeface="Courier New"/>
            </a:endParaRPr>
          </a:p>
        </p:txBody>
      </p:sp>
      <p:sp>
        <p:nvSpPr>
          <p:cNvPr id="405" name="Google Shape;405;p5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412" name="Google Shape;412;p5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Terminology:</a:t>
            </a:r>
            <a:endParaRPr sz="1200"/>
          </a:p>
          <a:p>
            <a:pPr indent="-304800" lvl="0" marL="457200" rtl="0" algn="l">
              <a:spcBef>
                <a:spcPts val="0"/>
              </a:spcBef>
              <a:spcAft>
                <a:spcPts val="0"/>
              </a:spcAft>
              <a:buSzPts val="1200"/>
              <a:buChar char="•"/>
            </a:pPr>
            <a:r>
              <a:rPr lang="en-US" sz="1200"/>
              <a:t>database</a:t>
            </a:r>
            <a:endParaRPr sz="1200"/>
          </a:p>
          <a:p>
            <a:pPr indent="-304800" lvl="0" marL="457200" rtl="0" algn="l">
              <a:spcBef>
                <a:spcPts val="0"/>
              </a:spcBef>
              <a:spcAft>
                <a:spcPts val="0"/>
              </a:spcAft>
              <a:buSzPts val="1200"/>
              <a:buChar char="•"/>
            </a:pPr>
            <a:r>
              <a:rPr lang="en-US" sz="1200"/>
              <a:t>table</a:t>
            </a:r>
            <a:endParaRPr sz="1200"/>
          </a:p>
          <a:p>
            <a:pPr indent="-304800" lvl="0" marL="457200" rtl="0" algn="l">
              <a:spcBef>
                <a:spcPts val="0"/>
              </a:spcBef>
              <a:spcAft>
                <a:spcPts val="0"/>
              </a:spcAft>
              <a:buSzPts val="1200"/>
              <a:buChar char="•"/>
            </a:pPr>
            <a:r>
              <a:rPr lang="en-US" sz="1200"/>
              <a:t>attribute</a:t>
            </a:r>
            <a:endParaRPr sz="1200"/>
          </a:p>
          <a:p>
            <a:pPr indent="-304800" lvl="0" marL="457200" rtl="0" algn="l">
              <a:spcBef>
                <a:spcPts val="0"/>
              </a:spcBef>
              <a:spcAft>
                <a:spcPts val="0"/>
              </a:spcAft>
              <a:buSzPts val="1200"/>
              <a:buChar char="•"/>
            </a:pPr>
            <a:r>
              <a:rPr lang="en-US" sz="1200"/>
              <a:t>record</a:t>
            </a:r>
            <a:endParaRPr sz="1200"/>
          </a:p>
          <a:p>
            <a:pPr indent="-304800" lvl="0" marL="457200" rtl="0" algn="l">
              <a:spcBef>
                <a:spcPts val="0"/>
              </a:spcBef>
              <a:spcAft>
                <a:spcPts val="0"/>
              </a:spcAft>
              <a:buSzPts val="1200"/>
              <a:buChar char="•"/>
            </a:pPr>
            <a:r>
              <a:rPr lang="en-US" sz="1200"/>
              <a:t>statement</a:t>
            </a:r>
            <a:endParaRPr sz="1200"/>
          </a:p>
          <a:p>
            <a:pPr indent="-304800" lvl="0" marL="457200" rtl="0" algn="l">
              <a:spcBef>
                <a:spcPts val="0"/>
              </a:spcBef>
              <a:spcAft>
                <a:spcPts val="0"/>
              </a:spcAft>
              <a:buSzPts val="1200"/>
              <a:buChar char="•"/>
            </a:pPr>
            <a:r>
              <a:rPr lang="en-US" sz="1200"/>
              <a:t>query</a:t>
            </a:r>
            <a:endParaRPr sz="1200"/>
          </a:p>
          <a:p>
            <a:pPr indent="-304800" lvl="0" marL="457200" rtl="0" algn="l">
              <a:spcBef>
                <a:spcPts val="0"/>
              </a:spcBef>
              <a:spcAft>
                <a:spcPts val="0"/>
              </a:spcAft>
              <a:buSzPts val="1200"/>
              <a:buChar char="•"/>
            </a:pPr>
            <a:r>
              <a:rPr lang="en-US" sz="1200"/>
              <a:t>mutation</a:t>
            </a:r>
            <a:endParaRPr sz="1200"/>
          </a:p>
          <a:p>
            <a:pPr indent="-304800" lvl="0" marL="457200" rtl="0" algn="l">
              <a:spcBef>
                <a:spcPts val="0"/>
              </a:spcBef>
              <a:spcAft>
                <a:spcPts val="0"/>
              </a:spcAft>
              <a:buSzPts val="1200"/>
              <a:buChar char="•"/>
            </a:pPr>
            <a:r>
              <a:rPr lang="en-US" sz="1200"/>
              <a:t>parameter substitution</a:t>
            </a:r>
            <a:endParaRPr sz="1200"/>
          </a:p>
        </p:txBody>
      </p:sp>
      <p:sp>
        <p:nvSpPr>
          <p:cNvPr id="413" name="Google Shape;413;p5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Specific vocab/syntax:</a:t>
            </a:r>
            <a:endParaRPr sz="1200"/>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SELECT</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UPDATE</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INSERT</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DELETE</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sqlite3.connect()</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sqlite3.cursor()</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sqlite3.execute()</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sqlite3.commit()</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latin typeface="Courier New"/>
                <a:ea typeface="Courier New"/>
                <a:cs typeface="Courier New"/>
                <a:sym typeface="Courier New"/>
              </a:rPr>
              <a:t>sqlite3.rollback()</a:t>
            </a:r>
            <a:endParaRPr sz="1200">
              <a:latin typeface="Courier New"/>
              <a:ea typeface="Courier New"/>
              <a:cs typeface="Courier New"/>
              <a:sym typeface="Courier New"/>
            </a:endParaRPr>
          </a:p>
        </p:txBody>
      </p:sp>
      <p:sp>
        <p:nvSpPr>
          <p:cNvPr id="414" name="Google Shape;414;p5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