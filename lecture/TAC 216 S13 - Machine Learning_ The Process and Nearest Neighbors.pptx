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y="5143500" cx="9144000"/>
  <p:notesSz cx="7315200" cy="9601200"/>
  <p:embeddedFontLst>
    <p:embeddedFont>
      <p:font typeface="Proxima Nova"/>
      <p:regular r:id="rId44"/>
      <p:bold r:id="rId45"/>
      <p:italic r:id="rId46"/>
      <p:boldItalic r:id="rId47"/>
    </p:embeddedFont>
    <p:embeddedFont>
      <p:font typeface="Open Sans"/>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E60BDC0-2914-418B-A301-C5D8D6685F96}">
  <a:tblStyle styleId="{1E60BDC0-2914-418B-A301-C5D8D6685F9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font" Target="fonts/ProximaNova-regular.fntdata"/><Relationship Id="rId43" Type="http://schemas.openxmlformats.org/officeDocument/2006/relationships/slide" Target="slides/slide37.xml"/><Relationship Id="rId46" Type="http://schemas.openxmlformats.org/officeDocument/2006/relationships/font" Target="fonts/ProximaNova-italic.fntdata"/><Relationship Id="rId45" Type="http://schemas.openxmlformats.org/officeDocument/2006/relationships/font" Target="fonts/ProximaNova-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OpenSans-regular.fntdata"/><Relationship Id="rId47" Type="http://schemas.openxmlformats.org/officeDocument/2006/relationships/font" Target="fonts/ProximaNova-boldItalic.fntdata"/><Relationship Id="rId49" Type="http://schemas.openxmlformats.org/officeDocument/2006/relationships/font" Target="fonts/OpenSans-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OpenSans-boldItalic.fntdata"/><Relationship Id="rId50" Type="http://schemas.openxmlformats.org/officeDocument/2006/relationships/font" Target="fonts/OpenSans-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170238" cy="4794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4143375" y="0"/>
            <a:ext cx="3170238" cy="479425"/>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731838" y="4560888"/>
            <a:ext cx="5851525" cy="43195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120188"/>
            <a:ext cx="3170238" cy="47942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4143375" y="9120188"/>
            <a:ext cx="3170238" cy="47942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gd300396093_0_55: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50" name="Google Shape;50;gd300396093_0_55: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1" name="Google Shape;51;gd300396093_0_55: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96ce4223f7_0_7: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58" name="Google Shape;58;g96ce4223f7_0_7: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9" name="Google Shape;59;g96ce4223f7_0_7: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9d274203ec_0_0:notes"/>
          <p:cNvSpPr txBox="1"/>
          <p:nvPr>
            <p:ph idx="1" type="body"/>
          </p:nvPr>
        </p:nvSpPr>
        <p:spPr>
          <a:xfrm>
            <a:off x="701675" y="4416425"/>
            <a:ext cx="5607000" cy="4183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Clr>
                <a:schemeClr val="dk1"/>
              </a:buClr>
              <a:buSzPts val="1200"/>
              <a:buFont typeface="Calibri"/>
              <a:buNone/>
            </a:pPr>
            <a:r>
              <a:t/>
            </a:r>
            <a:endParaRPr/>
          </a:p>
        </p:txBody>
      </p:sp>
      <p:sp>
        <p:nvSpPr>
          <p:cNvPr id="67" name="Google Shape;67;g9d274203ec_0_0:notes"/>
          <p:cNvSpPr/>
          <p:nvPr>
            <p:ph idx="2" type="sldImg"/>
          </p:nvPr>
        </p:nvSpPr>
        <p:spPr>
          <a:xfrm>
            <a:off x="406400" y="696913"/>
            <a:ext cx="6197700" cy="34863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9d274203ec_0_387: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73" name="Google Shape;73;g9d274203ec_0_387: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4" name="Google Shape;74;g9d274203ec_0_387: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97257c7c68_0_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83" name="Google Shape;83;g397257c7c68_0_0: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4" name="Google Shape;84;g397257c7c68_0_0: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9d3fcbfdbb_0_29: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91" name="Google Shape;91;g9d3fcbfdbb_0_29: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2" name="Google Shape;92;g9d3fcbfdbb_0_29: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9d274203ec_0_414: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99" name="Google Shape;99;g9d274203ec_0_414: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0" name="Google Shape;100;g9d274203ec_0_414: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4b786415a2_0_52: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14" name="Google Shape;114;g34b786415a2_0_52:notes"/>
          <p:cNvSpPr txBox="1"/>
          <p:nvPr>
            <p:ph idx="1" type="body"/>
          </p:nvPr>
        </p:nvSpPr>
        <p:spPr>
          <a:xfrm>
            <a:off x="731838" y="4560888"/>
            <a:ext cx="5851500" cy="4319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15" name="Google Shape;115;g34b786415a2_0_52:notes"/>
          <p:cNvSpPr txBox="1"/>
          <p:nvPr>
            <p:ph idx="12" type="sldNum"/>
          </p:nvPr>
        </p:nvSpPr>
        <p:spPr>
          <a:xfrm>
            <a:off x="4143375" y="9120188"/>
            <a:ext cx="3170100" cy="479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9d3fcbfdbb_0_76: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9d3fcbfdbb_0_76: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3" name="Google Shape;123;g9d3fcbfdbb_0_76: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9d3fcbfdbb_0_67: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9d3fcbfdbb_0_67: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1" name="Google Shape;131;g9d3fcbfdbb_0_67: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9d3fcbfdbb_0_58: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9d3fcbfdbb_0_58: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0" name="Google Shape;140;g9d3fcbfdbb_0_58: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9d3fcbfdbb_0_135: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9d3fcbfdbb_0_135: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8" name="Google Shape;148;g9d3fcbfdbb_0_135: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4b786415a2_0_118: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55" name="Google Shape;155;g34b786415a2_0_118:notes"/>
          <p:cNvSpPr txBox="1"/>
          <p:nvPr>
            <p:ph idx="1" type="body"/>
          </p:nvPr>
        </p:nvSpPr>
        <p:spPr>
          <a:xfrm>
            <a:off x="731838" y="4560888"/>
            <a:ext cx="5851500" cy="4319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56" name="Google Shape;156;g34b786415a2_0_118:notes"/>
          <p:cNvSpPr txBox="1"/>
          <p:nvPr>
            <p:ph idx="12" type="sldNum"/>
          </p:nvPr>
        </p:nvSpPr>
        <p:spPr>
          <a:xfrm>
            <a:off x="4143375" y="9120188"/>
            <a:ext cx="3170100" cy="479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9d3fcbfdbb_0_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9d3fcbfdbb_0_0: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5" name="Google Shape;165;g9d3fcbfdbb_0_0: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9d3fcbfdbb_0_9: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9d3fcbfdbb_0_9: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4" name="Google Shape;174;g9d3fcbfdbb_0_9: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4b786415a2_0_184: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82" name="Google Shape;182;g34b786415a2_0_184:notes"/>
          <p:cNvSpPr txBox="1"/>
          <p:nvPr>
            <p:ph idx="1" type="body"/>
          </p:nvPr>
        </p:nvSpPr>
        <p:spPr>
          <a:xfrm>
            <a:off x="731838" y="4560888"/>
            <a:ext cx="5851500" cy="43197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360"/>
              </a:spcBef>
              <a:spcAft>
                <a:spcPts val="0"/>
              </a:spcAft>
              <a:buClr>
                <a:srgbClr val="000000"/>
              </a:buClr>
              <a:buSzPts val="1400"/>
              <a:buFont typeface="Arial"/>
              <a:buNone/>
            </a:pPr>
            <a:r>
              <a:t/>
            </a:r>
            <a:endParaRPr/>
          </a:p>
        </p:txBody>
      </p:sp>
      <p:sp>
        <p:nvSpPr>
          <p:cNvPr id="183" name="Google Shape;183;g34b786415a2_0_184:notes"/>
          <p:cNvSpPr txBox="1"/>
          <p:nvPr>
            <p:ph idx="12" type="sldNum"/>
          </p:nvPr>
        </p:nvSpPr>
        <p:spPr>
          <a:xfrm>
            <a:off x="4143375" y="9120188"/>
            <a:ext cx="3170100" cy="479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4b786415a2_0_282: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25" name="Google Shape;225;g34b786415a2_0_282:notes"/>
          <p:cNvSpPr txBox="1"/>
          <p:nvPr>
            <p:ph idx="1" type="body"/>
          </p:nvPr>
        </p:nvSpPr>
        <p:spPr>
          <a:xfrm>
            <a:off x="731838" y="4560888"/>
            <a:ext cx="5851500" cy="43197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360"/>
              </a:spcBef>
              <a:spcAft>
                <a:spcPts val="0"/>
              </a:spcAft>
              <a:buClr>
                <a:srgbClr val="000000"/>
              </a:buClr>
              <a:buSzPts val="1400"/>
              <a:buFont typeface="Arial"/>
              <a:buNone/>
            </a:pPr>
            <a:r>
              <a:rPr lang="en-US"/>
              <a:t>Categorical Data in pandas</a:t>
            </a:r>
            <a:endParaRPr/>
          </a:p>
          <a:p>
            <a:pPr indent="-228600" lvl="0" marL="457200" marR="0" rtl="0" algn="l">
              <a:lnSpc>
                <a:spcPct val="100000"/>
              </a:lnSpc>
              <a:spcBef>
                <a:spcPts val="360"/>
              </a:spcBef>
              <a:spcAft>
                <a:spcPts val="0"/>
              </a:spcAft>
              <a:buClr>
                <a:srgbClr val="000000"/>
              </a:buClr>
              <a:buSzPts val="1400"/>
              <a:buFont typeface="Arial"/>
              <a:buNone/>
            </a:pPr>
            <a:r>
              <a:rPr lang="en-US"/>
              <a:t>https://pandas.pydata.org/docs/user_guide/categorical.html</a:t>
            </a:r>
            <a:endParaRPr/>
          </a:p>
          <a:p>
            <a:pPr indent="-228600" lvl="0" marL="457200" marR="0" rtl="0" algn="l">
              <a:lnSpc>
                <a:spcPct val="100000"/>
              </a:lnSpc>
              <a:spcBef>
                <a:spcPts val="360"/>
              </a:spcBef>
              <a:spcAft>
                <a:spcPts val="0"/>
              </a:spcAft>
              <a:buClr>
                <a:srgbClr val="000000"/>
              </a:buClr>
              <a:buSzPts val="1400"/>
              <a:buFont typeface="Arial"/>
              <a:buNone/>
            </a:pPr>
            <a:r>
              <a:rPr lang="en-US"/>
              <a:t>Convert all strings to numbers to make sci kit learns job easy/possible</a:t>
            </a:r>
            <a:endParaRPr/>
          </a:p>
        </p:txBody>
      </p:sp>
      <p:sp>
        <p:nvSpPr>
          <p:cNvPr id="226" name="Google Shape;226;g34b786415a2_0_282:notes"/>
          <p:cNvSpPr txBox="1"/>
          <p:nvPr>
            <p:ph idx="12" type="sldNum"/>
          </p:nvPr>
        </p:nvSpPr>
        <p:spPr>
          <a:xfrm>
            <a:off x="4143375" y="9120188"/>
            <a:ext cx="3170100" cy="4794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4b786415a2_0_33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33" name="Google Shape;233;g34b786415a2_0_330:notes"/>
          <p:cNvSpPr txBox="1"/>
          <p:nvPr>
            <p:ph idx="1" type="body"/>
          </p:nvPr>
        </p:nvSpPr>
        <p:spPr>
          <a:xfrm>
            <a:off x="731838" y="4560888"/>
            <a:ext cx="5851500" cy="4319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34" name="Google Shape;234;g34b786415a2_0_330:notes"/>
          <p:cNvSpPr txBox="1"/>
          <p:nvPr>
            <p:ph idx="12" type="sldNum"/>
          </p:nvPr>
        </p:nvSpPr>
        <p:spPr>
          <a:xfrm>
            <a:off x="4143375" y="9120188"/>
            <a:ext cx="3170100" cy="479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4b786415a2_0_288: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41" name="Google Shape;241;g34b786415a2_0_288:notes"/>
          <p:cNvSpPr txBox="1"/>
          <p:nvPr>
            <p:ph idx="1" type="body"/>
          </p:nvPr>
        </p:nvSpPr>
        <p:spPr>
          <a:xfrm>
            <a:off x="731838" y="4560888"/>
            <a:ext cx="5851500" cy="4319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42" name="Google Shape;242;g34b786415a2_0_288:notes"/>
          <p:cNvSpPr txBox="1"/>
          <p:nvPr>
            <p:ph idx="12" type="sldNum"/>
          </p:nvPr>
        </p:nvSpPr>
        <p:spPr>
          <a:xfrm>
            <a:off x="4143375" y="9120188"/>
            <a:ext cx="3170100" cy="479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4b786415a2_0_1061: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4b786415a2_0_1061: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0" name="Google Shape;250;g34b786415a2_0_1061: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4b786415a2_0_294: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57" name="Google Shape;257;g34b786415a2_0_294:notes"/>
          <p:cNvSpPr txBox="1"/>
          <p:nvPr>
            <p:ph idx="1" type="body"/>
          </p:nvPr>
        </p:nvSpPr>
        <p:spPr>
          <a:xfrm>
            <a:off x="731838" y="4560888"/>
            <a:ext cx="5851500" cy="4319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58" name="Google Shape;258;g34b786415a2_0_294:notes"/>
          <p:cNvSpPr txBox="1"/>
          <p:nvPr>
            <p:ph idx="12" type="sldNum"/>
          </p:nvPr>
        </p:nvSpPr>
        <p:spPr>
          <a:xfrm>
            <a:off x="4143375" y="9120188"/>
            <a:ext cx="3170100" cy="479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4b786415a2_0_301:notes"/>
          <p:cNvSpPr txBox="1"/>
          <p:nvPr>
            <p:ph idx="1" type="body"/>
          </p:nvPr>
        </p:nvSpPr>
        <p:spPr>
          <a:xfrm>
            <a:off x="731838" y="4560888"/>
            <a:ext cx="5851500" cy="4319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rPr lang="en-US"/>
              <a:t>Note, as you increase k, the number of neighbors to compare against, yes, you’re making more comparisons but you’re also comparing to things increasingly more different from the new item where different is defined as average difference of features as you increase k.</a:t>
            </a:r>
            <a:endParaRPr/>
          </a:p>
        </p:txBody>
      </p:sp>
      <p:sp>
        <p:nvSpPr>
          <p:cNvPr id="265" name="Google Shape;265;g34b786415a2_0_301: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4b786415a2_0_1075: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74" name="Google Shape;274;g34b786415a2_0_1075:notes"/>
          <p:cNvSpPr txBox="1"/>
          <p:nvPr>
            <p:ph idx="1" type="body"/>
          </p:nvPr>
        </p:nvSpPr>
        <p:spPr>
          <a:xfrm>
            <a:off x="731838" y="4560888"/>
            <a:ext cx="5851500" cy="4319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75" name="Google Shape;275;g34b786415a2_0_1075:notes"/>
          <p:cNvSpPr txBox="1"/>
          <p:nvPr>
            <p:ph idx="12" type="sldNum"/>
          </p:nvPr>
        </p:nvSpPr>
        <p:spPr>
          <a:xfrm>
            <a:off x="4143375" y="9120188"/>
            <a:ext cx="3170100" cy="479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4b786415a2_0_308:notes"/>
          <p:cNvSpPr txBox="1"/>
          <p:nvPr>
            <p:ph idx="1" type="body"/>
          </p:nvPr>
        </p:nvSpPr>
        <p:spPr>
          <a:xfrm>
            <a:off x="701675" y="4416425"/>
            <a:ext cx="5607000" cy="4183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Clr>
                <a:schemeClr val="dk1"/>
              </a:buClr>
              <a:buSzPts val="1200"/>
              <a:buFont typeface="Calibri"/>
              <a:buNone/>
            </a:pPr>
            <a:r>
              <a:t/>
            </a:r>
            <a:endParaRPr/>
          </a:p>
        </p:txBody>
      </p:sp>
      <p:sp>
        <p:nvSpPr>
          <p:cNvPr id="283" name="Google Shape;283;g34b786415a2_0_308:notes"/>
          <p:cNvSpPr/>
          <p:nvPr>
            <p:ph idx="2" type="sldImg"/>
          </p:nvPr>
        </p:nvSpPr>
        <p:spPr>
          <a:xfrm>
            <a:off x="406400" y="696913"/>
            <a:ext cx="6197700" cy="34863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4b786415a2_0_313: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89" name="Google Shape;289;g34b786415a2_0_313:notes"/>
          <p:cNvSpPr txBox="1"/>
          <p:nvPr>
            <p:ph idx="1" type="body"/>
          </p:nvPr>
        </p:nvSpPr>
        <p:spPr>
          <a:xfrm>
            <a:off x="731838" y="4560888"/>
            <a:ext cx="5851500" cy="4319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90" name="Google Shape;290;g34b786415a2_0_313:notes"/>
          <p:cNvSpPr txBox="1"/>
          <p:nvPr>
            <p:ph idx="12" type="sldNum"/>
          </p:nvPr>
        </p:nvSpPr>
        <p:spPr>
          <a:xfrm>
            <a:off x="4143375" y="9120188"/>
            <a:ext cx="3170100" cy="479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4b786415a2_0_321: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98" name="Google Shape;298;g34b786415a2_0_321:notes"/>
          <p:cNvSpPr txBox="1"/>
          <p:nvPr>
            <p:ph idx="1" type="body"/>
          </p:nvPr>
        </p:nvSpPr>
        <p:spPr>
          <a:xfrm>
            <a:off x="731838" y="4560888"/>
            <a:ext cx="5851500" cy="4319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99" name="Google Shape;299;g34b786415a2_0_321:notes"/>
          <p:cNvSpPr txBox="1"/>
          <p:nvPr>
            <p:ph idx="12" type="sldNum"/>
          </p:nvPr>
        </p:nvSpPr>
        <p:spPr>
          <a:xfrm>
            <a:off x="4143375" y="9120188"/>
            <a:ext cx="3170100" cy="479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4b786415a2_0_337: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07" name="Google Shape;307;g34b786415a2_0_337:notes"/>
          <p:cNvSpPr txBox="1"/>
          <p:nvPr>
            <p:ph idx="1" type="body"/>
          </p:nvPr>
        </p:nvSpPr>
        <p:spPr>
          <a:xfrm>
            <a:off x="731838" y="4560888"/>
            <a:ext cx="5851500" cy="4319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08" name="Google Shape;308;g34b786415a2_0_337:notes"/>
          <p:cNvSpPr txBox="1"/>
          <p:nvPr>
            <p:ph idx="12" type="sldNum"/>
          </p:nvPr>
        </p:nvSpPr>
        <p:spPr>
          <a:xfrm>
            <a:off x="4143375" y="9120188"/>
            <a:ext cx="3170100" cy="479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4b786415a2_0_345: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16" name="Google Shape;316;g34b786415a2_0_345:notes"/>
          <p:cNvSpPr txBox="1"/>
          <p:nvPr>
            <p:ph idx="1" type="body"/>
          </p:nvPr>
        </p:nvSpPr>
        <p:spPr>
          <a:xfrm>
            <a:off x="731838" y="4560888"/>
            <a:ext cx="5851500" cy="4319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17" name="Google Shape;317;g34b786415a2_0_345:notes"/>
          <p:cNvSpPr txBox="1"/>
          <p:nvPr>
            <p:ph idx="12" type="sldNum"/>
          </p:nvPr>
        </p:nvSpPr>
        <p:spPr>
          <a:xfrm>
            <a:off x="4143375" y="9120188"/>
            <a:ext cx="3170100" cy="479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4b786415a2_0_1103: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26" name="Google Shape;326;g34b786415a2_0_1103:notes"/>
          <p:cNvSpPr txBox="1"/>
          <p:nvPr>
            <p:ph idx="1" type="body"/>
          </p:nvPr>
        </p:nvSpPr>
        <p:spPr>
          <a:xfrm>
            <a:off x="731838" y="4560888"/>
            <a:ext cx="5851500" cy="4319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27" name="Google Shape;327;g34b786415a2_0_1103:notes"/>
          <p:cNvSpPr txBox="1"/>
          <p:nvPr>
            <p:ph idx="12" type="sldNum"/>
          </p:nvPr>
        </p:nvSpPr>
        <p:spPr>
          <a:xfrm>
            <a:off x="4143375" y="9120188"/>
            <a:ext cx="3170100" cy="479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4b786415a2_0_1119: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35" name="Google Shape;335;g34b786415a2_0_1119:notes"/>
          <p:cNvSpPr txBox="1"/>
          <p:nvPr>
            <p:ph idx="1" type="body"/>
          </p:nvPr>
        </p:nvSpPr>
        <p:spPr>
          <a:xfrm>
            <a:off x="731838" y="4560888"/>
            <a:ext cx="5851500" cy="4319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36" name="Google Shape;336;g34b786415a2_0_1119:notes"/>
          <p:cNvSpPr txBox="1"/>
          <p:nvPr>
            <p:ph idx="12" type="sldNum"/>
          </p:nvPr>
        </p:nvSpPr>
        <p:spPr>
          <a:xfrm>
            <a:off x="4143375" y="9120188"/>
            <a:ext cx="3170100" cy="479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4b786415a2_0_354: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44" name="Google Shape;344;g34b786415a2_0_354:notes"/>
          <p:cNvSpPr txBox="1"/>
          <p:nvPr>
            <p:ph idx="1" type="body"/>
          </p:nvPr>
        </p:nvSpPr>
        <p:spPr>
          <a:xfrm>
            <a:off x="731838" y="4560888"/>
            <a:ext cx="5851500" cy="4319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rPr lang="en-US"/>
              <a:t>Iris.data in the toy dataset is just the X features/input</a:t>
            </a:r>
            <a:endParaRPr/>
          </a:p>
          <a:p>
            <a:pPr indent="0" lvl="0" marL="0" rtl="0" algn="l">
              <a:lnSpc>
                <a:spcPct val="100000"/>
              </a:lnSpc>
              <a:spcBef>
                <a:spcPts val="360"/>
              </a:spcBef>
              <a:spcAft>
                <a:spcPts val="0"/>
              </a:spcAft>
              <a:buSzPts val="1400"/>
              <a:buNone/>
            </a:pPr>
            <a:r>
              <a:t/>
            </a:r>
            <a:endParaRPr/>
          </a:p>
          <a:p>
            <a:pPr indent="0" lvl="0" marL="0" rtl="0" algn="l">
              <a:lnSpc>
                <a:spcPct val="100000"/>
              </a:lnSpc>
              <a:spcBef>
                <a:spcPts val="360"/>
              </a:spcBef>
              <a:spcAft>
                <a:spcPts val="0"/>
              </a:spcAft>
              <a:buSzPts val="1400"/>
              <a:buNone/>
            </a:pPr>
            <a:r>
              <a:rPr lang="en-US"/>
              <a:t>IRL in your pandas dataframe you will need to specify either a slice indices or a list of column name features that you want to train your model on</a:t>
            </a:r>
            <a:endParaRPr/>
          </a:p>
          <a:p>
            <a:pPr indent="0" lvl="0" marL="0" rtl="0" algn="l">
              <a:lnSpc>
                <a:spcPct val="100000"/>
              </a:lnSpc>
              <a:spcBef>
                <a:spcPts val="360"/>
              </a:spcBef>
              <a:spcAft>
                <a:spcPts val="0"/>
              </a:spcAft>
              <a:buSzPts val="1400"/>
              <a:buNone/>
            </a:pPr>
            <a:r>
              <a:rPr lang="en-US"/>
              <a:t>Iris.target you will have to specify your label/target/output pandas column</a:t>
            </a:r>
            <a:endParaRPr/>
          </a:p>
        </p:txBody>
      </p:sp>
      <p:sp>
        <p:nvSpPr>
          <p:cNvPr id="345" name="Google Shape;345;g34b786415a2_0_354:notes"/>
          <p:cNvSpPr txBox="1"/>
          <p:nvPr>
            <p:ph idx="12" type="sldNum"/>
          </p:nvPr>
        </p:nvSpPr>
        <p:spPr>
          <a:xfrm>
            <a:off x="4143375" y="9120188"/>
            <a:ext cx="3170100" cy="479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4b786415a2_0_1111: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53" name="Google Shape;353;g34b786415a2_0_1111:notes"/>
          <p:cNvSpPr txBox="1"/>
          <p:nvPr>
            <p:ph idx="1" type="body"/>
          </p:nvPr>
        </p:nvSpPr>
        <p:spPr>
          <a:xfrm>
            <a:off x="731838" y="4560888"/>
            <a:ext cx="5851500" cy="4319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54" name="Google Shape;354;g34b786415a2_0_1111:notes"/>
          <p:cNvSpPr txBox="1"/>
          <p:nvPr>
            <p:ph idx="12" type="sldNum"/>
          </p:nvPr>
        </p:nvSpPr>
        <p:spPr>
          <a:xfrm>
            <a:off x="4143375" y="9120188"/>
            <a:ext cx="3170100" cy="479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4b786415a2_0_37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62" name="Google Shape;362;g34b786415a2_0_370:notes"/>
          <p:cNvSpPr txBox="1"/>
          <p:nvPr>
            <p:ph idx="1" type="body"/>
          </p:nvPr>
        </p:nvSpPr>
        <p:spPr>
          <a:xfrm>
            <a:off x="731838" y="4560888"/>
            <a:ext cx="5851500" cy="4319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63" name="Google Shape;363;g34b786415a2_0_370:notes"/>
          <p:cNvSpPr txBox="1"/>
          <p:nvPr>
            <p:ph idx="12" type="sldNum"/>
          </p:nvPr>
        </p:nvSpPr>
        <p:spPr>
          <a:xfrm>
            <a:off x="4143375" y="9120188"/>
            <a:ext cx="3170100" cy="479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4b786415a2_0_385: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71" name="Google Shape;371;g34b786415a2_0_385:notes"/>
          <p:cNvSpPr txBox="1"/>
          <p:nvPr>
            <p:ph idx="1" type="body"/>
          </p:nvPr>
        </p:nvSpPr>
        <p:spPr>
          <a:xfrm>
            <a:off x="731838" y="4560888"/>
            <a:ext cx="5851500" cy="4319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72" name="Google Shape;372;g34b786415a2_0_385:notes"/>
          <p:cNvSpPr txBox="1"/>
          <p:nvPr>
            <p:ph idx="12" type="sldNum"/>
          </p:nvPr>
        </p:nvSpPr>
        <p:spPr>
          <a:xfrm>
            <a:off x="4143375" y="9120188"/>
            <a:ext cx="3170100" cy="479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4b786415a2_0_1144: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80" name="Google Shape;380;g34b786415a2_0_1144:notes"/>
          <p:cNvSpPr txBox="1"/>
          <p:nvPr>
            <p:ph idx="1" type="body"/>
          </p:nvPr>
        </p:nvSpPr>
        <p:spPr>
          <a:xfrm>
            <a:off x="731838" y="4560888"/>
            <a:ext cx="5851500" cy="4319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81" name="Google Shape;381;g34b786415a2_0_1144:notes"/>
          <p:cNvSpPr txBox="1"/>
          <p:nvPr>
            <p:ph idx="12" type="sldNum"/>
          </p:nvPr>
        </p:nvSpPr>
        <p:spPr>
          <a:xfrm>
            <a:off x="4143375" y="9120188"/>
            <a:ext cx="3170100" cy="479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4b786415a2_0_401: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89" name="Google Shape;389;g34b786415a2_0_401:notes"/>
          <p:cNvSpPr txBox="1"/>
          <p:nvPr>
            <p:ph idx="1" type="body"/>
          </p:nvPr>
        </p:nvSpPr>
        <p:spPr>
          <a:xfrm>
            <a:off x="731838" y="4560888"/>
            <a:ext cx="5851500" cy="4319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90" name="Google Shape;390;g34b786415a2_0_401:notes"/>
          <p:cNvSpPr txBox="1"/>
          <p:nvPr>
            <p:ph idx="12" type="sldNum"/>
          </p:nvPr>
        </p:nvSpPr>
        <p:spPr>
          <a:xfrm>
            <a:off x="4143375" y="9120188"/>
            <a:ext cx="3170100" cy="479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4b786415a2_0_409: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98" name="Google Shape;398;g34b786415a2_0_409:notes"/>
          <p:cNvSpPr txBox="1"/>
          <p:nvPr>
            <p:ph idx="1" type="body"/>
          </p:nvPr>
        </p:nvSpPr>
        <p:spPr>
          <a:xfrm>
            <a:off x="731838" y="4560888"/>
            <a:ext cx="5851500" cy="4319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99" name="Google Shape;399;g34b786415a2_0_409:notes"/>
          <p:cNvSpPr txBox="1"/>
          <p:nvPr>
            <p:ph idx="12" type="sldNum"/>
          </p:nvPr>
        </p:nvSpPr>
        <p:spPr>
          <a:xfrm>
            <a:off x="4143375" y="9120188"/>
            <a:ext cx="3170100" cy="479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2"/>
          <p:cNvSpPr txBox="1"/>
          <p:nvPr>
            <p:ph type="ctrTitle"/>
          </p:nvPr>
        </p:nvSpPr>
        <p:spPr>
          <a:xfrm>
            <a:off x="685800" y="1104900"/>
            <a:ext cx="7772400" cy="2136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990000"/>
              </a:buClr>
              <a:buSzPts val="4400"/>
              <a:buFont typeface="Proxima Nova"/>
              <a:buNone/>
              <a:defRPr sz="4400">
                <a:solidFill>
                  <a:srgbClr val="990000"/>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 type="subTitle"/>
          </p:nvPr>
        </p:nvSpPr>
        <p:spPr>
          <a:xfrm>
            <a:off x="1371600" y="3240900"/>
            <a:ext cx="6400800" cy="10455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700"/>
              </a:spcBef>
              <a:spcAft>
                <a:spcPts val="0"/>
              </a:spcAft>
              <a:buClr>
                <a:srgbClr val="990000"/>
              </a:buClr>
              <a:buSzPts val="3200"/>
              <a:buFont typeface="Calibri"/>
              <a:buNone/>
              <a:defRPr>
                <a:solidFill>
                  <a:srgbClr val="990000"/>
                </a:solidFill>
                <a:latin typeface="Calibri"/>
                <a:ea typeface="Calibri"/>
                <a:cs typeface="Calibri"/>
                <a:sym typeface="Calibri"/>
              </a:defRPr>
            </a:lvl1pPr>
            <a:lvl2pPr lvl="1" algn="ctr">
              <a:lnSpc>
                <a:spcPct val="100000"/>
              </a:lnSpc>
              <a:spcBef>
                <a:spcPts val="500"/>
              </a:spcBef>
              <a:spcAft>
                <a:spcPts val="0"/>
              </a:spcAft>
              <a:buClr>
                <a:srgbClr val="888888"/>
              </a:buClr>
              <a:buSzPts val="2800"/>
              <a:buNone/>
              <a:defRPr>
                <a:solidFill>
                  <a:srgbClr val="888888"/>
                </a:solidFill>
              </a:defRPr>
            </a:lvl2pPr>
            <a:lvl3pPr lvl="2" algn="ctr">
              <a:lnSpc>
                <a:spcPct val="100000"/>
              </a:lnSpc>
              <a:spcBef>
                <a:spcPts val="50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1" name="Google Shape;21;p2"/>
          <p:cNvSpPr txBox="1"/>
          <p:nvPr>
            <p:ph idx="2" type="body"/>
          </p:nvPr>
        </p:nvSpPr>
        <p:spPr>
          <a:xfrm>
            <a:off x="7365900" y="0"/>
            <a:ext cx="1778100" cy="332700"/>
          </a:xfrm>
          <a:prstGeom prst="rect">
            <a:avLst/>
          </a:prstGeom>
        </p:spPr>
        <p:txBody>
          <a:bodyPr anchorCtr="0" anchor="t" bIns="45700" lIns="91425" spcFirstLastPara="1" rIns="91425" wrap="square" tIns="45700">
            <a:noAutofit/>
          </a:bodyPr>
          <a:lstStyle>
            <a:lvl1pPr indent="-304800" lvl="0" marL="457200" algn="r">
              <a:spcBef>
                <a:spcPts val="0"/>
              </a:spcBef>
              <a:spcAft>
                <a:spcPts val="0"/>
              </a:spcAft>
              <a:buClr>
                <a:srgbClr val="990000"/>
              </a:buClr>
              <a:buSzPts val="1200"/>
              <a:buChar char="•"/>
              <a:defRPr sz="1200">
                <a:solidFill>
                  <a:srgbClr val="990000"/>
                </a:solidFill>
              </a:defRPr>
            </a:lvl1pPr>
            <a:lvl2pPr indent="-234950" lvl="1" marL="914400" algn="r">
              <a:spcBef>
                <a:spcPts val="0"/>
              </a:spcBef>
              <a:spcAft>
                <a:spcPts val="0"/>
              </a:spcAft>
              <a:buClr>
                <a:srgbClr val="990000"/>
              </a:buClr>
              <a:buSzPts val="100"/>
              <a:buChar char="–"/>
              <a:defRPr sz="100">
                <a:solidFill>
                  <a:srgbClr val="990000"/>
                </a:solidFill>
              </a:defRPr>
            </a:lvl2pPr>
            <a:lvl3pPr indent="-234950" lvl="2" marL="1371600" algn="r">
              <a:spcBef>
                <a:spcPts val="0"/>
              </a:spcBef>
              <a:spcAft>
                <a:spcPts val="0"/>
              </a:spcAft>
              <a:buClr>
                <a:srgbClr val="990000"/>
              </a:buClr>
              <a:buSzPts val="100"/>
              <a:buChar char="•"/>
              <a:defRPr sz="100">
                <a:solidFill>
                  <a:srgbClr val="990000"/>
                </a:solidFill>
              </a:defRPr>
            </a:lvl3pPr>
            <a:lvl4pPr indent="-234950" lvl="3" marL="1828800" algn="r">
              <a:spcBef>
                <a:spcPts val="0"/>
              </a:spcBef>
              <a:spcAft>
                <a:spcPts val="0"/>
              </a:spcAft>
              <a:buClr>
                <a:srgbClr val="990000"/>
              </a:buClr>
              <a:buSzPts val="100"/>
              <a:buChar char="–"/>
              <a:defRPr sz="100">
                <a:solidFill>
                  <a:srgbClr val="990000"/>
                </a:solidFill>
              </a:defRPr>
            </a:lvl4pPr>
            <a:lvl5pPr indent="-234950" lvl="4" marL="2286000" algn="r">
              <a:spcBef>
                <a:spcPts val="0"/>
              </a:spcBef>
              <a:spcAft>
                <a:spcPts val="0"/>
              </a:spcAft>
              <a:buClr>
                <a:srgbClr val="990000"/>
              </a:buClr>
              <a:buSzPts val="100"/>
              <a:buChar char="»"/>
              <a:defRPr sz="100">
                <a:solidFill>
                  <a:srgbClr val="990000"/>
                </a:solidFill>
              </a:defRPr>
            </a:lvl5pPr>
            <a:lvl6pPr indent="-234950" lvl="5" marL="2743200" algn="r">
              <a:spcBef>
                <a:spcPts val="0"/>
              </a:spcBef>
              <a:spcAft>
                <a:spcPts val="0"/>
              </a:spcAft>
              <a:buClr>
                <a:srgbClr val="990000"/>
              </a:buClr>
              <a:buSzPts val="100"/>
              <a:buChar char="•"/>
              <a:defRPr sz="100">
                <a:solidFill>
                  <a:srgbClr val="990000"/>
                </a:solidFill>
              </a:defRPr>
            </a:lvl6pPr>
            <a:lvl7pPr indent="-234950" lvl="6" marL="3200400" algn="r">
              <a:spcBef>
                <a:spcPts val="0"/>
              </a:spcBef>
              <a:spcAft>
                <a:spcPts val="0"/>
              </a:spcAft>
              <a:buClr>
                <a:srgbClr val="990000"/>
              </a:buClr>
              <a:buSzPts val="100"/>
              <a:buChar char="•"/>
              <a:defRPr sz="100">
                <a:solidFill>
                  <a:srgbClr val="990000"/>
                </a:solidFill>
              </a:defRPr>
            </a:lvl7pPr>
            <a:lvl8pPr indent="-234950" lvl="7" marL="3657600" algn="r">
              <a:spcBef>
                <a:spcPts val="0"/>
              </a:spcBef>
              <a:spcAft>
                <a:spcPts val="0"/>
              </a:spcAft>
              <a:buClr>
                <a:srgbClr val="990000"/>
              </a:buClr>
              <a:buSzPts val="100"/>
              <a:buChar char="•"/>
              <a:defRPr sz="100">
                <a:solidFill>
                  <a:srgbClr val="990000"/>
                </a:solidFill>
              </a:defRPr>
            </a:lvl8pPr>
            <a:lvl9pPr indent="-234950" lvl="8" marL="4114800" algn="r">
              <a:spcBef>
                <a:spcPts val="0"/>
              </a:spcBef>
              <a:spcAft>
                <a:spcPts val="0"/>
              </a:spcAft>
              <a:buClr>
                <a:srgbClr val="990000"/>
              </a:buClr>
              <a:buSzPts val="100"/>
              <a:buChar char="•"/>
              <a:defRPr sz="100">
                <a:solidFill>
                  <a:srgbClr val="990000"/>
                </a:solidFill>
              </a:defRPr>
            </a:lvl9pPr>
          </a:lstStyle>
          <a:p/>
        </p:txBody>
      </p:sp>
    </p:spTree>
  </p:cSld>
  <p:clrMapOvr>
    <a:masterClrMapping/>
  </p:clrMapOvr>
  <p:transition>
    <p:fade thruBlk="1"/>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 name="Shape 22"/>
        <p:cNvGrpSpPr/>
        <p:nvPr/>
      </p:nvGrpSpPr>
      <p:grpSpPr>
        <a:xfrm>
          <a:off x="0" y="0"/>
          <a:ext cx="0" cy="0"/>
          <a:chOff x="0" y="0"/>
          <a:chExt cx="0" cy="0"/>
        </a:xfrm>
      </p:grpSpPr>
      <p:sp>
        <p:nvSpPr>
          <p:cNvPr id="23" name="Google Shape;23;p3"/>
          <p:cNvSpPr txBox="1"/>
          <p:nvPr>
            <p:ph type="title"/>
          </p:nvPr>
        </p:nvSpPr>
        <p:spPr>
          <a:xfrm>
            <a:off x="722313" y="3305175"/>
            <a:ext cx="7772400" cy="10215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rgbClr val="990000"/>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 type="body"/>
          </p:nvPr>
        </p:nvSpPr>
        <p:spPr>
          <a:xfrm>
            <a:off x="722313" y="2180035"/>
            <a:ext cx="7772400" cy="11250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rgbClr val="888888"/>
              </a:buClr>
              <a:buSzPts val="1600"/>
              <a:buNone/>
              <a:defRPr sz="1600">
                <a:solidFill>
                  <a:srgbClr val="888888"/>
                </a:solidFill>
              </a:defRPr>
            </a:lvl1pPr>
            <a:lvl2pPr indent="-228600" lvl="1" marL="914400" algn="l">
              <a:lnSpc>
                <a:spcPct val="100000"/>
              </a:lnSpc>
              <a:spcBef>
                <a:spcPts val="400"/>
              </a:spcBef>
              <a:spcAft>
                <a:spcPts val="0"/>
              </a:spcAft>
              <a:buClr>
                <a:srgbClr val="888888"/>
              </a:buClr>
              <a:buSzPts val="1500"/>
              <a:buNone/>
              <a:defRPr sz="1500">
                <a:solidFill>
                  <a:srgbClr val="888888"/>
                </a:solidFill>
              </a:defRPr>
            </a:lvl2pPr>
            <a:lvl3pPr indent="-228600" lvl="2" marL="1371600" algn="l">
              <a:lnSpc>
                <a:spcPct val="100000"/>
              </a:lnSpc>
              <a:spcBef>
                <a:spcPts val="300"/>
              </a:spcBef>
              <a:spcAft>
                <a:spcPts val="0"/>
              </a:spcAft>
              <a:buClr>
                <a:srgbClr val="888888"/>
              </a:buClr>
              <a:buSzPts val="1400"/>
              <a:buNone/>
              <a:defRPr sz="1400">
                <a:solidFill>
                  <a:srgbClr val="888888"/>
                </a:solidFill>
              </a:defRPr>
            </a:lvl3pPr>
            <a:lvl4pPr indent="-228600" lvl="3" marL="1828800" algn="l">
              <a:lnSpc>
                <a:spcPct val="100000"/>
              </a:lnSpc>
              <a:spcBef>
                <a:spcPts val="300"/>
              </a:spcBef>
              <a:spcAft>
                <a:spcPts val="0"/>
              </a:spcAft>
              <a:buClr>
                <a:srgbClr val="888888"/>
              </a:buClr>
              <a:buSzPts val="1300"/>
              <a:buNone/>
              <a:defRPr sz="1300">
                <a:solidFill>
                  <a:srgbClr val="888888"/>
                </a:solidFill>
              </a:defRPr>
            </a:lvl4pPr>
            <a:lvl5pPr indent="-228600" lvl="4" marL="2286000" algn="l">
              <a:lnSpc>
                <a:spcPct val="100000"/>
              </a:lnSpc>
              <a:spcBef>
                <a:spcPts val="300"/>
              </a:spcBef>
              <a:spcAft>
                <a:spcPts val="0"/>
              </a:spcAft>
              <a:buClr>
                <a:srgbClr val="888888"/>
              </a:buClr>
              <a:buSzPts val="1200"/>
              <a:buNone/>
              <a:defRPr sz="1200">
                <a:solidFill>
                  <a:srgbClr val="888888"/>
                </a:solidFill>
              </a:defRPr>
            </a:lvl5pPr>
            <a:lvl6pPr indent="-228600" lvl="5" marL="2743200" algn="l">
              <a:lnSpc>
                <a:spcPct val="100000"/>
              </a:lnSpc>
              <a:spcBef>
                <a:spcPts val="300"/>
              </a:spcBef>
              <a:spcAft>
                <a:spcPts val="0"/>
              </a:spcAft>
              <a:buClr>
                <a:srgbClr val="888888"/>
              </a:buClr>
              <a:buSzPts val="1100"/>
              <a:buNone/>
              <a:defRPr sz="1100">
                <a:solidFill>
                  <a:srgbClr val="888888"/>
                </a:solidFill>
              </a:defRPr>
            </a:lvl6pPr>
            <a:lvl7pPr indent="-228600" lvl="6" marL="3200400" algn="l">
              <a:lnSpc>
                <a:spcPct val="100000"/>
              </a:lnSpc>
              <a:spcBef>
                <a:spcPts val="300"/>
              </a:spcBef>
              <a:spcAft>
                <a:spcPts val="0"/>
              </a:spcAft>
              <a:buClr>
                <a:srgbClr val="888888"/>
              </a:buClr>
              <a:buSzPts val="1000"/>
              <a:buNone/>
              <a:defRPr sz="1000">
                <a:solidFill>
                  <a:srgbClr val="888888"/>
                </a:solidFill>
              </a:defRPr>
            </a:lvl7pPr>
            <a:lvl8pPr indent="-228600" lvl="7" marL="3657600" algn="l">
              <a:lnSpc>
                <a:spcPct val="100000"/>
              </a:lnSpc>
              <a:spcBef>
                <a:spcPts val="300"/>
              </a:spcBef>
              <a:spcAft>
                <a:spcPts val="0"/>
              </a:spcAft>
              <a:buClr>
                <a:srgbClr val="888888"/>
              </a:buClr>
              <a:buSzPts val="900"/>
              <a:buNone/>
              <a:defRPr sz="900">
                <a:solidFill>
                  <a:srgbClr val="888888"/>
                </a:solidFill>
              </a:defRPr>
            </a:lvl8pPr>
            <a:lvl9pPr indent="-228600" lvl="8" marL="4114800" algn="l">
              <a:lnSpc>
                <a:spcPct val="100000"/>
              </a:lnSpc>
              <a:spcBef>
                <a:spcPts val="300"/>
              </a:spcBef>
              <a:spcAft>
                <a:spcPts val="0"/>
              </a:spcAft>
              <a:buClr>
                <a:srgbClr val="888888"/>
              </a:buClr>
              <a:buSzPts val="800"/>
              <a:buNone/>
              <a:defRPr sz="800">
                <a:solidFill>
                  <a:srgbClr val="888888"/>
                </a:solidFill>
              </a:defRPr>
            </a:lvl9pPr>
          </a:lstStyle>
          <a:p/>
        </p:txBody>
      </p:sp>
      <p:sp>
        <p:nvSpPr>
          <p:cNvPr id="25" name="Google Shape;25;p3"/>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One Wide)" type="obj">
  <p:cSld name="OBJECT">
    <p:spTree>
      <p:nvGrpSpPr>
        <p:cNvPr id="26" name="Shape 26"/>
        <p:cNvGrpSpPr/>
        <p:nvPr/>
      </p:nvGrpSpPr>
      <p:grpSpPr>
        <a:xfrm>
          <a:off x="0" y="0"/>
          <a:ext cx="0" cy="0"/>
          <a:chOff x="0" y="0"/>
          <a:chExt cx="0" cy="0"/>
        </a:xfrm>
      </p:grpSpPr>
      <p:sp>
        <p:nvSpPr>
          <p:cNvPr id="27" name="Google Shape;27;p4"/>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990000"/>
              </a:buClr>
              <a:buSzPts val="4400"/>
              <a:buFont typeface="Arial"/>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8" name="Google Shape;28;p4"/>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
        <p:nvSpPr>
          <p:cNvPr id="29" name="Google Shape;29;p4"/>
          <p:cNvSpPr txBox="1"/>
          <p:nvPr>
            <p:ph idx="1" type="body"/>
          </p:nvPr>
        </p:nvSpPr>
        <p:spPr>
          <a:xfrm>
            <a:off x="40106" y="998794"/>
            <a:ext cx="90669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sz="1600"/>
            </a:lvl1pPr>
            <a:lvl2pPr indent="-323850" lvl="1" marL="914400" rtl="0" algn="l">
              <a:lnSpc>
                <a:spcPct val="150000"/>
              </a:lnSpc>
              <a:spcBef>
                <a:spcPts val="0"/>
              </a:spcBef>
              <a:spcAft>
                <a:spcPts val="0"/>
              </a:spcAft>
              <a:buClr>
                <a:srgbClr val="000000"/>
              </a:buClr>
              <a:buSzPts val="1500"/>
              <a:buChar char="–"/>
              <a:defRPr sz="1500"/>
            </a:lvl2pPr>
            <a:lvl3pPr indent="-317500" lvl="2" marL="1371600" rtl="0" algn="l">
              <a:lnSpc>
                <a:spcPct val="150000"/>
              </a:lnSpc>
              <a:spcBef>
                <a:spcPts val="0"/>
              </a:spcBef>
              <a:spcAft>
                <a:spcPts val="0"/>
              </a:spcAft>
              <a:buClr>
                <a:srgbClr val="000000"/>
              </a:buClr>
              <a:buSzPts val="1400"/>
              <a:buChar char="•"/>
              <a:defRPr sz="1400"/>
            </a:lvl3pPr>
            <a:lvl4pPr indent="-311150" lvl="3" marL="1828800" rtl="0" algn="l">
              <a:lnSpc>
                <a:spcPct val="150000"/>
              </a:lnSpc>
              <a:spcBef>
                <a:spcPts val="0"/>
              </a:spcBef>
              <a:spcAft>
                <a:spcPts val="0"/>
              </a:spcAft>
              <a:buClr>
                <a:srgbClr val="000000"/>
              </a:buClr>
              <a:buSzPts val="1300"/>
              <a:buChar char="–"/>
              <a:defRPr sz="1300"/>
            </a:lvl4pPr>
            <a:lvl5pPr indent="-304800" lvl="4" marL="2286000" rtl="0" algn="l">
              <a:lnSpc>
                <a:spcPct val="150000"/>
              </a:lnSpc>
              <a:spcBef>
                <a:spcPts val="0"/>
              </a:spcBef>
              <a:spcAft>
                <a:spcPts val="0"/>
              </a:spcAft>
              <a:buClr>
                <a:srgbClr val="000000"/>
              </a:buClr>
              <a:buSzPts val="1200"/>
              <a:buChar char="»"/>
              <a:defRPr sz="1200"/>
            </a:lvl5pPr>
            <a:lvl6pPr indent="-292100" lvl="5" marL="2743200" rtl="0" algn="l">
              <a:lnSpc>
                <a:spcPct val="150000"/>
              </a:lnSpc>
              <a:spcBef>
                <a:spcPts val="0"/>
              </a:spcBef>
              <a:spcAft>
                <a:spcPts val="0"/>
              </a:spcAft>
              <a:buClr>
                <a:schemeClr val="dk1"/>
              </a:buClr>
              <a:buSzPts val="1000"/>
              <a:buChar char="•"/>
              <a:defRPr sz="1100"/>
            </a:lvl6pPr>
            <a:lvl7pPr indent="-285750" lvl="6" marL="3200400" rtl="0" algn="l">
              <a:lnSpc>
                <a:spcPct val="150000"/>
              </a:lnSpc>
              <a:spcBef>
                <a:spcPts val="0"/>
              </a:spcBef>
              <a:spcAft>
                <a:spcPts val="0"/>
              </a:spcAft>
              <a:buClr>
                <a:schemeClr val="dk1"/>
              </a:buClr>
              <a:buSzPts val="900"/>
              <a:buChar char="•"/>
              <a:defRPr sz="1000"/>
            </a:lvl7pPr>
            <a:lvl8pPr indent="-279400" lvl="7" marL="3657600" rtl="0" algn="l">
              <a:lnSpc>
                <a:spcPct val="150000"/>
              </a:lnSpc>
              <a:spcBef>
                <a:spcPts val="0"/>
              </a:spcBef>
              <a:spcAft>
                <a:spcPts val="0"/>
              </a:spcAft>
              <a:buClr>
                <a:schemeClr val="dk1"/>
              </a:buClr>
              <a:buSzPts val="800"/>
              <a:buChar char="•"/>
              <a:defRPr sz="900"/>
            </a:lvl8pPr>
            <a:lvl9pPr indent="-273050" lvl="8" marL="4114800" rtl="0" algn="l">
              <a:lnSpc>
                <a:spcPct val="150000"/>
              </a:lnSpc>
              <a:spcBef>
                <a:spcPts val="0"/>
              </a:spcBef>
              <a:spcAft>
                <a:spcPts val="0"/>
              </a:spcAft>
              <a:buClr>
                <a:schemeClr val="dk1"/>
              </a:buClr>
              <a:buSzPts val="700"/>
              <a:buChar char="•"/>
              <a:defRPr sz="800"/>
            </a:lvl9pPr>
          </a:lstStyle>
          <a:p/>
        </p:txBody>
      </p:sp>
    </p:spTree>
  </p:cSld>
  <p:clrMapOvr>
    <a:masterClrMapping/>
  </p:clrMapOvr>
  <p:transition>
    <p:fade thruBlk="1"/>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One Left" type="twoObj">
  <p:cSld name="TWO_OBJECTS">
    <p:spTree>
      <p:nvGrpSpPr>
        <p:cNvPr id="30" name="Shape 30"/>
        <p:cNvGrpSpPr/>
        <p:nvPr/>
      </p:nvGrpSpPr>
      <p:grpSpPr>
        <a:xfrm>
          <a:off x="0" y="0"/>
          <a:ext cx="0" cy="0"/>
          <a:chOff x="0" y="0"/>
          <a:chExt cx="0" cy="0"/>
        </a:xfrm>
      </p:grpSpPr>
      <p:sp>
        <p:nvSpPr>
          <p:cNvPr id="31" name="Google Shape;31;p5"/>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990000"/>
              </a:buClr>
              <a:buSzPts val="4400"/>
              <a:buFont typeface="Arial"/>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2" name="Google Shape;32;p5"/>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
        <p:nvSpPr>
          <p:cNvPr id="33" name="Google Shape;33;p5"/>
          <p:cNvSpPr txBox="1"/>
          <p:nvPr>
            <p:ph idx="1" type="body"/>
          </p:nvPr>
        </p:nvSpPr>
        <p:spPr>
          <a:xfrm>
            <a:off x="40100" y="998800"/>
            <a:ext cx="44565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a:lvl1pPr>
            <a:lvl2pPr indent="-323850" lvl="1" marL="914400" rtl="0" algn="l">
              <a:lnSpc>
                <a:spcPct val="150000"/>
              </a:lnSpc>
              <a:spcBef>
                <a:spcPts val="0"/>
              </a:spcBef>
              <a:spcAft>
                <a:spcPts val="0"/>
              </a:spcAft>
              <a:buClr>
                <a:srgbClr val="000000"/>
              </a:buClr>
              <a:buSzPts val="1500"/>
              <a:buChar char="–"/>
              <a:defRPr/>
            </a:lvl2pPr>
            <a:lvl3pPr indent="-317500" lvl="2" marL="1371600" rtl="0" algn="l">
              <a:lnSpc>
                <a:spcPct val="150000"/>
              </a:lnSpc>
              <a:spcBef>
                <a:spcPts val="0"/>
              </a:spcBef>
              <a:spcAft>
                <a:spcPts val="0"/>
              </a:spcAft>
              <a:buClr>
                <a:srgbClr val="000000"/>
              </a:buClr>
              <a:buSzPts val="1400"/>
              <a:buChar char="•"/>
              <a:defRPr/>
            </a:lvl3pPr>
            <a:lvl4pPr indent="-311150" lvl="3" marL="1828800" rtl="0" algn="l">
              <a:lnSpc>
                <a:spcPct val="150000"/>
              </a:lnSpc>
              <a:spcBef>
                <a:spcPts val="0"/>
              </a:spcBef>
              <a:spcAft>
                <a:spcPts val="0"/>
              </a:spcAft>
              <a:buClr>
                <a:srgbClr val="000000"/>
              </a:buClr>
              <a:buSzPts val="1300"/>
              <a:buChar char="–"/>
              <a:defRPr/>
            </a:lvl4pPr>
            <a:lvl5pPr indent="-304800" lvl="4" marL="2286000" rtl="0" algn="l">
              <a:lnSpc>
                <a:spcPct val="150000"/>
              </a:lnSpc>
              <a:spcBef>
                <a:spcPts val="0"/>
              </a:spcBef>
              <a:spcAft>
                <a:spcPts val="0"/>
              </a:spcAft>
              <a:buClr>
                <a:srgbClr val="000000"/>
              </a:buClr>
              <a:buSzPts val="1200"/>
              <a:buChar char="»"/>
              <a:defRPr/>
            </a:lvl5pPr>
            <a:lvl6pPr indent="-292100" lvl="5" marL="2743200" rtl="0" algn="l">
              <a:lnSpc>
                <a:spcPct val="150000"/>
              </a:lnSpc>
              <a:spcBef>
                <a:spcPts val="0"/>
              </a:spcBef>
              <a:spcAft>
                <a:spcPts val="0"/>
              </a:spcAft>
              <a:buClr>
                <a:schemeClr val="dk1"/>
              </a:buClr>
              <a:buSzPts val="1000"/>
              <a:buChar char="•"/>
              <a:defRPr/>
            </a:lvl6pPr>
            <a:lvl7pPr indent="-285750" lvl="6" marL="3200400" rtl="0" algn="l">
              <a:lnSpc>
                <a:spcPct val="150000"/>
              </a:lnSpc>
              <a:spcBef>
                <a:spcPts val="0"/>
              </a:spcBef>
              <a:spcAft>
                <a:spcPts val="0"/>
              </a:spcAft>
              <a:buClr>
                <a:schemeClr val="dk1"/>
              </a:buClr>
              <a:buSzPts val="900"/>
              <a:buChar char="•"/>
              <a:defRPr/>
            </a:lvl7pPr>
            <a:lvl8pPr indent="-279400" lvl="7" marL="3657600" rtl="0" algn="l">
              <a:lnSpc>
                <a:spcPct val="150000"/>
              </a:lnSpc>
              <a:spcBef>
                <a:spcPts val="0"/>
              </a:spcBef>
              <a:spcAft>
                <a:spcPts val="0"/>
              </a:spcAft>
              <a:buClr>
                <a:schemeClr val="dk1"/>
              </a:buClr>
              <a:buSzPts val="800"/>
              <a:buChar char="•"/>
              <a:defRPr/>
            </a:lvl8pPr>
            <a:lvl9pPr indent="-273050" lvl="8" marL="4114800" rtl="0" algn="l">
              <a:lnSpc>
                <a:spcPct val="150000"/>
              </a:lnSpc>
              <a:spcBef>
                <a:spcPts val="0"/>
              </a:spcBef>
              <a:spcAft>
                <a:spcPts val="0"/>
              </a:spcAft>
              <a:buClr>
                <a:schemeClr val="dk1"/>
              </a:buClr>
              <a:buSzPts val="700"/>
              <a:buChar char="•"/>
              <a:defRPr/>
            </a:lvl9pPr>
          </a:lstStyle>
          <a:p/>
        </p:txBody>
      </p:sp>
    </p:spTree>
  </p:cSld>
  <p:clrMapOvr>
    <a:masterClrMapping/>
  </p:clrMapOvr>
  <p:transition>
    <p:fade thruBlk="1"/>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Two">
  <p:cSld name="TWO_OBJECTS_1">
    <p:spTree>
      <p:nvGrpSpPr>
        <p:cNvPr id="34" name="Shape 34"/>
        <p:cNvGrpSpPr/>
        <p:nvPr/>
      </p:nvGrpSpPr>
      <p:grpSpPr>
        <a:xfrm>
          <a:off x="0" y="0"/>
          <a:ext cx="0" cy="0"/>
          <a:chOff x="0" y="0"/>
          <a:chExt cx="0" cy="0"/>
        </a:xfrm>
      </p:grpSpPr>
      <p:sp>
        <p:nvSpPr>
          <p:cNvPr id="35" name="Google Shape;35;p6"/>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Clr>
                <a:srgbClr val="990000"/>
              </a:buClr>
              <a:buSzPts val="4400"/>
              <a:buFont typeface="Arial"/>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36" name="Google Shape;36;p6"/>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
        <p:nvSpPr>
          <p:cNvPr id="37" name="Google Shape;37;p6"/>
          <p:cNvSpPr txBox="1"/>
          <p:nvPr>
            <p:ph idx="1" type="body"/>
          </p:nvPr>
        </p:nvSpPr>
        <p:spPr>
          <a:xfrm>
            <a:off x="40100" y="998800"/>
            <a:ext cx="44565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a:lvl1pPr>
            <a:lvl2pPr indent="-323850" lvl="1" marL="914400" rtl="0" algn="l">
              <a:lnSpc>
                <a:spcPct val="150000"/>
              </a:lnSpc>
              <a:spcBef>
                <a:spcPts val="0"/>
              </a:spcBef>
              <a:spcAft>
                <a:spcPts val="0"/>
              </a:spcAft>
              <a:buClr>
                <a:srgbClr val="000000"/>
              </a:buClr>
              <a:buSzPts val="1500"/>
              <a:buChar char="–"/>
              <a:defRPr/>
            </a:lvl2pPr>
            <a:lvl3pPr indent="-317500" lvl="2" marL="1371600" rtl="0" algn="l">
              <a:lnSpc>
                <a:spcPct val="150000"/>
              </a:lnSpc>
              <a:spcBef>
                <a:spcPts val="0"/>
              </a:spcBef>
              <a:spcAft>
                <a:spcPts val="0"/>
              </a:spcAft>
              <a:buClr>
                <a:srgbClr val="000000"/>
              </a:buClr>
              <a:buSzPts val="1400"/>
              <a:buChar char="•"/>
              <a:defRPr/>
            </a:lvl3pPr>
            <a:lvl4pPr indent="-311150" lvl="3" marL="1828800" rtl="0" algn="l">
              <a:lnSpc>
                <a:spcPct val="150000"/>
              </a:lnSpc>
              <a:spcBef>
                <a:spcPts val="0"/>
              </a:spcBef>
              <a:spcAft>
                <a:spcPts val="0"/>
              </a:spcAft>
              <a:buClr>
                <a:srgbClr val="000000"/>
              </a:buClr>
              <a:buSzPts val="1300"/>
              <a:buChar char="–"/>
              <a:defRPr/>
            </a:lvl4pPr>
            <a:lvl5pPr indent="-304800" lvl="4" marL="2286000" rtl="0" algn="l">
              <a:lnSpc>
                <a:spcPct val="150000"/>
              </a:lnSpc>
              <a:spcBef>
                <a:spcPts val="0"/>
              </a:spcBef>
              <a:spcAft>
                <a:spcPts val="0"/>
              </a:spcAft>
              <a:buClr>
                <a:srgbClr val="000000"/>
              </a:buClr>
              <a:buSzPts val="1200"/>
              <a:buChar char="»"/>
              <a:defRPr/>
            </a:lvl5pPr>
            <a:lvl6pPr indent="-292100" lvl="5" marL="2743200" rtl="0" algn="l">
              <a:lnSpc>
                <a:spcPct val="150000"/>
              </a:lnSpc>
              <a:spcBef>
                <a:spcPts val="0"/>
              </a:spcBef>
              <a:spcAft>
                <a:spcPts val="0"/>
              </a:spcAft>
              <a:buClr>
                <a:schemeClr val="dk1"/>
              </a:buClr>
              <a:buSzPts val="1000"/>
              <a:buChar char="•"/>
              <a:defRPr/>
            </a:lvl6pPr>
            <a:lvl7pPr indent="-285750" lvl="6" marL="3200400" rtl="0" algn="l">
              <a:lnSpc>
                <a:spcPct val="150000"/>
              </a:lnSpc>
              <a:spcBef>
                <a:spcPts val="0"/>
              </a:spcBef>
              <a:spcAft>
                <a:spcPts val="0"/>
              </a:spcAft>
              <a:buClr>
                <a:schemeClr val="dk1"/>
              </a:buClr>
              <a:buSzPts val="900"/>
              <a:buChar char="•"/>
              <a:defRPr/>
            </a:lvl7pPr>
            <a:lvl8pPr indent="-279400" lvl="7" marL="3657600" rtl="0" algn="l">
              <a:lnSpc>
                <a:spcPct val="150000"/>
              </a:lnSpc>
              <a:spcBef>
                <a:spcPts val="0"/>
              </a:spcBef>
              <a:spcAft>
                <a:spcPts val="0"/>
              </a:spcAft>
              <a:buClr>
                <a:schemeClr val="dk1"/>
              </a:buClr>
              <a:buSzPts val="800"/>
              <a:buChar char="•"/>
              <a:defRPr/>
            </a:lvl8pPr>
            <a:lvl9pPr indent="-273050" lvl="8" marL="4114800" rtl="0" algn="l">
              <a:lnSpc>
                <a:spcPct val="150000"/>
              </a:lnSpc>
              <a:spcBef>
                <a:spcPts val="0"/>
              </a:spcBef>
              <a:spcAft>
                <a:spcPts val="0"/>
              </a:spcAft>
              <a:buClr>
                <a:schemeClr val="dk1"/>
              </a:buClr>
              <a:buSzPts val="700"/>
              <a:buChar char="•"/>
              <a:defRPr/>
            </a:lvl9pPr>
          </a:lstStyle>
          <a:p/>
        </p:txBody>
      </p:sp>
      <p:sp>
        <p:nvSpPr>
          <p:cNvPr id="38" name="Google Shape;38;p6"/>
          <p:cNvSpPr txBox="1"/>
          <p:nvPr>
            <p:ph idx="2" type="body"/>
          </p:nvPr>
        </p:nvSpPr>
        <p:spPr>
          <a:xfrm>
            <a:off x="4650575" y="998800"/>
            <a:ext cx="44565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a:lvl1pPr>
            <a:lvl2pPr indent="-323850" lvl="1" marL="914400" rtl="0" algn="l">
              <a:lnSpc>
                <a:spcPct val="150000"/>
              </a:lnSpc>
              <a:spcBef>
                <a:spcPts val="0"/>
              </a:spcBef>
              <a:spcAft>
                <a:spcPts val="0"/>
              </a:spcAft>
              <a:buClr>
                <a:srgbClr val="000000"/>
              </a:buClr>
              <a:buSzPts val="1500"/>
              <a:buChar char="–"/>
              <a:defRPr/>
            </a:lvl2pPr>
            <a:lvl3pPr indent="-317500" lvl="2" marL="1371600" rtl="0" algn="l">
              <a:lnSpc>
                <a:spcPct val="150000"/>
              </a:lnSpc>
              <a:spcBef>
                <a:spcPts val="0"/>
              </a:spcBef>
              <a:spcAft>
                <a:spcPts val="0"/>
              </a:spcAft>
              <a:buClr>
                <a:srgbClr val="000000"/>
              </a:buClr>
              <a:buSzPts val="1400"/>
              <a:buChar char="•"/>
              <a:defRPr/>
            </a:lvl3pPr>
            <a:lvl4pPr indent="-311150" lvl="3" marL="1828800" rtl="0" algn="l">
              <a:lnSpc>
                <a:spcPct val="150000"/>
              </a:lnSpc>
              <a:spcBef>
                <a:spcPts val="0"/>
              </a:spcBef>
              <a:spcAft>
                <a:spcPts val="0"/>
              </a:spcAft>
              <a:buClr>
                <a:srgbClr val="000000"/>
              </a:buClr>
              <a:buSzPts val="1300"/>
              <a:buChar char="–"/>
              <a:defRPr/>
            </a:lvl4pPr>
            <a:lvl5pPr indent="-304800" lvl="4" marL="2286000" rtl="0" algn="l">
              <a:lnSpc>
                <a:spcPct val="150000"/>
              </a:lnSpc>
              <a:spcBef>
                <a:spcPts val="0"/>
              </a:spcBef>
              <a:spcAft>
                <a:spcPts val="0"/>
              </a:spcAft>
              <a:buClr>
                <a:srgbClr val="000000"/>
              </a:buClr>
              <a:buSzPts val="1200"/>
              <a:buChar char="»"/>
              <a:defRPr/>
            </a:lvl5pPr>
            <a:lvl6pPr indent="-292100" lvl="5" marL="2743200" rtl="0" algn="l">
              <a:lnSpc>
                <a:spcPct val="150000"/>
              </a:lnSpc>
              <a:spcBef>
                <a:spcPts val="0"/>
              </a:spcBef>
              <a:spcAft>
                <a:spcPts val="0"/>
              </a:spcAft>
              <a:buClr>
                <a:schemeClr val="dk1"/>
              </a:buClr>
              <a:buSzPts val="1000"/>
              <a:buChar char="•"/>
              <a:defRPr/>
            </a:lvl6pPr>
            <a:lvl7pPr indent="-285750" lvl="6" marL="3200400" rtl="0" algn="l">
              <a:lnSpc>
                <a:spcPct val="150000"/>
              </a:lnSpc>
              <a:spcBef>
                <a:spcPts val="0"/>
              </a:spcBef>
              <a:spcAft>
                <a:spcPts val="0"/>
              </a:spcAft>
              <a:buClr>
                <a:schemeClr val="dk1"/>
              </a:buClr>
              <a:buSzPts val="900"/>
              <a:buChar char="•"/>
              <a:defRPr/>
            </a:lvl7pPr>
            <a:lvl8pPr indent="-279400" lvl="7" marL="3657600" rtl="0" algn="l">
              <a:lnSpc>
                <a:spcPct val="150000"/>
              </a:lnSpc>
              <a:spcBef>
                <a:spcPts val="0"/>
              </a:spcBef>
              <a:spcAft>
                <a:spcPts val="0"/>
              </a:spcAft>
              <a:buClr>
                <a:schemeClr val="dk1"/>
              </a:buClr>
              <a:buSzPts val="800"/>
              <a:buChar char="•"/>
              <a:defRPr/>
            </a:lvl8pPr>
            <a:lvl9pPr indent="-273050" lvl="8" marL="4114800" rtl="0" algn="l">
              <a:lnSpc>
                <a:spcPct val="150000"/>
              </a:lnSpc>
              <a:spcBef>
                <a:spcPts val="0"/>
              </a:spcBef>
              <a:spcAft>
                <a:spcPts val="0"/>
              </a:spcAft>
              <a:buClr>
                <a:schemeClr val="dk1"/>
              </a:buClr>
              <a:buSzPts val="700"/>
              <a:buChar char="•"/>
              <a:defRPr/>
            </a:lvl9pPr>
          </a:lstStyle>
          <a:p/>
        </p:txBody>
      </p:sp>
    </p:spTree>
  </p:cSld>
  <p:clrMapOvr>
    <a:masterClrMapping/>
  </p:clrMapOvr>
  <p:transition>
    <p:fade thruBlk="1"/>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One Right">
  <p:cSld name="TWO_OBJECTS_1_1">
    <p:spTree>
      <p:nvGrpSpPr>
        <p:cNvPr id="39" name="Shape 39"/>
        <p:cNvGrpSpPr/>
        <p:nvPr/>
      </p:nvGrpSpPr>
      <p:grpSpPr>
        <a:xfrm>
          <a:off x="0" y="0"/>
          <a:ext cx="0" cy="0"/>
          <a:chOff x="0" y="0"/>
          <a:chExt cx="0" cy="0"/>
        </a:xfrm>
      </p:grpSpPr>
      <p:sp>
        <p:nvSpPr>
          <p:cNvPr id="40" name="Google Shape;40;p7"/>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Clr>
                <a:srgbClr val="990000"/>
              </a:buClr>
              <a:buSzPts val="4400"/>
              <a:buFont typeface="Arial"/>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41" name="Google Shape;41;p7"/>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
        <p:nvSpPr>
          <p:cNvPr id="42" name="Google Shape;42;p7"/>
          <p:cNvSpPr txBox="1"/>
          <p:nvPr>
            <p:ph idx="1" type="body"/>
          </p:nvPr>
        </p:nvSpPr>
        <p:spPr>
          <a:xfrm>
            <a:off x="4650575" y="998800"/>
            <a:ext cx="44565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a:lvl1pPr>
            <a:lvl2pPr indent="-323850" lvl="1" marL="914400" rtl="0" algn="l">
              <a:lnSpc>
                <a:spcPct val="150000"/>
              </a:lnSpc>
              <a:spcBef>
                <a:spcPts val="0"/>
              </a:spcBef>
              <a:spcAft>
                <a:spcPts val="0"/>
              </a:spcAft>
              <a:buClr>
                <a:srgbClr val="000000"/>
              </a:buClr>
              <a:buSzPts val="1500"/>
              <a:buChar char="–"/>
              <a:defRPr/>
            </a:lvl2pPr>
            <a:lvl3pPr indent="-317500" lvl="2" marL="1371600" rtl="0" algn="l">
              <a:lnSpc>
                <a:spcPct val="150000"/>
              </a:lnSpc>
              <a:spcBef>
                <a:spcPts val="0"/>
              </a:spcBef>
              <a:spcAft>
                <a:spcPts val="0"/>
              </a:spcAft>
              <a:buClr>
                <a:srgbClr val="000000"/>
              </a:buClr>
              <a:buSzPts val="1400"/>
              <a:buChar char="•"/>
              <a:defRPr/>
            </a:lvl3pPr>
            <a:lvl4pPr indent="-311150" lvl="3" marL="1828800" rtl="0" algn="l">
              <a:lnSpc>
                <a:spcPct val="150000"/>
              </a:lnSpc>
              <a:spcBef>
                <a:spcPts val="0"/>
              </a:spcBef>
              <a:spcAft>
                <a:spcPts val="0"/>
              </a:spcAft>
              <a:buClr>
                <a:srgbClr val="000000"/>
              </a:buClr>
              <a:buSzPts val="1300"/>
              <a:buChar char="–"/>
              <a:defRPr/>
            </a:lvl4pPr>
            <a:lvl5pPr indent="-304800" lvl="4" marL="2286000" rtl="0" algn="l">
              <a:lnSpc>
                <a:spcPct val="150000"/>
              </a:lnSpc>
              <a:spcBef>
                <a:spcPts val="0"/>
              </a:spcBef>
              <a:spcAft>
                <a:spcPts val="0"/>
              </a:spcAft>
              <a:buClr>
                <a:srgbClr val="000000"/>
              </a:buClr>
              <a:buSzPts val="1200"/>
              <a:buChar char="»"/>
              <a:defRPr/>
            </a:lvl5pPr>
            <a:lvl6pPr indent="-292100" lvl="5" marL="2743200" rtl="0" algn="l">
              <a:lnSpc>
                <a:spcPct val="150000"/>
              </a:lnSpc>
              <a:spcBef>
                <a:spcPts val="0"/>
              </a:spcBef>
              <a:spcAft>
                <a:spcPts val="0"/>
              </a:spcAft>
              <a:buClr>
                <a:schemeClr val="dk1"/>
              </a:buClr>
              <a:buSzPts val="1000"/>
              <a:buChar char="•"/>
              <a:defRPr/>
            </a:lvl6pPr>
            <a:lvl7pPr indent="-285750" lvl="6" marL="3200400" rtl="0" algn="l">
              <a:lnSpc>
                <a:spcPct val="150000"/>
              </a:lnSpc>
              <a:spcBef>
                <a:spcPts val="0"/>
              </a:spcBef>
              <a:spcAft>
                <a:spcPts val="0"/>
              </a:spcAft>
              <a:buClr>
                <a:schemeClr val="dk1"/>
              </a:buClr>
              <a:buSzPts val="900"/>
              <a:buChar char="•"/>
              <a:defRPr/>
            </a:lvl7pPr>
            <a:lvl8pPr indent="-279400" lvl="7" marL="3657600" rtl="0" algn="l">
              <a:lnSpc>
                <a:spcPct val="150000"/>
              </a:lnSpc>
              <a:spcBef>
                <a:spcPts val="0"/>
              </a:spcBef>
              <a:spcAft>
                <a:spcPts val="0"/>
              </a:spcAft>
              <a:buClr>
                <a:schemeClr val="dk1"/>
              </a:buClr>
              <a:buSzPts val="800"/>
              <a:buChar char="•"/>
              <a:defRPr/>
            </a:lvl8pPr>
            <a:lvl9pPr indent="-273050" lvl="8" marL="4114800" rtl="0" algn="l">
              <a:lnSpc>
                <a:spcPct val="150000"/>
              </a:lnSpc>
              <a:spcBef>
                <a:spcPts val="0"/>
              </a:spcBef>
              <a:spcAft>
                <a:spcPts val="0"/>
              </a:spcAft>
              <a:buClr>
                <a:schemeClr val="dk1"/>
              </a:buClr>
              <a:buSzPts val="700"/>
              <a:buChar char="•"/>
              <a:defRPr/>
            </a:lvl9pPr>
          </a:lstStyle>
          <a:p/>
        </p:txBody>
      </p:sp>
    </p:spTree>
  </p:cSld>
  <p:clrMapOvr>
    <a:masterClrMapping/>
  </p:clrMapOvr>
  <p:transition>
    <p:fade thruBlk="1"/>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3" name="Shape 43"/>
        <p:cNvGrpSpPr/>
        <p:nvPr/>
      </p:nvGrpSpPr>
      <p:grpSpPr>
        <a:xfrm>
          <a:off x="0" y="0"/>
          <a:ext cx="0" cy="0"/>
          <a:chOff x="0" y="0"/>
          <a:chExt cx="0" cy="0"/>
        </a:xfrm>
      </p:grpSpPr>
      <p:sp>
        <p:nvSpPr>
          <p:cNvPr id="44" name="Google Shape;44;p8"/>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thruBlk="1"/>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nothing">
  <p:cSld name="Custom Layout_1">
    <p:spTree>
      <p:nvGrpSpPr>
        <p:cNvPr id="45" name="Shape 45"/>
        <p:cNvGrpSpPr/>
        <p:nvPr/>
      </p:nvGrpSpPr>
      <p:grpSpPr>
        <a:xfrm>
          <a:off x="0" y="0"/>
          <a:ext cx="0" cy="0"/>
          <a:chOff x="0" y="0"/>
          <a:chExt cx="0" cy="0"/>
        </a:xfrm>
      </p:grpSpPr>
      <p:sp>
        <p:nvSpPr>
          <p:cNvPr id="46" name="Google Shape;46;p9"/>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Clr>
                <a:srgbClr val="990000"/>
              </a:buClr>
              <a:buSzPts val="4400"/>
              <a:buFont typeface="Arial"/>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47" name="Google Shape;47;p9"/>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1pPr>
            <a:lvl2pPr indent="0" lvl="1"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2pPr>
            <a:lvl3pPr indent="0" lvl="2"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3pPr>
            <a:lvl4pPr indent="0" lvl="3"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4pPr>
            <a:lvl5pPr indent="0" lvl="4"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5pPr>
            <a:lvl6pPr indent="0" lvl="5"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6pPr>
            <a:lvl7pPr indent="0" lvl="6"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7pPr>
            <a:lvl8pPr indent="0" lvl="7"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8pPr>
            <a:lvl9pPr indent="0" lvl="8"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slideLayout" Target="../slideLayouts/slideLayout1.xml"/><Relationship Id="rId11" Type="http://schemas.openxmlformats.org/officeDocument/2006/relationships/slideLayout" Target="../slideLayouts/slideLayout8.xml"/><Relationship Id="rId10" Type="http://schemas.openxmlformats.org/officeDocument/2006/relationships/slideLayout" Target="../slideLayouts/slideLayout7.xml"/><Relationship Id="rId12" Type="http://schemas.openxmlformats.org/officeDocument/2006/relationships/theme" Target="../theme/theme1.xml"/><Relationship Id="rId9" Type="http://schemas.openxmlformats.org/officeDocument/2006/relationships/slideLayout" Target="../slideLayouts/slideLayout6.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4508839"/>
            <a:ext cx="9144000" cy="633600"/>
          </a:xfrm>
          <a:prstGeom prst="rect">
            <a:avLst/>
          </a:prstGeom>
          <a:solidFill>
            <a:schemeClr val="dk2"/>
          </a:solidFill>
          <a:ln>
            <a:noFill/>
          </a:ln>
          <a:effectLst>
            <a:outerShdw blurRad="40000" rotWithShape="0" dir="5400000" dist="23000">
              <a:srgbClr val="000000">
                <a:alpha val="33725"/>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pen Sans"/>
              <a:ea typeface="Open Sans"/>
              <a:cs typeface="Open Sans"/>
              <a:sym typeface="Open Sans"/>
            </a:endParaRPr>
          </a:p>
        </p:txBody>
      </p:sp>
      <p:sp>
        <p:nvSpPr>
          <p:cNvPr id="11" name="Google Shape;11;p1"/>
          <p:cNvSpPr txBox="1"/>
          <p:nvPr>
            <p:ph type="title"/>
          </p:nvPr>
        </p:nvSpPr>
        <p:spPr>
          <a:xfrm>
            <a:off x="107950" y="84389"/>
            <a:ext cx="8928000" cy="857400"/>
          </a:xfrm>
          <a:prstGeom prst="rect">
            <a:avLst/>
          </a:prstGeom>
          <a:noFill/>
          <a:ln>
            <a:noFill/>
          </a:ln>
        </p:spPr>
        <p:txBody>
          <a:bodyPr anchorCtr="0" anchor="ctr" bIns="45700" lIns="91425" spcFirstLastPara="1" rIns="91425" wrap="square" tIns="45700">
            <a:noAutofit/>
          </a:bodyPr>
          <a:lstStyle>
            <a:lvl1pPr lvl="0" marR="0" rtl="0">
              <a:lnSpc>
                <a:spcPct val="100000"/>
              </a:lnSpc>
              <a:spcBef>
                <a:spcPts val="0"/>
              </a:spcBef>
              <a:spcAft>
                <a:spcPts val="0"/>
              </a:spcAft>
              <a:buClr>
                <a:srgbClr val="990000"/>
              </a:buClr>
              <a:buSzPts val="4400"/>
              <a:buFont typeface="Proxima Nova"/>
              <a:buNone/>
              <a:defRPr b="1" i="0" sz="4400" u="none" cap="none" strike="noStrike">
                <a:solidFill>
                  <a:srgbClr val="990000"/>
                </a:solidFill>
                <a:latin typeface="Proxima Nova"/>
                <a:ea typeface="Proxima Nova"/>
                <a:cs typeface="Proxima Nova"/>
                <a:sym typeface="Proxima Nova"/>
              </a:defRPr>
            </a:lvl1pPr>
            <a:lvl2pPr lvl="1"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2pPr>
            <a:lvl3pPr lvl="2"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3pPr>
            <a:lvl4pPr lvl="3"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4pPr>
            <a:lvl5pPr lvl="4"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5pPr>
            <a:lvl6pPr lvl="5"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6pPr>
            <a:lvl7pPr lvl="6"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7pPr>
            <a:lvl8pPr lvl="7"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8pPr>
            <a:lvl9pPr lvl="8"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9pPr>
          </a:lstStyle>
          <a:p/>
        </p:txBody>
      </p:sp>
      <p:sp>
        <p:nvSpPr>
          <p:cNvPr id="12" name="Google Shape;12;p1"/>
          <p:cNvSpPr txBox="1"/>
          <p:nvPr>
            <p:ph idx="1" type="body"/>
          </p:nvPr>
        </p:nvSpPr>
        <p:spPr>
          <a:xfrm>
            <a:off x="107950" y="941638"/>
            <a:ext cx="8928000" cy="3506100"/>
          </a:xfrm>
          <a:prstGeom prst="rect">
            <a:avLst/>
          </a:prstGeom>
          <a:noFill/>
          <a:ln>
            <a:noFill/>
          </a:ln>
        </p:spPr>
        <p:txBody>
          <a:bodyPr anchorCtr="0" anchor="t" bIns="45700" lIns="91425" spcFirstLastPara="1" rIns="91425" wrap="square" tIns="45700">
            <a:noAutofit/>
          </a:bodyPr>
          <a:lstStyle>
            <a:lvl1pPr indent="-330200" lvl="0" marL="457200" marR="0" rtl="0" algn="l">
              <a:lnSpc>
                <a:spcPct val="150000"/>
              </a:lnSpc>
              <a:spcBef>
                <a:spcPts val="0"/>
              </a:spcBef>
              <a:spcAft>
                <a:spcPts val="0"/>
              </a:spcAft>
              <a:buClr>
                <a:srgbClr val="000000"/>
              </a:buClr>
              <a:buSzPts val="1600"/>
              <a:buFont typeface="Proxima Nova"/>
              <a:buChar char="•"/>
              <a:defRPr i="0" sz="1600" u="none" cap="none" strike="noStrike">
                <a:solidFill>
                  <a:srgbClr val="000000"/>
                </a:solidFill>
                <a:latin typeface="Proxima Nova"/>
                <a:ea typeface="Proxima Nova"/>
                <a:cs typeface="Proxima Nova"/>
                <a:sym typeface="Proxima Nova"/>
              </a:defRPr>
            </a:lvl1pPr>
            <a:lvl2pPr indent="-323850" lvl="1" marL="914400" marR="0" rtl="0" algn="l">
              <a:lnSpc>
                <a:spcPct val="150000"/>
              </a:lnSpc>
              <a:spcBef>
                <a:spcPts val="0"/>
              </a:spcBef>
              <a:spcAft>
                <a:spcPts val="0"/>
              </a:spcAft>
              <a:buClr>
                <a:srgbClr val="000000"/>
              </a:buClr>
              <a:buSzPts val="1500"/>
              <a:buFont typeface="Proxima Nova"/>
              <a:buChar char="–"/>
              <a:defRPr i="0" sz="1500" u="none" cap="none" strike="noStrike">
                <a:solidFill>
                  <a:srgbClr val="000000"/>
                </a:solidFill>
                <a:latin typeface="Proxima Nova"/>
                <a:ea typeface="Proxima Nova"/>
                <a:cs typeface="Proxima Nova"/>
                <a:sym typeface="Proxima Nova"/>
              </a:defRPr>
            </a:lvl2pPr>
            <a:lvl3pPr indent="-317500" lvl="2" marL="1371600" marR="0" rtl="0" algn="l">
              <a:lnSpc>
                <a:spcPct val="150000"/>
              </a:lnSpc>
              <a:spcBef>
                <a:spcPts val="0"/>
              </a:spcBef>
              <a:spcAft>
                <a:spcPts val="0"/>
              </a:spcAft>
              <a:buClr>
                <a:srgbClr val="000000"/>
              </a:buClr>
              <a:buSzPts val="1400"/>
              <a:buFont typeface="Proxima Nova"/>
              <a:buChar char="•"/>
              <a:defRPr i="0" u="none" cap="none" strike="noStrike">
                <a:solidFill>
                  <a:srgbClr val="000000"/>
                </a:solidFill>
                <a:latin typeface="Proxima Nova"/>
                <a:ea typeface="Proxima Nova"/>
                <a:cs typeface="Proxima Nova"/>
                <a:sym typeface="Proxima Nova"/>
              </a:defRPr>
            </a:lvl3pPr>
            <a:lvl4pPr indent="-311150" lvl="3" marL="1828800" marR="0" rtl="0" algn="l">
              <a:lnSpc>
                <a:spcPct val="150000"/>
              </a:lnSpc>
              <a:spcBef>
                <a:spcPts val="0"/>
              </a:spcBef>
              <a:spcAft>
                <a:spcPts val="0"/>
              </a:spcAft>
              <a:buClr>
                <a:srgbClr val="000000"/>
              </a:buClr>
              <a:buSzPts val="1300"/>
              <a:buFont typeface="Proxima Nova"/>
              <a:buChar char="–"/>
              <a:defRPr i="0" sz="1300" u="none" cap="none" strike="noStrike">
                <a:solidFill>
                  <a:srgbClr val="000000"/>
                </a:solidFill>
                <a:latin typeface="Proxima Nova"/>
                <a:ea typeface="Proxima Nova"/>
                <a:cs typeface="Proxima Nova"/>
                <a:sym typeface="Proxima Nova"/>
              </a:defRPr>
            </a:lvl4pPr>
            <a:lvl5pPr indent="-304800" lvl="4" marL="2286000" marR="0" rtl="0" algn="l">
              <a:lnSpc>
                <a:spcPct val="150000"/>
              </a:lnSpc>
              <a:spcBef>
                <a:spcPts val="0"/>
              </a:spcBef>
              <a:spcAft>
                <a:spcPts val="0"/>
              </a:spcAft>
              <a:buClr>
                <a:srgbClr val="000000"/>
              </a:buClr>
              <a:buSzPts val="1200"/>
              <a:buFont typeface="Proxima Nova"/>
              <a:buChar char="»"/>
              <a:defRPr i="0" sz="1200" u="none" cap="none" strike="noStrike">
                <a:solidFill>
                  <a:srgbClr val="000000"/>
                </a:solidFill>
                <a:latin typeface="Proxima Nova"/>
                <a:ea typeface="Proxima Nova"/>
                <a:cs typeface="Proxima Nova"/>
                <a:sym typeface="Proxima Nova"/>
              </a:defRPr>
            </a:lvl5pPr>
            <a:lvl6pPr indent="-298450" lvl="5" marL="2743200" marR="0" rtl="0" algn="l">
              <a:lnSpc>
                <a:spcPct val="150000"/>
              </a:lnSpc>
              <a:spcBef>
                <a:spcPts val="0"/>
              </a:spcBef>
              <a:spcAft>
                <a:spcPts val="0"/>
              </a:spcAft>
              <a:buClr>
                <a:schemeClr val="dk1"/>
              </a:buClr>
              <a:buSzPts val="1100"/>
              <a:buFont typeface="Proxima Nova"/>
              <a:buChar char="•"/>
              <a:defRPr i="0" sz="1100" u="none" cap="none" strike="noStrike">
                <a:solidFill>
                  <a:schemeClr val="dk1"/>
                </a:solidFill>
                <a:latin typeface="Proxima Nova"/>
                <a:ea typeface="Proxima Nova"/>
                <a:cs typeface="Proxima Nova"/>
                <a:sym typeface="Proxima Nova"/>
              </a:defRPr>
            </a:lvl6pPr>
            <a:lvl7pPr indent="-292100" lvl="6" marL="3200400" marR="0" rtl="0" algn="l">
              <a:lnSpc>
                <a:spcPct val="150000"/>
              </a:lnSpc>
              <a:spcBef>
                <a:spcPts val="0"/>
              </a:spcBef>
              <a:spcAft>
                <a:spcPts val="0"/>
              </a:spcAft>
              <a:buClr>
                <a:schemeClr val="dk1"/>
              </a:buClr>
              <a:buSzPts val="1000"/>
              <a:buFont typeface="Proxima Nova"/>
              <a:buChar char="•"/>
              <a:defRPr i="0" sz="1000" u="none" cap="none" strike="noStrike">
                <a:solidFill>
                  <a:schemeClr val="dk1"/>
                </a:solidFill>
                <a:latin typeface="Proxima Nova"/>
                <a:ea typeface="Proxima Nova"/>
                <a:cs typeface="Proxima Nova"/>
                <a:sym typeface="Proxima Nova"/>
              </a:defRPr>
            </a:lvl7pPr>
            <a:lvl8pPr indent="-285750" lvl="7" marL="3657600" marR="0" rtl="0" algn="l">
              <a:lnSpc>
                <a:spcPct val="150000"/>
              </a:lnSpc>
              <a:spcBef>
                <a:spcPts val="0"/>
              </a:spcBef>
              <a:spcAft>
                <a:spcPts val="0"/>
              </a:spcAft>
              <a:buClr>
                <a:schemeClr val="dk1"/>
              </a:buClr>
              <a:buSzPts val="900"/>
              <a:buFont typeface="Proxima Nova"/>
              <a:buChar char="•"/>
              <a:defRPr i="0" sz="900" u="none" cap="none" strike="noStrike">
                <a:solidFill>
                  <a:schemeClr val="dk1"/>
                </a:solidFill>
                <a:latin typeface="Proxima Nova"/>
                <a:ea typeface="Proxima Nova"/>
                <a:cs typeface="Proxima Nova"/>
                <a:sym typeface="Proxima Nova"/>
              </a:defRPr>
            </a:lvl8pPr>
            <a:lvl9pPr indent="-279400" lvl="8" marL="4114800" marR="0" rtl="0" algn="l">
              <a:lnSpc>
                <a:spcPct val="150000"/>
              </a:lnSpc>
              <a:spcBef>
                <a:spcPts val="0"/>
              </a:spcBef>
              <a:spcAft>
                <a:spcPts val="0"/>
              </a:spcAft>
              <a:buClr>
                <a:schemeClr val="dk1"/>
              </a:buClr>
              <a:buSzPts val="800"/>
              <a:buFont typeface="Proxima Nova"/>
              <a:buChar char="•"/>
              <a:defRPr i="0" sz="800" u="none" cap="none" strike="noStrike">
                <a:solidFill>
                  <a:schemeClr val="dk1"/>
                </a:solidFill>
                <a:latin typeface="Proxima Nova"/>
                <a:ea typeface="Proxima Nova"/>
                <a:cs typeface="Proxima Nova"/>
                <a:sym typeface="Proxima Nova"/>
              </a:defRPr>
            </a:lvl9pPr>
          </a:lstStyle>
          <a:p/>
        </p:txBody>
      </p:sp>
      <p:sp>
        <p:nvSpPr>
          <p:cNvPr id="13" name="Google Shape;13;p1"/>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1pPr>
            <a:lvl2pPr indent="0" lvl="1"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2pPr>
            <a:lvl3pPr indent="0" lvl="2"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3pPr>
            <a:lvl4pPr indent="0" lvl="3"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4pPr>
            <a:lvl5pPr indent="0" lvl="4"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5pPr>
            <a:lvl6pPr indent="0" lvl="5"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6pPr>
            <a:lvl7pPr indent="0" lvl="6"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7pPr>
            <a:lvl8pPr indent="0" lvl="7"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8pPr>
            <a:lvl9pPr indent="0" lvl="8"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9pPr>
          </a:lstStyle>
          <a:p>
            <a:pPr indent="0" lvl="0" marL="0" rtl="0" algn="ctr">
              <a:spcBef>
                <a:spcPts val="0"/>
              </a:spcBef>
              <a:spcAft>
                <a:spcPts val="0"/>
              </a:spcAft>
              <a:buNone/>
            </a:pPr>
            <a:fld id="{00000000-1234-1234-1234-123412341234}" type="slidenum">
              <a:rPr lang="en-US"/>
              <a:t>‹#›</a:t>
            </a:fld>
            <a:endParaRPr/>
          </a:p>
        </p:txBody>
      </p:sp>
      <p:pic>
        <p:nvPicPr>
          <p:cNvPr descr="1-lineWordmark_GoldOnCard_NoBG.eps" id="14" name="Google Shape;14;p1"/>
          <p:cNvPicPr preferRelativeResize="0"/>
          <p:nvPr/>
        </p:nvPicPr>
        <p:blipFill rotWithShape="1">
          <a:blip r:embed="rId1">
            <a:alphaModFix/>
          </a:blip>
          <a:srcRect b="0" l="0" r="0" t="0"/>
          <a:stretch/>
        </p:blipFill>
        <p:spPr>
          <a:xfrm>
            <a:off x="6997700" y="4846522"/>
            <a:ext cx="1366594" cy="116116"/>
          </a:xfrm>
          <a:prstGeom prst="rect">
            <a:avLst/>
          </a:prstGeom>
          <a:noFill/>
          <a:ln>
            <a:noFill/>
          </a:ln>
        </p:spPr>
      </p:pic>
      <p:pic>
        <p:nvPicPr>
          <p:cNvPr descr="Formal_Viterbi_GoldOnCard_NoBG.eps" id="15" name="Google Shape;15;p1"/>
          <p:cNvPicPr preferRelativeResize="0"/>
          <p:nvPr/>
        </p:nvPicPr>
        <p:blipFill rotWithShape="1">
          <a:blip r:embed="rId2">
            <a:alphaModFix/>
          </a:blip>
          <a:srcRect b="0" l="0" r="0" t="0"/>
          <a:stretch/>
        </p:blipFill>
        <p:spPr>
          <a:xfrm>
            <a:off x="292102" y="4603732"/>
            <a:ext cx="1306267" cy="352557"/>
          </a:xfrm>
          <a:prstGeom prst="rect">
            <a:avLst/>
          </a:prstGeom>
          <a:noFill/>
          <a:ln>
            <a:noFill/>
          </a:ln>
        </p:spPr>
      </p:pic>
      <p:sp>
        <p:nvSpPr>
          <p:cNvPr id="16" name="Google Shape;16;p1"/>
          <p:cNvSpPr/>
          <p:nvPr/>
        </p:nvSpPr>
        <p:spPr>
          <a:xfrm flipH="1" rot="10800000">
            <a:off x="0" y="4470738"/>
            <a:ext cx="9144000" cy="38100"/>
          </a:xfrm>
          <a:prstGeom prst="rect">
            <a:avLst/>
          </a:prstGeom>
          <a:solidFill>
            <a:srgbClr val="FFCC00"/>
          </a:solidFill>
          <a:ln>
            <a:noFill/>
          </a:ln>
          <a:effectLst>
            <a:outerShdw blurRad="40000" rotWithShape="0" dir="5400000" dist="20000">
              <a:srgbClr val="000000">
                <a:alpha val="3647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17" name="Google Shape;17;p1"/>
          <p:cNvPicPr preferRelativeResize="0"/>
          <p:nvPr/>
        </p:nvPicPr>
        <p:blipFill rotWithShape="1">
          <a:blip r:embed="rId3">
            <a:alphaModFix/>
          </a:blip>
          <a:srcRect b="0" l="0" r="57269" t="0"/>
          <a:stretch/>
        </p:blipFill>
        <p:spPr>
          <a:xfrm>
            <a:off x="107950" y="57150"/>
            <a:ext cx="285751" cy="19764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4"/>
    <p:sldLayoutId id="2147483649" r:id="rId5"/>
    <p:sldLayoutId id="2147483650" r:id="rId6"/>
    <p:sldLayoutId id="2147483651" r:id="rId7"/>
    <p:sldLayoutId id="2147483652" r:id="rId8"/>
    <p:sldLayoutId id="2147483653" r:id="rId9"/>
    <p:sldLayoutId id="2147483654" r:id="rId10"/>
    <p:sldLayoutId id="2147483655" r:id="rId11"/>
  </p:sldLayoutIdLst>
  <p:transition>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docs.google.com/presentation/d/1rOTL7bfYCa1m_QUnyr4rAwFaUZyqaX_77aP8i48Sc9A/edit?usp=sharing"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 Id="rId3"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10"/>
          <p:cNvSpPr txBox="1"/>
          <p:nvPr>
            <p:ph type="ctrTitle"/>
          </p:nvPr>
        </p:nvSpPr>
        <p:spPr>
          <a:xfrm>
            <a:off x="685800" y="1104900"/>
            <a:ext cx="7772400" cy="2136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Machine Learning: The Process and Nearest Neighbors</a:t>
            </a:r>
            <a:endParaRPr/>
          </a:p>
        </p:txBody>
      </p:sp>
      <p:sp>
        <p:nvSpPr>
          <p:cNvPr id="54" name="Google Shape;54;p10"/>
          <p:cNvSpPr txBox="1"/>
          <p:nvPr>
            <p:ph idx="1" type="subTitle"/>
          </p:nvPr>
        </p:nvSpPr>
        <p:spPr>
          <a:xfrm>
            <a:off x="1371600" y="3240900"/>
            <a:ext cx="6400800" cy="1045500"/>
          </a:xfrm>
          <a:prstGeom prst="rect">
            <a:avLst/>
          </a:prstGeom>
        </p:spPr>
        <p:txBody>
          <a:bodyPr anchorCtr="0" anchor="ctr" bIns="45700" lIns="91425" spcFirstLastPara="1" rIns="91425" wrap="square" tIns="45700">
            <a:noAutofit/>
          </a:bodyPr>
          <a:lstStyle/>
          <a:p>
            <a:pPr indent="0" lvl="0" marL="0" rtl="0" algn="ctr">
              <a:spcBef>
                <a:spcPts val="700"/>
              </a:spcBef>
              <a:spcAft>
                <a:spcPts val="0"/>
              </a:spcAft>
              <a:buNone/>
            </a:pPr>
            <a:r>
              <a:rPr lang="en-US"/>
              <a:t>Applied Python</a:t>
            </a:r>
            <a:endParaRPr/>
          </a:p>
        </p:txBody>
      </p:sp>
      <p:sp>
        <p:nvSpPr>
          <p:cNvPr id="55" name="Google Shape;55;p10"/>
          <p:cNvSpPr txBox="1"/>
          <p:nvPr>
            <p:ph idx="2" type="body"/>
          </p:nvPr>
        </p:nvSpPr>
        <p:spPr>
          <a:xfrm>
            <a:off x="7365900" y="0"/>
            <a:ext cx="1778100" cy="3327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r>
              <a:rPr lang="en-US" u="sng">
                <a:solidFill>
                  <a:schemeClr val="hlink"/>
                </a:solidFill>
                <a:hlinkClick r:id="rId3"/>
              </a:rPr>
              <a:t>Link to this document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1"/>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What are we doing?</a:t>
            </a:r>
            <a:endParaRPr/>
          </a:p>
        </p:txBody>
      </p:sp>
      <p:sp>
        <p:nvSpPr>
          <p:cNvPr id="62" name="Google Shape;62;p11"/>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a:solidFill>
                  <a:schemeClr val="dk1"/>
                </a:solidFill>
              </a:rPr>
              <a:t>Measurable Outcomes</a:t>
            </a:r>
            <a:endParaRPr>
              <a:solidFill>
                <a:schemeClr val="dk1"/>
              </a:solidFill>
            </a:endParaRPr>
          </a:p>
          <a:p>
            <a:pPr indent="0" lvl="0" marL="0" rtl="0" algn="l">
              <a:spcBef>
                <a:spcPts val="0"/>
              </a:spcBef>
              <a:spcAft>
                <a:spcPts val="0"/>
              </a:spcAft>
              <a:buNone/>
            </a:pPr>
            <a:r>
              <a:rPr lang="en-US">
                <a:solidFill>
                  <a:schemeClr val="dk1"/>
                </a:solidFill>
              </a:rPr>
              <a:t>By the end of this week, you should be able to:</a:t>
            </a:r>
            <a:endParaRPr>
              <a:solidFill>
                <a:schemeClr val="dk1"/>
              </a:solidFill>
            </a:endParaRPr>
          </a:p>
          <a:p>
            <a:pPr indent="-330200" lvl="0" marL="457200" rtl="0" algn="l">
              <a:spcBef>
                <a:spcPts val="0"/>
              </a:spcBef>
              <a:spcAft>
                <a:spcPts val="0"/>
              </a:spcAft>
              <a:buClr>
                <a:schemeClr val="dk1"/>
              </a:buClr>
              <a:buSzPts val="1600"/>
              <a:buChar char="•"/>
            </a:pPr>
            <a:r>
              <a:rPr lang="en-US">
                <a:solidFill>
                  <a:schemeClr val="dk1"/>
                </a:solidFill>
              </a:rPr>
              <a:t>describe the differences between supervised, unsupervised, and reinforcement learning.</a:t>
            </a:r>
            <a:endParaRPr>
              <a:solidFill>
                <a:schemeClr val="dk1"/>
              </a:solidFill>
            </a:endParaRPr>
          </a:p>
          <a:p>
            <a:pPr indent="-330200" lvl="0" marL="457200" rtl="0" algn="l">
              <a:spcBef>
                <a:spcPts val="0"/>
              </a:spcBef>
              <a:spcAft>
                <a:spcPts val="0"/>
              </a:spcAft>
              <a:buClr>
                <a:schemeClr val="dk1"/>
              </a:buClr>
              <a:buSzPts val="1600"/>
              <a:buChar char="•"/>
            </a:pPr>
            <a:r>
              <a:rPr lang="en-US">
                <a:solidFill>
                  <a:schemeClr val="dk1"/>
                </a:solidFill>
              </a:rPr>
              <a:t>load, split, train, and test and validate a dataset.</a:t>
            </a:r>
            <a:endParaRPr>
              <a:solidFill>
                <a:schemeClr val="dk1"/>
              </a:solidFill>
            </a:endParaRPr>
          </a:p>
          <a:p>
            <a:pPr indent="-330200" lvl="0" marL="457200" rtl="0" algn="l">
              <a:spcBef>
                <a:spcPts val="0"/>
              </a:spcBef>
              <a:spcAft>
                <a:spcPts val="0"/>
              </a:spcAft>
              <a:buClr>
                <a:schemeClr val="dk1"/>
              </a:buClr>
              <a:buSzPts val="1600"/>
              <a:buChar char="•"/>
            </a:pPr>
            <a:r>
              <a:rPr lang="en-US">
                <a:solidFill>
                  <a:schemeClr val="dk1"/>
                </a:solidFill>
              </a:rPr>
              <a:t>classify previously-unclassified data using machine learning.</a:t>
            </a:r>
            <a:endParaRPr>
              <a:solidFill>
                <a:schemeClr val="dk1"/>
              </a:solidFill>
            </a:endParaRPr>
          </a:p>
        </p:txBody>
      </p:sp>
      <p:sp>
        <p:nvSpPr>
          <p:cNvPr id="63" name="Google Shape;63;p11"/>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64" name="Google Shape;64;p11"/>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a:solidFill>
                  <a:schemeClr val="dk1"/>
                </a:solidFill>
              </a:rPr>
              <a:t>Learning Objectives</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By the end of this week, you should:</a:t>
            </a:r>
            <a:endParaRPr>
              <a:solidFill>
                <a:schemeClr val="dk1"/>
              </a:solidFill>
            </a:endParaRPr>
          </a:p>
          <a:p>
            <a:pPr indent="-330200" lvl="0" marL="457200" rtl="0" algn="l">
              <a:spcBef>
                <a:spcPts val="0"/>
              </a:spcBef>
              <a:spcAft>
                <a:spcPts val="0"/>
              </a:spcAft>
              <a:buClr>
                <a:schemeClr val="dk1"/>
              </a:buClr>
              <a:buSzPts val="1600"/>
              <a:buChar char="•"/>
            </a:pPr>
            <a:r>
              <a:rPr lang="en-US">
                <a:solidFill>
                  <a:schemeClr val="dk1"/>
                </a:solidFill>
              </a:rPr>
              <a:t>understand the k-nearest neighbor algorithm.</a:t>
            </a:r>
            <a:endParaRPr>
              <a:solidFill>
                <a:schemeClr val="dk1"/>
              </a:solidFill>
            </a:endParaRPr>
          </a:p>
          <a:p>
            <a:pPr indent="-330200" lvl="0" marL="457200" rtl="0" algn="l">
              <a:spcBef>
                <a:spcPts val="0"/>
              </a:spcBef>
              <a:spcAft>
                <a:spcPts val="0"/>
              </a:spcAft>
              <a:buClr>
                <a:schemeClr val="dk1"/>
              </a:buClr>
              <a:buSzPts val="1600"/>
              <a:buChar char="•"/>
            </a:pPr>
            <a:r>
              <a:rPr lang="en-US">
                <a:solidFill>
                  <a:schemeClr val="dk1"/>
                </a:solidFill>
              </a:rPr>
              <a:t>identify contexts in which machine learning is appropriate.</a:t>
            </a:r>
            <a:endParaRPr>
              <a:solidFill>
                <a:schemeClr val="dk1"/>
              </a:solidFill>
            </a:endParaRPr>
          </a:p>
          <a:p>
            <a:pPr indent="-330200" lvl="0" marL="457200" rtl="0" algn="l">
              <a:spcBef>
                <a:spcPts val="0"/>
              </a:spcBef>
              <a:spcAft>
                <a:spcPts val="0"/>
              </a:spcAft>
              <a:buClr>
                <a:schemeClr val="dk1"/>
              </a:buClr>
              <a:buSzPts val="1600"/>
              <a:buChar char="•"/>
            </a:pPr>
            <a:r>
              <a:rPr lang="en-US">
                <a:solidFill>
                  <a:schemeClr val="dk1"/>
                </a:solidFill>
              </a:rPr>
              <a:t>know the machine learning process.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2"/>
          <p:cNvSpPr txBox="1"/>
          <p:nvPr>
            <p:ph type="title"/>
          </p:nvPr>
        </p:nvSpPr>
        <p:spPr>
          <a:xfrm>
            <a:off x="560065" y="2907903"/>
            <a:ext cx="7772400" cy="1165200"/>
          </a:xfrm>
          <a:prstGeom prst="rect">
            <a:avLst/>
          </a:prstGeom>
          <a:noFill/>
          <a:ln>
            <a:noFill/>
          </a:ln>
        </p:spPr>
        <p:txBody>
          <a:bodyPr anchorCtr="0" anchor="t" bIns="45700" lIns="91425" spcFirstLastPara="1" rIns="91425" wrap="square" tIns="45700">
            <a:noAutofit/>
          </a:bodyPr>
          <a:lstStyle/>
          <a:p>
            <a:pPr indent="0" lvl="0" marL="0" rtl="0" algn="l">
              <a:lnSpc>
                <a:spcPct val="85000"/>
              </a:lnSpc>
              <a:spcBef>
                <a:spcPts val="0"/>
              </a:spcBef>
              <a:spcAft>
                <a:spcPts val="0"/>
              </a:spcAft>
              <a:buSzPts val="4000"/>
              <a:buNone/>
            </a:pPr>
            <a:r>
              <a:rPr lang="en-US"/>
              <a:t>MACHINE LEARNING</a:t>
            </a:r>
            <a:endParaRPr/>
          </a:p>
        </p:txBody>
      </p:sp>
      <p:sp>
        <p:nvSpPr>
          <p:cNvPr id="70" name="Google Shape;70;p12"/>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3"/>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What is machine learning?</a:t>
            </a:r>
            <a:endParaRPr/>
          </a:p>
        </p:txBody>
      </p:sp>
      <p:sp>
        <p:nvSpPr>
          <p:cNvPr id="77" name="Google Shape;77;p13"/>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latin typeface="Proxima Nova"/>
                <a:ea typeface="Proxima Nova"/>
                <a:cs typeface="Proxima Nova"/>
                <a:sym typeface="Proxima Nova"/>
              </a:rPr>
              <a:t>‹#›</a:t>
            </a:fld>
            <a:endParaRPr>
              <a:latin typeface="Proxima Nova"/>
              <a:ea typeface="Proxima Nova"/>
              <a:cs typeface="Proxima Nova"/>
              <a:sym typeface="Proxima Nova"/>
            </a:endParaRPr>
          </a:p>
        </p:txBody>
      </p:sp>
      <p:sp>
        <p:nvSpPr>
          <p:cNvPr id="78" name="Google Shape;78;p13"/>
          <p:cNvSpPr txBox="1"/>
          <p:nvPr/>
        </p:nvSpPr>
        <p:spPr>
          <a:xfrm>
            <a:off x="444100" y="4154676"/>
            <a:ext cx="8255700" cy="2739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i="1" lang="en-US" sz="600">
                <a:latin typeface="Proxima Nova"/>
                <a:ea typeface="Proxima Nova"/>
                <a:cs typeface="Proxima Nova"/>
                <a:sym typeface="Proxima Nova"/>
              </a:rPr>
              <a:t>source: </a:t>
            </a:r>
            <a:r>
              <a:rPr i="1" lang="en-US" sz="600">
                <a:latin typeface="Proxima Nova"/>
                <a:ea typeface="Proxima Nova"/>
                <a:cs typeface="Proxima Nova"/>
                <a:sym typeface="Proxima Nova"/>
              </a:rPr>
              <a:t>https://blog.kensho.com/mastering-the-two-halves-of-your-brain-62d0c0d4f216</a:t>
            </a:r>
            <a:endParaRPr i="1" sz="600">
              <a:latin typeface="Proxima Nova"/>
              <a:ea typeface="Proxima Nova"/>
              <a:cs typeface="Proxima Nova"/>
              <a:sym typeface="Proxima Nova"/>
            </a:endParaRPr>
          </a:p>
        </p:txBody>
      </p:sp>
      <p:pic>
        <p:nvPicPr>
          <p:cNvPr id="79" name="Google Shape;79;p13"/>
          <p:cNvPicPr preferRelativeResize="0"/>
          <p:nvPr/>
        </p:nvPicPr>
        <p:blipFill>
          <a:blip r:embed="rId3">
            <a:alphaModFix/>
          </a:blip>
          <a:stretch>
            <a:fillRect/>
          </a:stretch>
        </p:blipFill>
        <p:spPr>
          <a:xfrm>
            <a:off x="4648200" y="1094189"/>
            <a:ext cx="4343400" cy="2680498"/>
          </a:xfrm>
          <a:prstGeom prst="rect">
            <a:avLst/>
          </a:prstGeom>
          <a:noFill/>
          <a:ln>
            <a:noFill/>
          </a:ln>
        </p:spPr>
      </p:pic>
      <p:sp>
        <p:nvSpPr>
          <p:cNvPr id="80" name="Google Shape;80;p13"/>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sz="2000"/>
              <a:t>Machine learning</a:t>
            </a:r>
            <a:r>
              <a:rPr lang="en-US" sz="2000"/>
              <a:t> (ML) is the study of algorithms that improve themselves by experience. It is a subset of </a:t>
            </a:r>
            <a:r>
              <a:rPr b="1" lang="en-US" sz="2000"/>
              <a:t>artificial intelligence</a:t>
            </a:r>
            <a:r>
              <a:rPr lang="en-US" sz="2000"/>
              <a:t> (AI) - the ability of a computer to perform tasks typically associated with living creatures.</a:t>
            </a:r>
            <a:endParaRPr sz="2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4"/>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How does this related to LLMs?</a:t>
            </a:r>
            <a:endParaRPr/>
          </a:p>
        </p:txBody>
      </p:sp>
      <p:sp>
        <p:nvSpPr>
          <p:cNvPr id="87" name="Google Shape;87;p14"/>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88" name="Google Shape;88;p14"/>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000"/>
              <a:t>Modern mach</a:t>
            </a:r>
            <a:r>
              <a:rPr lang="en-US" sz="2000"/>
              <a:t>ine learning is most readily seen in the pervasive </a:t>
            </a:r>
            <a:r>
              <a:rPr b="1" lang="en-US" sz="2000"/>
              <a:t>LLMs - Large Language Models</a:t>
            </a:r>
            <a:r>
              <a:rPr lang="en-US" sz="2000"/>
              <a:t> - which are being bolted into everything from customer service chatbots to full-stack web development to defense technology.</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US" sz="2000"/>
              <a:t>Machine learning has been around for decades, however, and "classic" machine learning is still seen in many applications - including but not limited to image recognition and generalized business decisions.</a:t>
            </a:r>
            <a:endParaRPr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5"/>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ML: the algorithm and the model</a:t>
            </a:r>
            <a:endParaRPr/>
          </a:p>
        </p:txBody>
      </p:sp>
      <p:sp>
        <p:nvSpPr>
          <p:cNvPr id="95" name="Google Shape;95;p15"/>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latin typeface="Proxima Nova"/>
                <a:ea typeface="Proxima Nova"/>
                <a:cs typeface="Proxima Nova"/>
                <a:sym typeface="Proxima Nova"/>
              </a:rPr>
              <a:t>‹#›</a:t>
            </a:fld>
            <a:endParaRPr>
              <a:latin typeface="Proxima Nova"/>
              <a:ea typeface="Proxima Nova"/>
              <a:cs typeface="Proxima Nova"/>
              <a:sym typeface="Proxima Nova"/>
            </a:endParaRPr>
          </a:p>
        </p:txBody>
      </p:sp>
      <p:sp>
        <p:nvSpPr>
          <p:cNvPr id="96" name="Google Shape;96;p15"/>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000">
                <a:solidFill>
                  <a:schemeClr val="dk1"/>
                </a:solidFill>
              </a:rPr>
              <a:t>A</a:t>
            </a:r>
            <a:r>
              <a:rPr lang="en-US" sz="2000">
                <a:solidFill>
                  <a:schemeClr val="dk1"/>
                </a:solidFill>
              </a:rPr>
              <a:t> </a:t>
            </a:r>
            <a:r>
              <a:rPr b="1" lang="en-US" sz="2000">
                <a:solidFill>
                  <a:schemeClr val="dk1"/>
                </a:solidFill>
              </a:rPr>
              <a:t>model</a:t>
            </a:r>
            <a:r>
              <a:rPr lang="en-US" sz="2000">
                <a:solidFill>
                  <a:schemeClr val="dk1"/>
                </a:solidFill>
              </a:rPr>
              <a:t> is a hypothesis about the world. It is created from data by applying some machine learning </a:t>
            </a:r>
            <a:r>
              <a:rPr b="1" lang="en-US" sz="2000">
                <a:solidFill>
                  <a:schemeClr val="dk1"/>
                </a:solidFill>
              </a:rPr>
              <a:t>algorithm</a:t>
            </a:r>
            <a:r>
              <a:rPr lang="en-US" sz="2000">
                <a:solidFill>
                  <a:schemeClr val="dk1"/>
                </a:solidFill>
              </a:rPr>
              <a:t>. Ideally, as more data is fed into the algorithm, the model improves.</a:t>
            </a:r>
            <a:endParaRPr sz="2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6"/>
          <p:cNvSpPr txBox="1"/>
          <p:nvPr>
            <p:ph idx="4294967295" type="body"/>
          </p:nvPr>
        </p:nvSpPr>
        <p:spPr>
          <a:xfrm>
            <a:off x="4648200" y="1200150"/>
            <a:ext cx="4064700" cy="3240000"/>
          </a:xfrm>
          <a:prstGeom prst="rect">
            <a:avLst/>
          </a:prstGeom>
        </p:spPr>
        <p:txBody>
          <a:bodyPr anchorCtr="0" anchor="t" bIns="45700" lIns="91425" spcFirstLastPara="1" rIns="91425" wrap="square" tIns="45700">
            <a:noAutofit/>
          </a:bodyPr>
          <a:lstStyle/>
          <a:p>
            <a:pPr indent="0" lvl="0" marL="0" rtl="0" algn="ctr">
              <a:lnSpc>
                <a:spcPct val="150000"/>
              </a:lnSpc>
              <a:spcBef>
                <a:spcPts val="0"/>
              </a:spcBef>
              <a:spcAft>
                <a:spcPts val="0"/>
              </a:spcAft>
              <a:buNone/>
            </a:pPr>
            <a:r>
              <a:t/>
            </a:r>
            <a:endParaRPr sz="4300">
              <a:solidFill>
                <a:schemeClr val="dk1"/>
              </a:solidFill>
              <a:latin typeface="Verdana"/>
              <a:ea typeface="Verdana"/>
              <a:cs typeface="Verdana"/>
              <a:sym typeface="Verdana"/>
            </a:endParaRPr>
          </a:p>
          <a:p>
            <a:pPr indent="0" lvl="0" marL="0" rtl="0" algn="ctr">
              <a:lnSpc>
                <a:spcPct val="150000"/>
              </a:lnSpc>
              <a:spcBef>
                <a:spcPts val="0"/>
              </a:spcBef>
              <a:spcAft>
                <a:spcPts val="0"/>
              </a:spcAft>
              <a:buNone/>
            </a:pPr>
            <a:r>
              <a:rPr lang="en-US" sz="4300">
                <a:solidFill>
                  <a:schemeClr val="dk1"/>
                </a:solidFill>
                <a:latin typeface="Verdana"/>
                <a:ea typeface="Verdana"/>
                <a:cs typeface="Verdana"/>
                <a:sym typeface="Verdana"/>
              </a:rPr>
              <a:t>y = f(X)</a:t>
            </a:r>
            <a:endParaRPr sz="1100">
              <a:solidFill>
                <a:schemeClr val="dk1"/>
              </a:solidFill>
              <a:latin typeface="Verdana"/>
              <a:ea typeface="Verdana"/>
              <a:cs typeface="Verdana"/>
              <a:sym typeface="Verdana"/>
            </a:endParaRPr>
          </a:p>
        </p:txBody>
      </p:sp>
      <p:sp>
        <p:nvSpPr>
          <p:cNvPr id="103" name="Google Shape;103;p16"/>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ML</a:t>
            </a:r>
            <a:r>
              <a:rPr lang="en-US"/>
              <a:t>: mathematical generalization</a:t>
            </a:r>
            <a:endParaRPr/>
          </a:p>
        </p:txBody>
      </p:sp>
      <p:sp>
        <p:nvSpPr>
          <p:cNvPr id="104" name="Google Shape;104;p16"/>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latin typeface="Proxima Nova"/>
                <a:ea typeface="Proxima Nova"/>
                <a:cs typeface="Proxima Nova"/>
                <a:sym typeface="Proxima Nova"/>
              </a:rPr>
              <a:t>‹#›</a:t>
            </a:fld>
            <a:endParaRPr>
              <a:latin typeface="Proxima Nova"/>
              <a:ea typeface="Proxima Nova"/>
              <a:cs typeface="Proxima Nova"/>
              <a:sym typeface="Proxima Nova"/>
            </a:endParaRPr>
          </a:p>
        </p:txBody>
      </p:sp>
      <p:cxnSp>
        <p:nvCxnSpPr>
          <p:cNvPr id="105" name="Google Shape;105;p16"/>
          <p:cNvCxnSpPr>
            <a:stCxn id="106" idx="0"/>
          </p:cNvCxnSpPr>
          <p:nvPr/>
        </p:nvCxnSpPr>
        <p:spPr>
          <a:xfrm flipH="1" rot="10800000">
            <a:off x="2818500" y="2803950"/>
            <a:ext cx="2725500" cy="636300"/>
          </a:xfrm>
          <a:prstGeom prst="straightConnector1">
            <a:avLst/>
          </a:prstGeom>
          <a:noFill/>
          <a:ln cap="flat" cmpd="sng" w="9525">
            <a:solidFill>
              <a:srgbClr val="FF0000"/>
            </a:solidFill>
            <a:prstDash val="solid"/>
            <a:round/>
            <a:headEnd len="sm" w="sm" type="none"/>
            <a:tailEnd len="med" w="med" type="stealth"/>
          </a:ln>
        </p:spPr>
      </p:cxnSp>
      <p:cxnSp>
        <p:nvCxnSpPr>
          <p:cNvPr id="107" name="Google Shape;107;p16"/>
          <p:cNvCxnSpPr>
            <a:stCxn id="108" idx="0"/>
          </p:cNvCxnSpPr>
          <p:nvPr/>
        </p:nvCxnSpPr>
        <p:spPr>
          <a:xfrm flipH="1" rot="10800000">
            <a:off x="5138728" y="2812950"/>
            <a:ext cx="1570500" cy="627300"/>
          </a:xfrm>
          <a:prstGeom prst="straightConnector1">
            <a:avLst/>
          </a:prstGeom>
          <a:noFill/>
          <a:ln cap="flat" cmpd="sng" w="9525">
            <a:solidFill>
              <a:srgbClr val="FF0000"/>
            </a:solidFill>
            <a:prstDash val="solid"/>
            <a:round/>
            <a:headEnd len="sm" w="sm" type="none"/>
            <a:tailEnd len="med" w="med" type="stealth"/>
          </a:ln>
        </p:spPr>
      </p:cxnSp>
      <p:cxnSp>
        <p:nvCxnSpPr>
          <p:cNvPr id="109" name="Google Shape;109;p16"/>
          <p:cNvCxnSpPr>
            <a:stCxn id="110" idx="0"/>
          </p:cNvCxnSpPr>
          <p:nvPr/>
        </p:nvCxnSpPr>
        <p:spPr>
          <a:xfrm flipH="1" rot="10800000">
            <a:off x="7190150" y="2904150"/>
            <a:ext cx="156600" cy="536400"/>
          </a:xfrm>
          <a:prstGeom prst="straightConnector1">
            <a:avLst/>
          </a:prstGeom>
          <a:noFill/>
          <a:ln cap="flat" cmpd="sng" w="9525">
            <a:solidFill>
              <a:srgbClr val="FF0000"/>
            </a:solidFill>
            <a:prstDash val="solid"/>
            <a:round/>
            <a:headEnd len="sm" w="sm" type="none"/>
            <a:tailEnd len="med" w="med" type="stealth"/>
          </a:ln>
        </p:spPr>
      </p:cxnSp>
      <p:sp>
        <p:nvSpPr>
          <p:cNvPr id="106" name="Google Shape;106;p16"/>
          <p:cNvSpPr txBox="1"/>
          <p:nvPr/>
        </p:nvSpPr>
        <p:spPr>
          <a:xfrm>
            <a:off x="2405700" y="3440250"/>
            <a:ext cx="825600" cy="277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1800">
                <a:solidFill>
                  <a:srgbClr val="FFFFFF"/>
                </a:solidFill>
                <a:highlight>
                  <a:srgbClr val="000000"/>
                </a:highlight>
              </a:rPr>
              <a:t>label</a:t>
            </a:r>
            <a:endParaRPr/>
          </a:p>
        </p:txBody>
      </p:sp>
      <p:sp>
        <p:nvSpPr>
          <p:cNvPr id="108" name="Google Shape;108;p16"/>
          <p:cNvSpPr txBox="1"/>
          <p:nvPr/>
        </p:nvSpPr>
        <p:spPr>
          <a:xfrm>
            <a:off x="4017928" y="3440250"/>
            <a:ext cx="2241600" cy="4845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0" i="0" lang="en-US" sz="1800" u="none" cap="none" strike="noStrike">
                <a:solidFill>
                  <a:srgbClr val="FFFFFF"/>
                </a:solidFill>
                <a:highlight>
                  <a:srgbClr val="000000"/>
                </a:highlight>
                <a:latin typeface="Arial"/>
                <a:ea typeface="Arial"/>
                <a:cs typeface="Arial"/>
                <a:sym typeface="Arial"/>
              </a:rPr>
              <a:t>prediction</a:t>
            </a:r>
            <a:r>
              <a:rPr lang="en-US" sz="1800">
                <a:solidFill>
                  <a:srgbClr val="FFFFFF"/>
                </a:solidFill>
                <a:highlight>
                  <a:srgbClr val="000000"/>
                </a:highlight>
              </a:rPr>
              <a:t> </a:t>
            </a:r>
            <a:r>
              <a:rPr b="0" i="0" lang="en-US" sz="1800" u="none" cap="none" strike="noStrike">
                <a:solidFill>
                  <a:srgbClr val="FFFFFF"/>
                </a:solidFill>
                <a:highlight>
                  <a:srgbClr val="000000"/>
                </a:highlight>
                <a:latin typeface="Arial"/>
                <a:ea typeface="Arial"/>
                <a:cs typeface="Arial"/>
                <a:sym typeface="Arial"/>
              </a:rPr>
              <a:t>function</a:t>
            </a:r>
            <a:endParaRPr/>
          </a:p>
        </p:txBody>
      </p:sp>
      <p:sp>
        <p:nvSpPr>
          <p:cNvPr id="110" name="Google Shape;110;p16"/>
          <p:cNvSpPr txBox="1"/>
          <p:nvPr/>
        </p:nvSpPr>
        <p:spPr>
          <a:xfrm>
            <a:off x="6323750" y="3440550"/>
            <a:ext cx="1732800" cy="276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0" i="0" lang="en-US" sz="1800" u="none" cap="none" strike="noStrike">
                <a:solidFill>
                  <a:srgbClr val="FFFFFF"/>
                </a:solidFill>
                <a:highlight>
                  <a:srgbClr val="000000"/>
                </a:highlight>
                <a:latin typeface="Arial"/>
                <a:ea typeface="Arial"/>
                <a:cs typeface="Arial"/>
                <a:sym typeface="Arial"/>
              </a:rPr>
              <a:t>feature vector </a:t>
            </a:r>
            <a:endParaRPr/>
          </a:p>
        </p:txBody>
      </p:sp>
      <p:sp>
        <p:nvSpPr>
          <p:cNvPr id="111" name="Google Shape;111;p16"/>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000">
                <a:solidFill>
                  <a:schemeClr val="dk1"/>
                </a:solidFill>
              </a:rPr>
              <a:t>Machine learning applies a </a:t>
            </a:r>
            <a:r>
              <a:rPr b="1" lang="en-US" sz="2000">
                <a:solidFill>
                  <a:schemeClr val="dk1"/>
                </a:solidFill>
              </a:rPr>
              <a:t>prediction function</a:t>
            </a:r>
            <a:r>
              <a:rPr lang="en-US" sz="2000">
                <a:solidFill>
                  <a:schemeClr val="dk1"/>
                </a:solidFill>
              </a:rPr>
              <a:t> to a </a:t>
            </a:r>
            <a:r>
              <a:rPr b="1" lang="en-US" sz="2000">
                <a:solidFill>
                  <a:schemeClr val="dk1"/>
                </a:solidFill>
              </a:rPr>
              <a:t>feature </a:t>
            </a:r>
            <a:r>
              <a:rPr lang="en-US" sz="2000">
                <a:solidFill>
                  <a:schemeClr val="dk1"/>
                </a:solidFill>
              </a:rPr>
              <a:t>of a dataset to get the desired </a:t>
            </a:r>
            <a:r>
              <a:rPr b="1" lang="en-US" sz="2000">
                <a:solidFill>
                  <a:schemeClr val="dk1"/>
                </a:solidFill>
              </a:rPr>
              <a:t>label</a:t>
            </a:r>
            <a:r>
              <a:rPr lang="en-US" sz="2000">
                <a:solidFill>
                  <a:schemeClr val="dk1"/>
                </a:solidFill>
              </a:rPr>
              <a:t>:</a:t>
            </a:r>
            <a:endParaRPr sz="2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7"/>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4400"/>
              <a:buNone/>
            </a:pPr>
            <a:r>
              <a:rPr lang="en-US">
                <a:solidFill>
                  <a:schemeClr val="hlink"/>
                </a:solidFill>
              </a:rPr>
              <a:t>Datasets</a:t>
            </a:r>
            <a:endParaRPr>
              <a:solidFill>
                <a:schemeClr val="hlink"/>
              </a:solidFill>
            </a:endParaRPr>
          </a:p>
        </p:txBody>
      </p:sp>
      <p:sp>
        <p:nvSpPr>
          <p:cNvPr id="118" name="Google Shape;118;p17"/>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latin typeface="Proxima Nova"/>
                <a:ea typeface="Proxima Nova"/>
                <a:cs typeface="Proxima Nova"/>
                <a:sym typeface="Proxima Nova"/>
              </a:rPr>
              <a:t>‹#›</a:t>
            </a:fld>
            <a:endParaRPr>
              <a:latin typeface="Proxima Nova"/>
              <a:ea typeface="Proxima Nova"/>
              <a:cs typeface="Proxima Nova"/>
              <a:sym typeface="Proxima Nova"/>
            </a:endParaRPr>
          </a:p>
        </p:txBody>
      </p:sp>
      <p:sp>
        <p:nvSpPr>
          <p:cNvPr id="119" name="Google Shape;119;p17"/>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800"/>
              <a:buFont typeface="Arial"/>
              <a:buNone/>
            </a:pPr>
            <a:r>
              <a:rPr lang="en-US" sz="1800">
                <a:solidFill>
                  <a:schemeClr val="dk1"/>
                </a:solidFill>
              </a:rPr>
              <a:t>A dataset is nothing but a collection of data. Generally, it will have 2 main components:</a:t>
            </a:r>
            <a:endParaRPr sz="1800">
              <a:solidFill>
                <a:schemeClr val="dk1"/>
              </a:solidFill>
            </a:endParaRPr>
          </a:p>
          <a:p>
            <a:pPr indent="-342900" lvl="0" marL="457200" rtl="0" algn="l">
              <a:spcBef>
                <a:spcPts val="0"/>
              </a:spcBef>
              <a:spcAft>
                <a:spcPts val="0"/>
              </a:spcAft>
              <a:buClr>
                <a:schemeClr val="dk1"/>
              </a:buClr>
              <a:buSzPts val="1800"/>
              <a:buFont typeface="Verdana"/>
              <a:buChar char="•"/>
            </a:pPr>
            <a:r>
              <a:rPr b="1" lang="en-US" sz="1800">
                <a:solidFill>
                  <a:schemeClr val="dk1"/>
                </a:solidFill>
              </a:rPr>
              <a:t>Features</a:t>
            </a:r>
            <a:r>
              <a:rPr lang="en-US" sz="1800">
                <a:solidFill>
                  <a:schemeClr val="dk1"/>
                </a:solidFill>
              </a:rPr>
              <a:t> (also known as </a:t>
            </a:r>
            <a:r>
              <a:rPr lang="en-US" sz="1800" u="sng">
                <a:solidFill>
                  <a:schemeClr val="dk1"/>
                </a:solidFill>
              </a:rPr>
              <a:t>predictors</a:t>
            </a:r>
            <a:r>
              <a:rPr lang="en-US" sz="1800">
                <a:solidFill>
                  <a:schemeClr val="dk1"/>
                </a:solidFill>
              </a:rPr>
              <a:t>, </a:t>
            </a:r>
            <a:r>
              <a:rPr lang="en-US" sz="1800" u="sng">
                <a:solidFill>
                  <a:schemeClr val="dk1"/>
                </a:solidFill>
              </a:rPr>
              <a:t>inputs</a:t>
            </a:r>
            <a:r>
              <a:rPr lang="en-US" sz="1800">
                <a:solidFill>
                  <a:schemeClr val="dk1"/>
                </a:solidFill>
              </a:rPr>
              <a:t>, or </a:t>
            </a:r>
            <a:r>
              <a:rPr lang="en-US" sz="1800" u="sng">
                <a:solidFill>
                  <a:schemeClr val="dk1"/>
                </a:solidFill>
              </a:rPr>
              <a:t>attributes</a:t>
            </a:r>
            <a:r>
              <a:rPr lang="en-US" sz="1800">
                <a:solidFill>
                  <a:schemeClr val="dk1"/>
                </a:solidFill>
              </a:rPr>
              <a:t>): the variables of the data. They can be more than one and hence represented by a feature matrix (capital ‘</a:t>
            </a:r>
            <a:r>
              <a:rPr b="1" lang="en-US" sz="1800">
                <a:solidFill>
                  <a:schemeClr val="dk1"/>
                </a:solidFill>
              </a:rPr>
              <a:t>X</a:t>
            </a:r>
            <a:r>
              <a:rPr lang="en-US" sz="1800">
                <a:solidFill>
                  <a:schemeClr val="dk1"/>
                </a:solidFill>
              </a:rPr>
              <a:t>’ is common notation).</a:t>
            </a:r>
            <a:endParaRPr sz="1800">
              <a:solidFill>
                <a:schemeClr val="dk1"/>
              </a:solidFill>
            </a:endParaRPr>
          </a:p>
          <a:p>
            <a:pPr indent="-342900" lvl="0" marL="457200" rtl="0" algn="l">
              <a:spcBef>
                <a:spcPts val="0"/>
              </a:spcBef>
              <a:spcAft>
                <a:spcPts val="0"/>
              </a:spcAft>
              <a:buClr>
                <a:schemeClr val="dk1"/>
              </a:buClr>
              <a:buSzPts val="1800"/>
              <a:buFont typeface="Verdana"/>
              <a:buChar char="•"/>
            </a:pPr>
            <a:r>
              <a:rPr b="1" lang="en-US" sz="1800">
                <a:solidFill>
                  <a:schemeClr val="dk1"/>
                </a:solidFill>
              </a:rPr>
              <a:t>Target</a:t>
            </a:r>
            <a:r>
              <a:rPr lang="en-US" sz="1800">
                <a:solidFill>
                  <a:schemeClr val="dk1"/>
                </a:solidFill>
              </a:rPr>
              <a:t> (also known as the </a:t>
            </a:r>
            <a:r>
              <a:rPr lang="en-US" sz="1800" u="sng">
                <a:solidFill>
                  <a:schemeClr val="dk1"/>
                </a:solidFill>
              </a:rPr>
              <a:t>prediction</a:t>
            </a:r>
            <a:r>
              <a:rPr lang="en-US" sz="1800">
                <a:solidFill>
                  <a:schemeClr val="dk1"/>
                </a:solidFill>
              </a:rPr>
              <a:t>, </a:t>
            </a:r>
            <a:r>
              <a:rPr lang="en-US" sz="1800" u="sng">
                <a:solidFill>
                  <a:schemeClr val="dk1"/>
                </a:solidFill>
              </a:rPr>
              <a:t>response</a:t>
            </a:r>
            <a:r>
              <a:rPr lang="en-US" sz="1800">
                <a:solidFill>
                  <a:schemeClr val="dk1"/>
                </a:solidFill>
              </a:rPr>
              <a:t>, or </a:t>
            </a:r>
            <a:r>
              <a:rPr lang="en-US" sz="1800" u="sng">
                <a:solidFill>
                  <a:schemeClr val="dk1"/>
                </a:solidFill>
              </a:rPr>
              <a:t>label</a:t>
            </a:r>
            <a:r>
              <a:rPr lang="en-US" sz="1800">
                <a:solidFill>
                  <a:schemeClr val="dk1"/>
                </a:solidFill>
              </a:rPr>
              <a:t>): the output variable, which depends on the feature variables. There is generally a single response column and it is represented by a label vector (lowercase ‘</a:t>
            </a:r>
            <a:r>
              <a:rPr b="1" lang="en-US" sz="1800">
                <a:solidFill>
                  <a:schemeClr val="dk1"/>
                </a:solidFill>
              </a:rPr>
              <a:t>y</a:t>
            </a:r>
            <a:r>
              <a:rPr lang="en-US" sz="1800">
                <a:solidFill>
                  <a:schemeClr val="dk1"/>
                </a:solidFill>
              </a:rPr>
              <a:t>’ is common notation).</a:t>
            </a:r>
            <a:endParaRPr sz="1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8"/>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ML: f</a:t>
            </a:r>
            <a:r>
              <a:rPr lang="en-US"/>
              <a:t>eatures</a:t>
            </a:r>
            <a:endParaRPr/>
          </a:p>
        </p:txBody>
      </p:sp>
      <p:sp>
        <p:nvSpPr>
          <p:cNvPr id="126" name="Google Shape;126;p18"/>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latin typeface="Proxima Nova"/>
                <a:ea typeface="Proxima Nova"/>
                <a:cs typeface="Proxima Nova"/>
                <a:sym typeface="Proxima Nova"/>
              </a:rPr>
              <a:t>‹#›</a:t>
            </a:fld>
            <a:endParaRPr>
              <a:latin typeface="Proxima Nova"/>
              <a:ea typeface="Proxima Nova"/>
              <a:cs typeface="Proxima Nova"/>
              <a:sym typeface="Proxima Nova"/>
            </a:endParaRPr>
          </a:p>
        </p:txBody>
      </p:sp>
      <p:sp>
        <p:nvSpPr>
          <p:cNvPr id="127" name="Google Shape;127;p18"/>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2000">
                <a:solidFill>
                  <a:schemeClr val="dk1"/>
                </a:solidFill>
              </a:rPr>
              <a:t>A </a:t>
            </a:r>
            <a:r>
              <a:rPr b="1" lang="en-US" sz="2000">
                <a:solidFill>
                  <a:schemeClr val="dk1"/>
                </a:solidFill>
              </a:rPr>
              <a:t>feature</a:t>
            </a:r>
            <a:r>
              <a:rPr lang="en-US" sz="2000">
                <a:solidFill>
                  <a:schemeClr val="dk1"/>
                </a:solidFill>
              </a:rPr>
              <a:t> is an individual measurable property of the dataset. The practical manifestation of a feature is a </a:t>
            </a:r>
            <a:r>
              <a:rPr i="1" lang="en-US" sz="2000">
                <a:solidFill>
                  <a:schemeClr val="dk1"/>
                </a:solidFill>
              </a:rPr>
              <a:t>column</a:t>
            </a:r>
            <a:r>
              <a:rPr lang="en-US" sz="2000">
                <a:solidFill>
                  <a:schemeClr val="dk1"/>
                </a:solidFill>
              </a:rPr>
              <a:t> in a DataFrame.</a:t>
            </a:r>
            <a:endParaRPr sz="2000">
              <a:solidFill>
                <a:schemeClr val="dk1"/>
              </a:solidFill>
            </a:endParaRPr>
          </a:p>
          <a:p>
            <a:pPr indent="0" lvl="0" marL="0" rtl="0" algn="l">
              <a:spcBef>
                <a:spcPts val="0"/>
              </a:spcBef>
              <a:spcAft>
                <a:spcPts val="0"/>
              </a:spcAft>
              <a:buClr>
                <a:schemeClr val="dk1"/>
              </a:buClr>
              <a:buSzPts val="1100"/>
              <a:buFont typeface="Arial"/>
              <a:buNone/>
            </a:pPr>
            <a:r>
              <a:t/>
            </a:r>
            <a:endParaRPr sz="2000">
              <a:solidFill>
                <a:schemeClr val="dk1"/>
              </a:solidFill>
            </a:endParaRPr>
          </a:p>
          <a:p>
            <a:pPr indent="0" lvl="0" marL="0" rtl="0" algn="l">
              <a:spcBef>
                <a:spcPts val="0"/>
              </a:spcBef>
              <a:spcAft>
                <a:spcPts val="0"/>
              </a:spcAft>
              <a:buNone/>
            </a:pPr>
            <a:r>
              <a:rPr lang="en-US" sz="2000">
                <a:solidFill>
                  <a:schemeClr val="dk1"/>
                </a:solidFill>
              </a:rPr>
              <a:t>A set of features can be described by a feature vector. Feature vectors are fed as input to the model. For example, in order to predict a fruit, there may be features like color, smell, taste, etc.</a:t>
            </a:r>
            <a:endParaRPr sz="2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9"/>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ML: target</a:t>
            </a:r>
            <a:endParaRPr/>
          </a:p>
        </p:txBody>
      </p:sp>
      <p:sp>
        <p:nvSpPr>
          <p:cNvPr id="134" name="Google Shape;134;p19"/>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135" name="Google Shape;135;p19"/>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solidFill>
                  <a:schemeClr val="dk1"/>
                </a:solidFill>
              </a:rPr>
              <a:t>The </a:t>
            </a:r>
            <a:r>
              <a:rPr b="1" lang="en-US">
                <a:solidFill>
                  <a:schemeClr val="dk1"/>
                </a:solidFill>
              </a:rPr>
              <a:t>target</a:t>
            </a:r>
            <a:r>
              <a:rPr lang="en-US">
                <a:solidFill>
                  <a:schemeClr val="dk1"/>
                </a:solidFill>
              </a:rPr>
              <a:t> is the thing the model is trying to predict. It is also represented by a column from a DataFrame. In that target are categorical values - which in ML are called </a:t>
            </a:r>
            <a:r>
              <a:rPr b="1" lang="en-US">
                <a:solidFill>
                  <a:schemeClr val="dk1"/>
                </a:solidFill>
              </a:rPr>
              <a:t>labels</a:t>
            </a:r>
            <a:r>
              <a:rPr lang="en-US">
                <a:solidFill>
                  <a:schemeClr val="dk1"/>
                </a:solidFill>
              </a:rPr>
              <a:t>. The label is</a:t>
            </a:r>
            <a:r>
              <a:rPr lang="en-US">
                <a:solidFill>
                  <a:schemeClr val="dk1"/>
                </a:solidFill>
              </a:rPr>
              <a:t> the value to be predicted by your model. For the previous fruit example, the label with each set of input would be the name of the fruit (apple, orange, banana, etc.).</a:t>
            </a:r>
            <a:endParaRPr/>
          </a:p>
        </p:txBody>
      </p:sp>
      <p:sp>
        <p:nvSpPr>
          <p:cNvPr id="136" name="Google Shape;136;p19"/>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solidFill>
                  <a:schemeClr val="dk1"/>
                </a:solidFill>
              </a:rPr>
              <a:t>When a model is being trained, the data it learns on is split into </a:t>
            </a:r>
            <a:r>
              <a:rPr b="1" lang="en-US">
                <a:solidFill>
                  <a:schemeClr val="dk1"/>
                </a:solidFill>
              </a:rPr>
              <a:t>classifications</a:t>
            </a:r>
            <a:r>
              <a:rPr lang="en-US">
                <a:solidFill>
                  <a:schemeClr val="dk1"/>
                </a:solidFill>
              </a:rPr>
              <a:t>: target labels. Then the data is run through the model, which classifies each datapoint with a label - in other words, a </a:t>
            </a:r>
            <a:r>
              <a:rPr b="1" lang="en-US">
                <a:solidFill>
                  <a:schemeClr val="dk1"/>
                </a:solidFill>
              </a:rPr>
              <a:t>prediction</a:t>
            </a:r>
            <a:r>
              <a:rPr lang="en-US">
                <a:solidFill>
                  <a:schemeClr val="dk1"/>
                </a:solidFill>
              </a:rPr>
              <a: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0"/>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ML: t</a:t>
            </a:r>
            <a:r>
              <a:rPr lang="en-US"/>
              <a:t>raining and testing</a:t>
            </a:r>
            <a:endParaRPr/>
          </a:p>
        </p:txBody>
      </p:sp>
      <p:sp>
        <p:nvSpPr>
          <p:cNvPr id="143" name="Google Shape;143;p20"/>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latin typeface="Proxima Nova"/>
                <a:ea typeface="Proxima Nova"/>
                <a:cs typeface="Proxima Nova"/>
                <a:sym typeface="Proxima Nova"/>
              </a:rPr>
              <a:t>‹#›</a:t>
            </a:fld>
            <a:endParaRPr>
              <a:latin typeface="Proxima Nova"/>
              <a:ea typeface="Proxima Nova"/>
              <a:cs typeface="Proxima Nova"/>
              <a:sym typeface="Proxima Nova"/>
            </a:endParaRPr>
          </a:p>
        </p:txBody>
      </p:sp>
      <p:sp>
        <p:nvSpPr>
          <p:cNvPr id="144" name="Google Shape;144;p20"/>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2000">
                <a:solidFill>
                  <a:schemeClr val="dk1"/>
                </a:solidFill>
              </a:rPr>
              <a:t>In order for an algorithm to "learn", it must be trained. </a:t>
            </a:r>
            <a:r>
              <a:rPr b="1" lang="en-US" sz="2000">
                <a:solidFill>
                  <a:schemeClr val="dk1"/>
                </a:solidFill>
              </a:rPr>
              <a:t>Training</a:t>
            </a:r>
            <a:r>
              <a:rPr lang="en-US" sz="2000">
                <a:solidFill>
                  <a:schemeClr val="dk1"/>
                </a:solidFill>
              </a:rPr>
              <a:t> involves giving the algorithm a set of inputs (features) and its expected outputs (labels).</a:t>
            </a:r>
            <a:endParaRPr sz="2000">
              <a:solidFill>
                <a:schemeClr val="dk1"/>
              </a:solidFill>
            </a:endParaRPr>
          </a:p>
          <a:p>
            <a:pPr indent="0" lvl="0" marL="0" rtl="0" algn="l">
              <a:spcBef>
                <a:spcPts val="0"/>
              </a:spcBef>
              <a:spcAft>
                <a:spcPts val="0"/>
              </a:spcAft>
              <a:buClr>
                <a:schemeClr val="dk1"/>
              </a:buClr>
              <a:buSzPts val="1100"/>
              <a:buFont typeface="Arial"/>
              <a:buNone/>
            </a:pPr>
            <a:r>
              <a:t/>
            </a:r>
            <a:endParaRPr sz="2000">
              <a:solidFill>
                <a:schemeClr val="dk1"/>
              </a:solidFill>
            </a:endParaRPr>
          </a:p>
          <a:p>
            <a:pPr indent="0" lvl="0" marL="0" rtl="0" algn="l">
              <a:spcBef>
                <a:spcPts val="0"/>
              </a:spcBef>
              <a:spcAft>
                <a:spcPts val="0"/>
              </a:spcAft>
              <a:buNone/>
            </a:pPr>
            <a:r>
              <a:rPr lang="en-US" sz="2000">
                <a:solidFill>
                  <a:schemeClr val="dk1"/>
                </a:solidFill>
              </a:rPr>
              <a:t>Then after training, you will have a model (hypothesis) that will then map new unclassified/uncategorized data to one of the categories/target labels/prediction trained on - in other words, at this point, you'll be </a:t>
            </a:r>
            <a:r>
              <a:rPr b="1" lang="en-US" sz="2000">
                <a:solidFill>
                  <a:schemeClr val="dk1"/>
                </a:solidFill>
              </a:rPr>
              <a:t>testing</a:t>
            </a:r>
            <a:r>
              <a:rPr lang="en-US" sz="2000">
                <a:solidFill>
                  <a:schemeClr val="dk1"/>
                </a:solidFill>
              </a:rPr>
              <a:t> the model.</a:t>
            </a:r>
            <a:endParaRPr sz="2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1"/>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ML: paradigms</a:t>
            </a:r>
            <a:endParaRPr/>
          </a:p>
        </p:txBody>
      </p:sp>
      <p:sp>
        <p:nvSpPr>
          <p:cNvPr id="151" name="Google Shape;151;p21"/>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latin typeface="Proxima Nova"/>
                <a:ea typeface="Proxima Nova"/>
                <a:cs typeface="Proxima Nova"/>
                <a:sym typeface="Proxima Nova"/>
              </a:rPr>
              <a:t>‹#›</a:t>
            </a:fld>
            <a:endParaRPr>
              <a:latin typeface="Proxima Nova"/>
              <a:ea typeface="Proxima Nova"/>
              <a:cs typeface="Proxima Nova"/>
              <a:sym typeface="Proxima Nova"/>
            </a:endParaRPr>
          </a:p>
        </p:txBody>
      </p:sp>
      <p:sp>
        <p:nvSpPr>
          <p:cNvPr id="152" name="Google Shape;152;p21"/>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2000">
                <a:solidFill>
                  <a:schemeClr val="dk1"/>
                </a:solidFill>
              </a:rPr>
              <a:t>There are effectively three core machine learning paradigms:</a:t>
            </a:r>
            <a:endParaRPr sz="2000">
              <a:solidFill>
                <a:schemeClr val="dk1"/>
              </a:solidFill>
            </a:endParaRPr>
          </a:p>
          <a:p>
            <a:pPr indent="0" lvl="0" marL="0" rtl="0" algn="l">
              <a:spcBef>
                <a:spcPts val="0"/>
              </a:spcBef>
              <a:spcAft>
                <a:spcPts val="0"/>
              </a:spcAft>
              <a:buClr>
                <a:schemeClr val="dk1"/>
              </a:buClr>
              <a:buSzPts val="1100"/>
              <a:buFont typeface="Arial"/>
              <a:buNone/>
            </a:pPr>
            <a:r>
              <a:t/>
            </a:r>
            <a:endParaRPr sz="2000">
              <a:solidFill>
                <a:schemeClr val="dk1"/>
              </a:solidFill>
            </a:endParaRPr>
          </a:p>
          <a:p>
            <a:pPr indent="-355600" lvl="0" marL="457200" rtl="0" algn="l">
              <a:spcBef>
                <a:spcPts val="0"/>
              </a:spcBef>
              <a:spcAft>
                <a:spcPts val="0"/>
              </a:spcAft>
              <a:buClr>
                <a:schemeClr val="dk1"/>
              </a:buClr>
              <a:buSzPts val="2000"/>
              <a:buAutoNum type="arabicPeriod"/>
            </a:pPr>
            <a:r>
              <a:rPr lang="en-US" sz="2000">
                <a:solidFill>
                  <a:schemeClr val="dk1"/>
                </a:solidFill>
              </a:rPr>
              <a:t>Supervised learning</a:t>
            </a:r>
            <a:endParaRPr sz="2000">
              <a:solidFill>
                <a:schemeClr val="dk1"/>
              </a:solidFill>
            </a:endParaRPr>
          </a:p>
          <a:p>
            <a:pPr indent="-355600" lvl="0" marL="457200" rtl="0" algn="l">
              <a:spcBef>
                <a:spcPts val="0"/>
              </a:spcBef>
              <a:spcAft>
                <a:spcPts val="0"/>
              </a:spcAft>
              <a:buClr>
                <a:schemeClr val="dk1"/>
              </a:buClr>
              <a:buSzPts val="2000"/>
              <a:buAutoNum type="arabicPeriod"/>
            </a:pPr>
            <a:r>
              <a:rPr lang="en-US" sz="2000">
                <a:solidFill>
                  <a:schemeClr val="dk1"/>
                </a:solidFill>
              </a:rPr>
              <a:t>Unsupervised learning</a:t>
            </a:r>
            <a:endParaRPr sz="2000">
              <a:solidFill>
                <a:schemeClr val="dk1"/>
              </a:solidFill>
            </a:endParaRPr>
          </a:p>
          <a:p>
            <a:pPr indent="-355600" lvl="0" marL="457200" rtl="0" algn="l">
              <a:spcBef>
                <a:spcPts val="0"/>
              </a:spcBef>
              <a:spcAft>
                <a:spcPts val="0"/>
              </a:spcAft>
              <a:buClr>
                <a:schemeClr val="dk1"/>
              </a:buClr>
              <a:buSzPts val="2000"/>
              <a:buAutoNum type="arabicPeriod"/>
            </a:pPr>
            <a:r>
              <a:rPr lang="en-US" sz="2000">
                <a:solidFill>
                  <a:schemeClr val="dk1"/>
                </a:solidFill>
              </a:rPr>
              <a:t>Reinforcement learning</a:t>
            </a:r>
            <a:endParaRPr sz="2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2"/>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4400"/>
              <a:buNone/>
            </a:pPr>
            <a:r>
              <a:rPr lang="en-US"/>
              <a:t>ML: supervised learning</a:t>
            </a:r>
            <a:endParaRPr/>
          </a:p>
        </p:txBody>
      </p:sp>
      <p:sp>
        <p:nvSpPr>
          <p:cNvPr id="159" name="Google Shape;159;p22"/>
          <p:cNvSpPr txBox="1"/>
          <p:nvPr>
            <p:ph idx="2" type="body"/>
          </p:nvPr>
        </p:nvSpPr>
        <p:spPr>
          <a:xfrm>
            <a:off x="4650575" y="998800"/>
            <a:ext cx="4456500" cy="3414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800"/>
              <a:buFont typeface="Arial"/>
              <a:buNone/>
            </a:pPr>
            <a:r>
              <a:rPr lang="en-US">
                <a:solidFill>
                  <a:schemeClr val="dk1"/>
                </a:solidFill>
              </a:rPr>
              <a:t>So for example, in computer vision, you would train your algorithm with images with known features and labels. </a:t>
            </a:r>
            <a:endParaRPr>
              <a:solidFill>
                <a:schemeClr val="dk1"/>
              </a:solidFill>
            </a:endParaRPr>
          </a:p>
          <a:p>
            <a:pPr indent="0" lvl="0" marL="0" rtl="0" algn="l">
              <a:spcBef>
                <a:spcPts val="0"/>
              </a:spcBef>
              <a:spcAft>
                <a:spcPts val="0"/>
              </a:spcAft>
              <a:buClr>
                <a:schemeClr val="dk1"/>
              </a:buClr>
              <a:buSzPts val="2800"/>
              <a:buFont typeface="Arial"/>
              <a:buNone/>
            </a:pPr>
            <a:r>
              <a:t/>
            </a:r>
            <a:endParaRPr>
              <a:solidFill>
                <a:schemeClr val="dk1"/>
              </a:solidFill>
            </a:endParaRPr>
          </a:p>
          <a:p>
            <a:pPr indent="0" lvl="0" marL="0" rtl="0" algn="l">
              <a:spcBef>
                <a:spcPts val="0"/>
              </a:spcBef>
              <a:spcAft>
                <a:spcPts val="0"/>
              </a:spcAft>
              <a:buClr>
                <a:schemeClr val="dk1"/>
              </a:buClr>
              <a:buSzPts val="2800"/>
              <a:buFont typeface="Arial"/>
              <a:buNone/>
            </a:pPr>
            <a:r>
              <a:rPr lang="en-US">
                <a:solidFill>
                  <a:schemeClr val="dk1"/>
                </a:solidFill>
              </a:rPr>
              <a:t>Then in the future you give a new uncategorized image expecting that the computer will recognize the new object.</a:t>
            </a:r>
            <a:endParaRPr>
              <a:solidFill>
                <a:schemeClr val="dk1"/>
              </a:solidFill>
            </a:endParaRPr>
          </a:p>
          <a:p>
            <a:pPr indent="0" lvl="0" marL="0" rtl="0" algn="l">
              <a:lnSpc>
                <a:spcPct val="150000"/>
              </a:lnSpc>
              <a:spcBef>
                <a:spcPts val="0"/>
              </a:spcBef>
              <a:spcAft>
                <a:spcPts val="0"/>
              </a:spcAft>
              <a:buSzPts val="2800"/>
              <a:buNone/>
            </a:pPr>
            <a:r>
              <a:t/>
            </a:r>
            <a:endParaRPr>
              <a:solidFill>
                <a:schemeClr val="dk1"/>
              </a:solidFill>
            </a:endParaRPr>
          </a:p>
        </p:txBody>
      </p:sp>
      <p:sp>
        <p:nvSpPr>
          <p:cNvPr id="160" name="Google Shape;160;p22"/>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latin typeface="Proxima Nova"/>
                <a:ea typeface="Proxima Nova"/>
                <a:cs typeface="Proxima Nova"/>
                <a:sym typeface="Proxima Nova"/>
              </a:rPr>
              <a:t>‹#›</a:t>
            </a:fld>
            <a:endParaRPr>
              <a:latin typeface="Proxima Nova"/>
              <a:ea typeface="Proxima Nova"/>
              <a:cs typeface="Proxima Nova"/>
              <a:sym typeface="Proxima Nova"/>
            </a:endParaRPr>
          </a:p>
        </p:txBody>
      </p:sp>
      <p:sp>
        <p:nvSpPr>
          <p:cNvPr id="161" name="Google Shape;161;p22"/>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800"/>
              <a:buFont typeface="Arial"/>
              <a:buNone/>
            </a:pPr>
            <a:r>
              <a:rPr b="1" lang="en-US">
                <a:solidFill>
                  <a:schemeClr val="dk1"/>
                </a:solidFill>
              </a:rPr>
              <a:t>Supervised learning</a:t>
            </a:r>
            <a:r>
              <a:rPr lang="en-US">
                <a:solidFill>
                  <a:schemeClr val="dk1"/>
                </a:solidFill>
              </a:rPr>
              <a:t> involves presenting the algorithm with example inputs (features) </a:t>
            </a:r>
            <a:r>
              <a:rPr lang="en-US" u="sng">
                <a:solidFill>
                  <a:schemeClr val="dk1"/>
                </a:solidFill>
              </a:rPr>
              <a:t>and</a:t>
            </a:r>
            <a:r>
              <a:rPr lang="en-US">
                <a:solidFill>
                  <a:schemeClr val="dk1"/>
                </a:solidFill>
              </a:rPr>
              <a:t> their desired/expected outputs (labels), given by a “teacher”, and the goal is to learn a general rule(s) that maps inputs to outputs. The training process continues until the model achieves the desired level of accuracy on the training data.</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3"/>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ML: unsupervised learning</a:t>
            </a:r>
            <a:endParaRPr/>
          </a:p>
        </p:txBody>
      </p:sp>
      <p:sp>
        <p:nvSpPr>
          <p:cNvPr id="168" name="Google Shape;168;p23"/>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solidFill>
                  <a:schemeClr val="dk1"/>
                </a:solidFill>
              </a:rPr>
              <a:t>For example, cluster analysis is an ML field that makes extensive use of unsupervised learning. Unsupervised learning will ideally extract previously-unnoticed classifications based on these clusters.</a:t>
            </a:r>
            <a:endParaRPr>
              <a:solidFill>
                <a:schemeClr val="dk1"/>
              </a:solidFill>
            </a:endParaRPr>
          </a:p>
          <a:p>
            <a:pPr indent="0" lvl="0" marL="0" rtl="0" algn="l">
              <a:lnSpc>
                <a:spcPct val="150000"/>
              </a:lnSpc>
              <a:spcBef>
                <a:spcPts val="0"/>
              </a:spcBef>
              <a:spcAft>
                <a:spcPts val="0"/>
              </a:spcAft>
              <a:buNone/>
            </a:pPr>
            <a:r>
              <a:t/>
            </a:r>
            <a:endParaRPr>
              <a:solidFill>
                <a:schemeClr val="dk1"/>
              </a:solidFill>
            </a:endParaRPr>
          </a:p>
        </p:txBody>
      </p:sp>
      <p:sp>
        <p:nvSpPr>
          <p:cNvPr id="169" name="Google Shape;169;p23"/>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latin typeface="Proxima Nova"/>
                <a:ea typeface="Proxima Nova"/>
                <a:cs typeface="Proxima Nova"/>
                <a:sym typeface="Proxima Nova"/>
              </a:rPr>
              <a:t>‹#›</a:t>
            </a:fld>
            <a:endParaRPr>
              <a:latin typeface="Proxima Nova"/>
              <a:ea typeface="Proxima Nova"/>
              <a:cs typeface="Proxima Nova"/>
              <a:sym typeface="Proxima Nova"/>
            </a:endParaRPr>
          </a:p>
        </p:txBody>
      </p:sp>
      <p:sp>
        <p:nvSpPr>
          <p:cNvPr id="170" name="Google Shape;170;p23"/>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solidFill>
                  <a:schemeClr val="dk1"/>
                </a:solidFill>
              </a:rPr>
              <a:t>I</a:t>
            </a:r>
            <a:r>
              <a:rPr lang="en-US">
                <a:solidFill>
                  <a:schemeClr val="dk1"/>
                </a:solidFill>
              </a:rPr>
              <a:t>n </a:t>
            </a:r>
            <a:r>
              <a:rPr b="1" lang="en-US">
                <a:solidFill>
                  <a:schemeClr val="dk1"/>
                </a:solidFill>
              </a:rPr>
              <a:t>unsupervised learning</a:t>
            </a:r>
            <a:r>
              <a:rPr lang="en-US">
                <a:solidFill>
                  <a:schemeClr val="dk1"/>
                </a:solidFill>
              </a:rPr>
              <a:t>, no labels are given to the learning algorithm, leaving it on its own to find structure in its input. It is used for clustering population in different groups. Unsupervised learning can be useful for discovering hidden patterns in data.</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4"/>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Reinforcement learning</a:t>
            </a:r>
            <a:endParaRPr/>
          </a:p>
        </p:txBody>
      </p:sp>
      <p:sp>
        <p:nvSpPr>
          <p:cNvPr id="177" name="Google Shape;177;p24"/>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solidFill>
                  <a:schemeClr val="dk1"/>
                </a:solidFill>
              </a:rPr>
              <a:t>Self-driving cars are a great example of reinforcement learning: based on the data coming into their sensors, they try to maximize the reward function. Their reward function is tied directly to, among other things, not running into anything.</a:t>
            </a:r>
            <a:endParaRPr>
              <a:solidFill>
                <a:schemeClr val="dk1"/>
              </a:solidFill>
            </a:endParaRPr>
          </a:p>
        </p:txBody>
      </p:sp>
      <p:sp>
        <p:nvSpPr>
          <p:cNvPr id="178" name="Google Shape;178;p24"/>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latin typeface="Proxima Nova"/>
                <a:ea typeface="Proxima Nova"/>
                <a:cs typeface="Proxima Nova"/>
                <a:sym typeface="Proxima Nova"/>
              </a:rPr>
              <a:t>‹#›</a:t>
            </a:fld>
            <a:endParaRPr>
              <a:latin typeface="Proxima Nova"/>
              <a:ea typeface="Proxima Nova"/>
              <a:cs typeface="Proxima Nova"/>
              <a:sym typeface="Proxima Nova"/>
            </a:endParaRPr>
          </a:p>
        </p:txBody>
      </p:sp>
      <p:sp>
        <p:nvSpPr>
          <p:cNvPr id="179" name="Google Shape;179;p24"/>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a:solidFill>
                  <a:schemeClr val="dk1"/>
                </a:solidFill>
              </a:rPr>
              <a:t>Reinforcement learning</a:t>
            </a:r>
            <a:r>
              <a:rPr lang="en-US">
                <a:solidFill>
                  <a:schemeClr val="dk1"/>
                </a:solidFill>
              </a:rPr>
              <a:t> involves itself with how software agents should take actions in their environment. Usually, this is done by tying the output to a reward function, and the algorithm attempts to maximize this function.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5"/>
          <p:cNvSpPr/>
          <p:nvPr/>
        </p:nvSpPr>
        <p:spPr>
          <a:xfrm rot="5400000">
            <a:off x="8010585" y="3266538"/>
            <a:ext cx="276600" cy="251700"/>
          </a:xfrm>
          <a:prstGeom prst="rightArrow">
            <a:avLst>
              <a:gd fmla="val 50000" name="adj1"/>
              <a:gd fmla="val 50000" name="adj2"/>
            </a:avLst>
          </a:prstGeom>
          <a:solidFill>
            <a:schemeClr val="accent1"/>
          </a:solidFill>
          <a:ln cap="flat" cmpd="sng" w="25400">
            <a:solidFill>
              <a:srgbClr val="9494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186" name="Google Shape;186;p25"/>
          <p:cNvSpPr/>
          <p:nvPr/>
        </p:nvSpPr>
        <p:spPr>
          <a:xfrm>
            <a:off x="964015" y="1458012"/>
            <a:ext cx="2014500" cy="1625700"/>
          </a:xfrm>
          <a:prstGeom prst="roundRect">
            <a:avLst>
              <a:gd fmla="val 16667" name="adj"/>
            </a:avLst>
          </a:prstGeom>
          <a:noFill/>
          <a:ln cap="flat" cmpd="sng" w="25400">
            <a:solidFill>
              <a:srgbClr val="9494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25"/>
          <p:cNvSpPr/>
          <p:nvPr/>
        </p:nvSpPr>
        <p:spPr>
          <a:xfrm>
            <a:off x="5861675" y="3572651"/>
            <a:ext cx="1448100" cy="553200"/>
          </a:xfrm>
          <a:prstGeom prst="roundRect">
            <a:avLst>
              <a:gd fmla="val 16667" name="adj"/>
            </a:avLst>
          </a:prstGeom>
          <a:solidFill>
            <a:srgbClr val="FFFF00"/>
          </a:solidFill>
          <a:ln cap="flat" cmpd="sng" w="25400">
            <a:solidFill>
              <a:srgbClr val="9494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000000"/>
                </a:solidFill>
                <a:latin typeface="Proxima Nova"/>
                <a:ea typeface="Proxima Nova"/>
                <a:cs typeface="Proxima Nova"/>
                <a:sym typeface="Proxima Nova"/>
              </a:rPr>
              <a:t>Prediction</a:t>
            </a:r>
            <a:endParaRPr i="0" sz="1400" u="none" cap="none" strike="noStrike">
              <a:solidFill>
                <a:srgbClr val="000000"/>
              </a:solidFill>
              <a:latin typeface="Proxima Nova"/>
              <a:ea typeface="Proxima Nova"/>
              <a:cs typeface="Proxima Nova"/>
              <a:sym typeface="Proxima Nova"/>
            </a:endParaRPr>
          </a:p>
        </p:txBody>
      </p:sp>
      <p:sp>
        <p:nvSpPr>
          <p:cNvPr id="188" name="Google Shape;188;p25"/>
          <p:cNvSpPr/>
          <p:nvPr/>
        </p:nvSpPr>
        <p:spPr>
          <a:xfrm>
            <a:off x="5276568" y="1112739"/>
            <a:ext cx="1322100" cy="506700"/>
          </a:xfrm>
          <a:prstGeom prst="roundRect">
            <a:avLst>
              <a:gd fmla="val 16667" name="adj"/>
            </a:avLst>
          </a:prstGeom>
          <a:solidFill>
            <a:srgbClr val="92D050"/>
          </a:solidFill>
          <a:ln cap="flat" cmpd="sng" w="25400">
            <a:solidFill>
              <a:srgbClr val="9494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000000"/>
                </a:solidFill>
                <a:latin typeface="Proxima Nova"/>
                <a:ea typeface="Proxima Nova"/>
                <a:cs typeface="Proxima Nova"/>
                <a:sym typeface="Proxima Nova"/>
              </a:rPr>
              <a:t>Training Labels</a:t>
            </a:r>
            <a:endParaRPr i="0" sz="1400" u="none" cap="none" strike="noStrike">
              <a:solidFill>
                <a:srgbClr val="000000"/>
              </a:solidFill>
              <a:latin typeface="Proxima Nova"/>
              <a:ea typeface="Proxima Nova"/>
              <a:cs typeface="Proxima Nova"/>
              <a:sym typeface="Proxima Nova"/>
            </a:endParaRPr>
          </a:p>
        </p:txBody>
      </p:sp>
      <p:sp>
        <p:nvSpPr>
          <p:cNvPr id="189" name="Google Shape;189;p25"/>
          <p:cNvSpPr txBox="1"/>
          <p:nvPr/>
        </p:nvSpPr>
        <p:spPr>
          <a:xfrm>
            <a:off x="1215832" y="1437838"/>
            <a:ext cx="1511100" cy="543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Training Images</a:t>
            </a:r>
            <a:endParaRPr b="0" i="0" sz="600" u="none" cap="none" strike="noStrike">
              <a:solidFill>
                <a:srgbClr val="000000"/>
              </a:solidFill>
              <a:latin typeface="Arial"/>
              <a:ea typeface="Arial"/>
              <a:cs typeface="Arial"/>
              <a:sym typeface="Arial"/>
            </a:endParaRPr>
          </a:p>
        </p:txBody>
      </p:sp>
      <p:sp>
        <p:nvSpPr>
          <p:cNvPr id="190" name="Google Shape;190;p25"/>
          <p:cNvSpPr/>
          <p:nvPr/>
        </p:nvSpPr>
        <p:spPr>
          <a:xfrm>
            <a:off x="5371004" y="1963051"/>
            <a:ext cx="1133100" cy="553200"/>
          </a:xfrm>
          <a:prstGeom prst="roundRect">
            <a:avLst>
              <a:gd fmla="val 16667" name="adj"/>
            </a:avLst>
          </a:prstGeom>
          <a:solidFill>
            <a:srgbClr val="F4F4F4"/>
          </a:solidFill>
          <a:ln cap="flat" cmpd="sng" w="25400">
            <a:solidFill>
              <a:srgbClr val="9494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000000"/>
                </a:solidFill>
                <a:latin typeface="Proxima Nova"/>
                <a:ea typeface="Proxima Nova"/>
                <a:cs typeface="Proxima Nova"/>
                <a:sym typeface="Proxima Nova"/>
              </a:rPr>
              <a:t>Training</a:t>
            </a:r>
            <a:endParaRPr i="0" sz="1400" u="none" cap="none" strike="noStrike">
              <a:solidFill>
                <a:srgbClr val="000000"/>
              </a:solidFill>
              <a:latin typeface="Proxima Nova"/>
              <a:ea typeface="Proxima Nova"/>
              <a:cs typeface="Proxima Nova"/>
              <a:sym typeface="Proxima Nova"/>
            </a:endParaRPr>
          </a:p>
          <a:p>
            <a:pPr indent="0" lvl="0" marL="0" marR="0" rtl="0" algn="ctr">
              <a:lnSpc>
                <a:spcPct val="100000"/>
              </a:lnSpc>
              <a:spcBef>
                <a:spcPts val="0"/>
              </a:spcBef>
              <a:spcAft>
                <a:spcPts val="0"/>
              </a:spcAft>
              <a:buClr>
                <a:srgbClr val="000000"/>
              </a:buClr>
              <a:buSzPts val="1400"/>
              <a:buFont typeface="Arial"/>
              <a:buNone/>
            </a:pPr>
            <a:r>
              <a:rPr lang="en-US">
                <a:latin typeface="Proxima Nova"/>
                <a:ea typeface="Proxima Nova"/>
                <a:cs typeface="Proxima Nova"/>
                <a:sym typeface="Proxima Nova"/>
              </a:rPr>
              <a:t>algorithm</a:t>
            </a:r>
            <a:endParaRPr>
              <a:latin typeface="Proxima Nova"/>
              <a:ea typeface="Proxima Nova"/>
              <a:cs typeface="Proxima Nova"/>
              <a:sym typeface="Proxima Nova"/>
            </a:endParaRPr>
          </a:p>
        </p:txBody>
      </p:sp>
      <p:sp>
        <p:nvSpPr>
          <p:cNvPr id="191" name="Google Shape;191;p25"/>
          <p:cNvSpPr txBox="1"/>
          <p:nvPr/>
        </p:nvSpPr>
        <p:spPr>
          <a:xfrm>
            <a:off x="1518371" y="1079131"/>
            <a:ext cx="1227900" cy="316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i="0" lang="en-US" sz="1800" u="none" cap="none" strike="noStrike">
                <a:solidFill>
                  <a:srgbClr val="FFFFFF"/>
                </a:solidFill>
                <a:highlight>
                  <a:srgbClr val="000000"/>
                </a:highlight>
                <a:latin typeface="Proxima Nova"/>
                <a:ea typeface="Proxima Nova"/>
                <a:cs typeface="Proxima Nova"/>
                <a:sym typeface="Proxima Nova"/>
              </a:rPr>
              <a:t>Training</a:t>
            </a:r>
            <a:endParaRPr i="0" sz="400" u="none" cap="none" strike="noStrike">
              <a:solidFill>
                <a:srgbClr val="000000"/>
              </a:solidFill>
              <a:latin typeface="Proxima Nova"/>
              <a:ea typeface="Proxima Nova"/>
              <a:cs typeface="Proxima Nova"/>
              <a:sym typeface="Proxima Nova"/>
            </a:endParaRPr>
          </a:p>
        </p:txBody>
      </p:sp>
      <p:sp>
        <p:nvSpPr>
          <p:cNvPr id="192" name="Google Shape;192;p25"/>
          <p:cNvSpPr/>
          <p:nvPr/>
        </p:nvSpPr>
        <p:spPr>
          <a:xfrm>
            <a:off x="3545254" y="1963051"/>
            <a:ext cx="1259100" cy="553200"/>
          </a:xfrm>
          <a:prstGeom prst="roundRect">
            <a:avLst>
              <a:gd fmla="val 16667" name="adj"/>
            </a:avLst>
          </a:prstGeom>
          <a:solidFill>
            <a:srgbClr val="0070C0"/>
          </a:solidFill>
          <a:ln cap="flat" cmpd="sng" w="25400">
            <a:solidFill>
              <a:srgbClr val="9494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000000"/>
                </a:solidFill>
                <a:latin typeface="Proxima Nova"/>
                <a:ea typeface="Proxima Nova"/>
                <a:cs typeface="Proxima Nova"/>
                <a:sym typeface="Proxima Nova"/>
              </a:rPr>
              <a:t>Features</a:t>
            </a:r>
            <a:endParaRPr i="0" sz="1400" u="none" cap="none" strike="noStrike">
              <a:solidFill>
                <a:srgbClr val="000000"/>
              </a:solidFill>
              <a:latin typeface="Proxima Nova"/>
              <a:ea typeface="Proxima Nova"/>
              <a:cs typeface="Proxima Nova"/>
              <a:sym typeface="Proxima Nova"/>
            </a:endParaRPr>
          </a:p>
        </p:txBody>
      </p:sp>
      <p:sp>
        <p:nvSpPr>
          <p:cNvPr id="193" name="Google Shape;193;p25"/>
          <p:cNvSpPr/>
          <p:nvPr/>
        </p:nvSpPr>
        <p:spPr>
          <a:xfrm>
            <a:off x="3041599" y="2147422"/>
            <a:ext cx="440700" cy="184500"/>
          </a:xfrm>
          <a:prstGeom prst="rightArrow">
            <a:avLst>
              <a:gd fmla="val 50000" name="adj1"/>
              <a:gd fmla="val 50000" name="adj2"/>
            </a:avLst>
          </a:prstGeom>
          <a:solidFill>
            <a:schemeClr val="accent1"/>
          </a:solidFill>
          <a:ln cap="flat" cmpd="sng" w="25400">
            <a:solidFill>
              <a:srgbClr val="9494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194" name="Google Shape;194;p25"/>
          <p:cNvSpPr/>
          <p:nvPr/>
        </p:nvSpPr>
        <p:spPr>
          <a:xfrm>
            <a:off x="4867349" y="2147422"/>
            <a:ext cx="440700" cy="184500"/>
          </a:xfrm>
          <a:prstGeom prst="rightArrow">
            <a:avLst>
              <a:gd fmla="val 50000" name="adj1"/>
              <a:gd fmla="val 50000" name="adj2"/>
            </a:avLst>
          </a:prstGeom>
          <a:solidFill>
            <a:schemeClr val="accent1"/>
          </a:solidFill>
          <a:ln cap="flat" cmpd="sng" w="25400">
            <a:solidFill>
              <a:srgbClr val="9494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195" name="Google Shape;195;p25"/>
          <p:cNvSpPr/>
          <p:nvPr/>
        </p:nvSpPr>
        <p:spPr>
          <a:xfrm rot="5400000">
            <a:off x="5799379" y="1632208"/>
            <a:ext cx="276600" cy="251700"/>
          </a:xfrm>
          <a:prstGeom prst="rightArrow">
            <a:avLst>
              <a:gd fmla="val 50000" name="adj1"/>
              <a:gd fmla="val 50000" name="adj2"/>
            </a:avLst>
          </a:prstGeom>
          <a:solidFill>
            <a:schemeClr val="accent1"/>
          </a:solidFill>
          <a:ln cap="flat" cmpd="sng" w="25400">
            <a:solidFill>
              <a:srgbClr val="9494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196" name="Google Shape;196;p25"/>
          <p:cNvSpPr/>
          <p:nvPr/>
        </p:nvSpPr>
        <p:spPr>
          <a:xfrm>
            <a:off x="1791074" y="3572651"/>
            <a:ext cx="1448100" cy="553200"/>
          </a:xfrm>
          <a:prstGeom prst="roundRect">
            <a:avLst>
              <a:gd fmla="val 16667" name="adj"/>
            </a:avLst>
          </a:prstGeom>
          <a:solidFill>
            <a:srgbClr val="00B0F0"/>
          </a:solidFill>
          <a:ln cap="flat" cmpd="sng" w="25400">
            <a:solidFill>
              <a:srgbClr val="9494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000000"/>
                </a:solidFill>
                <a:latin typeface="Proxima Nova"/>
                <a:ea typeface="Proxima Nova"/>
                <a:cs typeface="Proxima Nova"/>
                <a:sym typeface="Proxima Nova"/>
              </a:rPr>
              <a:t>Features</a:t>
            </a:r>
            <a:endParaRPr i="0" sz="1400" u="none" cap="none" strike="noStrike">
              <a:solidFill>
                <a:srgbClr val="000000"/>
              </a:solidFill>
              <a:latin typeface="Proxima Nova"/>
              <a:ea typeface="Proxima Nova"/>
              <a:cs typeface="Proxima Nova"/>
              <a:sym typeface="Proxima Nova"/>
            </a:endParaRPr>
          </a:p>
        </p:txBody>
      </p:sp>
      <p:sp>
        <p:nvSpPr>
          <p:cNvPr id="197" name="Google Shape;197;p25"/>
          <p:cNvSpPr/>
          <p:nvPr/>
        </p:nvSpPr>
        <p:spPr>
          <a:xfrm>
            <a:off x="1285954" y="3805995"/>
            <a:ext cx="440700" cy="184500"/>
          </a:xfrm>
          <a:prstGeom prst="rightArrow">
            <a:avLst>
              <a:gd fmla="val 50000" name="adj1"/>
              <a:gd fmla="val 50000" name="adj2"/>
            </a:avLst>
          </a:prstGeom>
          <a:solidFill>
            <a:schemeClr val="accent1"/>
          </a:solidFill>
          <a:ln cap="flat" cmpd="sng" w="25400">
            <a:solidFill>
              <a:srgbClr val="9494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198" name="Google Shape;198;p25"/>
          <p:cNvSpPr txBox="1"/>
          <p:nvPr/>
        </p:nvSpPr>
        <p:spPr>
          <a:xfrm>
            <a:off x="452400" y="3258409"/>
            <a:ext cx="1127400" cy="316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700"/>
              <a:buFont typeface="Arial"/>
              <a:buNone/>
            </a:pPr>
            <a:r>
              <a:rPr i="0" lang="en-US" sz="1700" u="none" cap="none" strike="noStrike">
                <a:solidFill>
                  <a:srgbClr val="FFFFFF"/>
                </a:solidFill>
                <a:highlight>
                  <a:srgbClr val="000000"/>
                </a:highlight>
                <a:latin typeface="Proxima Nova"/>
                <a:ea typeface="Proxima Nova"/>
                <a:cs typeface="Proxima Nova"/>
                <a:sym typeface="Proxima Nova"/>
              </a:rPr>
              <a:t>Testing</a:t>
            </a:r>
            <a:endParaRPr i="0" sz="300" u="none" cap="none" strike="noStrike">
              <a:solidFill>
                <a:srgbClr val="000000"/>
              </a:solidFill>
              <a:latin typeface="Proxima Nova"/>
              <a:ea typeface="Proxima Nova"/>
              <a:cs typeface="Proxima Nova"/>
              <a:sym typeface="Proxima Nova"/>
            </a:endParaRPr>
          </a:p>
        </p:txBody>
      </p:sp>
      <p:sp>
        <p:nvSpPr>
          <p:cNvPr id="199" name="Google Shape;199;p25"/>
          <p:cNvSpPr/>
          <p:nvPr/>
        </p:nvSpPr>
        <p:spPr>
          <a:xfrm>
            <a:off x="6567185" y="2147422"/>
            <a:ext cx="440700" cy="184500"/>
          </a:xfrm>
          <a:prstGeom prst="rightArrow">
            <a:avLst>
              <a:gd fmla="val 50000" name="adj1"/>
              <a:gd fmla="val 50000" name="adj2"/>
            </a:avLst>
          </a:prstGeom>
          <a:solidFill>
            <a:schemeClr val="accent1"/>
          </a:solidFill>
          <a:ln cap="flat" cmpd="sng" w="25400">
            <a:solidFill>
              <a:srgbClr val="9494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200" name="Google Shape;200;p25"/>
          <p:cNvSpPr/>
          <p:nvPr/>
        </p:nvSpPr>
        <p:spPr>
          <a:xfrm>
            <a:off x="7067058" y="1963051"/>
            <a:ext cx="1259100" cy="553200"/>
          </a:xfrm>
          <a:prstGeom prst="roundRect">
            <a:avLst>
              <a:gd fmla="val 16667" name="adj"/>
            </a:avLst>
          </a:prstGeom>
          <a:solidFill>
            <a:srgbClr val="FF0000"/>
          </a:solidFill>
          <a:ln cap="flat" cmpd="sng" w="25400">
            <a:solidFill>
              <a:srgbClr val="9494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000000"/>
                </a:solidFill>
                <a:latin typeface="Proxima Nova"/>
                <a:ea typeface="Proxima Nova"/>
                <a:cs typeface="Proxima Nova"/>
                <a:sym typeface="Proxima Nova"/>
              </a:rPr>
              <a:t>Trained model</a:t>
            </a:r>
            <a:endParaRPr i="0" sz="1400" u="none" cap="none" strike="noStrike">
              <a:solidFill>
                <a:srgbClr val="000000"/>
              </a:solidFill>
              <a:latin typeface="Proxima Nova"/>
              <a:ea typeface="Proxima Nova"/>
              <a:cs typeface="Proxima Nova"/>
              <a:sym typeface="Proxima Nova"/>
            </a:endParaRPr>
          </a:p>
        </p:txBody>
      </p:sp>
      <p:sp>
        <p:nvSpPr>
          <p:cNvPr id="201" name="Google Shape;201;p25"/>
          <p:cNvSpPr/>
          <p:nvPr/>
        </p:nvSpPr>
        <p:spPr>
          <a:xfrm>
            <a:off x="3867187" y="3572651"/>
            <a:ext cx="1448100" cy="553200"/>
          </a:xfrm>
          <a:prstGeom prst="roundRect">
            <a:avLst>
              <a:gd fmla="val 16667" name="adj"/>
            </a:avLst>
          </a:prstGeom>
          <a:solidFill>
            <a:srgbClr val="FF0000"/>
          </a:solidFill>
          <a:ln cap="flat" cmpd="sng" w="25400">
            <a:solidFill>
              <a:srgbClr val="9494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000000"/>
                </a:solidFill>
                <a:latin typeface="Proxima Nova"/>
                <a:ea typeface="Proxima Nova"/>
                <a:cs typeface="Proxima Nova"/>
                <a:sym typeface="Proxima Nova"/>
              </a:rPr>
              <a:t>Trained model</a:t>
            </a:r>
            <a:endParaRPr i="0" sz="1400" u="none" cap="none" strike="noStrike">
              <a:solidFill>
                <a:srgbClr val="000000"/>
              </a:solidFill>
              <a:latin typeface="Proxima Nova"/>
              <a:ea typeface="Proxima Nova"/>
              <a:cs typeface="Proxima Nova"/>
              <a:sym typeface="Proxima Nova"/>
            </a:endParaRPr>
          </a:p>
        </p:txBody>
      </p:sp>
      <p:sp>
        <p:nvSpPr>
          <p:cNvPr id="202" name="Google Shape;202;p25"/>
          <p:cNvSpPr/>
          <p:nvPr/>
        </p:nvSpPr>
        <p:spPr>
          <a:xfrm>
            <a:off x="3332054" y="3805995"/>
            <a:ext cx="440700" cy="184500"/>
          </a:xfrm>
          <a:prstGeom prst="rightArrow">
            <a:avLst>
              <a:gd fmla="val 50000" name="adj1"/>
              <a:gd fmla="val 50000" name="adj2"/>
            </a:avLst>
          </a:prstGeom>
          <a:solidFill>
            <a:schemeClr val="accent1"/>
          </a:solidFill>
          <a:ln cap="flat" cmpd="sng" w="25400">
            <a:solidFill>
              <a:srgbClr val="9494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203" name="Google Shape;203;p25"/>
          <p:cNvSpPr/>
          <p:nvPr/>
        </p:nvSpPr>
        <p:spPr>
          <a:xfrm>
            <a:off x="5381935" y="3757022"/>
            <a:ext cx="378000" cy="184500"/>
          </a:xfrm>
          <a:prstGeom prst="rightArrow">
            <a:avLst>
              <a:gd fmla="val 50000" name="adj1"/>
              <a:gd fmla="val 50000" name="adj2"/>
            </a:avLst>
          </a:prstGeom>
          <a:solidFill>
            <a:schemeClr val="accent1"/>
          </a:solidFill>
          <a:ln cap="flat" cmpd="sng" w="25400">
            <a:solidFill>
              <a:srgbClr val="9494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pic>
        <p:nvPicPr>
          <p:cNvPr id="204" name="Google Shape;204;p25"/>
          <p:cNvPicPr preferRelativeResize="0"/>
          <p:nvPr/>
        </p:nvPicPr>
        <p:blipFill rotWithShape="1">
          <a:blip r:embed="rId3">
            <a:alphaModFix/>
          </a:blip>
          <a:srcRect b="0" l="0" r="0" t="0"/>
          <a:stretch/>
        </p:blipFill>
        <p:spPr>
          <a:xfrm>
            <a:off x="1293934" y="1816077"/>
            <a:ext cx="1387018" cy="1152314"/>
          </a:xfrm>
          <a:prstGeom prst="rect">
            <a:avLst/>
          </a:prstGeom>
          <a:noFill/>
          <a:ln>
            <a:noFill/>
          </a:ln>
        </p:spPr>
      </p:pic>
      <p:pic>
        <p:nvPicPr>
          <p:cNvPr id="205" name="Google Shape;205;p25"/>
          <p:cNvPicPr preferRelativeResize="0"/>
          <p:nvPr/>
        </p:nvPicPr>
        <p:blipFill rotWithShape="1">
          <a:blip r:embed="rId4">
            <a:alphaModFix/>
          </a:blip>
          <a:srcRect b="0" l="0" r="0" t="0"/>
          <a:stretch/>
        </p:blipFill>
        <p:spPr>
          <a:xfrm>
            <a:off x="625425" y="3656201"/>
            <a:ext cx="495785" cy="483972"/>
          </a:xfrm>
          <a:prstGeom prst="rect">
            <a:avLst/>
          </a:prstGeom>
          <a:noFill/>
          <a:ln>
            <a:noFill/>
          </a:ln>
        </p:spPr>
      </p:pic>
      <p:sp>
        <p:nvSpPr>
          <p:cNvPr id="206" name="Google Shape;206;p25"/>
          <p:cNvSpPr txBox="1"/>
          <p:nvPr/>
        </p:nvSpPr>
        <p:spPr>
          <a:xfrm>
            <a:off x="444155" y="4185090"/>
            <a:ext cx="8255700" cy="2739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
              <a:buFont typeface="Arial"/>
              <a:buNone/>
            </a:pPr>
            <a:r>
              <a:rPr i="1" lang="en-US" sz="600" u="none" cap="none" strike="noStrike">
                <a:solidFill>
                  <a:srgbClr val="000000"/>
                </a:solidFill>
                <a:latin typeface="Proxima Nova"/>
                <a:ea typeface="Proxima Nova"/>
                <a:cs typeface="Proxima Nova"/>
                <a:sym typeface="Proxima Nova"/>
              </a:rPr>
              <a:t>source: http://www.cs.cornell.edu/courses/cs5670/2019sp/lectures/lec20_image_classification.pdf</a:t>
            </a:r>
            <a:endParaRPr i="1" sz="600" u="none" cap="none" strike="noStrike">
              <a:solidFill>
                <a:srgbClr val="000000"/>
              </a:solidFill>
              <a:latin typeface="Proxima Nova"/>
              <a:ea typeface="Proxima Nova"/>
              <a:cs typeface="Proxima Nova"/>
              <a:sym typeface="Proxima Nova"/>
            </a:endParaRPr>
          </a:p>
        </p:txBody>
      </p:sp>
      <p:sp>
        <p:nvSpPr>
          <p:cNvPr id="207" name="Google Shape;207;p25"/>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4400"/>
              <a:buNone/>
            </a:pPr>
            <a:r>
              <a:rPr lang="en-US"/>
              <a:t>ML: the process overview</a:t>
            </a:r>
            <a:endParaRPr/>
          </a:p>
        </p:txBody>
      </p:sp>
      <p:sp>
        <p:nvSpPr>
          <p:cNvPr id="208" name="Google Shape;208;p25"/>
          <p:cNvSpPr/>
          <p:nvPr/>
        </p:nvSpPr>
        <p:spPr>
          <a:xfrm>
            <a:off x="3733979" y="1676980"/>
            <a:ext cx="861900" cy="283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1200" u="none" cap="none" strike="noStrike">
                <a:solidFill>
                  <a:schemeClr val="dk1"/>
                </a:solidFill>
                <a:latin typeface="Courier New"/>
                <a:ea typeface="Courier New"/>
                <a:cs typeface="Courier New"/>
                <a:sym typeface="Courier New"/>
              </a:rPr>
              <a:t>X_train</a:t>
            </a:r>
            <a:endParaRPr i="0" sz="1200" u="none" cap="none" strike="noStrike">
              <a:solidFill>
                <a:srgbClr val="000000"/>
              </a:solidFill>
              <a:latin typeface="Courier New"/>
              <a:ea typeface="Courier New"/>
              <a:cs typeface="Courier New"/>
              <a:sym typeface="Courier New"/>
            </a:endParaRPr>
          </a:p>
        </p:txBody>
      </p:sp>
      <p:sp>
        <p:nvSpPr>
          <p:cNvPr id="209" name="Google Shape;209;p25"/>
          <p:cNvSpPr/>
          <p:nvPr/>
        </p:nvSpPr>
        <p:spPr>
          <a:xfrm>
            <a:off x="2141337" y="3288019"/>
            <a:ext cx="762900" cy="283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1200" u="none" cap="none" strike="noStrike">
                <a:solidFill>
                  <a:schemeClr val="dk1"/>
                </a:solidFill>
                <a:latin typeface="Courier New"/>
                <a:ea typeface="Courier New"/>
                <a:cs typeface="Courier New"/>
                <a:sym typeface="Courier New"/>
              </a:rPr>
              <a:t>X_test</a:t>
            </a:r>
            <a:endParaRPr i="0" sz="1200" u="none" cap="none" strike="noStrike">
              <a:solidFill>
                <a:srgbClr val="000000"/>
              </a:solidFill>
              <a:latin typeface="Courier New"/>
              <a:ea typeface="Courier New"/>
              <a:cs typeface="Courier New"/>
              <a:sym typeface="Courier New"/>
            </a:endParaRPr>
          </a:p>
        </p:txBody>
      </p:sp>
      <p:sp>
        <p:nvSpPr>
          <p:cNvPr id="210" name="Google Shape;210;p25"/>
          <p:cNvSpPr/>
          <p:nvPr/>
        </p:nvSpPr>
        <p:spPr>
          <a:xfrm>
            <a:off x="5472935" y="855027"/>
            <a:ext cx="2146500" cy="283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1200" u="none" cap="none" strike="noStrike">
                <a:solidFill>
                  <a:schemeClr val="dk1"/>
                </a:solidFill>
                <a:latin typeface="Courier New"/>
                <a:ea typeface="Courier New"/>
                <a:cs typeface="Courier New"/>
                <a:sym typeface="Courier New"/>
              </a:rPr>
              <a:t>y_train </a:t>
            </a:r>
            <a:r>
              <a:rPr i="0" lang="en-US" sz="1200" u="none" cap="none" strike="noStrike">
                <a:solidFill>
                  <a:schemeClr val="dk1"/>
                </a:solidFill>
                <a:latin typeface="Proxima Nova"/>
                <a:ea typeface="Proxima Nova"/>
                <a:cs typeface="Proxima Nova"/>
                <a:sym typeface="Proxima Nova"/>
              </a:rPr>
              <a:t>(supervised)</a:t>
            </a:r>
            <a:endParaRPr i="0" sz="1200" u="none" cap="none" strike="noStrike">
              <a:solidFill>
                <a:srgbClr val="000000"/>
              </a:solidFill>
              <a:latin typeface="Proxima Nova"/>
              <a:ea typeface="Proxima Nova"/>
              <a:cs typeface="Proxima Nova"/>
              <a:sym typeface="Proxima Nova"/>
            </a:endParaRPr>
          </a:p>
        </p:txBody>
      </p:sp>
      <p:sp>
        <p:nvSpPr>
          <p:cNvPr id="211" name="Google Shape;211;p25"/>
          <p:cNvSpPr/>
          <p:nvPr/>
        </p:nvSpPr>
        <p:spPr>
          <a:xfrm>
            <a:off x="632176" y="2124823"/>
            <a:ext cx="268800" cy="283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1200" u="none" cap="none" strike="noStrike">
                <a:solidFill>
                  <a:schemeClr val="dk1"/>
                </a:solidFill>
                <a:latin typeface="Courier New"/>
                <a:ea typeface="Courier New"/>
                <a:cs typeface="Courier New"/>
                <a:sym typeface="Courier New"/>
              </a:rPr>
              <a:t>X</a:t>
            </a:r>
            <a:endParaRPr i="0" sz="1200" u="none" cap="none" strike="noStrike">
              <a:solidFill>
                <a:srgbClr val="000000"/>
              </a:solidFill>
              <a:latin typeface="Courier New"/>
              <a:ea typeface="Courier New"/>
              <a:cs typeface="Courier New"/>
              <a:sym typeface="Courier New"/>
            </a:endParaRPr>
          </a:p>
        </p:txBody>
      </p:sp>
      <p:sp>
        <p:nvSpPr>
          <p:cNvPr id="212" name="Google Shape;212;p25"/>
          <p:cNvSpPr/>
          <p:nvPr/>
        </p:nvSpPr>
        <p:spPr>
          <a:xfrm>
            <a:off x="994110" y="1578920"/>
            <a:ext cx="861900" cy="283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1200" u="none" cap="none" strike="noStrike">
                <a:solidFill>
                  <a:schemeClr val="dk1"/>
                </a:solidFill>
                <a:latin typeface="Courier New"/>
                <a:ea typeface="Courier New"/>
                <a:cs typeface="Courier New"/>
                <a:sym typeface="Courier New"/>
              </a:rPr>
              <a:t>X_train</a:t>
            </a:r>
            <a:endParaRPr i="0" sz="1200" u="none" cap="none" strike="noStrike">
              <a:solidFill>
                <a:srgbClr val="000000"/>
              </a:solidFill>
              <a:latin typeface="Courier New"/>
              <a:ea typeface="Courier New"/>
              <a:cs typeface="Courier New"/>
              <a:sym typeface="Courier New"/>
            </a:endParaRPr>
          </a:p>
        </p:txBody>
      </p:sp>
      <p:sp>
        <p:nvSpPr>
          <p:cNvPr id="213" name="Google Shape;213;p25"/>
          <p:cNvSpPr/>
          <p:nvPr/>
        </p:nvSpPr>
        <p:spPr>
          <a:xfrm>
            <a:off x="2128987" y="1585725"/>
            <a:ext cx="762900" cy="283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1200" u="none" cap="none" strike="noStrike">
                <a:solidFill>
                  <a:schemeClr val="dk1"/>
                </a:solidFill>
                <a:latin typeface="Courier New"/>
                <a:ea typeface="Courier New"/>
                <a:cs typeface="Courier New"/>
                <a:sym typeface="Courier New"/>
              </a:rPr>
              <a:t>X_test</a:t>
            </a:r>
            <a:endParaRPr i="0" sz="1200" u="none" cap="none" strike="noStrike">
              <a:solidFill>
                <a:srgbClr val="000000"/>
              </a:solidFill>
              <a:latin typeface="Courier New"/>
              <a:ea typeface="Courier New"/>
              <a:cs typeface="Courier New"/>
              <a:sym typeface="Courier New"/>
            </a:endParaRPr>
          </a:p>
        </p:txBody>
      </p:sp>
      <p:sp>
        <p:nvSpPr>
          <p:cNvPr id="214" name="Google Shape;214;p25"/>
          <p:cNvSpPr/>
          <p:nvPr/>
        </p:nvSpPr>
        <p:spPr>
          <a:xfrm>
            <a:off x="7007737" y="4073787"/>
            <a:ext cx="762900" cy="283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1200" u="none" cap="none" strike="noStrike">
                <a:solidFill>
                  <a:schemeClr val="dk1"/>
                </a:solidFill>
                <a:latin typeface="Courier New"/>
                <a:ea typeface="Courier New"/>
                <a:cs typeface="Courier New"/>
                <a:sym typeface="Courier New"/>
              </a:rPr>
              <a:t>y_pred</a:t>
            </a:r>
            <a:endParaRPr i="0" sz="1200" u="none" cap="none" strike="noStrike">
              <a:solidFill>
                <a:srgbClr val="000000"/>
              </a:solidFill>
              <a:latin typeface="Courier New"/>
              <a:ea typeface="Courier New"/>
              <a:cs typeface="Courier New"/>
              <a:sym typeface="Courier New"/>
            </a:endParaRPr>
          </a:p>
        </p:txBody>
      </p:sp>
      <p:sp>
        <p:nvSpPr>
          <p:cNvPr id="215" name="Google Shape;215;p25"/>
          <p:cNvSpPr/>
          <p:nvPr/>
        </p:nvSpPr>
        <p:spPr>
          <a:xfrm>
            <a:off x="7770582" y="2538945"/>
            <a:ext cx="762900" cy="283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1200" u="none" cap="none" strike="noStrike">
                <a:solidFill>
                  <a:schemeClr val="dk1"/>
                </a:solidFill>
                <a:latin typeface="Courier New"/>
                <a:ea typeface="Courier New"/>
                <a:cs typeface="Courier New"/>
                <a:sym typeface="Courier New"/>
              </a:rPr>
              <a:t>y_test</a:t>
            </a:r>
            <a:endParaRPr i="0" sz="1200" u="none" cap="none" strike="noStrike">
              <a:solidFill>
                <a:srgbClr val="000000"/>
              </a:solidFill>
              <a:latin typeface="Courier New"/>
              <a:ea typeface="Courier New"/>
              <a:cs typeface="Courier New"/>
              <a:sym typeface="Courier New"/>
            </a:endParaRPr>
          </a:p>
        </p:txBody>
      </p:sp>
      <p:sp>
        <p:nvSpPr>
          <p:cNvPr id="216" name="Google Shape;216;p25"/>
          <p:cNvSpPr/>
          <p:nvPr/>
        </p:nvSpPr>
        <p:spPr>
          <a:xfrm>
            <a:off x="7589605" y="3572651"/>
            <a:ext cx="1118400" cy="553200"/>
          </a:xfrm>
          <a:prstGeom prst="roundRect">
            <a:avLst>
              <a:gd fmla="val 16667" name="adj"/>
            </a:avLst>
          </a:prstGeom>
          <a:solidFill>
            <a:srgbClr val="F4F4F4"/>
          </a:solidFill>
          <a:ln cap="flat" cmpd="sng" w="25400">
            <a:solidFill>
              <a:srgbClr val="9494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000000"/>
                </a:solidFill>
                <a:latin typeface="Proxima Nova"/>
                <a:ea typeface="Proxima Nova"/>
                <a:cs typeface="Proxima Nova"/>
                <a:sym typeface="Proxima Nova"/>
              </a:rPr>
              <a:t>Score</a:t>
            </a:r>
            <a:endParaRPr i="0" sz="1400" u="none" cap="none" strike="noStrike">
              <a:solidFill>
                <a:srgbClr val="000000"/>
              </a:solidFill>
              <a:latin typeface="Proxima Nova"/>
              <a:ea typeface="Proxima Nova"/>
              <a:cs typeface="Proxima Nova"/>
              <a:sym typeface="Proxima Nova"/>
            </a:endParaRPr>
          </a:p>
        </p:txBody>
      </p:sp>
      <p:sp>
        <p:nvSpPr>
          <p:cNvPr id="217" name="Google Shape;217;p25"/>
          <p:cNvSpPr/>
          <p:nvPr/>
        </p:nvSpPr>
        <p:spPr>
          <a:xfrm>
            <a:off x="7589604" y="2803542"/>
            <a:ext cx="1118400" cy="553200"/>
          </a:xfrm>
          <a:prstGeom prst="roundRect">
            <a:avLst>
              <a:gd fmla="val 16667" name="adj"/>
            </a:avLst>
          </a:prstGeom>
          <a:solidFill>
            <a:srgbClr val="00B050"/>
          </a:solidFill>
          <a:ln cap="flat" cmpd="sng" w="25400">
            <a:solidFill>
              <a:srgbClr val="9494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000000"/>
                </a:solidFill>
                <a:latin typeface="Proxima Nova"/>
                <a:ea typeface="Proxima Nova"/>
                <a:cs typeface="Proxima Nova"/>
                <a:sym typeface="Proxima Nova"/>
              </a:rPr>
              <a:t>Test Truth Labels</a:t>
            </a:r>
            <a:endParaRPr i="0" sz="1400" u="none" cap="none" strike="noStrike">
              <a:solidFill>
                <a:srgbClr val="000000"/>
              </a:solidFill>
              <a:latin typeface="Proxima Nova"/>
              <a:ea typeface="Proxima Nova"/>
              <a:cs typeface="Proxima Nova"/>
              <a:sym typeface="Proxima Nova"/>
            </a:endParaRPr>
          </a:p>
        </p:txBody>
      </p:sp>
      <p:sp>
        <p:nvSpPr>
          <p:cNvPr id="218" name="Google Shape;218;p25"/>
          <p:cNvSpPr/>
          <p:nvPr/>
        </p:nvSpPr>
        <p:spPr>
          <a:xfrm>
            <a:off x="7211711" y="3751076"/>
            <a:ext cx="378000" cy="184500"/>
          </a:xfrm>
          <a:prstGeom prst="rightArrow">
            <a:avLst>
              <a:gd fmla="val 50000" name="adj1"/>
              <a:gd fmla="val 50000" name="adj2"/>
            </a:avLst>
          </a:prstGeom>
          <a:solidFill>
            <a:schemeClr val="accent1"/>
          </a:solidFill>
          <a:ln cap="flat" cmpd="sng" w="25400">
            <a:solidFill>
              <a:srgbClr val="9494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219" name="Google Shape;219;p25"/>
          <p:cNvSpPr/>
          <p:nvPr/>
        </p:nvSpPr>
        <p:spPr>
          <a:xfrm>
            <a:off x="5570881" y="2534368"/>
            <a:ext cx="664200" cy="283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200" u="none" cap="none" strike="noStrike">
                <a:solidFill>
                  <a:schemeClr val="dk1"/>
                </a:solidFill>
                <a:latin typeface="Courier New"/>
                <a:ea typeface="Courier New"/>
                <a:cs typeface="Courier New"/>
                <a:sym typeface="Courier New"/>
              </a:rPr>
              <a:t>fit()</a:t>
            </a:r>
            <a:endParaRPr b="0" i="0" sz="1200" u="none" cap="none" strike="noStrike">
              <a:solidFill>
                <a:srgbClr val="000000"/>
              </a:solidFill>
              <a:latin typeface="Arial"/>
              <a:ea typeface="Arial"/>
              <a:cs typeface="Arial"/>
              <a:sym typeface="Arial"/>
            </a:endParaRPr>
          </a:p>
        </p:txBody>
      </p:sp>
      <p:sp>
        <p:nvSpPr>
          <p:cNvPr id="220" name="Google Shape;220;p25"/>
          <p:cNvSpPr/>
          <p:nvPr/>
        </p:nvSpPr>
        <p:spPr>
          <a:xfrm>
            <a:off x="5974473" y="3235976"/>
            <a:ext cx="1059300" cy="283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1200" u="none" cap="none" strike="noStrike">
                <a:solidFill>
                  <a:schemeClr val="dk1"/>
                </a:solidFill>
                <a:latin typeface="Courier New"/>
                <a:ea typeface="Courier New"/>
                <a:cs typeface="Courier New"/>
                <a:sym typeface="Courier New"/>
              </a:rPr>
              <a:t>predict()</a:t>
            </a:r>
            <a:endParaRPr i="0" sz="1200" u="none" cap="none" strike="noStrike">
              <a:solidFill>
                <a:srgbClr val="000000"/>
              </a:solidFill>
              <a:latin typeface="Courier New"/>
              <a:ea typeface="Courier New"/>
              <a:cs typeface="Courier New"/>
              <a:sym typeface="Courier New"/>
            </a:endParaRPr>
          </a:p>
        </p:txBody>
      </p:sp>
      <p:sp>
        <p:nvSpPr>
          <p:cNvPr id="221" name="Google Shape;221;p25"/>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222" name="Google Shape;222;p25"/>
          <p:cNvSpPr/>
          <p:nvPr/>
        </p:nvSpPr>
        <p:spPr>
          <a:xfrm>
            <a:off x="1032990" y="3004825"/>
            <a:ext cx="1908900" cy="283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1200">
                <a:solidFill>
                  <a:schemeClr val="dk1"/>
                </a:solidFill>
                <a:latin typeface="Courier New"/>
                <a:ea typeface="Courier New"/>
                <a:cs typeface="Courier New"/>
                <a:sym typeface="Courier New"/>
              </a:rPr>
              <a:t>train_test_split()</a:t>
            </a:r>
            <a:endParaRPr b="0" i="0" sz="1200" u="none" cap="none" strike="noStrike">
              <a:solidFill>
                <a:srgbClr val="000000"/>
              </a:solidFill>
              <a:latin typeface="Arial"/>
              <a:ea typeface="Arial"/>
              <a:cs typeface="Arial"/>
              <a:sym typeface="Arial"/>
            </a:endParaRPr>
          </a:p>
        </p:txBody>
      </p:sp>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6"/>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990000"/>
              </a:buClr>
              <a:buSzPts val="4400"/>
              <a:buFont typeface="Arial"/>
              <a:buNone/>
            </a:pPr>
            <a:r>
              <a:rPr lang="en-US"/>
              <a:t>Spreadsheet Example</a:t>
            </a:r>
            <a:endParaRPr/>
          </a:p>
        </p:txBody>
      </p:sp>
      <p:graphicFrame>
        <p:nvGraphicFramePr>
          <p:cNvPr id="229" name="Google Shape;229;p26"/>
          <p:cNvGraphicFramePr/>
          <p:nvPr/>
        </p:nvGraphicFramePr>
        <p:xfrm>
          <a:off x="302137" y="1170389"/>
          <a:ext cx="3000000" cy="3000000"/>
        </p:xfrm>
        <a:graphic>
          <a:graphicData uri="http://schemas.openxmlformats.org/drawingml/2006/table">
            <a:tbl>
              <a:tblPr>
                <a:noFill/>
                <a:tableStyleId>{1E60BDC0-2914-418B-A301-C5D8D6685F96}</a:tableStyleId>
              </a:tblPr>
              <a:tblGrid>
                <a:gridCol w="992450"/>
                <a:gridCol w="992450"/>
                <a:gridCol w="992450"/>
                <a:gridCol w="992450"/>
                <a:gridCol w="992450"/>
                <a:gridCol w="1403125"/>
                <a:gridCol w="992450"/>
                <a:gridCol w="992450"/>
              </a:tblGrid>
              <a:tr h="261900">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 </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 </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1" i="0" lang="en-US" sz="1200" u="none" cap="none" strike="noStrike">
                          <a:solidFill>
                            <a:srgbClr val="000000"/>
                          </a:solidFill>
                          <a:latin typeface="Courier New"/>
                          <a:ea typeface="Courier New"/>
                          <a:cs typeface="Courier New"/>
                          <a:sym typeface="Courier New"/>
                        </a:rPr>
                        <a:t>X</a:t>
                      </a:r>
                      <a:endParaRPr b="1">
                        <a:latin typeface="Courier New"/>
                        <a:ea typeface="Courier New"/>
                        <a:cs typeface="Courier New"/>
                        <a:sym typeface="Courier New"/>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 </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1" lang="en-US" sz="1200">
                          <a:latin typeface="Proxima Nova"/>
                          <a:ea typeface="Proxima Nova"/>
                          <a:cs typeface="Proxima Nova"/>
                          <a:sym typeface="Proxima Nova"/>
                        </a:rPr>
                        <a:t>y</a:t>
                      </a:r>
                      <a:endParaRPr b="1" sz="1200">
                        <a:latin typeface="Proxima Nova"/>
                        <a:ea typeface="Proxima Nova"/>
                        <a:cs typeface="Proxima Nova"/>
                        <a:sym typeface="Proxima Nova"/>
                      </a:endParaRPr>
                    </a:p>
                    <a:p>
                      <a:pPr indent="0" lvl="0" marL="0" marR="0" rtl="0" algn="l">
                        <a:lnSpc>
                          <a:spcPct val="100000"/>
                        </a:lnSpc>
                        <a:spcBef>
                          <a:spcPts val="0"/>
                        </a:spcBef>
                        <a:spcAft>
                          <a:spcPts val="0"/>
                        </a:spcAft>
                        <a:buNone/>
                      </a:pPr>
                      <a:r>
                        <a:rPr b="1" i="0" lang="en-US" sz="1200" u="none" cap="none" strike="noStrike">
                          <a:solidFill>
                            <a:srgbClr val="000000"/>
                          </a:solidFill>
                          <a:latin typeface="Proxima Nova"/>
                          <a:ea typeface="Proxima Nova"/>
                          <a:cs typeface="Proxima Nova"/>
                          <a:sym typeface="Proxima Nova"/>
                        </a:rPr>
                        <a:t>target label</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 </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i="0" lang="en-US" sz="1200" u="none" cap="none" strike="noStrike">
                          <a:solidFill>
                            <a:srgbClr val="000000"/>
                          </a:solidFill>
                          <a:latin typeface="Proxima Nova"/>
                          <a:ea typeface="Proxima Nova"/>
                          <a:cs typeface="Proxima Nova"/>
                          <a:sym typeface="Proxima Nova"/>
                        </a:rPr>
                        <a:t>prediction</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 </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61900">
                <a:tc>
                  <a:txBody>
                    <a:bodyPr/>
                    <a:lstStyle/>
                    <a:p>
                      <a:pPr indent="0" lvl="0" marL="0" marR="0" rtl="0" algn="l">
                        <a:lnSpc>
                          <a:spcPct val="100000"/>
                        </a:lnSpc>
                        <a:spcBef>
                          <a:spcPts val="0"/>
                        </a:spcBef>
                        <a:spcAft>
                          <a:spcPts val="0"/>
                        </a:spcAft>
                        <a:buNone/>
                      </a:pPr>
                      <a:r>
                        <a:rPr b="1" i="0" lang="en-US" sz="1200" u="none" cap="none" strike="noStrike">
                          <a:solidFill>
                            <a:srgbClr val="000000"/>
                          </a:solidFill>
                          <a:latin typeface="Proxima Nova"/>
                          <a:ea typeface="Proxima Nova"/>
                          <a:cs typeface="Proxima Nova"/>
                          <a:sym typeface="Proxima Nova"/>
                        </a:rPr>
                        <a:t>features</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i="0" lang="en-US" sz="1200" u="none" cap="none" strike="noStrike">
                          <a:solidFill>
                            <a:srgbClr val="000000"/>
                          </a:solidFill>
                          <a:latin typeface="Proxima Nova"/>
                          <a:ea typeface="Proxima Nova"/>
                          <a:cs typeface="Proxima Nova"/>
                          <a:sym typeface="Proxima Nova"/>
                        </a:rPr>
                        <a:t>color</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1" i="0" lang="en-US" sz="1200" u="none" cap="none" strike="noStrike">
                          <a:solidFill>
                            <a:srgbClr val="000000"/>
                          </a:solidFill>
                          <a:latin typeface="Proxima Nova"/>
                          <a:ea typeface="Proxima Nova"/>
                          <a:cs typeface="Proxima Nova"/>
                          <a:sym typeface="Proxima Nova"/>
                        </a:rPr>
                        <a:t>texture</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1" i="0" lang="en-US" sz="1200" u="none" cap="none" strike="noStrike">
                          <a:solidFill>
                            <a:srgbClr val="000000"/>
                          </a:solidFill>
                          <a:latin typeface="Proxima Nova"/>
                          <a:ea typeface="Proxima Nova"/>
                          <a:cs typeface="Proxima Nova"/>
                          <a:sym typeface="Proxima Nova"/>
                        </a:rPr>
                        <a:t>bitterness</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1" i="0" lang="en-US" sz="1200" u="none" cap="none" strike="noStrike">
                          <a:solidFill>
                            <a:srgbClr val="000000"/>
                          </a:solidFill>
                          <a:latin typeface="Proxima Nova"/>
                          <a:ea typeface="Proxima Nova"/>
                          <a:cs typeface="Proxima Nova"/>
                          <a:sym typeface="Proxima Nova"/>
                        </a:rPr>
                        <a:t>fruit Name</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1" i="0" lang="en-US" sz="1200" u="none" cap="none" strike="noStrike">
                          <a:solidFill>
                            <a:srgbClr val="000000"/>
                          </a:solidFill>
                          <a:latin typeface="Proxima Nova"/>
                          <a:ea typeface="Proxima Nova"/>
                          <a:cs typeface="Proxima Nova"/>
                          <a:sym typeface="Proxima Nova"/>
                        </a:rPr>
                        <a:t> </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i="0" lang="en-US" sz="1200" u="none" cap="none" strike="noStrike">
                          <a:solidFill>
                            <a:srgbClr val="000000"/>
                          </a:solidFill>
                          <a:latin typeface="Proxima Nova"/>
                          <a:ea typeface="Proxima Nova"/>
                          <a:cs typeface="Proxima Nova"/>
                          <a:sym typeface="Proxima Nova"/>
                        </a:rPr>
                        <a:t> </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i="0" lang="en-US" sz="1200" u="none" cap="none" strike="noStrike">
                          <a:solidFill>
                            <a:srgbClr val="000000"/>
                          </a:solidFill>
                          <a:latin typeface="Proxima Nova"/>
                          <a:ea typeface="Proxima Nova"/>
                          <a:cs typeface="Proxima Nova"/>
                          <a:sym typeface="Proxima Nova"/>
                        </a:rPr>
                        <a:t> </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61900">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 </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light red</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soft</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not very</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 apple</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 </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 </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 </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61900">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 </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0x558684</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070C0"/>
                    </a:solidFill>
                  </a:tcPr>
                </a:tc>
                <a:tc>
                  <a:txBody>
                    <a:bodyPr/>
                    <a:lstStyle/>
                    <a:p>
                      <a:pPr indent="0" lvl="0" marL="0" marR="0" rtl="0" algn="r">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2</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070C0"/>
                    </a:solidFill>
                  </a:tcPr>
                </a:tc>
                <a:tc>
                  <a:txBody>
                    <a:bodyPr/>
                    <a:lstStyle/>
                    <a:p>
                      <a:pPr indent="0" lvl="0" marL="0" marR="0" rtl="0" algn="r">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3</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070C0"/>
                    </a:solidFill>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apple</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92D050"/>
                    </a:solidFill>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 </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 </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 </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61900">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 </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0x448685</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070C0"/>
                    </a:solidFill>
                  </a:tcPr>
                </a:tc>
                <a:tc>
                  <a:txBody>
                    <a:bodyPr/>
                    <a:lstStyle/>
                    <a:p>
                      <a:pPr indent="0" lvl="0" marL="0" marR="0" rtl="0" algn="r">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7</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070C0"/>
                    </a:solidFill>
                  </a:tcPr>
                </a:tc>
                <a:tc>
                  <a:txBody>
                    <a:bodyPr/>
                    <a:lstStyle/>
                    <a:p>
                      <a:pPr indent="0" lvl="0" marL="0" marR="0" rtl="0" algn="r">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5</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070C0"/>
                    </a:solidFill>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peach</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92D050"/>
                    </a:solidFill>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 </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 </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 </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61900">
                <a:tc>
                  <a:txBody>
                    <a:bodyPr/>
                    <a:lstStyle/>
                    <a:p>
                      <a:pPr indent="0" lvl="0" marL="0" marR="0" rtl="0" algn="l">
                        <a:lnSpc>
                          <a:spcPct val="100000"/>
                        </a:lnSpc>
                        <a:spcBef>
                          <a:spcPts val="0"/>
                        </a:spcBef>
                        <a:spcAft>
                          <a:spcPts val="0"/>
                        </a:spcAft>
                        <a:buNone/>
                      </a:pPr>
                      <a:r>
                        <a:rPr b="1" i="0" lang="en-US" sz="1200" u="none" cap="none" strike="noStrike">
                          <a:solidFill>
                            <a:srgbClr val="000000"/>
                          </a:solidFill>
                          <a:latin typeface="Courier New"/>
                          <a:ea typeface="Courier New"/>
                          <a:cs typeface="Courier New"/>
                          <a:sym typeface="Courier New"/>
                        </a:rPr>
                        <a:t>X_train</a:t>
                      </a:r>
                      <a:endParaRPr b="1" i="0" sz="1200" u="none" cap="none" strike="noStrike">
                        <a:solidFill>
                          <a:srgbClr val="000000"/>
                        </a:solidFill>
                        <a:latin typeface="Courier New"/>
                        <a:ea typeface="Courier New"/>
                        <a:cs typeface="Courier New"/>
                        <a:sym typeface="Courier New"/>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070C0"/>
                    </a:solidFill>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0x558686</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070C0"/>
                    </a:solidFill>
                  </a:tcPr>
                </a:tc>
                <a:tc>
                  <a:txBody>
                    <a:bodyPr/>
                    <a:lstStyle/>
                    <a:p>
                      <a:pPr indent="0" lvl="0" marL="0" marR="0" rtl="0" algn="r">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2</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070C0"/>
                    </a:solidFill>
                  </a:tcPr>
                </a:tc>
                <a:tc>
                  <a:txBody>
                    <a:bodyPr/>
                    <a:lstStyle/>
                    <a:p>
                      <a:pPr indent="0" lvl="0" marL="0" marR="0" rtl="0" algn="r">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4</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070C0"/>
                    </a:solidFill>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pear</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92D050"/>
                    </a:solidFill>
                  </a:tcPr>
                </a:tc>
                <a:tc>
                  <a:txBody>
                    <a:bodyPr/>
                    <a:lstStyle/>
                    <a:p>
                      <a:pPr indent="0" lvl="0" marL="0" marR="0" rtl="0" algn="l">
                        <a:lnSpc>
                          <a:spcPct val="100000"/>
                        </a:lnSpc>
                        <a:spcBef>
                          <a:spcPts val="0"/>
                        </a:spcBef>
                        <a:spcAft>
                          <a:spcPts val="0"/>
                        </a:spcAft>
                        <a:buNone/>
                      </a:pPr>
                      <a:r>
                        <a:rPr b="1" i="0" lang="en-US" sz="1200" u="none" cap="none" strike="noStrike">
                          <a:solidFill>
                            <a:srgbClr val="000000"/>
                          </a:solidFill>
                          <a:latin typeface="Courier New"/>
                          <a:ea typeface="Courier New"/>
                          <a:cs typeface="Courier New"/>
                          <a:sym typeface="Courier New"/>
                        </a:rPr>
                        <a:t>y_train</a:t>
                      </a:r>
                      <a:endParaRPr b="1" i="0" sz="1200" u="none" cap="none" strike="noStrike">
                        <a:solidFill>
                          <a:srgbClr val="000000"/>
                        </a:solidFill>
                        <a:latin typeface="Courier New"/>
                        <a:ea typeface="Courier New"/>
                        <a:cs typeface="Courier New"/>
                        <a:sym typeface="Courier New"/>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92D050"/>
                    </a:solidFill>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 </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 </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61900">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 </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0x558687</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070C0"/>
                    </a:solidFill>
                  </a:tcPr>
                </a:tc>
                <a:tc>
                  <a:txBody>
                    <a:bodyPr/>
                    <a:lstStyle/>
                    <a:p>
                      <a:pPr indent="0" lvl="0" marL="0" marR="0" rtl="0" algn="r">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3</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070C0"/>
                    </a:solidFill>
                  </a:tcPr>
                </a:tc>
                <a:tc>
                  <a:txBody>
                    <a:bodyPr/>
                    <a:lstStyle/>
                    <a:p>
                      <a:pPr indent="0" lvl="0" marL="0" marR="0" rtl="0" algn="r">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3</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070C0"/>
                    </a:solidFill>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apple</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92D050"/>
                    </a:solidFill>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 </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 </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 </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61900">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 </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0x558688</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070C0"/>
                    </a:solidFill>
                  </a:tcPr>
                </a:tc>
                <a:tc>
                  <a:txBody>
                    <a:bodyPr/>
                    <a:lstStyle/>
                    <a:p>
                      <a:pPr indent="0" lvl="0" marL="0" marR="0" rtl="0" algn="r">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2</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070C0"/>
                    </a:solidFill>
                  </a:tcPr>
                </a:tc>
                <a:tc>
                  <a:txBody>
                    <a:bodyPr/>
                    <a:lstStyle/>
                    <a:p>
                      <a:pPr indent="0" lvl="0" marL="0" marR="0" rtl="0" algn="r">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2</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070C0"/>
                    </a:solidFill>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apple</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92D050"/>
                    </a:solidFill>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 </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 </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 </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61900">
                <a:tc>
                  <a:txBody>
                    <a:bodyPr/>
                    <a:lstStyle/>
                    <a:p>
                      <a:pPr indent="0" lvl="0" marL="0" marR="0" rtl="0" algn="l">
                        <a:lnSpc>
                          <a:spcPct val="100000"/>
                        </a:lnSpc>
                        <a:spcBef>
                          <a:spcPts val="0"/>
                        </a:spcBef>
                        <a:spcAft>
                          <a:spcPts val="0"/>
                        </a:spcAft>
                        <a:buNone/>
                      </a:pPr>
                      <a:r>
                        <a:rPr b="1" i="0" lang="en-US" sz="1200" u="none" cap="none" strike="noStrike">
                          <a:solidFill>
                            <a:srgbClr val="000000"/>
                          </a:solidFill>
                          <a:latin typeface="Courier New"/>
                          <a:ea typeface="Courier New"/>
                          <a:cs typeface="Courier New"/>
                          <a:sym typeface="Courier New"/>
                        </a:rPr>
                        <a:t>X_test</a:t>
                      </a:r>
                      <a:endParaRPr b="1" i="0" sz="1200" u="none" cap="none" strike="noStrike">
                        <a:solidFill>
                          <a:srgbClr val="000000"/>
                        </a:solidFill>
                        <a:latin typeface="Courier New"/>
                        <a:ea typeface="Courier New"/>
                        <a:cs typeface="Courier New"/>
                        <a:sym typeface="Courier New"/>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0B0F0"/>
                    </a:solidFill>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0x558689</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0B0F0"/>
                    </a:solidFill>
                  </a:tcPr>
                </a:tc>
                <a:tc>
                  <a:txBody>
                    <a:bodyPr/>
                    <a:lstStyle/>
                    <a:p>
                      <a:pPr indent="0" lvl="0" marL="0" marR="0" rtl="0" algn="r">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1</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0B0F0"/>
                    </a:solidFill>
                  </a:tcPr>
                </a:tc>
                <a:tc>
                  <a:txBody>
                    <a:bodyPr/>
                    <a:lstStyle/>
                    <a:p>
                      <a:pPr indent="0" lvl="0" marL="0" marR="0" rtl="0" algn="r">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5</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0B0F0"/>
                    </a:solidFill>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peach</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0B050"/>
                    </a:solidFill>
                  </a:tcPr>
                </a:tc>
                <a:tc>
                  <a:txBody>
                    <a:bodyPr/>
                    <a:lstStyle/>
                    <a:p>
                      <a:pPr indent="0" lvl="0" marL="0" marR="0" rtl="0" algn="l">
                        <a:lnSpc>
                          <a:spcPct val="100000"/>
                        </a:lnSpc>
                        <a:spcBef>
                          <a:spcPts val="0"/>
                        </a:spcBef>
                        <a:spcAft>
                          <a:spcPts val="0"/>
                        </a:spcAft>
                        <a:buNone/>
                      </a:pPr>
                      <a:r>
                        <a:rPr b="1" i="0" lang="en-US" sz="1200" u="none" cap="none" strike="noStrike">
                          <a:solidFill>
                            <a:srgbClr val="000000"/>
                          </a:solidFill>
                          <a:latin typeface="Courier New"/>
                          <a:ea typeface="Courier New"/>
                          <a:cs typeface="Courier New"/>
                          <a:sym typeface="Courier New"/>
                        </a:rPr>
                        <a:t>y_test</a:t>
                      </a:r>
                      <a:endParaRPr b="1">
                        <a:latin typeface="Courier New"/>
                        <a:ea typeface="Courier New"/>
                        <a:cs typeface="Courier New"/>
                        <a:sym typeface="Courier New"/>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0B050"/>
                    </a:solidFill>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peach</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marR="0" rtl="0" algn="l">
                        <a:lnSpc>
                          <a:spcPct val="100000"/>
                        </a:lnSpc>
                        <a:spcBef>
                          <a:spcPts val="0"/>
                        </a:spcBef>
                        <a:spcAft>
                          <a:spcPts val="0"/>
                        </a:spcAft>
                        <a:buNone/>
                      </a:pPr>
                      <a:r>
                        <a:rPr b="1" i="0" lang="en-US" sz="1200" u="none" cap="none" strike="noStrike">
                          <a:solidFill>
                            <a:srgbClr val="000000"/>
                          </a:solidFill>
                          <a:latin typeface="Courier New"/>
                          <a:ea typeface="Courier New"/>
                          <a:cs typeface="Courier New"/>
                          <a:sym typeface="Courier New"/>
                        </a:rPr>
                        <a:t>y_pred</a:t>
                      </a:r>
                      <a:endParaRPr b="1" i="0" sz="1200" u="none" cap="none" strike="noStrike">
                        <a:solidFill>
                          <a:srgbClr val="000000"/>
                        </a:solidFill>
                        <a:latin typeface="Courier New"/>
                        <a:ea typeface="Courier New"/>
                        <a:cs typeface="Courier New"/>
                        <a:sym typeface="Courier New"/>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r>
              <a:tr h="261900">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 </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0x558690</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0B0F0"/>
                    </a:solidFill>
                  </a:tcPr>
                </a:tc>
                <a:tc>
                  <a:txBody>
                    <a:bodyPr/>
                    <a:lstStyle/>
                    <a:p>
                      <a:pPr indent="0" lvl="0" marL="0" marR="0" rtl="0" algn="r">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2</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0B0F0"/>
                    </a:solidFill>
                  </a:tcPr>
                </a:tc>
                <a:tc>
                  <a:txBody>
                    <a:bodyPr/>
                    <a:lstStyle/>
                    <a:p>
                      <a:pPr indent="0" lvl="0" marL="0" marR="0" rtl="0" algn="r">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3</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0B0F0"/>
                    </a:solidFill>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pear</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0B050"/>
                    </a:solidFill>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 </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apple</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 </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r>
              <a:tr h="261900">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 </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 </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 </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 </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 </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 </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 </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i="0" lang="en-US" sz="1200" u="none" cap="none" strike="noStrike">
                          <a:solidFill>
                            <a:srgbClr val="000000"/>
                          </a:solidFill>
                          <a:latin typeface="Proxima Nova"/>
                          <a:ea typeface="Proxima Nova"/>
                          <a:cs typeface="Proxima Nova"/>
                          <a:sym typeface="Proxima Nova"/>
                        </a:rPr>
                        <a:t> </a:t>
                      </a:r>
                      <a:endParaRPr>
                        <a:latin typeface="Proxima Nova"/>
                        <a:ea typeface="Proxima Nova"/>
                        <a:cs typeface="Proxima Nova"/>
                        <a:sym typeface="Proxima Nova"/>
                      </a:endParaRPr>
                    </a:p>
                  </a:txBody>
                  <a:tcPr marT="9525" marB="0" marR="9525" marL="95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230" name="Google Shape;230;p26"/>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transition>
    <p:fade thruBlk="1"/>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7"/>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4400"/>
              <a:buNone/>
            </a:pPr>
            <a:r>
              <a:rPr lang="en-US">
                <a:solidFill>
                  <a:schemeClr val="hlink"/>
                </a:solidFill>
              </a:rPr>
              <a:t>ML</a:t>
            </a:r>
            <a:r>
              <a:rPr lang="en-US"/>
              <a:t>: the process</a:t>
            </a:r>
            <a:endParaRPr/>
          </a:p>
        </p:txBody>
      </p:sp>
      <p:sp>
        <p:nvSpPr>
          <p:cNvPr id="237" name="Google Shape;237;p27"/>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latin typeface="Proxima Nova"/>
                <a:ea typeface="Proxima Nova"/>
                <a:cs typeface="Proxima Nova"/>
                <a:sym typeface="Proxima Nova"/>
              </a:rPr>
              <a:t>‹#›</a:t>
            </a:fld>
            <a:endParaRPr>
              <a:latin typeface="Proxima Nova"/>
              <a:ea typeface="Proxima Nova"/>
              <a:cs typeface="Proxima Nova"/>
              <a:sym typeface="Proxima Nova"/>
            </a:endParaRPr>
          </a:p>
        </p:txBody>
      </p:sp>
      <p:sp>
        <p:nvSpPr>
          <p:cNvPr id="238" name="Google Shape;238;p27"/>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800"/>
              <a:buFont typeface="Arial"/>
              <a:buNone/>
            </a:pPr>
            <a:r>
              <a:rPr lang="en-US" sz="1400">
                <a:solidFill>
                  <a:schemeClr val="dk1"/>
                </a:solidFill>
              </a:rPr>
              <a:t>The process of supervised ML is pretty simple. There are only a few steps:</a:t>
            </a:r>
            <a:endParaRPr sz="1400">
              <a:solidFill>
                <a:schemeClr val="dk1"/>
              </a:solidFill>
            </a:endParaRPr>
          </a:p>
          <a:p>
            <a:pPr indent="0" lvl="0" marL="0" rtl="0" algn="l">
              <a:spcBef>
                <a:spcPts val="0"/>
              </a:spcBef>
              <a:spcAft>
                <a:spcPts val="0"/>
              </a:spcAft>
              <a:buClr>
                <a:schemeClr val="dk1"/>
              </a:buClr>
              <a:buSzPts val="2800"/>
              <a:buFont typeface="Arial"/>
              <a:buNone/>
            </a:pPr>
            <a:r>
              <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US" sz="1400">
                <a:solidFill>
                  <a:schemeClr val="dk1"/>
                </a:solidFill>
              </a:rPr>
              <a:t>Wrangle (including a couple you haven't seen yet):</a:t>
            </a:r>
            <a:endParaRPr sz="1400">
              <a:solidFill>
                <a:schemeClr val="dk1"/>
              </a:solidFill>
            </a:endParaRPr>
          </a:p>
          <a:p>
            <a:pPr indent="-317500" lvl="1" marL="914400" rtl="0" algn="l">
              <a:spcBef>
                <a:spcPts val="0"/>
              </a:spcBef>
              <a:spcAft>
                <a:spcPts val="0"/>
              </a:spcAft>
              <a:buClr>
                <a:schemeClr val="dk1"/>
              </a:buClr>
              <a:buSzPts val="1400"/>
              <a:buAutoNum type="alphaLcPeriod"/>
            </a:pPr>
            <a:r>
              <a:rPr lang="en-US" sz="1400">
                <a:solidFill>
                  <a:schemeClr val="dk1"/>
                </a:solidFill>
              </a:rPr>
              <a:t>formatting, NaN and nulls, dupes, etc.</a:t>
            </a:r>
            <a:endParaRPr sz="1400">
              <a:solidFill>
                <a:schemeClr val="dk1"/>
              </a:solidFill>
            </a:endParaRPr>
          </a:p>
          <a:p>
            <a:pPr indent="-317500" lvl="1" marL="914400" rtl="0" algn="l">
              <a:spcBef>
                <a:spcPts val="0"/>
              </a:spcBef>
              <a:spcAft>
                <a:spcPts val="0"/>
              </a:spcAft>
              <a:buClr>
                <a:schemeClr val="dk1"/>
              </a:buClr>
              <a:buSzPts val="1400"/>
              <a:buAutoNum type="alphaLcPeriod"/>
            </a:pPr>
            <a:r>
              <a:rPr lang="en-US" sz="1400">
                <a:solidFill>
                  <a:schemeClr val="dk1"/>
                </a:solidFill>
              </a:rPr>
              <a:t>Separate into feature matrix and target vector</a:t>
            </a:r>
            <a:endParaRPr sz="1400">
              <a:solidFill>
                <a:schemeClr val="dk1"/>
              </a:solidFill>
            </a:endParaRPr>
          </a:p>
          <a:p>
            <a:pPr indent="-317500" lvl="1" marL="914400" rtl="0" algn="l">
              <a:spcBef>
                <a:spcPts val="0"/>
              </a:spcBef>
              <a:spcAft>
                <a:spcPts val="0"/>
              </a:spcAft>
              <a:buClr>
                <a:schemeClr val="dk1"/>
              </a:buClr>
              <a:buSzPts val="1400"/>
              <a:buAutoNum type="alphaLcPeriod"/>
            </a:pPr>
            <a:r>
              <a:rPr lang="en-US" sz="1400">
                <a:solidFill>
                  <a:schemeClr val="dk1"/>
                </a:solidFill>
              </a:rPr>
              <a:t>Split into training and testing</a:t>
            </a:r>
            <a:endParaRPr sz="1400">
              <a:solidFill>
                <a:schemeClr val="dk1"/>
              </a:solidFill>
            </a:endParaRPr>
          </a:p>
          <a:p>
            <a:pPr indent="-317500" lvl="1" marL="914400" rtl="0" algn="l">
              <a:spcBef>
                <a:spcPts val="0"/>
              </a:spcBef>
              <a:spcAft>
                <a:spcPts val="0"/>
              </a:spcAft>
              <a:buClr>
                <a:schemeClr val="dk1"/>
              </a:buClr>
              <a:buSzPts val="1400"/>
              <a:buAutoNum type="alphaLcPeriod"/>
            </a:pPr>
            <a:r>
              <a:rPr lang="en-US" sz="1400">
                <a:solidFill>
                  <a:schemeClr val="dk1"/>
                </a:solidFill>
              </a:rPr>
              <a:t>(If necessary) transform the feature matrix</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US" sz="1400">
                <a:solidFill>
                  <a:schemeClr val="dk1"/>
                </a:solidFill>
              </a:rPr>
              <a:t>Train the model</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US" sz="1400">
                <a:solidFill>
                  <a:schemeClr val="dk1"/>
                </a:solidFill>
              </a:rPr>
              <a:t>Application of the model - i.e. predict and validate</a:t>
            </a:r>
            <a:endParaRPr sz="14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8"/>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4400"/>
              <a:buNone/>
            </a:pPr>
            <a:r>
              <a:rPr lang="en-US"/>
              <a:t>ML: algorithmic approaches</a:t>
            </a:r>
            <a:endParaRPr/>
          </a:p>
        </p:txBody>
      </p:sp>
      <p:sp>
        <p:nvSpPr>
          <p:cNvPr id="245" name="Google Shape;245;p28"/>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246" name="Google Shape;246;p28"/>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500">
                <a:solidFill>
                  <a:schemeClr val="dk1"/>
                </a:solidFill>
              </a:rPr>
              <a:t>Unsurprisingly, there are many algorithmic approaches to ML - including but not limited to:</a:t>
            </a:r>
            <a:endParaRPr sz="1500">
              <a:solidFill>
                <a:schemeClr val="dk1"/>
              </a:solidFill>
            </a:endParaRPr>
          </a:p>
          <a:p>
            <a:pPr indent="-323850" lvl="0" marL="457200" rtl="0" algn="l">
              <a:spcBef>
                <a:spcPts val="0"/>
              </a:spcBef>
              <a:spcAft>
                <a:spcPts val="0"/>
              </a:spcAft>
              <a:buClr>
                <a:schemeClr val="dk1"/>
              </a:buClr>
              <a:buSzPts val="1500"/>
              <a:buChar char="•"/>
            </a:pPr>
            <a:r>
              <a:rPr lang="en-US" sz="1500">
                <a:solidFill>
                  <a:schemeClr val="dk1"/>
                </a:solidFill>
              </a:rPr>
              <a:t>Neural networks</a:t>
            </a:r>
            <a:endParaRPr sz="1500">
              <a:solidFill>
                <a:schemeClr val="dk1"/>
              </a:solidFill>
            </a:endParaRPr>
          </a:p>
          <a:p>
            <a:pPr indent="-323850" lvl="0" marL="457200" rtl="0" algn="l">
              <a:spcBef>
                <a:spcPts val="0"/>
              </a:spcBef>
              <a:spcAft>
                <a:spcPts val="0"/>
              </a:spcAft>
              <a:buClr>
                <a:schemeClr val="dk1"/>
              </a:buClr>
              <a:buSzPts val="1500"/>
              <a:buChar char="•"/>
            </a:pPr>
            <a:r>
              <a:rPr lang="en-US" sz="1500">
                <a:solidFill>
                  <a:schemeClr val="dk1"/>
                </a:solidFill>
              </a:rPr>
              <a:t>Naïve Bayes</a:t>
            </a:r>
            <a:endParaRPr sz="1500">
              <a:solidFill>
                <a:schemeClr val="dk1"/>
              </a:solidFill>
            </a:endParaRPr>
          </a:p>
          <a:p>
            <a:pPr indent="-323850" lvl="0" marL="457200" rtl="0" algn="l">
              <a:spcBef>
                <a:spcPts val="0"/>
              </a:spcBef>
              <a:spcAft>
                <a:spcPts val="0"/>
              </a:spcAft>
              <a:buClr>
                <a:schemeClr val="dk1"/>
              </a:buClr>
              <a:buSzPts val="1500"/>
              <a:buChar char="•"/>
            </a:pPr>
            <a:r>
              <a:rPr lang="en-US" sz="1500">
                <a:solidFill>
                  <a:schemeClr val="dk1"/>
                </a:solidFill>
              </a:rPr>
              <a:t>Logistic / Linear regression</a:t>
            </a:r>
            <a:endParaRPr sz="1500">
              <a:solidFill>
                <a:schemeClr val="dk1"/>
              </a:solidFill>
            </a:endParaRPr>
          </a:p>
          <a:p>
            <a:pPr indent="-323850" lvl="0" marL="457200" rtl="0" algn="l">
              <a:spcBef>
                <a:spcPts val="0"/>
              </a:spcBef>
              <a:spcAft>
                <a:spcPts val="0"/>
              </a:spcAft>
              <a:buClr>
                <a:schemeClr val="dk1"/>
              </a:buClr>
              <a:buSzPts val="1500"/>
              <a:buChar char="•"/>
            </a:pPr>
            <a:r>
              <a:rPr lang="en-US" sz="1500">
                <a:solidFill>
                  <a:schemeClr val="dk1"/>
                </a:solidFill>
              </a:rPr>
              <a:t>Decision Trees</a:t>
            </a:r>
            <a:endParaRPr sz="1500">
              <a:solidFill>
                <a:schemeClr val="dk1"/>
              </a:solidFill>
            </a:endParaRPr>
          </a:p>
          <a:p>
            <a:pPr indent="-323850" lvl="0" marL="457200" rtl="0" algn="l">
              <a:spcBef>
                <a:spcPts val="0"/>
              </a:spcBef>
              <a:spcAft>
                <a:spcPts val="0"/>
              </a:spcAft>
              <a:buClr>
                <a:schemeClr val="dk1"/>
              </a:buClr>
              <a:buSzPts val="1500"/>
              <a:buChar char="•"/>
            </a:pPr>
            <a:r>
              <a:rPr lang="en-US" sz="1500">
                <a:solidFill>
                  <a:schemeClr val="dk1"/>
                </a:solidFill>
              </a:rPr>
              <a:t>Support Vector Machines (SVM)</a:t>
            </a:r>
            <a:endParaRPr sz="1500">
              <a:solidFill>
                <a:schemeClr val="dk1"/>
              </a:solidFill>
            </a:endParaRPr>
          </a:p>
          <a:p>
            <a:pPr indent="-323850" lvl="0" marL="457200" rtl="0" algn="l">
              <a:spcBef>
                <a:spcPts val="0"/>
              </a:spcBef>
              <a:spcAft>
                <a:spcPts val="0"/>
              </a:spcAft>
              <a:buClr>
                <a:schemeClr val="dk1"/>
              </a:buClr>
              <a:buSzPts val="1500"/>
              <a:buChar char="•"/>
            </a:pPr>
            <a:r>
              <a:rPr lang="en-US" sz="1500">
                <a:solidFill>
                  <a:schemeClr val="dk1"/>
                </a:solidFill>
              </a:rPr>
              <a:t>K-nearest neighbors (KNN)</a:t>
            </a:r>
            <a:endParaRPr sz="1500">
              <a:solidFill>
                <a:schemeClr val="dk1"/>
              </a:solidFill>
            </a:endParaRPr>
          </a:p>
          <a:p>
            <a:pPr indent="0" lvl="0" marL="0" rtl="0" algn="l">
              <a:spcBef>
                <a:spcPts val="0"/>
              </a:spcBef>
              <a:spcAft>
                <a:spcPts val="0"/>
              </a:spcAft>
              <a:buClr>
                <a:schemeClr val="dk1"/>
              </a:buClr>
              <a:buSzPts val="3200"/>
              <a:buFont typeface="Arial"/>
              <a:buNone/>
            </a:pPr>
            <a:r>
              <a:t/>
            </a:r>
            <a:endParaRPr sz="1500">
              <a:solidFill>
                <a:schemeClr val="dk1"/>
              </a:solidFill>
            </a:endParaRPr>
          </a:p>
          <a:p>
            <a:pPr indent="0" lvl="0" marL="0" rtl="0" algn="l">
              <a:spcBef>
                <a:spcPts val="0"/>
              </a:spcBef>
              <a:spcAft>
                <a:spcPts val="0"/>
              </a:spcAft>
              <a:buNone/>
            </a:pPr>
            <a:r>
              <a:rPr lang="en-US" sz="1500">
                <a:solidFill>
                  <a:schemeClr val="dk1"/>
                </a:solidFill>
              </a:rPr>
              <a:t>Let's begin by exploring just one of these: </a:t>
            </a:r>
            <a:r>
              <a:rPr b="1" lang="en-US" sz="1500">
                <a:solidFill>
                  <a:schemeClr val="dk1"/>
                </a:solidFill>
              </a:rPr>
              <a:t>K-nearest neighbors</a:t>
            </a:r>
            <a:r>
              <a:rPr lang="en-US" sz="1500">
                <a:solidFill>
                  <a:schemeClr val="dk1"/>
                </a:solidFill>
              </a:rPr>
              <a:t>. Note that while you can use KNN as a supervised regressor, the examples in this class will only use it as a </a:t>
            </a:r>
            <a:r>
              <a:rPr b="1" lang="en-US" sz="1500">
                <a:solidFill>
                  <a:schemeClr val="dk1"/>
                </a:solidFill>
              </a:rPr>
              <a:t>supervised classifier</a:t>
            </a:r>
            <a:r>
              <a:rPr lang="en-US" sz="1500">
                <a:solidFill>
                  <a:schemeClr val="dk1"/>
                </a:solidFill>
              </a:rPr>
              <a:t>.</a:t>
            </a:r>
            <a:endParaRPr sz="15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9"/>
          <p:cNvSpPr txBox="1"/>
          <p:nvPr>
            <p:ph type="title"/>
          </p:nvPr>
        </p:nvSpPr>
        <p:spPr>
          <a:xfrm>
            <a:off x="722313" y="3305175"/>
            <a:ext cx="7772400" cy="1021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K-NEAREST NEIGHBORS</a:t>
            </a:r>
            <a:endParaRPr/>
          </a:p>
        </p:txBody>
      </p:sp>
      <p:sp>
        <p:nvSpPr>
          <p:cNvPr id="253" name="Google Shape;253;p29"/>
          <p:cNvSpPr txBox="1"/>
          <p:nvPr>
            <p:ph idx="1" type="body"/>
          </p:nvPr>
        </p:nvSpPr>
        <p:spPr>
          <a:xfrm>
            <a:off x="722313" y="2180035"/>
            <a:ext cx="7772400" cy="1125000"/>
          </a:xfrm>
          <a:prstGeom prst="rect">
            <a:avLst/>
          </a:prstGeom>
        </p:spPr>
        <p:txBody>
          <a:bodyPr anchorCtr="0" anchor="b" bIns="45700" lIns="91425" spcFirstLastPara="1" rIns="91425" wrap="square" tIns="45700">
            <a:noAutofit/>
          </a:bodyPr>
          <a:lstStyle/>
          <a:p>
            <a:pPr indent="0" lvl="0" marL="0" rtl="0" algn="l">
              <a:spcBef>
                <a:spcPts val="400"/>
              </a:spcBef>
              <a:spcAft>
                <a:spcPts val="0"/>
              </a:spcAft>
              <a:buNone/>
            </a:pPr>
            <a:r>
              <a:t/>
            </a:r>
            <a:endParaRPr/>
          </a:p>
        </p:txBody>
      </p:sp>
      <p:sp>
        <p:nvSpPr>
          <p:cNvPr id="254" name="Google Shape;254;p29"/>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0"/>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4400"/>
              <a:buNone/>
            </a:pPr>
            <a:r>
              <a:rPr lang="en-US"/>
              <a:t>ML: KNN intuition</a:t>
            </a:r>
            <a:endParaRPr/>
          </a:p>
        </p:txBody>
      </p:sp>
      <p:sp>
        <p:nvSpPr>
          <p:cNvPr id="261" name="Google Shape;261;p30"/>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latin typeface="Proxima Nova"/>
                <a:ea typeface="Proxima Nova"/>
                <a:cs typeface="Proxima Nova"/>
                <a:sym typeface="Proxima Nova"/>
              </a:rPr>
              <a:t>‹#›</a:t>
            </a:fld>
            <a:endParaRPr>
              <a:latin typeface="Proxima Nova"/>
              <a:ea typeface="Proxima Nova"/>
              <a:cs typeface="Proxima Nova"/>
              <a:sym typeface="Proxima Nova"/>
            </a:endParaRPr>
          </a:p>
        </p:txBody>
      </p:sp>
      <p:sp>
        <p:nvSpPr>
          <p:cNvPr id="262" name="Google Shape;262;p30"/>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000">
                <a:solidFill>
                  <a:schemeClr val="dk1"/>
                </a:solidFill>
              </a:rPr>
              <a:t>The intuition for the K-Nearest Neighbors algorithm is actually very straightforward: you are more likely to be similar to your neighbors than you are to those further away from you. The KNN algorithm simply mathematically formalizes this approach. Given a dataset and a new item, it will attempt to find the closest records in the dataset to that item, at which point it will return the majority classification of the closest records.</a:t>
            </a:r>
            <a:endParaRPr sz="2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1"/>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4400"/>
              <a:buNone/>
            </a:pPr>
            <a:r>
              <a:rPr lang="en-US"/>
              <a:t>ML: KNN visualized</a:t>
            </a:r>
            <a:endParaRPr/>
          </a:p>
        </p:txBody>
      </p:sp>
      <p:sp>
        <p:nvSpPr>
          <p:cNvPr id="268" name="Google Shape;268;p31"/>
          <p:cNvSpPr txBox="1"/>
          <p:nvPr/>
        </p:nvSpPr>
        <p:spPr>
          <a:xfrm>
            <a:off x="444100" y="4154676"/>
            <a:ext cx="8255700" cy="2739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
              <a:buFont typeface="Arial"/>
              <a:buNone/>
            </a:pPr>
            <a:r>
              <a:rPr b="0" i="0" lang="en-US" sz="600" u="none" cap="none" strike="noStrike">
                <a:solidFill>
                  <a:srgbClr val="000000"/>
                </a:solidFill>
                <a:latin typeface="Open Sans"/>
                <a:ea typeface="Open Sans"/>
                <a:cs typeface="Open Sans"/>
                <a:sym typeface="Open Sans"/>
              </a:rPr>
              <a:t>source: https://en.wikipedia.org/wiki/K-nearest_neighbors_algorithm</a:t>
            </a:r>
            <a:endParaRPr b="0" i="0" sz="600" u="none" cap="none" strike="noStrike">
              <a:solidFill>
                <a:srgbClr val="000000"/>
              </a:solidFill>
              <a:latin typeface="Open Sans"/>
              <a:ea typeface="Open Sans"/>
              <a:cs typeface="Open Sans"/>
              <a:sym typeface="Open Sans"/>
            </a:endParaRPr>
          </a:p>
        </p:txBody>
      </p:sp>
      <p:pic>
        <p:nvPicPr>
          <p:cNvPr id="269" name="Google Shape;269;p31"/>
          <p:cNvPicPr preferRelativeResize="0"/>
          <p:nvPr/>
        </p:nvPicPr>
        <p:blipFill rotWithShape="1">
          <a:blip r:embed="rId3">
            <a:alphaModFix/>
          </a:blip>
          <a:srcRect b="0" l="0" r="0" t="0"/>
          <a:stretch/>
        </p:blipFill>
        <p:spPr>
          <a:xfrm>
            <a:off x="4862175" y="1005188"/>
            <a:ext cx="3468825" cy="3133125"/>
          </a:xfrm>
          <a:prstGeom prst="rect">
            <a:avLst/>
          </a:prstGeom>
          <a:noFill/>
          <a:ln>
            <a:noFill/>
          </a:ln>
        </p:spPr>
      </p:pic>
      <p:sp>
        <p:nvSpPr>
          <p:cNvPr id="270" name="Google Shape;270;p31"/>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271" name="Google Shape;271;p31"/>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400"/>
              <a:t>From Wikipedia:</a:t>
            </a:r>
            <a:endParaRPr sz="1400"/>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None/>
            </a:pPr>
            <a:r>
              <a:rPr lang="en-US" sz="1400"/>
              <a:t>Example of k-NN classification. The test sample (green dot) should be classified either to blue squares or to red triangles. If k = 3 (solid line circle) it is assigned to the red triangles because there are 2 triangles and only 1 square inside the inner circle. If k = 5 (dashed line circle) it is assigned to the blue squares (3 squares vs. 2 triangles inside the outer circle).</a:t>
            </a:r>
            <a:endParaRPr sz="14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2"/>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4400"/>
              <a:buNone/>
            </a:pPr>
            <a:r>
              <a:rPr lang="en-US"/>
              <a:t>ML: KNN Training and Prediction</a:t>
            </a:r>
            <a:endParaRPr/>
          </a:p>
        </p:txBody>
      </p:sp>
      <p:sp>
        <p:nvSpPr>
          <p:cNvPr id="278" name="Google Shape;278;p32"/>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279" name="Google Shape;279;p32"/>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sz="1400">
                <a:solidFill>
                  <a:schemeClr val="dk1"/>
                </a:solidFill>
              </a:rPr>
              <a:t>Training Algorithm</a:t>
            </a:r>
            <a:endParaRPr b="1" sz="1400">
              <a:solidFill>
                <a:schemeClr val="dk1"/>
              </a:solidFill>
            </a:endParaRPr>
          </a:p>
          <a:p>
            <a:pPr indent="0" lvl="0" marL="0" rtl="0" algn="l">
              <a:spcBef>
                <a:spcPts val="0"/>
              </a:spcBef>
              <a:spcAft>
                <a:spcPts val="0"/>
              </a:spcAft>
              <a:buNone/>
            </a:pPr>
            <a:r>
              <a:rPr lang="en-US" sz="1400">
                <a:solidFill>
                  <a:schemeClr val="dk1"/>
                </a:solidFill>
              </a:rPr>
              <a:t>Initialization:</a:t>
            </a:r>
            <a:endParaRPr sz="1400">
              <a:solidFill>
                <a:schemeClr val="dk1"/>
              </a:solidFill>
            </a:endParaRPr>
          </a:p>
          <a:p>
            <a:pPr indent="-317500" lvl="0" marL="457200" rtl="0" algn="l">
              <a:spcBef>
                <a:spcPts val="0"/>
              </a:spcBef>
              <a:spcAft>
                <a:spcPts val="0"/>
              </a:spcAft>
              <a:buClr>
                <a:schemeClr val="dk1"/>
              </a:buClr>
              <a:buSzPts val="1400"/>
              <a:buChar char="•"/>
            </a:pPr>
            <a:r>
              <a:rPr lang="en-US" sz="1400">
                <a:solidFill>
                  <a:schemeClr val="dk1"/>
                </a:solidFill>
              </a:rPr>
              <a:t>Choose a value for k.</a:t>
            </a:r>
            <a:endParaRPr sz="1400">
              <a:solidFill>
                <a:schemeClr val="dk1"/>
              </a:solidFill>
            </a:endParaRPr>
          </a:p>
          <a:p>
            <a:pPr indent="-317500" lvl="0" marL="457200" rtl="0" algn="l">
              <a:spcBef>
                <a:spcPts val="0"/>
              </a:spcBef>
              <a:spcAft>
                <a:spcPts val="0"/>
              </a:spcAft>
              <a:buClr>
                <a:schemeClr val="dk1"/>
              </a:buClr>
              <a:buSzPts val="1400"/>
              <a:buChar char="•"/>
            </a:pPr>
            <a:r>
              <a:rPr lang="en-US" sz="1400">
                <a:solidFill>
                  <a:schemeClr val="dk1"/>
                </a:solidFill>
              </a:rPr>
              <a:t>Each datapoint in the training set is placed in n-dimensional space</a:t>
            </a:r>
            <a:endParaRPr sz="1400">
              <a:solidFill>
                <a:schemeClr val="dk1"/>
              </a:solidFill>
            </a:endParaRPr>
          </a:p>
          <a:p>
            <a:pPr indent="-317500" lvl="0" marL="457200" rtl="0" algn="l">
              <a:spcBef>
                <a:spcPts val="0"/>
              </a:spcBef>
              <a:spcAft>
                <a:spcPts val="0"/>
              </a:spcAft>
              <a:buClr>
                <a:schemeClr val="dk1"/>
              </a:buClr>
              <a:buSzPts val="1400"/>
              <a:buChar char="•"/>
            </a:pPr>
            <a:r>
              <a:rPr lang="en-US" sz="1400">
                <a:solidFill>
                  <a:schemeClr val="dk1"/>
                </a:solidFill>
              </a:rPr>
              <a:t>(That's literally it. KNN is simple.)</a:t>
            </a:r>
            <a:endParaRPr sz="1400">
              <a:solidFill>
                <a:schemeClr val="dk1"/>
              </a:solidFill>
            </a:endParaRPr>
          </a:p>
        </p:txBody>
      </p:sp>
      <p:sp>
        <p:nvSpPr>
          <p:cNvPr id="280" name="Google Shape;280;p32"/>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sz="1400">
                <a:solidFill>
                  <a:schemeClr val="dk1"/>
                </a:solidFill>
              </a:rPr>
              <a:t>Prediction from the Model</a:t>
            </a:r>
            <a:endParaRPr b="1" sz="1400">
              <a:solidFill>
                <a:schemeClr val="dk1"/>
              </a:solidFill>
            </a:endParaRPr>
          </a:p>
          <a:p>
            <a:pPr indent="0" lvl="0" marL="0" rtl="0" algn="l">
              <a:spcBef>
                <a:spcPts val="0"/>
              </a:spcBef>
              <a:spcAft>
                <a:spcPts val="0"/>
              </a:spcAft>
              <a:buNone/>
            </a:pPr>
            <a:r>
              <a:rPr lang="en-US" sz="1400">
                <a:solidFill>
                  <a:schemeClr val="dk1"/>
                </a:solidFill>
              </a:rPr>
              <a:t>F</a:t>
            </a:r>
            <a:r>
              <a:rPr lang="en-US" sz="1400">
                <a:solidFill>
                  <a:schemeClr val="dk1"/>
                </a:solidFill>
              </a:rPr>
              <a:t>or each new record:</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US" sz="1400">
                <a:solidFill>
                  <a:schemeClr val="dk1"/>
                </a:solidFill>
              </a:rPr>
              <a:t>Calculate </a:t>
            </a:r>
            <a:r>
              <a:rPr lang="en-US" sz="1400">
                <a:solidFill>
                  <a:schemeClr val="dk1"/>
                </a:solidFill>
              </a:rPr>
              <a:t>the sum of differences</a:t>
            </a:r>
            <a:r>
              <a:rPr lang="en-US" sz="1400">
                <a:solidFill>
                  <a:schemeClr val="dk1"/>
                </a:solidFill>
              </a:rPr>
              <a:t> between the new record and all the training-set records.</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US" sz="1400">
                <a:solidFill>
                  <a:schemeClr val="dk1"/>
                </a:solidFill>
              </a:rPr>
              <a:t>Sort the sum of differences.</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US" sz="1400">
                <a:solidFill>
                  <a:schemeClr val="dk1"/>
                </a:solidFill>
              </a:rPr>
              <a:t>Select the first k records corresponding to those sum of differences.</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US" sz="1400">
                <a:solidFill>
                  <a:schemeClr val="dk1"/>
                </a:solidFill>
              </a:rPr>
              <a:t>Find the most common label in those records.</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US" sz="1400">
                <a:solidFill>
                  <a:schemeClr val="dk1"/>
                </a:solidFill>
              </a:rPr>
              <a:t>Return that label: the prediction.</a:t>
            </a:r>
            <a:endParaRPr sz="1400">
              <a:solidFill>
                <a:schemeClr val="dk1"/>
              </a:solidFill>
            </a:endParaRPr>
          </a:p>
          <a:p>
            <a:pPr indent="0" lvl="0" marL="0" rtl="0" algn="l">
              <a:spcBef>
                <a:spcPts val="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3"/>
          <p:cNvSpPr txBox="1"/>
          <p:nvPr>
            <p:ph type="title"/>
          </p:nvPr>
        </p:nvSpPr>
        <p:spPr>
          <a:xfrm>
            <a:off x="722313" y="3305175"/>
            <a:ext cx="7772400" cy="1021500"/>
          </a:xfrm>
          <a:prstGeom prst="rect">
            <a:avLst/>
          </a:prstGeom>
          <a:noFill/>
          <a:ln>
            <a:noFill/>
          </a:ln>
        </p:spPr>
        <p:txBody>
          <a:bodyPr anchorCtr="0" anchor="t" bIns="45700" lIns="91425" spcFirstLastPara="1" rIns="91425" wrap="square" tIns="45700">
            <a:noAutofit/>
          </a:bodyPr>
          <a:lstStyle/>
          <a:p>
            <a:pPr indent="0" lvl="0" marL="0" rtl="0" algn="l">
              <a:lnSpc>
                <a:spcPct val="85000"/>
              </a:lnSpc>
              <a:spcBef>
                <a:spcPts val="0"/>
              </a:spcBef>
              <a:spcAft>
                <a:spcPts val="0"/>
              </a:spcAft>
              <a:buClr>
                <a:srgbClr val="990000"/>
              </a:buClr>
              <a:buSzPts val="4000"/>
              <a:buFont typeface="Arial"/>
              <a:buNone/>
            </a:pPr>
            <a:r>
              <a:rPr lang="en-US"/>
              <a:t>SCIKIT-LEARN</a:t>
            </a:r>
            <a:endParaRPr/>
          </a:p>
        </p:txBody>
      </p:sp>
      <p:sp>
        <p:nvSpPr>
          <p:cNvPr id="286" name="Google Shape;286;p33"/>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4"/>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4400"/>
              <a:buNone/>
            </a:pPr>
            <a:r>
              <a:rPr lang="en-US"/>
              <a:t>scikit-learn: the basics</a:t>
            </a:r>
            <a:endParaRPr/>
          </a:p>
        </p:txBody>
      </p:sp>
      <p:sp>
        <p:nvSpPr>
          <p:cNvPr id="293" name="Google Shape;293;p34"/>
          <p:cNvSpPr txBox="1"/>
          <p:nvPr>
            <p:ph idx="2" type="body"/>
          </p:nvPr>
        </p:nvSpPr>
        <p:spPr>
          <a:xfrm>
            <a:off x="4650575" y="998800"/>
            <a:ext cx="4456500" cy="3414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solidFill>
                  <a:schemeClr val="dk1"/>
                </a:solidFill>
              </a:rPr>
              <a:t>Important features of scikit-learn:</a:t>
            </a:r>
            <a:endParaRPr>
              <a:solidFill>
                <a:schemeClr val="dk1"/>
              </a:solidFill>
            </a:endParaRPr>
          </a:p>
          <a:p>
            <a:pPr indent="-330200" lvl="0" marL="457200" rtl="0" algn="l">
              <a:spcBef>
                <a:spcPts val="0"/>
              </a:spcBef>
              <a:spcAft>
                <a:spcPts val="0"/>
              </a:spcAft>
              <a:buClr>
                <a:schemeClr val="dk1"/>
              </a:buClr>
              <a:buSzPts val="1600"/>
              <a:buChar char="•"/>
            </a:pPr>
            <a:r>
              <a:rPr lang="en-US">
                <a:solidFill>
                  <a:schemeClr val="dk1"/>
                </a:solidFill>
              </a:rPr>
              <a:t>Simple and efficient tools for data mining and data analysis. including various classification, regression and clustering algorithms.</a:t>
            </a:r>
            <a:endParaRPr>
              <a:solidFill>
                <a:schemeClr val="dk1"/>
              </a:solidFill>
            </a:endParaRPr>
          </a:p>
          <a:p>
            <a:pPr indent="-330200" lvl="0" marL="457200" rtl="0" algn="l">
              <a:spcBef>
                <a:spcPts val="0"/>
              </a:spcBef>
              <a:spcAft>
                <a:spcPts val="0"/>
              </a:spcAft>
              <a:buClr>
                <a:schemeClr val="dk1"/>
              </a:buClr>
              <a:buSzPts val="1600"/>
              <a:buChar char="•"/>
            </a:pPr>
            <a:r>
              <a:rPr lang="en-US">
                <a:solidFill>
                  <a:schemeClr val="dk1"/>
                </a:solidFill>
              </a:rPr>
              <a:t>Open source, commercially usable – BSD license.</a:t>
            </a:r>
            <a:endParaRPr>
              <a:solidFill>
                <a:schemeClr val="dk1"/>
              </a:solidFill>
            </a:endParaRPr>
          </a:p>
          <a:p>
            <a:pPr indent="-330200" lvl="0" marL="457200" rtl="0" algn="l">
              <a:spcBef>
                <a:spcPts val="0"/>
              </a:spcBef>
              <a:spcAft>
                <a:spcPts val="0"/>
              </a:spcAft>
              <a:buClr>
                <a:schemeClr val="dk1"/>
              </a:buClr>
              <a:buSzPts val="1600"/>
              <a:buChar char="•"/>
            </a:pPr>
            <a:r>
              <a:rPr lang="en-US">
                <a:solidFill>
                  <a:schemeClr val="dk1"/>
                </a:solidFill>
              </a:rPr>
              <a:t>Built on the top of NumPy.</a:t>
            </a:r>
            <a:endParaRPr>
              <a:solidFill>
                <a:schemeClr val="dk1"/>
              </a:solidFill>
            </a:endParaRPr>
          </a:p>
        </p:txBody>
      </p:sp>
      <p:sp>
        <p:nvSpPr>
          <p:cNvPr id="294" name="Google Shape;294;p34"/>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latin typeface="Proxima Nova"/>
                <a:ea typeface="Proxima Nova"/>
                <a:cs typeface="Proxima Nova"/>
                <a:sym typeface="Proxima Nova"/>
              </a:rPr>
              <a:t>‹#›</a:t>
            </a:fld>
            <a:endParaRPr>
              <a:latin typeface="Proxima Nova"/>
              <a:ea typeface="Proxima Nova"/>
              <a:cs typeface="Proxima Nova"/>
              <a:sym typeface="Proxima Nova"/>
            </a:endParaRPr>
          </a:p>
        </p:txBody>
      </p:sp>
      <p:sp>
        <p:nvSpPr>
          <p:cNvPr id="295" name="Google Shape;295;p34"/>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800"/>
              <a:buFont typeface="Arial"/>
              <a:buNone/>
            </a:pPr>
            <a:r>
              <a:rPr b="1" lang="en-US">
                <a:solidFill>
                  <a:schemeClr val="dk1"/>
                </a:solidFill>
              </a:rPr>
              <a:t>scikit-learn</a:t>
            </a:r>
            <a:r>
              <a:rPr lang="en-US">
                <a:solidFill>
                  <a:schemeClr val="dk1"/>
                </a:solidFill>
              </a:rPr>
              <a:t> (also called sklearn) is an open source Python library that implements a range of machine learning, pre-processing, cross-validation, and visualization algorithms using a unified interface.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5"/>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4400"/>
              <a:buNone/>
            </a:pPr>
            <a:r>
              <a:rPr lang="en-US">
                <a:solidFill>
                  <a:schemeClr val="hlink"/>
                </a:solidFill>
              </a:rPr>
              <a:t>scikit-learn</a:t>
            </a:r>
            <a:r>
              <a:rPr lang="en-US"/>
              <a:t>: installation</a:t>
            </a:r>
            <a:endParaRPr/>
          </a:p>
        </p:txBody>
      </p:sp>
      <p:sp>
        <p:nvSpPr>
          <p:cNvPr id="302" name="Google Shape;302;p35"/>
          <p:cNvSpPr txBox="1"/>
          <p:nvPr>
            <p:ph idx="2" type="body"/>
          </p:nvPr>
        </p:nvSpPr>
        <p:spPr>
          <a:xfrm>
            <a:off x="4650575" y="998800"/>
            <a:ext cx="4456500" cy="3414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lang="en-US" sz="1000">
                <a:solidFill>
                  <a:schemeClr val="dk1"/>
                </a:solidFill>
                <a:latin typeface="Courier New"/>
                <a:ea typeface="Courier New"/>
                <a:cs typeface="Courier New"/>
                <a:sym typeface="Courier New"/>
              </a:rPr>
              <a:t>import numpy as np</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1100"/>
              <a:buNone/>
            </a:pPr>
            <a:r>
              <a:rPr lang="en-US" sz="1000">
                <a:solidFill>
                  <a:schemeClr val="dk1"/>
                </a:solidFill>
                <a:latin typeface="Courier New"/>
                <a:ea typeface="Courier New"/>
                <a:cs typeface="Courier New"/>
                <a:sym typeface="Courier New"/>
              </a:rPr>
              <a:t>import pandas as pd</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1100"/>
              <a:buNone/>
            </a:pPr>
            <a:r>
              <a:rPr lang="en-US" sz="1000">
                <a:solidFill>
                  <a:schemeClr val="dk1"/>
                </a:solidFill>
                <a:latin typeface="Courier New"/>
                <a:ea typeface="Courier New"/>
                <a:cs typeface="Courier New"/>
                <a:sym typeface="Courier New"/>
              </a:rPr>
              <a:t>import matplotlib.pyplot as plt</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1100"/>
              <a:buNone/>
            </a:pPr>
            <a:r>
              <a:rPr lang="en-US" sz="1000">
                <a:solidFill>
                  <a:schemeClr val="dk1"/>
                </a:solidFill>
                <a:latin typeface="Courier New"/>
                <a:ea typeface="Courier New"/>
                <a:cs typeface="Courier New"/>
                <a:sym typeface="Courier New"/>
              </a:rPr>
              <a:t>from </a:t>
            </a:r>
            <a:r>
              <a:rPr b="1" lang="en-US" sz="1000">
                <a:solidFill>
                  <a:schemeClr val="dk1"/>
                </a:solidFill>
                <a:latin typeface="Courier New"/>
                <a:ea typeface="Courier New"/>
                <a:cs typeface="Courier New"/>
                <a:sym typeface="Courier New"/>
              </a:rPr>
              <a:t>sklearn.model_selection</a:t>
            </a:r>
            <a:r>
              <a:rPr lang="en-US" sz="1000">
                <a:solidFill>
                  <a:schemeClr val="dk1"/>
                </a:solidFill>
                <a:latin typeface="Courier New"/>
                <a:ea typeface="Courier New"/>
                <a:cs typeface="Courier New"/>
                <a:sym typeface="Courier New"/>
              </a:rPr>
              <a:t> import </a:t>
            </a:r>
            <a:r>
              <a:rPr b="1" lang="en-US" sz="1000">
                <a:solidFill>
                  <a:schemeClr val="dk1"/>
                </a:solidFill>
                <a:latin typeface="Courier New"/>
                <a:ea typeface="Courier New"/>
                <a:cs typeface="Courier New"/>
                <a:sym typeface="Courier New"/>
              </a:rPr>
              <a:t>train_test_split</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from </a:t>
            </a:r>
            <a:r>
              <a:rPr b="1" lang="en-US" sz="1000">
                <a:solidFill>
                  <a:schemeClr val="dk1"/>
                </a:solidFill>
                <a:latin typeface="Courier New"/>
                <a:ea typeface="Courier New"/>
                <a:cs typeface="Courier New"/>
                <a:sym typeface="Courier New"/>
              </a:rPr>
              <a:t>sklearn.preprocessing</a:t>
            </a:r>
            <a:r>
              <a:rPr lang="en-US" sz="1000">
                <a:solidFill>
                  <a:schemeClr val="dk1"/>
                </a:solidFill>
                <a:latin typeface="Courier New"/>
                <a:ea typeface="Courier New"/>
                <a:cs typeface="Courier New"/>
                <a:sym typeface="Courier New"/>
              </a:rPr>
              <a:t> import </a:t>
            </a:r>
            <a:r>
              <a:rPr b="1" lang="en-US" sz="1000">
                <a:solidFill>
                  <a:schemeClr val="dk1"/>
                </a:solidFill>
                <a:latin typeface="Courier New"/>
                <a:ea typeface="Courier New"/>
                <a:cs typeface="Courier New"/>
                <a:sym typeface="Courier New"/>
              </a:rPr>
              <a:t>StandardScaler</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SzPts val="1100"/>
              <a:buNone/>
            </a:pPr>
            <a:r>
              <a:rPr lang="en-US" sz="1000">
                <a:solidFill>
                  <a:schemeClr val="dk1"/>
                </a:solidFill>
                <a:latin typeface="Courier New"/>
                <a:ea typeface="Courier New"/>
                <a:cs typeface="Courier New"/>
                <a:sym typeface="Courier New"/>
              </a:rPr>
              <a:t>from </a:t>
            </a:r>
            <a:r>
              <a:rPr b="1" lang="en-US" sz="1000">
                <a:solidFill>
                  <a:schemeClr val="dk1"/>
                </a:solidFill>
                <a:latin typeface="Courier New"/>
                <a:ea typeface="Courier New"/>
                <a:cs typeface="Courier New"/>
                <a:sym typeface="Courier New"/>
              </a:rPr>
              <a:t>sklearn.neighbors</a:t>
            </a:r>
            <a:r>
              <a:rPr lang="en-US" sz="1000">
                <a:solidFill>
                  <a:schemeClr val="dk1"/>
                </a:solidFill>
                <a:latin typeface="Courier New"/>
                <a:ea typeface="Courier New"/>
                <a:cs typeface="Courier New"/>
                <a:sym typeface="Courier New"/>
              </a:rPr>
              <a:t> import </a:t>
            </a:r>
            <a:r>
              <a:rPr b="1" lang="en-US" sz="1000">
                <a:solidFill>
                  <a:schemeClr val="dk1"/>
                </a:solidFill>
                <a:latin typeface="Courier New"/>
                <a:ea typeface="Courier New"/>
                <a:cs typeface="Courier New"/>
                <a:sym typeface="Courier New"/>
              </a:rPr>
              <a:t>KNeighborsClassifier</a:t>
            </a:r>
            <a:endParaRPr sz="1000">
              <a:solidFill>
                <a:schemeClr val="dk1"/>
              </a:solidFill>
              <a:latin typeface="Courier New"/>
              <a:ea typeface="Courier New"/>
              <a:cs typeface="Courier New"/>
              <a:sym typeface="Courier New"/>
            </a:endParaRPr>
          </a:p>
        </p:txBody>
      </p:sp>
      <p:sp>
        <p:nvSpPr>
          <p:cNvPr id="303" name="Google Shape;303;p35"/>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latin typeface="Proxima Nova"/>
                <a:ea typeface="Proxima Nova"/>
                <a:cs typeface="Proxima Nova"/>
                <a:sym typeface="Proxima Nova"/>
              </a:rPr>
              <a:t>‹#›</a:t>
            </a:fld>
            <a:endParaRPr>
              <a:latin typeface="Proxima Nova"/>
              <a:ea typeface="Proxima Nova"/>
              <a:cs typeface="Proxima Nova"/>
              <a:sym typeface="Proxima Nova"/>
            </a:endParaRPr>
          </a:p>
        </p:txBody>
      </p:sp>
      <p:sp>
        <p:nvSpPr>
          <p:cNvPr id="304" name="Google Shape;304;p35"/>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800"/>
              <a:buFont typeface="Arial"/>
              <a:buNone/>
            </a:pPr>
            <a:r>
              <a:rPr lang="en-US">
                <a:solidFill>
                  <a:schemeClr val="dk1"/>
                </a:solidFill>
              </a:rPr>
              <a:t>As usual, you'll need to install this package manually as it doesn't come prepackaged with Python.</a:t>
            </a:r>
            <a:endParaRPr>
              <a:solidFill>
                <a:schemeClr val="dk1"/>
              </a:solidFill>
            </a:endParaRPr>
          </a:p>
          <a:p>
            <a:pPr indent="0" lvl="0" marL="0" rtl="0" algn="l">
              <a:spcBef>
                <a:spcPts val="0"/>
              </a:spcBef>
              <a:spcAft>
                <a:spcPts val="0"/>
              </a:spcAft>
              <a:buClr>
                <a:schemeClr val="dk1"/>
              </a:buClr>
              <a:buSzPts val="2800"/>
              <a:buFont typeface="Arial"/>
              <a:buNone/>
            </a:pPr>
            <a:r>
              <a:t/>
            </a:r>
            <a:endParaRPr>
              <a:solidFill>
                <a:schemeClr val="dk1"/>
              </a:solidFill>
            </a:endParaRPr>
          </a:p>
          <a:p>
            <a:pPr indent="0" lvl="0" marL="0" rtl="0" algn="l">
              <a:spcBef>
                <a:spcPts val="0"/>
              </a:spcBef>
              <a:spcAft>
                <a:spcPts val="0"/>
              </a:spcAft>
              <a:buClr>
                <a:schemeClr val="dk1"/>
              </a:buClr>
              <a:buSzPts val="2800"/>
              <a:buFont typeface="Arial"/>
              <a:buNone/>
            </a:pPr>
            <a:r>
              <a:rPr lang="en-US">
                <a:solidFill>
                  <a:schemeClr val="dk1"/>
                </a:solidFill>
              </a:rPr>
              <a:t>You're going to be working with a particular dataset called </a:t>
            </a:r>
            <a:r>
              <a:rPr b="1" lang="en-US">
                <a:solidFill>
                  <a:schemeClr val="dk1"/>
                </a:solidFill>
              </a:rPr>
              <a:t>iris</a:t>
            </a:r>
            <a:r>
              <a:rPr lang="en-US">
                <a:solidFill>
                  <a:schemeClr val="dk1"/>
                </a:solidFill>
              </a:rPr>
              <a:t> (more on that later) as well as an algorithm called K-Neighbors Classifier, so you should import them as well.</a:t>
            </a:r>
            <a:endParaRPr>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6"/>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4400"/>
              <a:buNone/>
            </a:pPr>
            <a:r>
              <a:rPr lang="en-US">
                <a:solidFill>
                  <a:schemeClr val="hlink"/>
                </a:solidFill>
              </a:rPr>
              <a:t>ML</a:t>
            </a:r>
            <a:r>
              <a:rPr lang="en-US"/>
              <a:t> Step 1a: Wrangle</a:t>
            </a:r>
            <a:endParaRPr/>
          </a:p>
        </p:txBody>
      </p:sp>
      <p:sp>
        <p:nvSpPr>
          <p:cNvPr id="311" name="Google Shape;311;p36"/>
          <p:cNvSpPr txBox="1"/>
          <p:nvPr>
            <p:ph idx="2" type="body"/>
          </p:nvPr>
        </p:nvSpPr>
        <p:spPr>
          <a:xfrm>
            <a:off x="4650575" y="998800"/>
            <a:ext cx="4456500" cy="3414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lang="en-US" sz="1000">
                <a:solidFill>
                  <a:schemeClr val="dk1"/>
                </a:solidFill>
                <a:latin typeface="Courier New"/>
                <a:ea typeface="Courier New"/>
                <a:cs typeface="Courier New"/>
                <a:sym typeface="Courier New"/>
              </a:rPr>
              <a:t>import numpy as np</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1100"/>
              <a:buNone/>
            </a:pPr>
            <a:r>
              <a:rPr lang="en-US" sz="1000">
                <a:solidFill>
                  <a:schemeClr val="dk1"/>
                </a:solidFill>
                <a:latin typeface="Courier New"/>
                <a:ea typeface="Courier New"/>
                <a:cs typeface="Courier New"/>
                <a:sym typeface="Courier New"/>
              </a:rPr>
              <a:t>import pandas as pd</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1100"/>
              <a:buNone/>
            </a:pPr>
            <a:r>
              <a:rPr lang="en-US" sz="1000">
                <a:solidFill>
                  <a:schemeClr val="dk1"/>
                </a:solidFill>
                <a:latin typeface="Courier New"/>
                <a:ea typeface="Courier New"/>
                <a:cs typeface="Courier New"/>
                <a:sym typeface="Courier New"/>
              </a:rPr>
              <a:t>import matplotlib.pyplot as plt</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1100"/>
              <a:buNone/>
            </a:pPr>
            <a:r>
              <a:rPr lang="en-US" sz="1000">
                <a:solidFill>
                  <a:schemeClr val="dk1"/>
                </a:solidFill>
                <a:latin typeface="Courier New"/>
                <a:ea typeface="Courier New"/>
                <a:cs typeface="Courier New"/>
                <a:sym typeface="Courier New"/>
              </a:rPr>
              <a:t>from sklearn.model_selection import train_test_split</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1100"/>
              <a:buNone/>
            </a:pPr>
            <a:r>
              <a:rPr lang="en-US" sz="1000">
                <a:solidFill>
                  <a:schemeClr val="dk1"/>
                </a:solidFill>
                <a:latin typeface="Courier New"/>
                <a:ea typeface="Courier New"/>
                <a:cs typeface="Courier New"/>
                <a:sym typeface="Courier New"/>
              </a:rPr>
              <a:t>from sklearn.preprocessing import StandardScaler</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from sklearn.neighbors import KNeighborsClassifier</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rPr lang="en-US" sz="1000">
                <a:solidFill>
                  <a:schemeClr val="dk1"/>
                </a:solidFill>
                <a:latin typeface="Courier New"/>
                <a:ea typeface="Courier New"/>
                <a:cs typeface="Courier New"/>
                <a:sym typeface="Courier New"/>
              </a:rPr>
              <a:t>def main():</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rPr b="1" lang="en-US" sz="1000">
                <a:solidFill>
                  <a:schemeClr val="dk1"/>
                </a:solidFill>
                <a:latin typeface="Courier New"/>
                <a:ea typeface="Courier New"/>
                <a:cs typeface="Courier New"/>
                <a:sym typeface="Courier New"/>
              </a:rPr>
              <a:t>	file_path = 'iris.csv'</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SzPts val="1100"/>
              <a:buNone/>
            </a:pPr>
            <a:r>
              <a:rPr b="1" lang="en-US" sz="1000">
                <a:solidFill>
                  <a:schemeClr val="dk1"/>
                </a:solidFill>
                <a:latin typeface="Courier New"/>
                <a:ea typeface="Courier New"/>
                <a:cs typeface="Courier New"/>
                <a:sym typeface="Courier New"/>
              </a:rPr>
              <a:t>	df_iris = pd.read_csv(file_path)</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rPr lang="en-US" sz="1000">
                <a:solidFill>
                  <a:schemeClr val="dk1"/>
                </a:solidFill>
                <a:latin typeface="Courier New"/>
                <a:ea typeface="Courier New"/>
                <a:cs typeface="Courier New"/>
                <a:sym typeface="Courier New"/>
              </a:rPr>
              <a:t>if __name__ == '__main__':</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rPr lang="en-US" sz="1000">
                <a:solidFill>
                  <a:schemeClr val="dk1"/>
                </a:solidFill>
                <a:latin typeface="Courier New"/>
                <a:ea typeface="Courier New"/>
                <a:cs typeface="Courier New"/>
                <a:sym typeface="Courier New"/>
              </a:rPr>
              <a:t>	main()</a:t>
            </a:r>
            <a:endParaRPr sz="1000">
              <a:solidFill>
                <a:schemeClr val="dk1"/>
              </a:solidFill>
              <a:latin typeface="Courier New"/>
              <a:ea typeface="Courier New"/>
              <a:cs typeface="Courier New"/>
              <a:sym typeface="Courier New"/>
            </a:endParaRPr>
          </a:p>
        </p:txBody>
      </p:sp>
      <p:sp>
        <p:nvSpPr>
          <p:cNvPr id="312" name="Google Shape;312;p36"/>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latin typeface="Proxima Nova"/>
                <a:ea typeface="Proxima Nova"/>
                <a:cs typeface="Proxima Nova"/>
                <a:sym typeface="Proxima Nova"/>
              </a:rPr>
              <a:t>‹#›</a:t>
            </a:fld>
            <a:endParaRPr>
              <a:latin typeface="Proxima Nova"/>
              <a:ea typeface="Proxima Nova"/>
              <a:cs typeface="Proxima Nova"/>
              <a:sym typeface="Proxima Nova"/>
            </a:endParaRPr>
          </a:p>
        </p:txBody>
      </p:sp>
      <p:sp>
        <p:nvSpPr>
          <p:cNvPr id="313" name="Google Shape;313;p36"/>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800"/>
              <a:buFont typeface="Arial"/>
              <a:buNone/>
            </a:pPr>
            <a:r>
              <a:rPr lang="en-US">
                <a:solidFill>
                  <a:schemeClr val="dk1"/>
                </a:solidFill>
              </a:rPr>
              <a:t>The first thing you'll need to do is load in an existing dataset and get it into the form you'd like. You'll be using the </a:t>
            </a:r>
            <a:r>
              <a:rPr b="1" lang="en-US">
                <a:solidFill>
                  <a:schemeClr val="dk1"/>
                </a:solidFill>
              </a:rPr>
              <a:t>iris</a:t>
            </a:r>
            <a:r>
              <a:rPr lang="en-US">
                <a:solidFill>
                  <a:schemeClr val="dk1"/>
                </a:solidFill>
              </a:rPr>
              <a:t> dataset; it's effectively the ML equivalent of </a:t>
            </a:r>
            <a:r>
              <a:rPr i="1" lang="en-US">
                <a:solidFill>
                  <a:schemeClr val="dk1"/>
                </a:solidFill>
              </a:rPr>
              <a:t>Hello World</a:t>
            </a:r>
            <a:r>
              <a:rPr lang="en-US">
                <a:solidFill>
                  <a:schemeClr val="dk1"/>
                </a:solidFill>
              </a:rPr>
              <a:t>.</a:t>
            </a:r>
            <a:endParaRPr>
              <a:solidFill>
                <a:schemeClr val="dk1"/>
              </a:solidFill>
            </a:endParaRPr>
          </a:p>
          <a:p>
            <a:pPr indent="0" lvl="0" marL="0" rtl="0" algn="l">
              <a:spcBef>
                <a:spcPts val="0"/>
              </a:spcBef>
              <a:spcAft>
                <a:spcPts val="0"/>
              </a:spcAft>
              <a:buClr>
                <a:schemeClr val="dk1"/>
              </a:buClr>
              <a:buSzPts val="2800"/>
              <a:buFont typeface="Arial"/>
              <a:buNone/>
            </a:pPr>
            <a:r>
              <a:t/>
            </a:r>
            <a:endParaRPr>
              <a:solidFill>
                <a:schemeClr val="dk1"/>
              </a:solidFill>
            </a:endParaRPr>
          </a:p>
          <a:p>
            <a:pPr indent="0" lvl="0" marL="0" rtl="0" algn="l">
              <a:spcBef>
                <a:spcPts val="0"/>
              </a:spcBef>
              <a:spcAft>
                <a:spcPts val="0"/>
              </a:spcAft>
              <a:buClr>
                <a:schemeClr val="dk1"/>
              </a:buClr>
              <a:buSzPts val="2800"/>
              <a:buFont typeface="Arial"/>
              <a:buNone/>
            </a:pPr>
            <a:r>
              <a:rPr lang="en-US">
                <a:solidFill>
                  <a:schemeClr val="dk1"/>
                </a:solidFill>
              </a:rPr>
              <a:t>Note: dealing with missing or malformed data and outliers is skipped for brevity. (This data is actually really nicely formatted already anyway.)</a:t>
            </a:r>
            <a:endParaRPr>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7"/>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4400"/>
              <a:buNone/>
            </a:pPr>
            <a:r>
              <a:rPr lang="en-US">
                <a:solidFill>
                  <a:schemeClr val="hlink"/>
                </a:solidFill>
              </a:rPr>
              <a:t>ML Step 1a: eyeball it, though</a:t>
            </a:r>
            <a:endParaRPr/>
          </a:p>
        </p:txBody>
      </p:sp>
      <p:sp>
        <p:nvSpPr>
          <p:cNvPr id="320" name="Google Shape;320;p37"/>
          <p:cNvSpPr txBox="1"/>
          <p:nvPr>
            <p:ph idx="2" type="body"/>
          </p:nvPr>
        </p:nvSpPr>
        <p:spPr>
          <a:xfrm>
            <a:off x="4650575" y="998800"/>
            <a:ext cx="4456500" cy="3414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 </a:t>
            </a:r>
            <a:r>
              <a:rPr lang="en-US" sz="1000">
                <a:solidFill>
                  <a:schemeClr val="dk1"/>
                </a:solidFill>
                <a:latin typeface="Courier New"/>
                <a:ea typeface="Courier New"/>
                <a:cs typeface="Courier New"/>
                <a:sym typeface="Courier New"/>
              </a:rPr>
              <a:t>... previous code goes here</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rPr lang="en-US" sz="1000">
                <a:solidFill>
                  <a:schemeClr val="dk1"/>
                </a:solidFill>
                <a:latin typeface="Courier New"/>
                <a:ea typeface="Courier New"/>
                <a:cs typeface="Courier New"/>
                <a:sym typeface="Courier New"/>
              </a:rPr>
              <a:t>def main():</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rPr b="1" lang="en-US" sz="1000">
                <a:solidFill>
                  <a:schemeClr val="dk1"/>
                </a:solidFill>
                <a:latin typeface="Courier New"/>
                <a:ea typeface="Courier New"/>
                <a:cs typeface="Courier New"/>
                <a:sym typeface="Courier New"/>
              </a:rPr>
              <a:t>	</a:t>
            </a:r>
            <a:r>
              <a:rPr lang="en-US" sz="1000">
                <a:solidFill>
                  <a:schemeClr val="dk1"/>
                </a:solidFill>
                <a:latin typeface="Courier New"/>
                <a:ea typeface="Courier New"/>
                <a:cs typeface="Courier New"/>
                <a:sym typeface="Courier New"/>
              </a:rPr>
              <a:t># ... previous code goes here</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rPr lang="en-US" sz="1000">
                <a:solidFill>
                  <a:schemeClr val="dk1"/>
                </a:solidFill>
                <a:latin typeface="Courier New"/>
                <a:ea typeface="Courier New"/>
                <a:cs typeface="Courier New"/>
                <a:sym typeface="Courier New"/>
              </a:rPr>
              <a:t>	</a:t>
            </a:r>
            <a:r>
              <a:rPr b="1" lang="en-US" sz="1000">
                <a:solidFill>
                  <a:schemeClr val="dk1"/>
                </a:solidFill>
                <a:latin typeface="Courier New"/>
                <a:ea typeface="Courier New"/>
                <a:cs typeface="Courier New"/>
                <a:sym typeface="Courier New"/>
              </a:rPr>
              <a:t>df_iris.info()</a:t>
            </a:r>
            <a:endParaRPr b="1" sz="1000">
              <a:solidFill>
                <a:schemeClr val="dk1"/>
              </a:solidFill>
              <a:latin typeface="Courier New"/>
              <a:ea typeface="Courier New"/>
              <a:cs typeface="Courier New"/>
              <a:sym typeface="Courier New"/>
            </a:endParaRPr>
          </a:p>
          <a:p>
            <a:pPr indent="457200" lvl="0" marL="0" rtl="0" algn="l">
              <a:spcBef>
                <a:spcPts val="0"/>
              </a:spcBef>
              <a:spcAft>
                <a:spcPts val="0"/>
              </a:spcAft>
              <a:buClr>
                <a:schemeClr val="dk1"/>
              </a:buClr>
              <a:buSzPts val="2800"/>
              <a:buFont typeface="Arial"/>
              <a:buNone/>
            </a:pPr>
            <a:r>
              <a:rPr b="1" lang="en-US" sz="1000">
                <a:solidFill>
                  <a:schemeClr val="dk1"/>
                </a:solidFill>
                <a:latin typeface="Courier New"/>
                <a:ea typeface="Courier New"/>
                <a:cs typeface="Courier New"/>
                <a:sym typeface="Courier New"/>
              </a:rPr>
              <a:t>print(df_iris.head())</a:t>
            </a:r>
            <a:br>
              <a:rPr lang="en-US" sz="1000">
                <a:solidFill>
                  <a:schemeClr val="dk1"/>
                </a:solidFill>
                <a:latin typeface="Courier New"/>
                <a:ea typeface="Courier New"/>
                <a:cs typeface="Courier New"/>
                <a:sym typeface="Courier New"/>
              </a:rPr>
            </a:b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rPr lang="en-US" sz="1000">
                <a:solidFill>
                  <a:schemeClr val="dk1"/>
                </a:solidFill>
                <a:latin typeface="Courier New"/>
                <a:ea typeface="Courier New"/>
                <a:cs typeface="Courier New"/>
                <a:sym typeface="Courier New"/>
              </a:rPr>
              <a:t>if __name__ == '__main__':</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rPr lang="en-US" sz="1000">
                <a:solidFill>
                  <a:schemeClr val="dk1"/>
                </a:solidFill>
                <a:latin typeface="Courier New"/>
                <a:ea typeface="Courier New"/>
                <a:cs typeface="Courier New"/>
                <a:sym typeface="Courier New"/>
              </a:rPr>
              <a:t>	main()</a:t>
            </a:r>
            <a:endParaRPr sz="1000">
              <a:solidFill>
                <a:schemeClr val="dk1"/>
              </a:solidFill>
              <a:latin typeface="Courier New"/>
              <a:ea typeface="Courier New"/>
              <a:cs typeface="Courier New"/>
              <a:sym typeface="Courier New"/>
            </a:endParaRPr>
          </a:p>
        </p:txBody>
      </p:sp>
      <p:sp>
        <p:nvSpPr>
          <p:cNvPr id="321" name="Google Shape;321;p37"/>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latin typeface="Proxima Nova"/>
                <a:ea typeface="Proxima Nova"/>
                <a:cs typeface="Proxima Nova"/>
                <a:sym typeface="Proxima Nova"/>
              </a:rPr>
              <a:t>‹#›</a:t>
            </a:fld>
            <a:endParaRPr>
              <a:latin typeface="Proxima Nova"/>
              <a:ea typeface="Proxima Nova"/>
              <a:cs typeface="Proxima Nova"/>
              <a:sym typeface="Proxima Nova"/>
            </a:endParaRPr>
          </a:p>
        </p:txBody>
      </p:sp>
      <p:pic>
        <p:nvPicPr>
          <p:cNvPr descr="iris" id="322" name="Google Shape;322;p37"/>
          <p:cNvPicPr preferRelativeResize="0"/>
          <p:nvPr/>
        </p:nvPicPr>
        <p:blipFill rotWithShape="1">
          <a:blip r:embed="rId3">
            <a:alphaModFix/>
          </a:blip>
          <a:srcRect b="0" l="0" r="0" t="0"/>
          <a:stretch/>
        </p:blipFill>
        <p:spPr>
          <a:xfrm>
            <a:off x="135966" y="2820150"/>
            <a:ext cx="4290885" cy="1601931"/>
          </a:xfrm>
          <a:prstGeom prst="rect">
            <a:avLst/>
          </a:prstGeom>
          <a:noFill/>
          <a:ln>
            <a:noFill/>
          </a:ln>
        </p:spPr>
      </p:pic>
      <p:sp>
        <p:nvSpPr>
          <p:cNvPr id="323" name="Google Shape;323;p37"/>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800"/>
              <a:buFont typeface="Arial"/>
              <a:buNone/>
            </a:pPr>
            <a:r>
              <a:rPr lang="en-US" sz="1500">
                <a:solidFill>
                  <a:schemeClr val="dk1"/>
                </a:solidFill>
              </a:rPr>
              <a:t>Let's actually take a look (albeit from the console) at the data just loaded in. This dataset is a collection of measurements of 150 specimens of three different iris subspecies.</a:t>
            </a:r>
            <a:endParaRPr sz="1500">
              <a:solidFill>
                <a:schemeClr val="dk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38"/>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4400"/>
              <a:buNone/>
            </a:pPr>
            <a:r>
              <a:rPr lang="en-US">
                <a:solidFill>
                  <a:schemeClr val="hlink"/>
                </a:solidFill>
              </a:rPr>
              <a:t>ML</a:t>
            </a:r>
            <a:r>
              <a:rPr lang="en-US"/>
              <a:t> Step 1b: feature vector | target</a:t>
            </a:r>
            <a:endParaRPr/>
          </a:p>
        </p:txBody>
      </p:sp>
      <p:sp>
        <p:nvSpPr>
          <p:cNvPr id="330" name="Google Shape;330;p38"/>
          <p:cNvSpPr txBox="1"/>
          <p:nvPr>
            <p:ph idx="2" type="body"/>
          </p:nvPr>
        </p:nvSpPr>
        <p:spPr>
          <a:xfrm>
            <a:off x="4650575" y="998800"/>
            <a:ext cx="4456500" cy="3414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 ... previous code goes here</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rPr lang="en-US" sz="1000">
                <a:solidFill>
                  <a:schemeClr val="dk1"/>
                </a:solidFill>
                <a:latin typeface="Courier New"/>
                <a:ea typeface="Courier New"/>
                <a:cs typeface="Courier New"/>
                <a:sym typeface="Courier New"/>
              </a:rPr>
              <a:t>def main():</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rPr b="1" lang="en-US" sz="1000">
                <a:solidFill>
                  <a:schemeClr val="dk1"/>
                </a:solidFill>
                <a:latin typeface="Courier New"/>
                <a:ea typeface="Courier New"/>
                <a:cs typeface="Courier New"/>
                <a:sym typeface="Courier New"/>
              </a:rPr>
              <a:t>	</a:t>
            </a:r>
            <a:r>
              <a:rPr lang="en-US" sz="1000">
                <a:solidFill>
                  <a:schemeClr val="dk1"/>
                </a:solidFill>
                <a:latin typeface="Courier New"/>
                <a:ea typeface="Courier New"/>
                <a:cs typeface="Courier New"/>
                <a:sym typeface="Courier New"/>
              </a:rPr>
              <a:t># ... previous code goes here</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rPr b="1" lang="en-US" sz="1000">
                <a:solidFill>
                  <a:schemeClr val="dk1"/>
                </a:solidFill>
                <a:latin typeface="Courier New"/>
                <a:ea typeface="Courier New"/>
                <a:cs typeface="Courier New"/>
                <a:sym typeface="Courier New"/>
              </a:rPr>
              <a:t>	X = df_iris.drop(columns='Species')</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rPr b="1" lang="en-US" sz="1000">
                <a:solidFill>
                  <a:schemeClr val="dk1"/>
                </a:solidFill>
                <a:latin typeface="Courier New"/>
                <a:ea typeface="Courier New"/>
                <a:cs typeface="Courier New"/>
                <a:sym typeface="Courier New"/>
              </a:rPr>
              <a:t>	y = df_iris['Species']</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rPr lang="en-US" sz="1000">
                <a:solidFill>
                  <a:schemeClr val="dk1"/>
                </a:solidFill>
                <a:latin typeface="Courier New"/>
                <a:ea typeface="Courier New"/>
                <a:cs typeface="Courier New"/>
                <a:sym typeface="Courier New"/>
              </a:rPr>
              <a:t>if __name__ == '__main__':</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rPr lang="en-US" sz="1000">
                <a:solidFill>
                  <a:schemeClr val="dk1"/>
                </a:solidFill>
                <a:latin typeface="Courier New"/>
                <a:ea typeface="Courier New"/>
                <a:cs typeface="Courier New"/>
                <a:sym typeface="Courier New"/>
              </a:rPr>
              <a:t>	main()</a:t>
            </a:r>
            <a:endParaRPr sz="1000">
              <a:solidFill>
                <a:schemeClr val="dk1"/>
              </a:solidFill>
              <a:latin typeface="Courier New"/>
              <a:ea typeface="Courier New"/>
              <a:cs typeface="Courier New"/>
              <a:sym typeface="Courier New"/>
            </a:endParaRPr>
          </a:p>
        </p:txBody>
      </p:sp>
      <p:sp>
        <p:nvSpPr>
          <p:cNvPr id="331" name="Google Shape;331;p38"/>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latin typeface="Proxima Nova"/>
                <a:ea typeface="Proxima Nova"/>
                <a:cs typeface="Proxima Nova"/>
                <a:sym typeface="Proxima Nova"/>
              </a:rPr>
              <a:t>‹#›</a:t>
            </a:fld>
            <a:endParaRPr>
              <a:latin typeface="Proxima Nova"/>
              <a:ea typeface="Proxima Nova"/>
              <a:cs typeface="Proxima Nova"/>
              <a:sym typeface="Proxima Nova"/>
            </a:endParaRPr>
          </a:p>
        </p:txBody>
      </p:sp>
      <p:sp>
        <p:nvSpPr>
          <p:cNvPr id="332" name="Google Shape;332;p38"/>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solidFill>
                  <a:schemeClr val="dk1"/>
                </a:solidFill>
              </a:rPr>
              <a:t>the next thing you'll need to do is separate the dataset into a feature vector </a:t>
            </a:r>
            <a:r>
              <a:rPr b="1" lang="en-US">
                <a:solidFill>
                  <a:schemeClr val="dk1"/>
                </a:solidFill>
                <a:latin typeface="Courier New"/>
                <a:ea typeface="Courier New"/>
                <a:cs typeface="Courier New"/>
                <a:sym typeface="Courier New"/>
              </a:rPr>
              <a:t>X</a:t>
            </a:r>
            <a:r>
              <a:rPr lang="en-US">
                <a:solidFill>
                  <a:schemeClr val="dk1"/>
                </a:solidFill>
              </a:rPr>
              <a:t> and a target </a:t>
            </a:r>
            <a:r>
              <a:rPr b="1" lang="en-US">
                <a:solidFill>
                  <a:schemeClr val="dk1"/>
                </a:solidFill>
                <a:latin typeface="Courier New"/>
                <a:ea typeface="Courier New"/>
                <a:cs typeface="Courier New"/>
                <a:sym typeface="Courier New"/>
              </a:rPr>
              <a:t>y</a:t>
            </a:r>
            <a:r>
              <a:rPr lang="en-US">
                <a:solidFill>
                  <a:schemeClr val="dk1"/>
                </a:solidFill>
              </a:rPr>
              <a:t>.</a:t>
            </a:r>
            <a:endParaRPr>
              <a:solidFill>
                <a:schemeClr val="dk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39"/>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4400"/>
              <a:buNone/>
            </a:pPr>
            <a:r>
              <a:rPr lang="en-US">
                <a:solidFill>
                  <a:schemeClr val="hlink"/>
                </a:solidFill>
              </a:rPr>
              <a:t>ML</a:t>
            </a:r>
            <a:r>
              <a:rPr lang="en-US"/>
              <a:t> Step 1d: Split</a:t>
            </a:r>
            <a:endParaRPr/>
          </a:p>
        </p:txBody>
      </p:sp>
      <p:sp>
        <p:nvSpPr>
          <p:cNvPr id="339" name="Google Shape;339;p39"/>
          <p:cNvSpPr txBox="1"/>
          <p:nvPr>
            <p:ph idx="2" type="body"/>
          </p:nvPr>
        </p:nvSpPr>
        <p:spPr>
          <a:xfrm>
            <a:off x="4650575" y="998800"/>
            <a:ext cx="4456500" cy="3414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 ... previous code goes here</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rPr lang="en-US" sz="1000">
                <a:solidFill>
                  <a:schemeClr val="dk1"/>
                </a:solidFill>
                <a:latin typeface="Courier New"/>
                <a:ea typeface="Courier New"/>
                <a:cs typeface="Courier New"/>
                <a:sym typeface="Courier New"/>
              </a:rPr>
              <a:t>def main():</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rPr b="1" lang="en-US" sz="1000">
                <a:solidFill>
                  <a:schemeClr val="dk1"/>
                </a:solidFill>
                <a:latin typeface="Courier New"/>
                <a:ea typeface="Courier New"/>
                <a:cs typeface="Courier New"/>
                <a:sym typeface="Courier New"/>
              </a:rPr>
              <a:t>	</a:t>
            </a:r>
            <a:r>
              <a:rPr lang="en-US" sz="1000">
                <a:solidFill>
                  <a:schemeClr val="dk1"/>
                </a:solidFill>
                <a:latin typeface="Courier New"/>
                <a:ea typeface="Courier New"/>
                <a:cs typeface="Courier New"/>
                <a:sym typeface="Courier New"/>
              </a:rPr>
              <a:t># ... previous code goes here</a:t>
            </a:r>
            <a:endParaRPr sz="1000">
              <a:solidFill>
                <a:schemeClr val="dk1"/>
              </a:solidFill>
              <a:latin typeface="Courier New"/>
              <a:ea typeface="Courier New"/>
              <a:cs typeface="Courier New"/>
              <a:sym typeface="Courier New"/>
            </a:endParaRPr>
          </a:p>
          <a:p>
            <a:pPr indent="-457200" lvl="0" marL="914400" rtl="0" algn="l">
              <a:spcBef>
                <a:spcPts val="0"/>
              </a:spcBef>
              <a:spcAft>
                <a:spcPts val="0"/>
              </a:spcAft>
              <a:buSzPts val="2800"/>
              <a:buNone/>
            </a:pPr>
            <a:r>
              <a:rPr lang="en-US" sz="1000">
                <a:solidFill>
                  <a:schemeClr val="dk1"/>
                </a:solidFill>
                <a:latin typeface="Courier New"/>
                <a:ea typeface="Courier New"/>
                <a:cs typeface="Courier New"/>
                <a:sym typeface="Courier New"/>
              </a:rPr>
              <a:t># training features, testing features, training labels, testing (obscured) labels</a:t>
            </a:r>
            <a:endParaRPr sz="1000">
              <a:solidFill>
                <a:schemeClr val="dk1"/>
              </a:solidFill>
              <a:latin typeface="Courier New"/>
              <a:ea typeface="Courier New"/>
              <a:cs typeface="Courier New"/>
              <a:sym typeface="Courier New"/>
            </a:endParaRPr>
          </a:p>
          <a:p>
            <a:pPr indent="-457200" lvl="0" marL="914400" rtl="0" algn="l">
              <a:spcBef>
                <a:spcPts val="0"/>
              </a:spcBef>
              <a:spcAft>
                <a:spcPts val="0"/>
              </a:spcAft>
              <a:buClr>
                <a:schemeClr val="dk1"/>
              </a:buClr>
              <a:buSzPts val="1100"/>
              <a:buFont typeface="Arial"/>
              <a:buNone/>
            </a:pPr>
            <a:r>
              <a:rPr b="1" lang="en-US" sz="1000">
                <a:solidFill>
                  <a:schemeClr val="dk1"/>
                </a:solidFill>
                <a:latin typeface="Courier New"/>
                <a:ea typeface="Courier New"/>
                <a:cs typeface="Courier New"/>
                <a:sym typeface="Courier New"/>
              </a:rPr>
              <a:t>X_train, X_test, y_train, y_test = train_test_split(X, y, 					test_size=0.25, random_state=0,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US" sz="1000">
                <a:solidFill>
                  <a:schemeClr val="dk1"/>
                </a:solidFill>
                <a:latin typeface="Courier New"/>
                <a:ea typeface="Courier New"/>
                <a:cs typeface="Courier New"/>
                <a:sym typeface="Courier New"/>
              </a:rPr>
              <a:t>				stratify=y)</a:t>
            </a:r>
            <a:endParaRPr b="1" sz="1000">
              <a:solidFill>
                <a:schemeClr val="dk1"/>
              </a:solidFill>
              <a:latin typeface="Courier New"/>
              <a:ea typeface="Courier New"/>
              <a:cs typeface="Courier New"/>
              <a:sym typeface="Courier New"/>
            </a:endParaRPr>
          </a:p>
          <a:p>
            <a:pPr indent="-457200" lvl="0" marL="914400" rtl="0" algn="l">
              <a:spcBef>
                <a:spcPts val="0"/>
              </a:spcBef>
              <a:spcAft>
                <a:spcPts val="0"/>
              </a:spcAft>
              <a:buSzPts val="2800"/>
              <a:buNone/>
            </a:pPr>
            <a:r>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rPr lang="en-US" sz="1000">
                <a:solidFill>
                  <a:schemeClr val="dk1"/>
                </a:solidFill>
                <a:latin typeface="Courier New"/>
                <a:ea typeface="Courier New"/>
                <a:cs typeface="Courier New"/>
                <a:sym typeface="Courier New"/>
              </a:rPr>
              <a:t>if __name__ == '__main__':</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rPr lang="en-US" sz="1000">
                <a:solidFill>
                  <a:schemeClr val="dk1"/>
                </a:solidFill>
                <a:latin typeface="Courier New"/>
                <a:ea typeface="Courier New"/>
                <a:cs typeface="Courier New"/>
                <a:sym typeface="Courier New"/>
              </a:rPr>
              <a:t>	main()</a:t>
            </a:r>
            <a:endParaRPr sz="1000">
              <a:solidFill>
                <a:schemeClr val="dk1"/>
              </a:solidFill>
              <a:latin typeface="Courier New"/>
              <a:ea typeface="Courier New"/>
              <a:cs typeface="Courier New"/>
              <a:sym typeface="Courier New"/>
            </a:endParaRPr>
          </a:p>
        </p:txBody>
      </p:sp>
      <p:sp>
        <p:nvSpPr>
          <p:cNvPr id="340" name="Google Shape;340;p39"/>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latin typeface="Proxima Nova"/>
                <a:ea typeface="Proxima Nova"/>
                <a:cs typeface="Proxima Nova"/>
                <a:sym typeface="Proxima Nova"/>
              </a:rPr>
              <a:t>‹#›</a:t>
            </a:fld>
            <a:endParaRPr>
              <a:latin typeface="Proxima Nova"/>
              <a:ea typeface="Proxima Nova"/>
              <a:cs typeface="Proxima Nova"/>
              <a:sym typeface="Proxima Nova"/>
            </a:endParaRPr>
          </a:p>
        </p:txBody>
      </p:sp>
      <p:sp>
        <p:nvSpPr>
          <p:cNvPr id="341" name="Google Shape;341;p39"/>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solidFill>
                  <a:schemeClr val="dk1"/>
                </a:solidFill>
              </a:rPr>
              <a:t>The next step is split the data into two sets: a training set and a testing set. Typical split ratio is 75%/25%. The training set will be actually used to create the model. And while it's not required to split the data up in this manner, it's common to do this so that testing set can be used to validate the predictions made by the model. This is done using the previously imported </a:t>
            </a:r>
            <a:r>
              <a:rPr b="1" lang="en-US">
                <a:solidFill>
                  <a:schemeClr val="dk1"/>
                </a:solidFill>
              </a:rPr>
              <a:t>train_test_split</a:t>
            </a:r>
            <a:r>
              <a:rPr lang="en-US">
                <a:solidFill>
                  <a:schemeClr val="dk1"/>
                </a:solidFill>
              </a:rPr>
              <a:t>.</a:t>
            </a:r>
            <a:endParaRPr>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40"/>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4400"/>
              <a:buNone/>
            </a:pPr>
            <a:r>
              <a:rPr lang="en-US">
                <a:solidFill>
                  <a:schemeClr val="hlink"/>
                </a:solidFill>
              </a:rPr>
              <a:t>ML</a:t>
            </a:r>
            <a:r>
              <a:rPr lang="en-US">
                <a:solidFill>
                  <a:schemeClr val="hlink"/>
                </a:solidFill>
              </a:rPr>
              <a:t> </a:t>
            </a:r>
            <a:r>
              <a:rPr lang="en-US"/>
              <a:t>Step </a:t>
            </a:r>
            <a:r>
              <a:rPr lang="en-US">
                <a:solidFill>
                  <a:schemeClr val="hlink"/>
                </a:solidFill>
              </a:rPr>
              <a:t>1d: Split (note!)</a:t>
            </a:r>
            <a:endParaRPr/>
          </a:p>
        </p:txBody>
      </p:sp>
      <p:sp>
        <p:nvSpPr>
          <p:cNvPr id="348" name="Google Shape;348;p40"/>
          <p:cNvSpPr txBox="1"/>
          <p:nvPr>
            <p:ph idx="2" type="body"/>
          </p:nvPr>
        </p:nvSpPr>
        <p:spPr>
          <a:xfrm>
            <a:off x="4650575" y="998800"/>
            <a:ext cx="4456500" cy="3414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lang="en-US" sz="1000">
                <a:solidFill>
                  <a:schemeClr val="dk1"/>
                </a:solidFill>
                <a:latin typeface="Courier New"/>
                <a:ea typeface="Courier New"/>
                <a:cs typeface="Courier New"/>
                <a:sym typeface="Courier New"/>
              </a:rPr>
              <a:t># ... previous code goes here</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rPr lang="en-US" sz="1000">
                <a:solidFill>
                  <a:schemeClr val="dk1"/>
                </a:solidFill>
                <a:latin typeface="Courier New"/>
                <a:ea typeface="Courier New"/>
                <a:cs typeface="Courier New"/>
                <a:sym typeface="Courier New"/>
              </a:rPr>
              <a:t>def main():</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rPr b="1" lang="en-US" sz="1000">
                <a:solidFill>
                  <a:schemeClr val="dk1"/>
                </a:solidFill>
                <a:latin typeface="Courier New"/>
                <a:ea typeface="Courier New"/>
                <a:cs typeface="Courier New"/>
                <a:sym typeface="Courier New"/>
              </a:rPr>
              <a:t>	</a:t>
            </a:r>
            <a:r>
              <a:rPr lang="en-US" sz="1000">
                <a:solidFill>
                  <a:schemeClr val="dk1"/>
                </a:solidFill>
                <a:latin typeface="Courier New"/>
                <a:ea typeface="Courier New"/>
                <a:cs typeface="Courier New"/>
                <a:sym typeface="Courier New"/>
              </a:rPr>
              <a:t># ... previous code goes here</a:t>
            </a:r>
            <a:endParaRPr sz="1000">
              <a:solidFill>
                <a:schemeClr val="dk1"/>
              </a:solidFill>
              <a:latin typeface="Courier New"/>
              <a:ea typeface="Courier New"/>
              <a:cs typeface="Courier New"/>
              <a:sym typeface="Courier New"/>
            </a:endParaRPr>
          </a:p>
          <a:p>
            <a:pPr indent="-457200" lvl="0" marL="914400" rtl="0" algn="l">
              <a:spcBef>
                <a:spcPts val="0"/>
              </a:spcBef>
              <a:spcAft>
                <a:spcPts val="0"/>
              </a:spcAft>
              <a:buSzPts val="2800"/>
              <a:buNone/>
            </a:pPr>
            <a:r>
              <a:rPr lang="en-US" sz="1000">
                <a:solidFill>
                  <a:schemeClr val="dk1"/>
                </a:solidFill>
                <a:latin typeface="Courier New"/>
                <a:ea typeface="Courier New"/>
                <a:cs typeface="Courier New"/>
                <a:sym typeface="Courier New"/>
              </a:rPr>
              <a:t># training features, testing features, training labels, testing (obscured) labels</a:t>
            </a:r>
            <a:endParaRPr sz="1000">
              <a:solidFill>
                <a:schemeClr val="dk1"/>
              </a:solidFill>
              <a:latin typeface="Courier New"/>
              <a:ea typeface="Courier New"/>
              <a:cs typeface="Courier New"/>
              <a:sym typeface="Courier New"/>
            </a:endParaRPr>
          </a:p>
          <a:p>
            <a:pPr indent="-457200" lvl="0" marL="914400" rtl="0" algn="l">
              <a:spcBef>
                <a:spcPts val="0"/>
              </a:spcBef>
              <a:spcAft>
                <a:spcPts val="0"/>
              </a:spcAft>
              <a:buSzPts val="2800"/>
              <a:buNone/>
            </a:pPr>
            <a:r>
              <a:rPr lang="en-US" sz="1000">
                <a:solidFill>
                  <a:schemeClr val="dk1"/>
                </a:solidFill>
                <a:latin typeface="Courier New"/>
                <a:ea typeface="Courier New"/>
                <a:cs typeface="Courier New"/>
                <a:sym typeface="Courier New"/>
              </a:rPr>
              <a:t>X_train, X_test, y_train, y_test = train_test_split(X, y, </a:t>
            </a:r>
            <a:r>
              <a:rPr b="1" lang="en-US" sz="1000">
                <a:solidFill>
                  <a:schemeClr val="dk1"/>
                </a:solidFill>
                <a:latin typeface="Courier New"/>
                <a:ea typeface="Courier New"/>
                <a:cs typeface="Courier New"/>
                <a:sym typeface="Courier New"/>
              </a:rPr>
              <a:t>test_size=0.25</a:t>
            </a:r>
            <a:r>
              <a:rPr lang="en-US" sz="1000">
                <a:solidFill>
                  <a:schemeClr val="dk1"/>
                </a:solidFill>
                <a:latin typeface="Courier New"/>
                <a:ea typeface="Courier New"/>
                <a:cs typeface="Courier New"/>
                <a:sym typeface="Courier New"/>
              </a:rPr>
              <a:t>, </a:t>
            </a:r>
            <a:r>
              <a:rPr b="1" lang="en-US" sz="1000">
                <a:solidFill>
                  <a:schemeClr val="dk1"/>
                </a:solidFill>
                <a:latin typeface="Courier New"/>
                <a:ea typeface="Courier New"/>
                <a:cs typeface="Courier New"/>
                <a:sym typeface="Courier New"/>
              </a:rPr>
              <a:t>random_state=0</a:t>
            </a:r>
            <a:r>
              <a:rPr lang="en-US" sz="1000">
                <a:solidFill>
                  <a:schemeClr val="dk1"/>
                </a:solidFill>
                <a:latin typeface="Courier New"/>
                <a:ea typeface="Courier New"/>
                <a:cs typeface="Courier New"/>
                <a:sym typeface="Courier New"/>
              </a:rPr>
              <a:t>, </a:t>
            </a:r>
            <a:r>
              <a:rPr b="1" lang="en-US" sz="1000">
                <a:solidFill>
                  <a:schemeClr val="dk1"/>
                </a:solidFill>
                <a:latin typeface="Courier New"/>
                <a:ea typeface="Courier New"/>
                <a:cs typeface="Courier New"/>
                <a:sym typeface="Courier New"/>
              </a:rPr>
              <a:t>stratify=y</a:t>
            </a:r>
            <a:r>
              <a:rPr lang="en-US" sz="1000">
                <a:solidFill>
                  <a:schemeClr val="dk1"/>
                </a:solidFill>
                <a:latin typeface="Courier New"/>
                <a:ea typeface="Courier New"/>
                <a:cs typeface="Courier New"/>
                <a:sym typeface="Courier New"/>
              </a:rPr>
              <a:t>)</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rPr lang="en-US" sz="1000">
                <a:solidFill>
                  <a:schemeClr val="dk1"/>
                </a:solidFill>
                <a:latin typeface="Courier New"/>
                <a:ea typeface="Courier New"/>
                <a:cs typeface="Courier New"/>
                <a:sym typeface="Courier New"/>
              </a:rPr>
              <a:t>if __name__ == '__main__':</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rPr lang="en-US" sz="1000">
                <a:solidFill>
                  <a:schemeClr val="dk1"/>
                </a:solidFill>
                <a:latin typeface="Courier New"/>
                <a:ea typeface="Courier New"/>
                <a:cs typeface="Courier New"/>
                <a:sym typeface="Courier New"/>
              </a:rPr>
              <a:t>	main()</a:t>
            </a:r>
            <a:endParaRPr sz="1400">
              <a:solidFill>
                <a:schemeClr val="dk1"/>
              </a:solidFill>
              <a:latin typeface="Verdana"/>
              <a:ea typeface="Verdana"/>
              <a:cs typeface="Verdana"/>
              <a:sym typeface="Verdana"/>
            </a:endParaRPr>
          </a:p>
        </p:txBody>
      </p:sp>
      <p:sp>
        <p:nvSpPr>
          <p:cNvPr id="349" name="Google Shape;349;p40"/>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latin typeface="Proxima Nova"/>
                <a:ea typeface="Proxima Nova"/>
                <a:cs typeface="Proxima Nova"/>
                <a:sym typeface="Proxima Nova"/>
              </a:rPr>
              <a:t>‹#›</a:t>
            </a:fld>
            <a:endParaRPr>
              <a:latin typeface="Proxima Nova"/>
              <a:ea typeface="Proxima Nova"/>
              <a:cs typeface="Proxima Nova"/>
              <a:sym typeface="Proxima Nova"/>
            </a:endParaRPr>
          </a:p>
        </p:txBody>
      </p:sp>
      <p:sp>
        <p:nvSpPr>
          <p:cNvPr id="350" name="Google Shape;350;p40"/>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400">
                <a:solidFill>
                  <a:schemeClr val="dk1"/>
                </a:solidFill>
              </a:rPr>
              <a:t>Note that:</a:t>
            </a:r>
            <a:endParaRPr sz="1400">
              <a:solidFill>
                <a:schemeClr val="dk1"/>
              </a:solidFill>
            </a:endParaRPr>
          </a:p>
          <a:p>
            <a:pPr indent="-317500" lvl="0" marL="457200" rtl="0" algn="l">
              <a:spcBef>
                <a:spcPts val="0"/>
              </a:spcBef>
              <a:spcAft>
                <a:spcPts val="0"/>
              </a:spcAft>
              <a:buClr>
                <a:schemeClr val="dk1"/>
              </a:buClr>
              <a:buSzPts val="1400"/>
              <a:buChar char="•"/>
            </a:pPr>
            <a:r>
              <a:rPr lang="en-US" sz="1400">
                <a:solidFill>
                  <a:schemeClr val="dk1"/>
                </a:solidFill>
              </a:rPr>
              <a:t>A </a:t>
            </a:r>
            <a:r>
              <a:rPr lang="en-US" sz="1400">
                <a:solidFill>
                  <a:schemeClr val="dk1"/>
                </a:solidFill>
                <a:latin typeface="Courier New"/>
                <a:ea typeface="Courier New"/>
                <a:cs typeface="Courier New"/>
                <a:sym typeface="Courier New"/>
              </a:rPr>
              <a:t>test_size</a:t>
            </a:r>
            <a:r>
              <a:rPr lang="en-US" sz="1400">
                <a:solidFill>
                  <a:schemeClr val="dk1"/>
                </a:solidFill>
              </a:rPr>
              <a:t> of </a:t>
            </a:r>
            <a:r>
              <a:rPr lang="en-US" sz="1400">
                <a:solidFill>
                  <a:schemeClr val="dk1"/>
                </a:solidFill>
                <a:latin typeface="Courier New"/>
                <a:ea typeface="Courier New"/>
                <a:cs typeface="Courier New"/>
                <a:sym typeface="Courier New"/>
              </a:rPr>
              <a:t>0.25</a:t>
            </a:r>
            <a:r>
              <a:rPr lang="en-US" sz="1400">
                <a:solidFill>
                  <a:schemeClr val="dk1"/>
                </a:solidFill>
              </a:rPr>
              <a:t> means that the algorithm will train with 75% of the dataset.</a:t>
            </a:r>
            <a:endParaRPr sz="1400">
              <a:solidFill>
                <a:schemeClr val="dk1"/>
              </a:solidFill>
            </a:endParaRPr>
          </a:p>
          <a:p>
            <a:pPr indent="-317500" lvl="0" marL="457200" rtl="0" algn="l">
              <a:spcBef>
                <a:spcPts val="0"/>
              </a:spcBef>
              <a:spcAft>
                <a:spcPts val="0"/>
              </a:spcAft>
              <a:buClr>
                <a:schemeClr val="dk1"/>
              </a:buClr>
              <a:buSzPts val="1400"/>
              <a:buChar char="•"/>
            </a:pPr>
            <a:r>
              <a:rPr lang="en-US" sz="1400">
                <a:solidFill>
                  <a:schemeClr val="dk1"/>
                </a:solidFill>
              </a:rPr>
              <a:t>A </a:t>
            </a:r>
            <a:r>
              <a:rPr lang="en-US" sz="1400">
                <a:solidFill>
                  <a:schemeClr val="dk1"/>
                </a:solidFill>
                <a:latin typeface="Courier New"/>
                <a:ea typeface="Courier New"/>
                <a:cs typeface="Courier New"/>
                <a:sym typeface="Courier New"/>
              </a:rPr>
              <a:t>random_state</a:t>
            </a:r>
            <a:r>
              <a:rPr lang="en-US" sz="1400">
                <a:solidFill>
                  <a:schemeClr val="dk1"/>
                </a:solidFill>
              </a:rPr>
              <a:t> of </a:t>
            </a:r>
            <a:r>
              <a:rPr lang="en-US" sz="1400">
                <a:solidFill>
                  <a:schemeClr val="dk1"/>
                </a:solidFill>
                <a:latin typeface="Courier New"/>
                <a:ea typeface="Courier New"/>
                <a:cs typeface="Courier New"/>
                <a:sym typeface="Courier New"/>
              </a:rPr>
              <a:t>0</a:t>
            </a:r>
            <a:r>
              <a:rPr lang="en-US" sz="1400">
                <a:solidFill>
                  <a:schemeClr val="dk1"/>
                </a:solidFill>
              </a:rPr>
              <a:t> is parallel to using the same seed to create a random number; i.e., "randomizing" the same way every time. This ensures reproducibility of the results.</a:t>
            </a:r>
            <a:endParaRPr sz="1400">
              <a:solidFill>
                <a:schemeClr val="dk1"/>
              </a:solidFill>
            </a:endParaRPr>
          </a:p>
          <a:p>
            <a:pPr indent="-317500" lvl="0" marL="457200" rtl="0" algn="l">
              <a:spcBef>
                <a:spcPts val="0"/>
              </a:spcBef>
              <a:spcAft>
                <a:spcPts val="0"/>
              </a:spcAft>
              <a:buClr>
                <a:schemeClr val="dk1"/>
              </a:buClr>
              <a:buSzPts val="1400"/>
              <a:buChar char="•"/>
            </a:pPr>
            <a:r>
              <a:rPr lang="en-US" sz="1400">
                <a:solidFill>
                  <a:schemeClr val="dk1"/>
                </a:solidFill>
              </a:rPr>
              <a:t>A </a:t>
            </a:r>
            <a:r>
              <a:rPr lang="en-US" sz="1400">
                <a:solidFill>
                  <a:schemeClr val="dk1"/>
                </a:solidFill>
                <a:latin typeface="Courier New"/>
                <a:ea typeface="Courier New"/>
                <a:cs typeface="Courier New"/>
                <a:sym typeface="Courier New"/>
              </a:rPr>
              <a:t>stratify</a:t>
            </a:r>
            <a:r>
              <a:rPr lang="en-US" sz="1400">
                <a:solidFill>
                  <a:schemeClr val="dk1"/>
                </a:solidFill>
              </a:rPr>
              <a:t> of </a:t>
            </a:r>
            <a:r>
              <a:rPr lang="en-US" sz="1400">
                <a:solidFill>
                  <a:schemeClr val="dk1"/>
                </a:solidFill>
                <a:latin typeface="Courier New"/>
                <a:ea typeface="Courier New"/>
                <a:cs typeface="Courier New"/>
                <a:sym typeface="Courier New"/>
              </a:rPr>
              <a:t>y</a:t>
            </a:r>
            <a:r>
              <a:rPr lang="en-US" sz="1400">
                <a:solidFill>
                  <a:schemeClr val="dk1"/>
                </a:solidFill>
              </a:rPr>
              <a:t> ensures that the proportion of each label in the target remains the same in both the training and testing targets. </a:t>
            </a:r>
            <a:endParaRPr sz="1400">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1"/>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4400"/>
              <a:buNone/>
            </a:pPr>
            <a:r>
              <a:rPr lang="en-US">
                <a:solidFill>
                  <a:schemeClr val="hlink"/>
                </a:solidFill>
              </a:rPr>
              <a:t>ML</a:t>
            </a:r>
            <a:r>
              <a:rPr lang="en-US"/>
              <a:t> Step 1c: Transform?</a:t>
            </a:r>
            <a:endParaRPr/>
          </a:p>
        </p:txBody>
      </p:sp>
      <p:sp>
        <p:nvSpPr>
          <p:cNvPr id="357" name="Google Shape;357;p41"/>
          <p:cNvSpPr txBox="1"/>
          <p:nvPr>
            <p:ph idx="2" type="body"/>
          </p:nvPr>
        </p:nvSpPr>
        <p:spPr>
          <a:xfrm>
            <a:off x="4650575" y="998800"/>
            <a:ext cx="4456500" cy="3414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 ... previous code goes here</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rPr lang="en-US" sz="1000">
                <a:solidFill>
                  <a:schemeClr val="dk1"/>
                </a:solidFill>
                <a:latin typeface="Courier New"/>
                <a:ea typeface="Courier New"/>
                <a:cs typeface="Courier New"/>
                <a:sym typeface="Courier New"/>
              </a:rPr>
              <a:t>def main():</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rPr b="1" lang="en-US" sz="1000">
                <a:solidFill>
                  <a:schemeClr val="dk1"/>
                </a:solidFill>
                <a:latin typeface="Courier New"/>
                <a:ea typeface="Courier New"/>
                <a:cs typeface="Courier New"/>
                <a:sym typeface="Courier New"/>
              </a:rPr>
              <a:t>	</a:t>
            </a:r>
            <a:r>
              <a:rPr lang="en-US" sz="1000">
                <a:solidFill>
                  <a:schemeClr val="dk1"/>
                </a:solidFill>
                <a:latin typeface="Courier New"/>
                <a:ea typeface="Courier New"/>
                <a:cs typeface="Courier New"/>
                <a:sym typeface="Courier New"/>
              </a:rPr>
              <a:t># ... previous code goes here</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rPr lang="en-US" sz="1000">
                <a:solidFill>
                  <a:schemeClr val="dk1"/>
                </a:solidFill>
                <a:latin typeface="Courier New"/>
                <a:ea typeface="Courier New"/>
                <a:cs typeface="Courier New"/>
                <a:sym typeface="Courier New"/>
              </a:rPr>
              <a:t>	</a:t>
            </a:r>
            <a:r>
              <a:rPr b="1" lang="en-US" sz="1000">
                <a:solidFill>
                  <a:schemeClr val="dk1"/>
                </a:solidFill>
                <a:latin typeface="Courier New"/>
                <a:ea typeface="Courier New"/>
                <a:cs typeface="Courier New"/>
                <a:sym typeface="Courier New"/>
              </a:rPr>
              <a:t>scaler = StandardScaler()</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US" sz="1000">
                <a:solidFill>
                  <a:schemeClr val="dk1"/>
                </a:solidFill>
                <a:latin typeface="Courier New"/>
                <a:ea typeface="Courier New"/>
                <a:cs typeface="Courier New"/>
                <a:sym typeface="Courier New"/>
              </a:rPr>
              <a:t>	scaler.fit(X_train)</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US" sz="1000">
                <a:solidFill>
                  <a:schemeClr val="dk1"/>
                </a:solidFill>
                <a:latin typeface="Courier New"/>
                <a:ea typeface="Courier New"/>
                <a:cs typeface="Courier New"/>
                <a:sym typeface="Courier New"/>
              </a:rPr>
              <a:t>	</a:t>
            </a:r>
            <a:r>
              <a:rPr lang="en-US" sz="1000">
                <a:solidFill>
                  <a:schemeClr val="dk1"/>
                </a:solidFill>
                <a:latin typeface="Courier New"/>
                <a:ea typeface="Courier New"/>
                <a:cs typeface="Courier New"/>
                <a:sym typeface="Courier New"/>
              </a:rPr>
              <a:t># transform and wrap back into DataFrame</a:t>
            </a:r>
            <a:endParaRPr sz="1000">
              <a:solidFill>
                <a:schemeClr val="dk1"/>
              </a:solidFill>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X_train = pd.DataFrame(</a:t>
            </a:r>
            <a:r>
              <a:rPr b="1" lang="en-US" sz="1000">
                <a:solidFill>
                  <a:schemeClr val="dk1"/>
                </a:solidFill>
                <a:latin typeface="Courier New"/>
                <a:ea typeface="Courier New"/>
                <a:cs typeface="Courier New"/>
                <a:sym typeface="Courier New"/>
              </a:rPr>
              <a:t>scaler.transform</a:t>
            </a:r>
            <a:r>
              <a:rPr lang="en-US" sz="1000">
                <a:solidFill>
                  <a:schemeClr val="dk1"/>
                </a:solidFill>
                <a:latin typeface="Courier New"/>
                <a:ea typeface="Courier New"/>
                <a:cs typeface="Courier New"/>
                <a:sym typeface="Courier New"/>
              </a:rPr>
              <a:t>(X_train), columns=X_train.columns, index=X_train.index)</a:t>
            </a:r>
            <a:endParaRPr sz="1000">
              <a:solidFill>
                <a:schemeClr val="dk1"/>
              </a:solidFill>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X_test = pd.DataFrame(</a:t>
            </a:r>
            <a:r>
              <a:rPr b="1" lang="en-US" sz="1000">
                <a:solidFill>
                  <a:schemeClr val="dk1"/>
                </a:solidFill>
                <a:latin typeface="Courier New"/>
                <a:ea typeface="Courier New"/>
                <a:cs typeface="Courier New"/>
                <a:sym typeface="Courier New"/>
              </a:rPr>
              <a:t>scaler.transform</a:t>
            </a:r>
            <a:r>
              <a:rPr lang="en-US" sz="1000">
                <a:solidFill>
                  <a:schemeClr val="dk1"/>
                </a:solidFill>
                <a:latin typeface="Courier New"/>
                <a:ea typeface="Courier New"/>
                <a:cs typeface="Courier New"/>
                <a:sym typeface="Courier New"/>
              </a:rPr>
              <a:t>(X_test), columns=X_test.columns, index=X_test.index)</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rPr lang="en-US" sz="1000">
                <a:solidFill>
                  <a:schemeClr val="dk1"/>
                </a:solidFill>
                <a:latin typeface="Courier New"/>
                <a:ea typeface="Courier New"/>
                <a:cs typeface="Courier New"/>
                <a:sym typeface="Courier New"/>
              </a:rPr>
              <a:t>if __name__ == '__main__':</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rPr lang="en-US" sz="1000">
                <a:solidFill>
                  <a:schemeClr val="dk1"/>
                </a:solidFill>
                <a:latin typeface="Courier New"/>
                <a:ea typeface="Courier New"/>
                <a:cs typeface="Courier New"/>
                <a:sym typeface="Courier New"/>
              </a:rPr>
              <a:t>	main()</a:t>
            </a:r>
            <a:endParaRPr sz="1000">
              <a:solidFill>
                <a:schemeClr val="dk1"/>
              </a:solidFill>
              <a:latin typeface="Courier New"/>
              <a:ea typeface="Courier New"/>
              <a:cs typeface="Courier New"/>
              <a:sym typeface="Courier New"/>
            </a:endParaRPr>
          </a:p>
        </p:txBody>
      </p:sp>
      <p:sp>
        <p:nvSpPr>
          <p:cNvPr id="358" name="Google Shape;358;p41"/>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latin typeface="Proxima Nova"/>
                <a:ea typeface="Proxima Nova"/>
                <a:cs typeface="Proxima Nova"/>
                <a:sym typeface="Proxima Nova"/>
              </a:rPr>
              <a:t>‹#›</a:t>
            </a:fld>
            <a:endParaRPr>
              <a:latin typeface="Proxima Nova"/>
              <a:ea typeface="Proxima Nova"/>
              <a:cs typeface="Proxima Nova"/>
              <a:sym typeface="Proxima Nova"/>
            </a:endParaRPr>
          </a:p>
        </p:txBody>
      </p:sp>
      <p:sp>
        <p:nvSpPr>
          <p:cNvPr id="359" name="Google Shape;359;p41"/>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250">
                <a:solidFill>
                  <a:schemeClr val="dk1"/>
                </a:solidFill>
              </a:rPr>
              <a:t>KNN uses all of the features of a datapoint </a:t>
            </a:r>
            <a:r>
              <a:rPr i="1" lang="en-US" sz="1250">
                <a:solidFill>
                  <a:schemeClr val="dk1"/>
                </a:solidFill>
              </a:rPr>
              <a:t>at the same time</a:t>
            </a:r>
            <a:r>
              <a:rPr lang="en-US" sz="1250">
                <a:solidFill>
                  <a:schemeClr val="dk1"/>
                </a:solidFill>
              </a:rPr>
              <a:t> in its algorithm. That means that distance itself is susceptible to unbalanced values inside of it. For example: if your dataset had two features of age (in years) and mass (in </a:t>
            </a:r>
            <a:r>
              <a:rPr i="1" lang="en-US" sz="1250">
                <a:solidFill>
                  <a:schemeClr val="dk1"/>
                </a:solidFill>
              </a:rPr>
              <a:t>grams</a:t>
            </a:r>
            <a:r>
              <a:rPr lang="en-US" sz="1250">
                <a:solidFill>
                  <a:schemeClr val="dk1"/>
                </a:solidFill>
              </a:rPr>
              <a:t>), years wouldn't have much of an effect at all on the result since grams is several orders of magnitude bigger. So you'll need to t</a:t>
            </a:r>
            <a:r>
              <a:rPr lang="en-US" sz="1250">
                <a:solidFill>
                  <a:schemeClr val="dk1"/>
                </a:solidFill>
              </a:rPr>
              <a:t>ransform the feature vector such that no feature is more weighted than another. This is done - for this algorithm - via </a:t>
            </a:r>
            <a:r>
              <a:rPr b="1" lang="en-US" sz="1250">
                <a:solidFill>
                  <a:schemeClr val="dk1"/>
                </a:solidFill>
              </a:rPr>
              <a:t>StandardScaler</a:t>
            </a:r>
            <a:r>
              <a:rPr lang="en-US" sz="1250">
                <a:solidFill>
                  <a:schemeClr val="dk1"/>
                </a:solidFill>
              </a:rPr>
              <a:t>.</a:t>
            </a:r>
            <a:endParaRPr sz="1250">
              <a:solidFill>
                <a:schemeClr val="dk1"/>
              </a:solidFill>
            </a:endParaRPr>
          </a:p>
          <a:p>
            <a:pPr indent="0" lvl="0" marL="0" rtl="0" algn="l">
              <a:spcBef>
                <a:spcPts val="0"/>
              </a:spcBef>
              <a:spcAft>
                <a:spcPts val="0"/>
              </a:spcAft>
              <a:buNone/>
            </a:pPr>
            <a:r>
              <a:t/>
            </a:r>
            <a:endParaRPr sz="1250">
              <a:solidFill>
                <a:schemeClr val="dk1"/>
              </a:solidFill>
            </a:endParaRPr>
          </a:p>
          <a:p>
            <a:pPr indent="0" lvl="0" marL="0" rtl="0" algn="l">
              <a:spcBef>
                <a:spcPts val="0"/>
              </a:spcBef>
              <a:spcAft>
                <a:spcPts val="0"/>
              </a:spcAft>
              <a:buNone/>
            </a:pPr>
            <a:r>
              <a:rPr lang="en-US" sz="1250">
                <a:solidFill>
                  <a:schemeClr val="dk1"/>
                </a:solidFill>
              </a:rPr>
              <a:t>Note that because StandardScaler produces an ndarray, you'll need to re-wrap the result into a DataFrame.</a:t>
            </a:r>
            <a:endParaRPr sz="1250">
              <a:solidFill>
                <a:schemeClr val="dk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2"/>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4400"/>
              <a:buNone/>
            </a:pPr>
            <a:r>
              <a:rPr lang="en-US"/>
              <a:t>ML Step 3: train</a:t>
            </a:r>
            <a:endParaRPr/>
          </a:p>
        </p:txBody>
      </p:sp>
      <p:sp>
        <p:nvSpPr>
          <p:cNvPr id="366" name="Google Shape;366;p42"/>
          <p:cNvSpPr txBox="1"/>
          <p:nvPr>
            <p:ph idx="2" type="body"/>
          </p:nvPr>
        </p:nvSpPr>
        <p:spPr>
          <a:xfrm>
            <a:off x="4650575" y="998800"/>
            <a:ext cx="4456500" cy="3414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 ... previous code goes here</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rPr lang="en-US" sz="1000">
                <a:solidFill>
                  <a:schemeClr val="dk1"/>
                </a:solidFill>
                <a:latin typeface="Courier New"/>
                <a:ea typeface="Courier New"/>
                <a:cs typeface="Courier New"/>
                <a:sym typeface="Courier New"/>
              </a:rPr>
              <a:t>def main():</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rPr b="1" lang="en-US" sz="1000">
                <a:solidFill>
                  <a:schemeClr val="dk1"/>
                </a:solidFill>
                <a:latin typeface="Courier New"/>
                <a:ea typeface="Courier New"/>
                <a:cs typeface="Courier New"/>
                <a:sym typeface="Courier New"/>
              </a:rPr>
              <a:t>	</a:t>
            </a:r>
            <a:r>
              <a:rPr lang="en-US" sz="1000">
                <a:solidFill>
                  <a:schemeClr val="dk1"/>
                </a:solidFill>
                <a:latin typeface="Courier New"/>
                <a:ea typeface="Courier New"/>
                <a:cs typeface="Courier New"/>
                <a:sym typeface="Courier New"/>
              </a:rPr>
              <a:t># ... previous code goes here</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rPr lang="en-US" sz="1000">
                <a:solidFill>
                  <a:schemeClr val="dk1"/>
                </a:solidFill>
                <a:latin typeface="Courier New"/>
                <a:ea typeface="Courier New"/>
                <a:cs typeface="Courier New"/>
                <a:sym typeface="Courier New"/>
              </a:rPr>
              <a:t>	# first create an empty model</a:t>
            </a:r>
            <a:endParaRPr sz="1000">
              <a:solidFill>
                <a:schemeClr val="dk1"/>
              </a:solidFill>
              <a:latin typeface="Courier New"/>
              <a:ea typeface="Courier New"/>
              <a:cs typeface="Courier New"/>
              <a:sym typeface="Courier New"/>
            </a:endParaRPr>
          </a:p>
          <a:p>
            <a:pPr indent="-457200" lvl="0" marL="914400" rtl="0" algn="l">
              <a:spcBef>
                <a:spcPts val="0"/>
              </a:spcBef>
              <a:spcAft>
                <a:spcPts val="0"/>
              </a:spcAft>
              <a:buClr>
                <a:schemeClr val="dk1"/>
              </a:buClr>
              <a:buSzPts val="1100"/>
              <a:buFont typeface="Arial"/>
              <a:buNone/>
            </a:pPr>
            <a:r>
              <a:rPr b="1" lang="en-US" sz="1000">
                <a:solidFill>
                  <a:schemeClr val="dk1"/>
                </a:solidFill>
                <a:latin typeface="Courier New"/>
                <a:ea typeface="Courier New"/>
                <a:cs typeface="Courier New"/>
                <a:sym typeface="Courier New"/>
              </a:rPr>
              <a:t>model_knn = KNeighborsClassifier(n_neighbors=1)</a:t>
            </a:r>
            <a:endParaRPr b="1" sz="1000">
              <a:solidFill>
                <a:schemeClr val="dk1"/>
              </a:solidFill>
              <a:latin typeface="Courier New"/>
              <a:ea typeface="Courier New"/>
              <a:cs typeface="Courier New"/>
              <a:sym typeface="Courier New"/>
            </a:endParaRPr>
          </a:p>
          <a:p>
            <a:pPr indent="-457200" lvl="0" marL="91440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 then train it</a:t>
            </a:r>
            <a:endParaRPr sz="1000">
              <a:solidFill>
                <a:schemeClr val="dk1"/>
              </a:solidFill>
              <a:latin typeface="Courier New"/>
              <a:ea typeface="Courier New"/>
              <a:cs typeface="Courier New"/>
              <a:sym typeface="Courier New"/>
            </a:endParaRPr>
          </a:p>
          <a:p>
            <a:pPr indent="-457200" lvl="0" marL="914400" rtl="0" algn="l">
              <a:spcBef>
                <a:spcPts val="0"/>
              </a:spcBef>
              <a:spcAft>
                <a:spcPts val="0"/>
              </a:spcAft>
              <a:buSzPts val="1100"/>
              <a:buNone/>
            </a:pPr>
            <a:r>
              <a:rPr b="1" lang="en-US" sz="1000">
                <a:solidFill>
                  <a:schemeClr val="dk1"/>
                </a:solidFill>
                <a:latin typeface="Courier New"/>
                <a:ea typeface="Courier New"/>
                <a:cs typeface="Courier New"/>
                <a:sym typeface="Courier New"/>
              </a:rPr>
              <a:t>model_knn.fit(X_train, y_train)</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rPr lang="en-US" sz="1000">
                <a:solidFill>
                  <a:schemeClr val="dk1"/>
                </a:solidFill>
                <a:latin typeface="Courier New"/>
                <a:ea typeface="Courier New"/>
                <a:cs typeface="Courier New"/>
                <a:sym typeface="Courier New"/>
              </a:rPr>
              <a:t>if __name__ == '__main__':</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rPr lang="en-US" sz="1000">
                <a:solidFill>
                  <a:schemeClr val="dk1"/>
                </a:solidFill>
                <a:latin typeface="Courier New"/>
                <a:ea typeface="Courier New"/>
                <a:cs typeface="Courier New"/>
                <a:sym typeface="Courier New"/>
              </a:rPr>
              <a:t>	main()</a:t>
            </a:r>
            <a:endParaRPr sz="1000">
              <a:solidFill>
                <a:schemeClr val="dk1"/>
              </a:solidFill>
              <a:latin typeface="Courier New"/>
              <a:ea typeface="Courier New"/>
              <a:cs typeface="Courier New"/>
              <a:sym typeface="Courier New"/>
            </a:endParaRPr>
          </a:p>
        </p:txBody>
      </p:sp>
      <p:sp>
        <p:nvSpPr>
          <p:cNvPr id="367" name="Google Shape;367;p42"/>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latin typeface="Proxima Nova"/>
                <a:ea typeface="Proxima Nova"/>
                <a:cs typeface="Proxima Nova"/>
                <a:sym typeface="Proxima Nova"/>
              </a:rPr>
              <a:t>‹#›</a:t>
            </a:fld>
            <a:endParaRPr>
              <a:latin typeface="Proxima Nova"/>
              <a:ea typeface="Proxima Nova"/>
              <a:cs typeface="Proxima Nova"/>
              <a:sym typeface="Proxima Nova"/>
            </a:endParaRPr>
          </a:p>
        </p:txBody>
      </p:sp>
      <p:sp>
        <p:nvSpPr>
          <p:cNvPr id="368" name="Google Shape;368;p42"/>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solidFill>
                  <a:schemeClr val="dk1"/>
                </a:solidFill>
              </a:rPr>
              <a:t>It's time to train on the dataset and create a model! As stated previously, while there are many algorithmic approaches to ML, for now you're just going to be using KNN.</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2800"/>
              <a:buFont typeface="Arial"/>
              <a:buNone/>
            </a:pPr>
            <a:r>
              <a:rPr lang="en-US">
                <a:solidFill>
                  <a:schemeClr val="dk1"/>
                </a:solidFill>
              </a:rPr>
              <a:t>Note that the code, for now, sets the number of neighbors k (</a:t>
            </a:r>
            <a:r>
              <a:rPr lang="en-US">
                <a:solidFill>
                  <a:schemeClr val="dk1"/>
                </a:solidFill>
                <a:latin typeface="Courier New"/>
                <a:ea typeface="Courier New"/>
                <a:cs typeface="Courier New"/>
                <a:sym typeface="Courier New"/>
              </a:rPr>
              <a:t>n_neighbors</a:t>
            </a:r>
            <a:r>
              <a:rPr lang="en-US">
                <a:solidFill>
                  <a:schemeClr val="dk1"/>
                </a:solidFill>
              </a:rPr>
              <a:t>) to 1. </a:t>
            </a:r>
            <a:endParaRPr>
              <a:solidFill>
                <a:schemeClr val="dk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43"/>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4400"/>
              <a:buNone/>
            </a:pPr>
            <a:r>
              <a:rPr lang="en-US">
                <a:solidFill>
                  <a:schemeClr val="hlink"/>
                </a:solidFill>
              </a:rPr>
              <a:t>ML</a:t>
            </a:r>
            <a:r>
              <a:rPr lang="en-US">
                <a:solidFill>
                  <a:schemeClr val="hlink"/>
                </a:solidFill>
              </a:rPr>
              <a:t> </a:t>
            </a:r>
            <a:r>
              <a:rPr lang="en-US"/>
              <a:t>Step 4: predict (one)</a:t>
            </a:r>
            <a:endParaRPr/>
          </a:p>
        </p:txBody>
      </p:sp>
      <p:sp>
        <p:nvSpPr>
          <p:cNvPr id="375" name="Google Shape;375;p43"/>
          <p:cNvSpPr txBox="1"/>
          <p:nvPr>
            <p:ph idx="2" type="body"/>
          </p:nvPr>
        </p:nvSpPr>
        <p:spPr>
          <a:xfrm>
            <a:off x="4650575" y="998800"/>
            <a:ext cx="4456500" cy="3414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lang="en-US" sz="1000">
                <a:solidFill>
                  <a:schemeClr val="dk1"/>
                </a:solidFill>
                <a:latin typeface="Courier New"/>
                <a:ea typeface="Courier New"/>
                <a:cs typeface="Courier New"/>
                <a:sym typeface="Courier New"/>
              </a:rPr>
              <a:t># ... previous code goes here</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rPr lang="en-US" sz="1000">
                <a:solidFill>
                  <a:schemeClr val="dk1"/>
                </a:solidFill>
                <a:latin typeface="Courier New"/>
                <a:ea typeface="Courier New"/>
                <a:cs typeface="Courier New"/>
                <a:sym typeface="Courier New"/>
              </a:rPr>
              <a:t>def main():</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rPr b="1" lang="en-US" sz="1000">
                <a:solidFill>
                  <a:schemeClr val="dk1"/>
                </a:solidFill>
                <a:latin typeface="Courier New"/>
                <a:ea typeface="Courier New"/>
                <a:cs typeface="Courier New"/>
                <a:sym typeface="Courier New"/>
              </a:rPr>
              <a:t>	</a:t>
            </a:r>
            <a:r>
              <a:rPr lang="en-US" sz="1000">
                <a:solidFill>
                  <a:schemeClr val="dk1"/>
                </a:solidFill>
                <a:latin typeface="Courier New"/>
                <a:ea typeface="Courier New"/>
                <a:cs typeface="Courier New"/>
                <a:sym typeface="Courier New"/>
              </a:rPr>
              <a:t># ... previous code goes here</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rPr lang="en-US" sz="1000">
                <a:solidFill>
                  <a:schemeClr val="dk1"/>
                </a:solidFill>
                <a:latin typeface="Courier New"/>
                <a:ea typeface="Courier New"/>
                <a:cs typeface="Courier New"/>
                <a:sym typeface="Courier New"/>
              </a:rPr>
              <a:t>	# create a fake flower</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1100"/>
              <a:buNone/>
            </a:pPr>
            <a:r>
              <a:rPr lang="en-US" sz="1000">
                <a:solidFill>
                  <a:schemeClr val="dk1"/>
                </a:solidFill>
                <a:latin typeface="Courier New"/>
                <a:ea typeface="Courier New"/>
                <a:cs typeface="Courier New"/>
                <a:sym typeface="Courier New"/>
              </a:rPr>
              <a:t>      X_new = pd.DataFrame([[4.2, 2.6, 1.4, 0.3]],</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                           columns=X_test.columns)</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rPr lang="en-US" sz="1000">
                <a:solidFill>
                  <a:schemeClr val="dk1"/>
                </a:solidFill>
                <a:latin typeface="Courier New"/>
                <a:ea typeface="Courier New"/>
                <a:cs typeface="Courier New"/>
                <a:sym typeface="Courier New"/>
              </a:rPr>
              <a:t>	# make a prediction and print it</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rPr lang="en-US" sz="1000">
                <a:solidFill>
                  <a:schemeClr val="dk1"/>
                </a:solidFill>
                <a:latin typeface="Courier New"/>
                <a:ea typeface="Courier New"/>
                <a:cs typeface="Courier New"/>
                <a:sym typeface="Courier New"/>
              </a:rPr>
              <a:t>	</a:t>
            </a:r>
            <a:r>
              <a:rPr b="1" lang="en-US" sz="1000">
                <a:solidFill>
                  <a:schemeClr val="dk1"/>
                </a:solidFill>
                <a:latin typeface="Courier New"/>
                <a:ea typeface="Courier New"/>
                <a:cs typeface="Courier New"/>
                <a:sym typeface="Courier New"/>
              </a:rPr>
              <a:t>prediction = model_knn.predict(X_new)</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SzPts val="1100"/>
              <a:buNone/>
            </a:pPr>
            <a:r>
              <a:rPr lang="en-US" sz="1000">
                <a:solidFill>
                  <a:schemeClr val="dk1"/>
                </a:solidFill>
                <a:latin typeface="Courier New"/>
                <a:ea typeface="Courier New"/>
                <a:cs typeface="Courier New"/>
                <a:sym typeface="Courier New"/>
              </a:rPr>
              <a:t>	print("prediction:", prediction)</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rPr lang="en-US" sz="1000">
                <a:solidFill>
                  <a:schemeClr val="dk1"/>
                </a:solidFill>
                <a:latin typeface="Courier New"/>
                <a:ea typeface="Courier New"/>
                <a:cs typeface="Courier New"/>
                <a:sym typeface="Courier New"/>
              </a:rPr>
              <a:t>if __name__ == '__main__':</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rPr lang="en-US" sz="1000">
                <a:solidFill>
                  <a:schemeClr val="dk1"/>
                </a:solidFill>
                <a:latin typeface="Courier New"/>
                <a:ea typeface="Courier New"/>
                <a:cs typeface="Courier New"/>
                <a:sym typeface="Courier New"/>
              </a:rPr>
              <a:t>	main()</a:t>
            </a:r>
            <a:endParaRPr sz="1000">
              <a:solidFill>
                <a:schemeClr val="dk1"/>
              </a:solidFill>
              <a:latin typeface="Courier New"/>
              <a:ea typeface="Courier New"/>
              <a:cs typeface="Courier New"/>
              <a:sym typeface="Courier New"/>
            </a:endParaRPr>
          </a:p>
        </p:txBody>
      </p:sp>
      <p:sp>
        <p:nvSpPr>
          <p:cNvPr id="376" name="Google Shape;376;p43"/>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latin typeface="Proxima Nova"/>
                <a:ea typeface="Proxima Nova"/>
                <a:cs typeface="Proxima Nova"/>
                <a:sym typeface="Proxima Nova"/>
              </a:rPr>
              <a:t>‹#›</a:t>
            </a:fld>
            <a:endParaRPr>
              <a:latin typeface="Proxima Nova"/>
              <a:ea typeface="Proxima Nova"/>
              <a:cs typeface="Proxima Nova"/>
              <a:sym typeface="Proxima Nova"/>
            </a:endParaRPr>
          </a:p>
        </p:txBody>
      </p:sp>
      <p:sp>
        <p:nvSpPr>
          <p:cNvPr id="377" name="Google Shape;377;p43"/>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000">
                <a:solidFill>
                  <a:schemeClr val="dk1"/>
                </a:solidFill>
              </a:rPr>
              <a:t>Now that you've got a model, let's test its predictive powers by creating a fake flower and making a </a:t>
            </a:r>
            <a:r>
              <a:rPr b="1" lang="en-US" sz="2000">
                <a:solidFill>
                  <a:schemeClr val="dk1"/>
                </a:solidFill>
              </a:rPr>
              <a:t>prediction</a:t>
            </a:r>
            <a:r>
              <a:rPr lang="en-US" sz="2000">
                <a:solidFill>
                  <a:schemeClr val="dk1"/>
                </a:solidFill>
              </a:rPr>
              <a:t> on it.</a:t>
            </a:r>
            <a:endParaRPr sz="20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44"/>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4400"/>
              <a:buNone/>
            </a:pPr>
            <a:r>
              <a:rPr lang="en-US">
                <a:solidFill>
                  <a:schemeClr val="hlink"/>
                </a:solidFill>
              </a:rPr>
              <a:t>ML </a:t>
            </a:r>
            <a:r>
              <a:rPr lang="en-US"/>
              <a:t>Step 4: predict (them all)</a:t>
            </a:r>
            <a:endParaRPr/>
          </a:p>
        </p:txBody>
      </p:sp>
      <p:sp>
        <p:nvSpPr>
          <p:cNvPr id="384" name="Google Shape;384;p44"/>
          <p:cNvSpPr txBox="1"/>
          <p:nvPr>
            <p:ph idx="2" type="body"/>
          </p:nvPr>
        </p:nvSpPr>
        <p:spPr>
          <a:xfrm>
            <a:off x="4650575" y="998800"/>
            <a:ext cx="4456500" cy="3414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lang="en-US" sz="1000">
                <a:solidFill>
                  <a:schemeClr val="dk1"/>
                </a:solidFill>
                <a:latin typeface="Courier New"/>
                <a:ea typeface="Courier New"/>
                <a:cs typeface="Courier New"/>
                <a:sym typeface="Courier New"/>
              </a:rPr>
              <a:t># ... previous code goes here</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rPr lang="en-US" sz="1000">
                <a:solidFill>
                  <a:schemeClr val="dk1"/>
                </a:solidFill>
                <a:latin typeface="Courier New"/>
                <a:ea typeface="Courier New"/>
                <a:cs typeface="Courier New"/>
                <a:sym typeface="Courier New"/>
              </a:rPr>
              <a:t>def main():</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rPr b="1" lang="en-US" sz="1000">
                <a:solidFill>
                  <a:schemeClr val="dk1"/>
                </a:solidFill>
                <a:latin typeface="Courier New"/>
                <a:ea typeface="Courier New"/>
                <a:cs typeface="Courier New"/>
                <a:sym typeface="Courier New"/>
              </a:rPr>
              <a:t>	</a:t>
            </a:r>
            <a:r>
              <a:rPr lang="en-US" sz="1000">
                <a:solidFill>
                  <a:schemeClr val="dk1"/>
                </a:solidFill>
                <a:latin typeface="Courier New"/>
                <a:ea typeface="Courier New"/>
                <a:cs typeface="Courier New"/>
                <a:sym typeface="Courier New"/>
              </a:rPr>
              <a:t># ... previous code goes here</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rPr lang="en-US" sz="1000">
                <a:solidFill>
                  <a:schemeClr val="dk1"/>
                </a:solidFill>
                <a:latin typeface="Courier New"/>
                <a:ea typeface="Courier New"/>
                <a:cs typeface="Courier New"/>
                <a:sym typeface="Courier New"/>
              </a:rPr>
              <a:t>	# make all the predictions</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rPr lang="en-US" sz="1000">
                <a:solidFill>
                  <a:schemeClr val="dk1"/>
                </a:solidFill>
                <a:latin typeface="Courier New"/>
                <a:ea typeface="Courier New"/>
                <a:cs typeface="Courier New"/>
                <a:sym typeface="Courier New"/>
              </a:rPr>
              <a:t>	</a:t>
            </a:r>
            <a:r>
              <a:rPr b="1" lang="en-US" sz="1000">
                <a:solidFill>
                  <a:schemeClr val="dk1"/>
                </a:solidFill>
                <a:latin typeface="Courier New"/>
                <a:ea typeface="Courier New"/>
                <a:cs typeface="Courier New"/>
                <a:sym typeface="Courier New"/>
              </a:rPr>
              <a:t>y_pred</a:t>
            </a:r>
            <a:r>
              <a:rPr b="1" lang="en-US" sz="1000">
                <a:solidFill>
                  <a:schemeClr val="dk1"/>
                </a:solidFill>
                <a:latin typeface="Courier New"/>
                <a:ea typeface="Courier New"/>
                <a:cs typeface="Courier New"/>
                <a:sym typeface="Courier New"/>
              </a:rPr>
              <a:t> = model_knn.predict(X_test)</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SzPts val="1100"/>
              <a:buNone/>
            </a:pPr>
            <a:r>
              <a:rPr lang="en-US" sz="1000">
                <a:solidFill>
                  <a:schemeClr val="dk1"/>
                </a:solidFill>
                <a:latin typeface="Courier New"/>
                <a:ea typeface="Courier New"/>
                <a:cs typeface="Courier New"/>
                <a:sym typeface="Courier New"/>
              </a:rPr>
              <a:t>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rPr lang="en-US" sz="1000">
                <a:solidFill>
                  <a:schemeClr val="dk1"/>
                </a:solidFill>
                <a:latin typeface="Courier New"/>
                <a:ea typeface="Courier New"/>
                <a:cs typeface="Courier New"/>
                <a:sym typeface="Courier New"/>
              </a:rPr>
              <a:t>if __name__ == '__main__':</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rPr lang="en-US" sz="1000">
                <a:solidFill>
                  <a:schemeClr val="dk1"/>
                </a:solidFill>
                <a:latin typeface="Courier New"/>
                <a:ea typeface="Courier New"/>
                <a:cs typeface="Courier New"/>
                <a:sym typeface="Courier New"/>
              </a:rPr>
              <a:t>	main()</a:t>
            </a:r>
            <a:endParaRPr sz="1000">
              <a:solidFill>
                <a:schemeClr val="dk1"/>
              </a:solidFill>
              <a:latin typeface="Courier New"/>
              <a:ea typeface="Courier New"/>
              <a:cs typeface="Courier New"/>
              <a:sym typeface="Courier New"/>
            </a:endParaRPr>
          </a:p>
        </p:txBody>
      </p:sp>
      <p:sp>
        <p:nvSpPr>
          <p:cNvPr id="385" name="Google Shape;385;p44"/>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latin typeface="Proxima Nova"/>
                <a:ea typeface="Proxima Nova"/>
                <a:cs typeface="Proxima Nova"/>
                <a:sym typeface="Proxima Nova"/>
              </a:rPr>
              <a:t>‹#›</a:t>
            </a:fld>
            <a:endParaRPr>
              <a:latin typeface="Proxima Nova"/>
              <a:ea typeface="Proxima Nova"/>
              <a:cs typeface="Proxima Nova"/>
              <a:sym typeface="Proxima Nova"/>
            </a:endParaRPr>
          </a:p>
        </p:txBody>
      </p:sp>
      <p:sp>
        <p:nvSpPr>
          <p:cNvPr id="386" name="Google Shape;386;p44"/>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solidFill>
                  <a:schemeClr val="dk1"/>
                </a:solidFill>
              </a:rPr>
              <a:t>You don't need to make fake flowers to test the model, though. You </a:t>
            </a:r>
            <a:r>
              <a:rPr lang="en-US">
                <a:solidFill>
                  <a:schemeClr val="dk1"/>
                </a:solidFill>
              </a:rPr>
              <a:t>reserved</a:t>
            </a:r>
            <a:r>
              <a:rPr lang="en-US">
                <a:solidFill>
                  <a:schemeClr val="dk1"/>
                </a:solidFill>
              </a:rPr>
              <a:t> a whole subset of them for this purpose - the testing subset!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rPr>
              <a:t>Naming convention for this set of predictions is </a:t>
            </a:r>
            <a:r>
              <a:rPr b="1" lang="en-US">
                <a:solidFill>
                  <a:schemeClr val="dk1"/>
                </a:solidFill>
                <a:latin typeface="Courier New"/>
                <a:ea typeface="Courier New"/>
                <a:cs typeface="Courier New"/>
                <a:sym typeface="Courier New"/>
              </a:rPr>
              <a:t>y_pred</a:t>
            </a:r>
            <a:r>
              <a:rPr lang="en-US">
                <a:solidFill>
                  <a:schemeClr val="dk1"/>
                </a:solidFill>
              </a:rPr>
              <a:t>.</a:t>
            </a:r>
            <a:endParaRPr>
              <a:solidFill>
                <a:schemeClr val="dk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45"/>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4400"/>
              <a:buNone/>
            </a:pPr>
            <a:r>
              <a:rPr lang="en-US">
                <a:solidFill>
                  <a:schemeClr val="hlink"/>
                </a:solidFill>
              </a:rPr>
              <a:t>scikit-learn: validate</a:t>
            </a:r>
            <a:endParaRPr/>
          </a:p>
        </p:txBody>
      </p:sp>
      <p:sp>
        <p:nvSpPr>
          <p:cNvPr id="393" name="Google Shape;393;p45"/>
          <p:cNvSpPr txBox="1"/>
          <p:nvPr>
            <p:ph idx="2" type="body"/>
          </p:nvPr>
        </p:nvSpPr>
        <p:spPr>
          <a:xfrm>
            <a:off x="4650575" y="998800"/>
            <a:ext cx="4456500" cy="3414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 ... previous code goes here</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rPr lang="en-US" sz="900">
                <a:solidFill>
                  <a:schemeClr val="dk1"/>
                </a:solidFill>
                <a:latin typeface="Courier New"/>
                <a:ea typeface="Courier New"/>
                <a:cs typeface="Courier New"/>
                <a:sym typeface="Courier New"/>
              </a:rPr>
              <a:t>def main():</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rPr b="1" lang="en-US" sz="900">
                <a:solidFill>
                  <a:schemeClr val="dk1"/>
                </a:solidFill>
                <a:latin typeface="Courier New"/>
                <a:ea typeface="Courier New"/>
                <a:cs typeface="Courier New"/>
                <a:sym typeface="Courier New"/>
              </a:rPr>
              <a:t>	</a:t>
            </a:r>
            <a:r>
              <a:rPr lang="en-US" sz="900">
                <a:solidFill>
                  <a:schemeClr val="dk1"/>
                </a:solidFill>
                <a:latin typeface="Courier New"/>
                <a:ea typeface="Courier New"/>
                <a:cs typeface="Courier New"/>
                <a:sym typeface="Courier New"/>
              </a:rPr>
              <a:t># ... previous code goes here</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t/>
            </a:r>
            <a:endParaRPr sz="9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rPr lang="en-US" sz="900">
                <a:solidFill>
                  <a:schemeClr val="dk1"/>
                </a:solidFill>
                <a:latin typeface="Courier New"/>
                <a:ea typeface="Courier New"/>
                <a:cs typeface="Courier New"/>
                <a:sym typeface="Courier New"/>
              </a:rPr>
              <a:t>	print('accuracy:', </a:t>
            </a:r>
            <a:r>
              <a:rPr b="1" lang="en-US" sz="900">
                <a:solidFill>
                  <a:schemeClr val="dk1"/>
                </a:solidFill>
                <a:latin typeface="Courier New"/>
                <a:ea typeface="Courier New"/>
                <a:cs typeface="Courier New"/>
                <a:sym typeface="Courier New"/>
              </a:rPr>
              <a:t>model_knn.score(X_test, y_test)</a:t>
            </a:r>
            <a:r>
              <a:rPr lang="en-US" sz="900">
                <a:solidFill>
                  <a:schemeClr val="dk1"/>
                </a:solidFill>
                <a:latin typeface="Courier New"/>
                <a:ea typeface="Courier New"/>
                <a:cs typeface="Courier New"/>
                <a:sym typeface="Courier New"/>
              </a:rPr>
              <a:t>)	</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rPr lang="en-US" sz="900">
                <a:solidFill>
                  <a:schemeClr val="dk1"/>
                </a:solidFill>
                <a:latin typeface="Courier New"/>
                <a:ea typeface="Courier New"/>
                <a:cs typeface="Courier New"/>
                <a:sym typeface="Courier New"/>
              </a:rPr>
              <a:t>if __name__ == '__main__':</a:t>
            </a:r>
            <a:endParaRPr sz="9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rPr lang="en-US" sz="900">
                <a:solidFill>
                  <a:schemeClr val="dk1"/>
                </a:solidFill>
                <a:latin typeface="Courier New"/>
                <a:ea typeface="Courier New"/>
                <a:cs typeface="Courier New"/>
                <a:sym typeface="Courier New"/>
              </a:rPr>
              <a:t>	main()</a:t>
            </a:r>
            <a:endParaRPr sz="900">
              <a:solidFill>
                <a:schemeClr val="dk1"/>
              </a:solidFill>
              <a:latin typeface="Verdana"/>
              <a:ea typeface="Verdana"/>
              <a:cs typeface="Verdana"/>
              <a:sym typeface="Verdana"/>
            </a:endParaRPr>
          </a:p>
        </p:txBody>
      </p:sp>
      <p:sp>
        <p:nvSpPr>
          <p:cNvPr id="394" name="Google Shape;394;p45"/>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latin typeface="Proxima Nova"/>
                <a:ea typeface="Proxima Nova"/>
                <a:cs typeface="Proxima Nova"/>
                <a:sym typeface="Proxima Nova"/>
              </a:rPr>
              <a:t>‹#›</a:t>
            </a:fld>
            <a:endParaRPr>
              <a:latin typeface="Proxima Nova"/>
              <a:ea typeface="Proxima Nova"/>
              <a:cs typeface="Proxima Nova"/>
              <a:sym typeface="Proxima Nova"/>
            </a:endParaRPr>
          </a:p>
        </p:txBody>
      </p:sp>
      <p:sp>
        <p:nvSpPr>
          <p:cNvPr id="395" name="Google Shape;395;p45"/>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800"/>
              <a:buFont typeface="Arial"/>
              <a:buNone/>
            </a:pPr>
            <a:r>
              <a:rPr lang="en-US" sz="1400">
                <a:solidFill>
                  <a:schemeClr val="dk1"/>
                </a:solidFill>
              </a:rPr>
              <a:t>The dataset was split into 75% training and 25% testing groups. To see how accurate the model is, you can use the </a:t>
            </a:r>
            <a:r>
              <a:rPr b="1" lang="en-US" sz="1400">
                <a:solidFill>
                  <a:schemeClr val="dk1"/>
                </a:solidFill>
                <a:latin typeface="Courier New"/>
                <a:ea typeface="Courier New"/>
                <a:cs typeface="Courier New"/>
                <a:sym typeface="Courier New"/>
              </a:rPr>
              <a:t>.score()</a:t>
            </a:r>
            <a:r>
              <a:rPr lang="en-US" sz="1400">
                <a:solidFill>
                  <a:schemeClr val="dk1"/>
                </a:solidFill>
              </a:rPr>
              <a:t> method and use the testing dataset. </a:t>
            </a:r>
            <a:endParaRPr>
              <a:solidFill>
                <a:schemeClr val="dk1"/>
              </a:solidFill>
            </a:endParaRPr>
          </a:p>
          <a:p>
            <a:pPr indent="0" lvl="0" marL="0" rtl="0" algn="l">
              <a:spcBef>
                <a:spcPts val="0"/>
              </a:spcBef>
              <a:spcAft>
                <a:spcPts val="0"/>
              </a:spcAft>
              <a:buClr>
                <a:schemeClr val="dk1"/>
              </a:buClr>
              <a:buSzPts val="2800"/>
              <a:buFont typeface="Arial"/>
              <a:buNone/>
            </a:pPr>
            <a:r>
              <a:t/>
            </a:r>
            <a:endParaRPr sz="1400">
              <a:solidFill>
                <a:schemeClr val="dk1"/>
              </a:solidFill>
            </a:endParaRPr>
          </a:p>
          <a:p>
            <a:pPr indent="0" lvl="0" marL="0" rtl="0" algn="l">
              <a:spcBef>
                <a:spcPts val="0"/>
              </a:spcBef>
              <a:spcAft>
                <a:spcPts val="0"/>
              </a:spcAft>
              <a:buClr>
                <a:schemeClr val="dk1"/>
              </a:buClr>
              <a:buSzPts val="2800"/>
              <a:buFont typeface="Arial"/>
              <a:buNone/>
            </a:pPr>
            <a:r>
              <a:rPr lang="en-US" sz="1400">
                <a:solidFill>
                  <a:schemeClr val="dk1"/>
                </a:solidFill>
              </a:rPr>
              <a:t>Note: </a:t>
            </a:r>
            <a:r>
              <a:rPr lang="en-US" sz="1400">
                <a:solidFill>
                  <a:schemeClr val="dk1"/>
                </a:solidFill>
                <a:latin typeface="Courier New"/>
                <a:ea typeface="Courier New"/>
                <a:cs typeface="Courier New"/>
                <a:sym typeface="Courier New"/>
              </a:rPr>
              <a:t>.score()</a:t>
            </a:r>
            <a:r>
              <a:rPr lang="en-US" sz="1400">
                <a:solidFill>
                  <a:schemeClr val="dk1"/>
                </a:solidFill>
              </a:rPr>
              <a:t> is basically calculating </a:t>
            </a:r>
            <a:r>
              <a:rPr lang="en-US" sz="1400">
                <a:solidFill>
                  <a:schemeClr val="dk1"/>
                </a:solidFill>
                <a:latin typeface="Courier New"/>
                <a:ea typeface="Courier New"/>
                <a:cs typeface="Courier New"/>
                <a:sym typeface="Courier New"/>
              </a:rPr>
              <a:t>y_pred</a:t>
            </a:r>
            <a:r>
              <a:rPr lang="en-US" sz="1400">
                <a:solidFill>
                  <a:schemeClr val="dk1"/>
                </a:solidFill>
              </a:rPr>
              <a:t> (from the previous slide) behind the scenes, using </a:t>
            </a:r>
            <a:r>
              <a:rPr lang="en-US" sz="1400">
                <a:solidFill>
                  <a:schemeClr val="dk1"/>
                </a:solidFill>
                <a:latin typeface="Courier New"/>
                <a:ea typeface="Courier New"/>
                <a:cs typeface="Courier New"/>
                <a:sym typeface="Courier New"/>
              </a:rPr>
              <a:t>X_test</a:t>
            </a:r>
            <a:r>
              <a:rPr lang="en-US" sz="1400">
                <a:solidFill>
                  <a:schemeClr val="dk1"/>
                </a:solidFill>
              </a:rPr>
              <a:t>; then comparing to </a:t>
            </a:r>
            <a:r>
              <a:rPr lang="en-US" sz="1400">
                <a:solidFill>
                  <a:schemeClr val="dk1"/>
                </a:solidFill>
                <a:latin typeface="Courier New"/>
                <a:ea typeface="Courier New"/>
                <a:cs typeface="Courier New"/>
                <a:sym typeface="Courier New"/>
              </a:rPr>
              <a:t>y_test</a:t>
            </a:r>
            <a:r>
              <a:rPr lang="en-US" sz="1400">
                <a:solidFill>
                  <a:schemeClr val="dk1"/>
                </a:solidFill>
              </a:rPr>
              <a:t> known true labels.</a:t>
            </a:r>
            <a:endParaRPr sz="1400">
              <a:solidFill>
                <a:schemeClr val="dk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46"/>
          <p:cNvSpPr txBox="1"/>
          <p:nvPr>
            <p:ph idx="2" type="body"/>
          </p:nvPr>
        </p:nvSpPr>
        <p:spPr>
          <a:xfrm>
            <a:off x="4650575" y="998800"/>
            <a:ext cx="4456500" cy="3414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100">
                <a:solidFill>
                  <a:schemeClr val="dk1"/>
                </a:solidFill>
              </a:rPr>
              <a:t>Specific vocab/syntax:</a:t>
            </a:r>
            <a:endParaRPr sz="1100">
              <a:solidFill>
                <a:schemeClr val="dk1"/>
              </a:solidFill>
            </a:endParaRPr>
          </a:p>
          <a:p>
            <a:pPr indent="-298450" lvl="0" marL="457200" rtl="0" algn="l">
              <a:spcBef>
                <a:spcPts val="0"/>
              </a:spcBef>
              <a:spcAft>
                <a:spcPts val="0"/>
              </a:spcAft>
              <a:buClr>
                <a:schemeClr val="dk1"/>
              </a:buClr>
              <a:buSzPts val="1100"/>
              <a:buFont typeface="Courier New"/>
              <a:buChar char="•"/>
            </a:pPr>
            <a:r>
              <a:rPr lang="en-US" sz="1100">
                <a:solidFill>
                  <a:schemeClr val="dk1"/>
                </a:solidFill>
                <a:latin typeface="Courier New"/>
                <a:ea typeface="Courier New"/>
                <a:cs typeface="Courier New"/>
                <a:sym typeface="Courier New"/>
              </a:rPr>
              <a:t>StandardScaler()</a:t>
            </a:r>
            <a:endParaRPr sz="1100">
              <a:solidFill>
                <a:schemeClr val="dk1"/>
              </a:solidFill>
              <a:latin typeface="Courier New"/>
              <a:ea typeface="Courier New"/>
              <a:cs typeface="Courier New"/>
              <a:sym typeface="Courier New"/>
            </a:endParaRPr>
          </a:p>
          <a:p>
            <a:pPr indent="-298450" lvl="0" marL="457200" rtl="0" algn="l">
              <a:spcBef>
                <a:spcPts val="0"/>
              </a:spcBef>
              <a:spcAft>
                <a:spcPts val="0"/>
              </a:spcAft>
              <a:buClr>
                <a:schemeClr val="dk1"/>
              </a:buClr>
              <a:buSzPts val="1100"/>
              <a:buFont typeface="Courier New"/>
              <a:buChar char="•"/>
            </a:pPr>
            <a:r>
              <a:rPr lang="en-US" sz="1100">
                <a:solidFill>
                  <a:schemeClr val="dk1"/>
                </a:solidFill>
                <a:latin typeface="Courier New"/>
                <a:ea typeface="Courier New"/>
                <a:cs typeface="Courier New"/>
                <a:sym typeface="Courier New"/>
              </a:rPr>
              <a:t>train_test_split()</a:t>
            </a:r>
            <a:endParaRPr sz="1100">
              <a:solidFill>
                <a:schemeClr val="dk1"/>
              </a:solidFill>
              <a:latin typeface="Courier New"/>
              <a:ea typeface="Courier New"/>
              <a:cs typeface="Courier New"/>
              <a:sym typeface="Courier New"/>
            </a:endParaRPr>
          </a:p>
          <a:p>
            <a:pPr indent="-298450" lvl="0" marL="457200" rtl="0" algn="l">
              <a:spcBef>
                <a:spcPts val="0"/>
              </a:spcBef>
              <a:spcAft>
                <a:spcPts val="0"/>
              </a:spcAft>
              <a:buClr>
                <a:schemeClr val="dk1"/>
              </a:buClr>
              <a:buSzPts val="1100"/>
              <a:buFont typeface="Courier New"/>
              <a:buChar char="•"/>
            </a:pPr>
            <a:r>
              <a:rPr lang="en-US" sz="1100">
                <a:solidFill>
                  <a:schemeClr val="dk1"/>
                </a:solidFill>
                <a:latin typeface="Courier New"/>
                <a:ea typeface="Courier New"/>
                <a:cs typeface="Courier New"/>
                <a:sym typeface="Courier New"/>
              </a:rPr>
              <a:t>KNeighborsClassifier()</a:t>
            </a:r>
            <a:endParaRPr sz="1100">
              <a:solidFill>
                <a:schemeClr val="dk1"/>
              </a:solidFill>
              <a:latin typeface="Courier New"/>
              <a:ea typeface="Courier New"/>
              <a:cs typeface="Courier New"/>
              <a:sym typeface="Courier New"/>
            </a:endParaRPr>
          </a:p>
          <a:p>
            <a:pPr indent="-298450" lvl="0" marL="457200" rtl="0" algn="l">
              <a:spcBef>
                <a:spcPts val="0"/>
              </a:spcBef>
              <a:spcAft>
                <a:spcPts val="0"/>
              </a:spcAft>
              <a:buClr>
                <a:schemeClr val="dk1"/>
              </a:buClr>
              <a:buSzPts val="1100"/>
              <a:buFont typeface="Courier New"/>
              <a:buChar char="•"/>
            </a:pPr>
            <a:r>
              <a:rPr lang="en-US" sz="1100">
                <a:solidFill>
                  <a:schemeClr val="dk1"/>
                </a:solidFill>
                <a:latin typeface="Courier New"/>
                <a:ea typeface="Courier New"/>
                <a:cs typeface="Courier New"/>
                <a:sym typeface="Courier New"/>
              </a:rPr>
              <a:t>.fit()</a:t>
            </a:r>
            <a:endParaRPr sz="1100">
              <a:solidFill>
                <a:schemeClr val="dk1"/>
              </a:solidFill>
              <a:latin typeface="Courier New"/>
              <a:ea typeface="Courier New"/>
              <a:cs typeface="Courier New"/>
              <a:sym typeface="Courier New"/>
            </a:endParaRPr>
          </a:p>
          <a:p>
            <a:pPr indent="-298450" lvl="0" marL="457200" rtl="0" algn="l">
              <a:spcBef>
                <a:spcPts val="0"/>
              </a:spcBef>
              <a:spcAft>
                <a:spcPts val="0"/>
              </a:spcAft>
              <a:buClr>
                <a:schemeClr val="dk1"/>
              </a:buClr>
              <a:buSzPts val="1100"/>
              <a:buFont typeface="Courier New"/>
              <a:buChar char="•"/>
            </a:pPr>
            <a:r>
              <a:rPr lang="en-US" sz="1100">
                <a:solidFill>
                  <a:schemeClr val="dk1"/>
                </a:solidFill>
                <a:latin typeface="Courier New"/>
                <a:ea typeface="Courier New"/>
                <a:cs typeface="Courier New"/>
                <a:sym typeface="Courier New"/>
              </a:rPr>
              <a:t>.predict()</a:t>
            </a:r>
            <a:endParaRPr sz="1100">
              <a:solidFill>
                <a:schemeClr val="dk1"/>
              </a:solidFill>
              <a:latin typeface="Courier New"/>
              <a:ea typeface="Courier New"/>
              <a:cs typeface="Courier New"/>
              <a:sym typeface="Courier New"/>
            </a:endParaRPr>
          </a:p>
          <a:p>
            <a:pPr indent="-298450" lvl="0" marL="457200" rtl="0" algn="l">
              <a:spcBef>
                <a:spcPts val="0"/>
              </a:spcBef>
              <a:spcAft>
                <a:spcPts val="0"/>
              </a:spcAft>
              <a:buClr>
                <a:schemeClr val="dk1"/>
              </a:buClr>
              <a:buSzPts val="1100"/>
              <a:buFont typeface="Courier New"/>
              <a:buChar char="•"/>
            </a:pPr>
            <a:r>
              <a:rPr lang="en-US" sz="1100">
                <a:solidFill>
                  <a:schemeClr val="dk1"/>
                </a:solidFill>
                <a:latin typeface="Courier New"/>
                <a:ea typeface="Courier New"/>
                <a:cs typeface="Courier New"/>
                <a:sym typeface="Courier New"/>
              </a:rPr>
              <a:t>.score()</a:t>
            </a:r>
            <a:endParaRPr sz="1100">
              <a:solidFill>
                <a:schemeClr val="dk1"/>
              </a:solidFill>
              <a:latin typeface="Courier New"/>
              <a:ea typeface="Courier New"/>
              <a:cs typeface="Courier New"/>
              <a:sym typeface="Courier New"/>
            </a:endParaRPr>
          </a:p>
        </p:txBody>
      </p:sp>
      <p:sp>
        <p:nvSpPr>
          <p:cNvPr id="402" name="Google Shape;402;p46"/>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4400"/>
              <a:buNone/>
            </a:pPr>
            <a:r>
              <a:rPr lang="en-US"/>
              <a:t>Summary of terms</a:t>
            </a:r>
            <a:endParaRPr/>
          </a:p>
        </p:txBody>
      </p:sp>
      <p:sp>
        <p:nvSpPr>
          <p:cNvPr id="403" name="Google Shape;403;p46"/>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latin typeface="Proxima Nova"/>
                <a:ea typeface="Proxima Nova"/>
                <a:cs typeface="Proxima Nova"/>
                <a:sym typeface="Proxima Nova"/>
              </a:rPr>
              <a:t>‹#›</a:t>
            </a:fld>
            <a:endParaRPr>
              <a:latin typeface="Proxima Nova"/>
              <a:ea typeface="Proxima Nova"/>
              <a:cs typeface="Proxima Nova"/>
              <a:sym typeface="Proxima Nova"/>
            </a:endParaRPr>
          </a:p>
        </p:txBody>
      </p:sp>
      <p:sp>
        <p:nvSpPr>
          <p:cNvPr id="404" name="Google Shape;404;p46"/>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100">
                <a:solidFill>
                  <a:schemeClr val="dk1"/>
                </a:solidFill>
              </a:rPr>
              <a:t>Terminology:</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Machine learning </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artificial intelligence</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Prediction function</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Feature</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Model</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Label</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Training and testing</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Supervised learning</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Unsupervised learning</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Reinforcement learning</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k-nearest neighbor</a:t>
            </a:r>
            <a:endParaRPr/>
          </a:p>
        </p:txBody>
      </p:sp>
    </p:spTree>
  </p:cSld>
  <p:clrMapOvr>
    <a:masterClrMapping/>
  </p:clrMapOvr>
</p:sld>
</file>

<file path=ppt/theme/theme1.xml><?xml version="1.0" encoding="utf-8"?>
<a:theme xmlns:a="http://schemas.openxmlformats.org/drawingml/2006/main" xmlns:r="http://schemas.openxmlformats.org/officeDocument/2006/relationships" name="USC Viterbi Theme Aldenderfer">
  <a:themeElements>
    <a:clrScheme name="Custom 1">
      <a:dk1>
        <a:srgbClr val="000000"/>
      </a:dk1>
      <a:lt1>
        <a:srgbClr val="FFFFFF"/>
      </a:lt1>
      <a:dk2>
        <a:srgbClr val="830000"/>
      </a:dk2>
      <a:lt2>
        <a:srgbClr val="999999"/>
      </a:lt2>
      <a:accent1>
        <a:srgbClr val="CCCCCC"/>
      </a:accent1>
      <a:accent2>
        <a:srgbClr val="FFCC00"/>
      </a:accent2>
      <a:accent3>
        <a:srgbClr val="FFFFFF"/>
      </a:accent3>
      <a:accent4>
        <a:srgbClr val="000000"/>
      </a:accent4>
      <a:accent5>
        <a:srgbClr val="D9D9D9"/>
      </a:accent5>
      <a:accent6>
        <a:srgbClr val="FFCC00"/>
      </a:accent6>
      <a:hlink>
        <a:srgbClr val="990000"/>
      </a:hlink>
      <a:folHlink>
        <a:srgbClr val="99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