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7315200" cy="9601200"/>
  <p:embeddedFontLst>
    <p:embeddedFont>
      <p:font typeface="Proxima Nova"/>
      <p:regular r:id="rId40"/>
      <p:bold r:id="rId41"/>
      <p:italic r:id="rId42"/>
      <p:boldItalic r:id="rId43"/>
    </p:embeddedFont>
    <p:embeddedFont>
      <p:font typeface="Roboto Mono Light"/>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regular.fntdata"/><Relationship Id="rId42" Type="http://schemas.openxmlformats.org/officeDocument/2006/relationships/font" Target="fonts/ProximaNova-italic.fntdata"/><Relationship Id="rId41" Type="http://schemas.openxmlformats.org/officeDocument/2006/relationships/font" Target="fonts/ProximaNova-bold.fntdata"/><Relationship Id="rId44" Type="http://schemas.openxmlformats.org/officeDocument/2006/relationships/font" Target="fonts/RobotoMonoLight-regular.fntdata"/><Relationship Id="rId43" Type="http://schemas.openxmlformats.org/officeDocument/2006/relationships/font" Target="fonts/ProximaNova-boldItalic.fntdata"/><Relationship Id="rId46" Type="http://schemas.openxmlformats.org/officeDocument/2006/relationships/font" Target="fonts/RobotoMonoLight-italic.fntdata"/><Relationship Id="rId45" Type="http://schemas.openxmlformats.org/officeDocument/2006/relationships/font" Target="fonts/RobotoMono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regular.fntdata"/><Relationship Id="rId47" Type="http://schemas.openxmlformats.org/officeDocument/2006/relationships/font" Target="fonts/RobotoMonoLight-boldItalic.fntdata"/><Relationship Id="rId49"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Italic.fntdata"/><Relationship Id="rId5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cc18617f6c_0_5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0" name="Google Shape;50;gcc18617f6c_0_5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 name="Google Shape;51;gcc18617f6c_0_5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e168c4afe_0_424:notes"/>
          <p:cNvSpPr/>
          <p:nvPr>
            <p:ph idx="2" type="sldImg"/>
          </p:nvPr>
        </p:nvSpPr>
        <p:spPr>
          <a:xfrm>
            <a:off x="457200" y="720725"/>
            <a:ext cx="6401100" cy="36006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e168c4afe_0_42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 name="Google Shape;59;g33e168c4afe_0_42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492c3a3921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67" name="Google Shape;67;g3492c3a3921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 name="Google Shape;68;g3492c3a3921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492c3a3921_0_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75" name="Google Shape;75;g3492c3a3921_0_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 name="Google Shape;76;g3492c3a3921_0_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492c3a3921_0_14: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83" name="Google Shape;83;g3492c3a3921_0_14: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4" name="Google Shape;84;g3492c3a3921_0_14: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92c3a3921_0_22: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92c3a3921_0_22: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3" name="Google Shape;93;g3492c3a3921_0_22: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96e54191e_0_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96e54191e_0_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 name="Google Shape;102;g3996e54191e_0_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92c3a3921_0_3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92c3a3921_0_3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1" name="Google Shape;111;g3492c3a3921_0_3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492c3a3921_0_38: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492c3a3921_0_38: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0" name="Google Shape;120;g3492c3a3921_0_38: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492c3a3921_0_46: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492c3a3921_0_46: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9" name="Google Shape;129;g3492c3a3921_0_46: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92c3a3921_0_53: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92c3a3921_0_53: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7" name="Google Shape;137;g3492c3a3921_0_53: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92c3a3921_0_61: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492c3a3921_0_61: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6" name="Google Shape;146;g3492c3a3921_0_61: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492c3a3921_0_69: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492c3a3921_0_69: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 name="Google Shape;155;g3492c3a3921_0_69: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492c3a3921_0_76: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492c3a3921_0_76: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3" name="Google Shape;163;g3492c3a3921_0_76: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92c3a3921_0_83: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92c3a3921_0_83: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1" name="Google Shape;171;g3492c3a3921_0_83: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492c3a3921_0_90: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492c3a3921_0_90: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 name="Google Shape;179;g3492c3a3921_0_90: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492c3a3921_0_18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492c3a3921_0_18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8" name="Google Shape;188;g3492c3a3921_0_18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492c3a3921_0_23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492c3a3921_0_23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6" name="Google Shape;196;g3492c3a3921_0_23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492c3a3921_0_246: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492c3a3921_0_246: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4" name="Google Shape;204;g3492c3a3921_0_246: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492c3a3921_0_253: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492c3a3921_0_253: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2" name="Google Shape;212;g3492c3a3921_0_253: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492c3a3921_0_472: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492c3a3921_0_472: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1" name="Google Shape;221;g3492c3a3921_0_472: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4071eb6a84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4071eb6a84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0" name="Google Shape;230;g34071eb6a84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492c3a3921_0_261: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492c3a3921_0_261: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9" name="Google Shape;239;g3492c3a3921_0_261: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492c3a3921_0_268: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492c3a3921_0_268: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7" name="Google Shape;247;g3492c3a3921_0_268: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492c3a3921_0_276: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492c3a3921_0_276: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6" name="Google Shape;256;g3492c3a3921_0_276: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92c3a3921_0_284: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492c3a3921_0_284: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5" name="Google Shape;265;g3492c3a3921_0_284: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492c3a3921_0_291: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492c3a3921_0_291: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3" name="Google Shape;273;g3492c3a3921_0_291: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492c3a3921_0_299: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492c3a3921_0_299: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2" name="Google Shape;282;g3492c3a3921_0_299: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492c3a3921_0_307: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492c3a3921_0_307: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1" name="Google Shape;291;g3492c3a3921_0_307: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492c3a3921_0_314: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492c3a3921_0_314: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9" name="Google Shape;299;g3492c3a3921_0_314: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492c3a3921_0_321: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492c3a3921_0_321: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7" name="Google Shape;307;g3492c3a3921_0_321: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492c3a3921_0_329: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492c3a3921_0_329: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6" name="Google Shape;316;g3492c3a3921_0_329: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492c3a3921_0_137: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492c3a3921_0_137: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5" name="Google Shape;325;g3492c3a3921_0_137: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492c3a3921_0_192:notes"/>
          <p:cNvSpPr/>
          <p:nvPr>
            <p:ph idx="2" type="sldImg"/>
          </p:nvPr>
        </p:nvSpPr>
        <p:spPr>
          <a:xfrm>
            <a:off x="731520" y="1200150"/>
            <a:ext cx="5852100" cy="32403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492c3a3921_0_192:notes"/>
          <p:cNvSpPr txBox="1"/>
          <p:nvPr>
            <p:ph idx="1" type="body"/>
          </p:nvPr>
        </p:nvSpPr>
        <p:spPr>
          <a:xfrm>
            <a:off x="731520" y="4620578"/>
            <a:ext cx="5852100" cy="378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4" name="Google Shape;334;g3492c3a3921_0_192:notes"/>
          <p:cNvSpPr txBox="1"/>
          <p:nvPr>
            <p:ph idx="12" type="sldNum"/>
          </p:nvPr>
        </p:nvSpPr>
        <p:spPr>
          <a:xfrm>
            <a:off x="4143587" y="9119474"/>
            <a:ext cx="3169800" cy="481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5" name="Google Shape;25;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 name="Google Shape;28;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29" name="Google Shape;29;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 name="Google Shape;32;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4" name="Shape 34"/>
        <p:cNvGrpSpPr/>
        <p:nvPr/>
      </p:nvGrpSpPr>
      <p:grpSpPr>
        <a:xfrm>
          <a:off x="0" y="0"/>
          <a:ext cx="0" cy="0"/>
          <a:chOff x="0" y="0"/>
          <a:chExt cx="0" cy="0"/>
        </a:xfrm>
      </p:grpSpPr>
      <p:sp>
        <p:nvSpPr>
          <p:cNvPr id="35" name="Google Shape;35;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 name="Google Shape;36;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7" name="Google Shape;37;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8" name="Google Shape;38;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39" name="Shape 39"/>
        <p:cNvGrpSpPr/>
        <p:nvPr/>
      </p:nvGrpSpPr>
      <p:grpSpPr>
        <a:xfrm>
          <a:off x="0" y="0"/>
          <a:ext cx="0" cy="0"/>
          <a:chOff x="0" y="0"/>
          <a:chExt cx="0" cy="0"/>
        </a:xfrm>
      </p:grpSpPr>
      <p:sp>
        <p:nvSpPr>
          <p:cNvPr id="40" name="Google Shape;40;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 name="Google Shape;41;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2" name="Google Shape;42;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5" name="Shape 45"/>
        <p:cNvGrpSpPr/>
        <p:nvPr/>
      </p:nvGrpSpPr>
      <p:grpSpPr>
        <a:xfrm>
          <a:off x="0" y="0"/>
          <a:ext cx="0" cy="0"/>
          <a:chOff x="0" y="0"/>
          <a:chExt cx="0" cy="0"/>
        </a:xfrm>
      </p:grpSpPr>
      <p:sp>
        <p:nvSpPr>
          <p:cNvPr id="46" name="Google Shape;46;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7" name="Google Shape;47;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2" Type="http://schemas.openxmlformats.org/officeDocument/2006/relationships/theme" Target="../theme/theme2.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OtKUoZ1-heAVh0Qhveipi6lDbMZiEaGOuBhR3KVfgAU/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hyperlink" Target="https://www.ncei.noaa.gov/access/monitoring/climate-at-a-glance/global/time-series/globe/land_ocean/1/1/1880-200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solidFill>
                  <a:schemeClr val="hlink"/>
                </a:solidFill>
              </a:rPr>
              <a:t>Scientific Computation</a:t>
            </a:r>
            <a:r>
              <a:rPr lang="en-US">
                <a:solidFill>
                  <a:schemeClr val="hlink"/>
                </a:solidFill>
              </a:rPr>
              <a:t> and Data Visualization, </a:t>
            </a:r>
            <a:r>
              <a:rPr lang="en-US">
                <a:solidFill>
                  <a:schemeClr val="hlink"/>
                </a:solidFill>
              </a:rPr>
              <a:t>Part 4</a:t>
            </a:r>
            <a:endParaRPr/>
          </a:p>
        </p:txBody>
      </p:sp>
      <p:sp>
        <p:nvSpPr>
          <p:cNvPr id="54" name="Google Shape;54;p10"/>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t>Applied Python</a:t>
            </a:r>
            <a:endParaRPr/>
          </a:p>
        </p:txBody>
      </p:sp>
      <p:sp>
        <p:nvSpPr>
          <p:cNvPr id="55" name="Google Shape;55;p10"/>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2" name="Google Shape;62;p1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63" name="Google Shape;63;p1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500">
                <a:solidFill>
                  <a:schemeClr val="dk1"/>
                </a:solidFill>
              </a:rPr>
              <a:t>Learning Objectives</a:t>
            </a:r>
            <a:endParaRPr b="1" sz="1500">
              <a:solidFill>
                <a:schemeClr val="dk1"/>
              </a:solidFill>
            </a:endParaRPr>
          </a:p>
          <a:p>
            <a:pPr indent="0" lvl="0" marL="0" rtl="0" algn="l">
              <a:spcBef>
                <a:spcPts val="0"/>
              </a:spcBef>
              <a:spcAft>
                <a:spcPts val="0"/>
              </a:spcAft>
              <a:buClr>
                <a:schemeClr val="dk1"/>
              </a:buClr>
              <a:buSzPts val="1100"/>
              <a:buFont typeface="Arial"/>
              <a:buNone/>
            </a:pPr>
            <a:r>
              <a:rPr lang="en-US" sz="1500">
                <a:solidFill>
                  <a:schemeClr val="dk1"/>
                </a:solidFill>
              </a:rPr>
              <a:t>By the end of this session, you should:</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understand time series data.</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identify different charts and their constituent features.</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know how to effectively communicate information through vizualization.</a:t>
            </a:r>
            <a:endParaRPr sz="1500">
              <a:solidFill>
                <a:schemeClr val="dk1"/>
              </a:solidFill>
            </a:endParaRPr>
          </a:p>
        </p:txBody>
      </p:sp>
      <p:sp>
        <p:nvSpPr>
          <p:cNvPr id="64" name="Google Shape;64;p1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500">
                <a:solidFill>
                  <a:schemeClr val="dk1"/>
                </a:solidFill>
              </a:rPr>
              <a:t>Measurable Outcomes</a:t>
            </a:r>
            <a:endParaRPr sz="1500">
              <a:solidFill>
                <a:schemeClr val="dk1"/>
              </a:solidFill>
            </a:endParaRPr>
          </a:p>
          <a:p>
            <a:pPr indent="0" lvl="0" marL="0" rtl="0" algn="l">
              <a:spcBef>
                <a:spcPts val="0"/>
              </a:spcBef>
              <a:spcAft>
                <a:spcPts val="0"/>
              </a:spcAft>
              <a:buClr>
                <a:schemeClr val="dk1"/>
              </a:buClr>
              <a:buSzPts val="1100"/>
              <a:buFont typeface="Arial"/>
              <a:buNone/>
            </a:pPr>
            <a:r>
              <a:rPr lang="en-US" sz="1500">
                <a:solidFill>
                  <a:schemeClr val="dk1"/>
                </a:solidFill>
              </a:rPr>
              <a:t>By the end of this session, you should be able to:</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convert string-formatted timestamps into datetime objects</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given a dataset, select an appropriate chart.</a:t>
            </a:r>
            <a:endParaRPr sz="1500">
              <a:solidFill>
                <a:schemeClr val="dk1"/>
              </a:solidFill>
            </a:endParaRPr>
          </a:p>
          <a:p>
            <a:pPr indent="-323850" lvl="0" marL="457200" rtl="0" algn="l">
              <a:spcBef>
                <a:spcPts val="0"/>
              </a:spcBef>
              <a:spcAft>
                <a:spcPts val="0"/>
              </a:spcAft>
              <a:buClr>
                <a:schemeClr val="dk1"/>
              </a:buClr>
              <a:buSzPts val="1500"/>
              <a:buChar char="•"/>
            </a:pPr>
            <a:r>
              <a:rPr lang="en-US" sz="1500">
                <a:solidFill>
                  <a:schemeClr val="dk1"/>
                </a:solidFill>
              </a:rPr>
              <a:t>modify properties of different charts.</a:t>
            </a:r>
            <a:endParaRPr sz="15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TIMESTAMPS</a:t>
            </a:r>
            <a:endParaRPr/>
          </a:p>
        </p:txBody>
      </p:sp>
      <p:sp>
        <p:nvSpPr>
          <p:cNvPr id="71" name="Google Shape;71;p1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72" name="Google Shape;72;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Timestamps: date (and time)</a:t>
            </a:r>
            <a:endParaRPr/>
          </a:p>
        </p:txBody>
      </p:sp>
      <p:sp>
        <p:nvSpPr>
          <p:cNvPr id="79" name="Google Shape;79;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80" name="Google Shape;80;p1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At some point in your programming life, you're going to encounter datasets which are clearly time series data. Manipulating this data can yield very useful information - but in order to do so, you're going to need to know how to work with it!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Python provides a package called </a:t>
            </a:r>
            <a:r>
              <a:rPr b="1" lang="en-US">
                <a:solidFill>
                  <a:schemeClr val="dk1"/>
                </a:solidFill>
                <a:latin typeface="Courier New"/>
                <a:ea typeface="Courier New"/>
                <a:cs typeface="Courier New"/>
                <a:sym typeface="Courier New"/>
              </a:rPr>
              <a:t>datetime</a:t>
            </a:r>
            <a:r>
              <a:rPr lang="en-US">
                <a:solidFill>
                  <a:schemeClr val="dk1"/>
                </a:solidFill>
              </a:rPr>
              <a:t> which allows for a new datatype - the </a:t>
            </a:r>
            <a:r>
              <a:rPr lang="en-US">
                <a:solidFill>
                  <a:schemeClr val="dk1"/>
                </a:solidFill>
                <a:latin typeface="Courier New"/>
                <a:ea typeface="Courier New"/>
                <a:cs typeface="Courier New"/>
                <a:sym typeface="Courier New"/>
              </a:rPr>
              <a:t>datetime</a:t>
            </a:r>
            <a:r>
              <a:rPr lang="en-US">
                <a:solidFill>
                  <a:schemeClr val="dk1"/>
                </a:solidFill>
              </a:rPr>
              <a:t> object - which will hold this type of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Pandas expands on it, allowing for an entire Series to be of type </a:t>
            </a:r>
            <a:r>
              <a:rPr lang="en-US">
                <a:solidFill>
                  <a:schemeClr val="dk1"/>
                </a:solidFill>
                <a:latin typeface="Courier New"/>
                <a:ea typeface="Courier New"/>
                <a:cs typeface="Courier New"/>
                <a:sym typeface="Courier New"/>
              </a:rPr>
              <a:t>datetime</a:t>
            </a:r>
            <a:r>
              <a:rPr lang="en-US">
                <a:solidFill>
                  <a:schemeClr val="dk1"/>
                </a:solidFill>
              </a:rPr>
              <a:t>.</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latin typeface="Courier New"/>
                <a:ea typeface="Courier New"/>
                <a:cs typeface="Courier New"/>
                <a:sym typeface="Courier New"/>
              </a:rPr>
              <a:t>datetime</a:t>
            </a:r>
            <a:r>
              <a:rPr lang="en-US">
                <a:solidFill>
                  <a:schemeClr val="hlink"/>
                </a:solidFill>
              </a:rPr>
              <a:t>: as a Series</a:t>
            </a:r>
            <a:endParaRPr/>
          </a:p>
        </p:txBody>
      </p:sp>
      <p:sp>
        <p:nvSpPr>
          <p:cNvPr id="87" name="Google Shape;87;p1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500">
                <a:solidFill>
                  <a:schemeClr val="dk1"/>
                </a:solidFill>
              </a:rPr>
              <a:t>And it turns out that, even if the data aren't detected as a </a:t>
            </a:r>
            <a:r>
              <a:rPr lang="en-US" sz="1500">
                <a:solidFill>
                  <a:schemeClr val="dk1"/>
                </a:solidFill>
                <a:latin typeface="Courier New"/>
                <a:ea typeface="Courier New"/>
                <a:cs typeface="Courier New"/>
                <a:sym typeface="Courier New"/>
              </a:rPr>
              <a:t>datetime</a:t>
            </a:r>
            <a:r>
              <a:rPr lang="en-US" sz="1500">
                <a:solidFill>
                  <a:schemeClr val="dk1"/>
                </a:solidFill>
              </a:rPr>
              <a:t> object when imported, you can convert an existing String data into a </a:t>
            </a:r>
            <a:r>
              <a:rPr lang="en-US" sz="1500">
                <a:solidFill>
                  <a:schemeClr val="dk1"/>
                </a:solidFill>
                <a:latin typeface="Courier New"/>
                <a:ea typeface="Courier New"/>
                <a:cs typeface="Courier New"/>
                <a:sym typeface="Courier New"/>
              </a:rPr>
              <a:t>datetime</a:t>
            </a:r>
            <a:r>
              <a:rPr lang="en-US" sz="1500">
                <a:solidFill>
                  <a:schemeClr val="dk1"/>
                </a:solidFill>
              </a:rPr>
              <a:t> object via </a:t>
            </a:r>
            <a:r>
              <a:rPr b="1" lang="en-US" sz="1500">
                <a:solidFill>
                  <a:schemeClr val="dk1"/>
                </a:solidFill>
                <a:latin typeface="Courier New"/>
                <a:ea typeface="Courier New"/>
                <a:cs typeface="Courier New"/>
                <a:sym typeface="Courier New"/>
              </a:rPr>
              <a:t>pd.to_datetime()</a:t>
            </a:r>
            <a:r>
              <a:rPr lang="en-US" sz="1500">
                <a:solidFill>
                  <a:schemeClr val="dk1"/>
                </a:solidFill>
              </a:rPr>
              <a:t>. </a:t>
            </a:r>
            <a:endParaRPr sz="1500">
              <a:solidFill>
                <a:schemeClr val="dk1"/>
              </a:solidFill>
            </a:endParaRPr>
          </a:p>
          <a:p>
            <a:pPr indent="0" lvl="0" marL="0" rtl="0" algn="l">
              <a:spcBef>
                <a:spcPts val="0"/>
              </a:spcBef>
              <a:spcAft>
                <a:spcPts val="0"/>
              </a:spcAft>
              <a:buNone/>
            </a:pPr>
            <a:r>
              <a:t/>
            </a:r>
            <a:endParaRPr sz="1500"/>
          </a:p>
          <a:p>
            <a:pPr indent="0" lvl="0" marL="0" rtl="0" algn="l">
              <a:spcBef>
                <a:spcPts val="0"/>
              </a:spcBef>
              <a:spcAft>
                <a:spcPts val="0"/>
              </a:spcAft>
              <a:buNone/>
            </a:pPr>
            <a:r>
              <a:rPr lang="en-US" sz="1500"/>
              <a:t>To contextualize this immediately, you're going to use the Global Temperature Anomaly dataset from NOAA - specifically, 126 years of data from 1880 to 2005. The source can be found </a:t>
            </a:r>
            <a:r>
              <a:rPr lang="en-US" sz="1500" u="sng">
                <a:solidFill>
                  <a:schemeClr val="hlink"/>
                </a:solidFill>
                <a:hlinkClick r:id="rId3"/>
              </a:rPr>
              <a:t>here</a:t>
            </a:r>
            <a:r>
              <a:rPr lang="en-US" sz="1500"/>
              <a:t>.</a:t>
            </a:r>
            <a:endParaRPr sz="1500"/>
          </a:p>
        </p:txBody>
      </p:sp>
      <p:sp>
        <p:nvSpPr>
          <p:cNvPr id="88" name="Google Shape;88;p1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Coding Challenge:</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n-US"/>
              <a:t>Write a program which will wrangle the Global Temperature Anomaly dataset's </a:t>
            </a:r>
            <a:r>
              <a:rPr lang="en-US">
                <a:latin typeface="Courier New"/>
                <a:ea typeface="Courier New"/>
                <a:cs typeface="Courier New"/>
                <a:sym typeface="Courier New"/>
              </a:rPr>
              <a:t>Year</a:t>
            </a:r>
            <a:r>
              <a:rPr lang="en-US"/>
              <a:t> column into a </a:t>
            </a:r>
            <a:r>
              <a:rPr lang="en-US">
                <a:latin typeface="Courier New"/>
                <a:ea typeface="Courier New"/>
                <a:cs typeface="Courier New"/>
                <a:sym typeface="Courier New"/>
              </a:rPr>
              <a:t>datetime</a:t>
            </a:r>
            <a:r>
              <a:rPr lang="en-US"/>
              <a:t> Series.</a:t>
            </a:r>
            <a:endParaRPr sz="1600"/>
          </a:p>
        </p:txBody>
      </p:sp>
      <p:sp>
        <p:nvSpPr>
          <p:cNvPr id="89" name="Google Shape;89;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Coding challenge: solution</a:t>
            </a:r>
            <a:endParaRPr/>
          </a:p>
        </p:txBody>
      </p:sp>
      <p:sp>
        <p:nvSpPr>
          <p:cNvPr id="96" name="Google Shape;96;p1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97" name="Google Shape;97;p1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The plan:</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import the data</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extract date column</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convert date column to datetime object</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re-insert the date column into the dataframe</a:t>
            </a:r>
            <a:endParaRPr sz="1000">
              <a:solidFill>
                <a:schemeClr val="dk1"/>
              </a:solidFill>
              <a:latin typeface="Courier New"/>
              <a:ea typeface="Courier New"/>
              <a:cs typeface="Courier New"/>
              <a:sym typeface="Courier New"/>
            </a:endParaRPr>
          </a:p>
        </p:txBody>
      </p:sp>
      <p:sp>
        <p:nvSpPr>
          <p:cNvPr id="98" name="Google Shape;98;p1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import pandas as pd</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def main():</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 import the data</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file_path = 'global_temp_anomaly_1880-2005.csv'</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df_temp_anom = pd.read_csv(file_path, skiprows=3)</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 extract, convert, and re-insert</a:t>
            </a:r>
            <a:endParaRPr sz="800">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lang="en-US" sz="800">
                <a:solidFill>
                  <a:schemeClr val="dk1"/>
                </a:solidFill>
                <a:latin typeface="Courier New"/>
                <a:ea typeface="Courier New"/>
                <a:cs typeface="Courier New"/>
                <a:sym typeface="Courier New"/>
              </a:rPr>
              <a:t>	df_temp_anom['Year'] = </a:t>
            </a:r>
            <a:r>
              <a:rPr b="1" lang="en-US" sz="800">
                <a:solidFill>
                  <a:schemeClr val="dk1"/>
                </a:solidFill>
                <a:latin typeface="Courier New"/>
                <a:ea typeface="Courier New"/>
                <a:cs typeface="Courier New"/>
                <a:sym typeface="Courier New"/>
              </a:rPr>
              <a:t>pd.to_datetime(df_temp_anom['Year'], format='%Y')</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if __name__ == '__main__':</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main()</a:t>
            </a:r>
            <a:endParaRPr sz="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latin typeface="Courier New"/>
                <a:ea typeface="Courier New"/>
                <a:cs typeface="Courier New"/>
                <a:sym typeface="Courier New"/>
              </a:rPr>
              <a:t>datetime</a:t>
            </a:r>
            <a:r>
              <a:rPr lang="en-US">
                <a:solidFill>
                  <a:schemeClr val="hlink"/>
                </a:solidFill>
              </a:rPr>
              <a:t>: individual parts</a:t>
            </a:r>
            <a:endParaRPr/>
          </a:p>
        </p:txBody>
      </p:sp>
      <p:sp>
        <p:nvSpPr>
          <p:cNvPr id="105" name="Google Shape;105;p1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dk1"/>
                </a:solidFill>
              </a:rPr>
              <a:t>You can see now that the entire Year Series has been converted into </a:t>
            </a:r>
            <a:r>
              <a:rPr lang="en-US" sz="1500">
                <a:solidFill>
                  <a:schemeClr val="dk1"/>
                </a:solidFill>
                <a:latin typeface="Roboto Mono Light"/>
                <a:ea typeface="Roboto Mono Light"/>
                <a:cs typeface="Roboto Mono Light"/>
                <a:sym typeface="Roboto Mono Light"/>
              </a:rPr>
              <a:t>datetime</a:t>
            </a:r>
            <a:r>
              <a:rPr lang="en-US" sz="1500">
                <a:solidFill>
                  <a:schemeClr val="dk1"/>
                </a:solidFill>
              </a:rPr>
              <a:t> objects! (These objects must always have at least year, month, and day; hour, minute, section, and milli/micro/nano -second are optional.)</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US" sz="1500">
                <a:solidFill>
                  <a:schemeClr val="dk1"/>
                </a:solidFill>
              </a:rPr>
              <a:t>Now that you have these </a:t>
            </a:r>
            <a:r>
              <a:rPr lang="en-US" sz="1500">
                <a:solidFill>
                  <a:schemeClr val="dk1"/>
                </a:solidFill>
                <a:latin typeface="Roboto Mono Light"/>
                <a:ea typeface="Roboto Mono Light"/>
                <a:cs typeface="Roboto Mono Light"/>
                <a:sym typeface="Roboto Mono Light"/>
              </a:rPr>
              <a:t>datetime</a:t>
            </a:r>
            <a:r>
              <a:rPr lang="en-US" sz="1500">
                <a:solidFill>
                  <a:schemeClr val="dk1"/>
                </a:solidFill>
              </a:rPr>
              <a:t> objects, you should know how to extract data from them. It's as simple as accessing the object attributes.</a:t>
            </a:r>
            <a:endParaRPr sz="1500">
              <a:solidFill>
                <a:schemeClr val="dk1"/>
              </a:solidFill>
            </a:endParaRPr>
          </a:p>
        </p:txBody>
      </p:sp>
      <p:sp>
        <p:nvSpPr>
          <p:cNvPr id="106" name="Google Shape;106;p1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 ... previous code goes here</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def main():</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 ... previous code goes here</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 access the year</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a:t>
            </a:r>
            <a:r>
              <a:rPr b="1" lang="en-US" sz="800">
                <a:solidFill>
                  <a:schemeClr val="dk1"/>
                </a:solidFill>
                <a:latin typeface="Courier New"/>
                <a:ea typeface="Courier New"/>
                <a:cs typeface="Courier New"/>
                <a:sym typeface="Courier New"/>
              </a:rPr>
              <a:t>df['actual year'] = df['Year'].dt.year</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 access the month (not useful in this example, but still)!</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a:t>
            </a:r>
            <a:r>
              <a:rPr b="1" lang="en-US" sz="800">
                <a:solidFill>
                  <a:schemeClr val="dk1"/>
                </a:solidFill>
                <a:latin typeface="Courier New"/>
                <a:ea typeface="Courier New"/>
                <a:cs typeface="Courier New"/>
                <a:sym typeface="Courier New"/>
              </a:rPr>
              <a:t>df['month'] = df['Year'].dt.month</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 combine attrs (not useful in this example, but still)!</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a:t>
            </a:r>
            <a:r>
              <a:rPr b="1" lang="en-US" sz="800">
                <a:solidFill>
                  <a:schemeClr val="dk1"/>
                </a:solidFill>
                <a:latin typeface="Courier New"/>
                <a:ea typeface="Courier New"/>
                <a:cs typeface="Courier New"/>
                <a:sym typeface="Courier New"/>
              </a:rPr>
              <a:t>df['month-day'] = df['Year'].dt.strftime("%m-%d")</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if __name__ == '__main__':</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main()</a:t>
            </a:r>
            <a:endParaRPr sz="800"/>
          </a:p>
        </p:txBody>
      </p:sp>
      <p:sp>
        <p:nvSpPr>
          <p:cNvPr id="107" name="Google Shape;107;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latin typeface="Courier New"/>
                <a:ea typeface="Courier New"/>
                <a:cs typeface="Courier New"/>
                <a:sym typeface="Courier New"/>
              </a:rPr>
              <a:t>datetime</a:t>
            </a:r>
            <a:r>
              <a:rPr lang="en-US">
                <a:solidFill>
                  <a:schemeClr val="hlink"/>
                </a:solidFill>
              </a:rPr>
              <a:t>: move to the index</a:t>
            </a:r>
            <a:endParaRPr/>
          </a:p>
        </p:txBody>
      </p:sp>
      <p:sp>
        <p:nvSpPr>
          <p:cNvPr id="114" name="Google Shape;114;p1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Given that you've now learned how to convert a String timestamp Series to a datetime Series - and given that what that means about the data itself is that it's either Time Series or Panel data - it would make sense to move the timestamps into the index of the DataFrame; the DataFrame would then actually have meaningful indexes. This can be done easily with the </a:t>
            </a:r>
            <a:r>
              <a:rPr b="1" lang="en-US">
                <a:solidFill>
                  <a:schemeClr val="dk1"/>
                </a:solidFill>
                <a:latin typeface="Courier New"/>
                <a:ea typeface="Courier New"/>
                <a:cs typeface="Courier New"/>
                <a:sym typeface="Courier New"/>
              </a:rPr>
              <a:t>.set_index()</a:t>
            </a:r>
            <a:r>
              <a:rPr lang="en-US">
                <a:solidFill>
                  <a:schemeClr val="dk1"/>
                </a:solidFill>
              </a:rPr>
              <a:t> method.</a:t>
            </a:r>
            <a:endParaRPr>
              <a:solidFill>
                <a:schemeClr val="dk1"/>
              </a:solidFill>
            </a:endParaRPr>
          </a:p>
        </p:txBody>
      </p:sp>
      <p:sp>
        <p:nvSpPr>
          <p:cNvPr id="115" name="Google Shape;115;p1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 ... previous code goes here</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def main():</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 ... previous code goes here</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 change indexes and remove redundant column</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a:t>
            </a:r>
            <a:r>
              <a:rPr b="1" lang="en-US" sz="800">
                <a:solidFill>
                  <a:schemeClr val="dk1"/>
                </a:solidFill>
                <a:latin typeface="Courier New"/>
                <a:ea typeface="Courier New"/>
                <a:cs typeface="Courier New"/>
                <a:sym typeface="Courier New"/>
              </a:rPr>
              <a:t>df_temp_anom = df_temp_anom.set_index('Year')</a:t>
            </a:r>
            <a:endParaRPr b="1"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800">
                <a:solidFill>
                  <a:schemeClr val="dk1"/>
                </a:solidFill>
                <a:latin typeface="Courier New"/>
                <a:ea typeface="Courier New"/>
                <a:cs typeface="Courier New"/>
                <a:sym typeface="Courier New"/>
              </a:rPr>
              <a:t>if __name__ == '__main__':</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800">
                <a:solidFill>
                  <a:schemeClr val="dk1"/>
                </a:solidFill>
                <a:latin typeface="Courier New"/>
                <a:ea typeface="Courier New"/>
                <a:cs typeface="Courier New"/>
                <a:sym typeface="Courier New"/>
              </a:rPr>
              <a:t>	main()</a:t>
            </a:r>
            <a:endParaRPr sz="800"/>
          </a:p>
        </p:txBody>
      </p:sp>
      <p:sp>
        <p:nvSpPr>
          <p:cNvPr id="116" name="Google Shape;116;p1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Courier New"/>
                <a:ea typeface="Courier New"/>
                <a:cs typeface="Courier New"/>
                <a:sym typeface="Courier New"/>
              </a:rPr>
              <a:t>datetime</a:t>
            </a:r>
            <a:r>
              <a:rPr lang="en-US"/>
              <a:t> indexes: retrieval</a:t>
            </a:r>
            <a:endParaRPr/>
          </a:p>
        </p:txBody>
      </p:sp>
      <p:sp>
        <p:nvSpPr>
          <p:cNvPr id="123" name="Google Shape;123;p1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Remember that what you're trying to accomplish here is make your life easier when manipulating datasets. So now that you've got the datetime objects converted </a:t>
            </a:r>
            <a:r>
              <a:rPr i="1" lang="en-US"/>
              <a:t>and</a:t>
            </a:r>
            <a:r>
              <a:rPr lang="en-US"/>
              <a:t> set as the index, how do you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Easy peasy: you can index datetime objects via an equivalent String! Thank you, pandas!</a:t>
            </a:r>
            <a:endParaRPr/>
          </a:p>
        </p:txBody>
      </p:sp>
      <p:sp>
        <p:nvSpPr>
          <p:cNvPr id="124" name="Google Shape;124;p18"/>
          <p:cNvSpPr txBox="1"/>
          <p:nvPr>
            <p:ph idx="2" type="body"/>
          </p:nvPr>
        </p:nvSpPr>
        <p:spPr>
          <a:xfrm>
            <a:off x="4206557" y="941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from datetime import datetime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 select, slice, and loc/iloc</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print(</a:t>
            </a:r>
            <a:r>
              <a:rPr b="1" lang="en-US" sz="900">
                <a:solidFill>
                  <a:schemeClr val="dk1"/>
                </a:solidFill>
                <a:latin typeface="Courier New"/>
                <a:ea typeface="Courier New"/>
                <a:cs typeface="Courier New"/>
                <a:sym typeface="Courier New"/>
              </a:rPr>
              <a:t>df_temp_anom.loc['1900']</a:t>
            </a:r>
            <a:r>
              <a:rPr lang="en-US"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print(</a:t>
            </a:r>
            <a:r>
              <a:rPr b="1" lang="en-US" sz="900">
                <a:solidFill>
                  <a:schemeClr val="dk1"/>
                </a:solidFill>
                <a:latin typeface="Courier New"/>
                <a:ea typeface="Courier New"/>
                <a:cs typeface="Courier New"/>
                <a:sym typeface="Courier New"/>
              </a:rPr>
              <a:t>df_temp_anom['1900':'1920']</a:t>
            </a:r>
            <a:r>
              <a:rPr lang="en-US"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print(</a:t>
            </a:r>
            <a:r>
              <a:rPr b="1" lang="en-US" sz="900">
                <a:solidFill>
                  <a:schemeClr val="dk1"/>
                </a:solidFill>
                <a:latin typeface="Courier New"/>
                <a:ea typeface="Courier New"/>
                <a:cs typeface="Courier New"/>
                <a:sym typeface="Courier New"/>
              </a:rPr>
              <a:t>df_temp_anom.iloc[:10, :]</a:t>
            </a:r>
            <a:r>
              <a:rPr lang="en-US"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print(</a:t>
            </a:r>
            <a:r>
              <a:rPr b="1" lang="en-US" sz="900">
                <a:solidFill>
                  <a:schemeClr val="dk1"/>
                </a:solidFill>
                <a:latin typeface="Courier New"/>
                <a:ea typeface="Courier New"/>
                <a:cs typeface="Courier New"/>
                <a:sym typeface="Courier New"/>
              </a:rPr>
              <a:t>df_temp_anom.loc['1900', :]</a:t>
            </a:r>
            <a:r>
              <a:rPr lang="en-US"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latin typeface="Courier New"/>
              <a:ea typeface="Courier New"/>
              <a:cs typeface="Courier New"/>
              <a:sym typeface="Courier New"/>
            </a:endParaRPr>
          </a:p>
        </p:txBody>
      </p:sp>
      <p:sp>
        <p:nvSpPr>
          <p:cNvPr id="125" name="Google Shape;125;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SMOOTHING</a:t>
            </a:r>
            <a:endParaRPr/>
          </a:p>
        </p:txBody>
      </p:sp>
      <p:sp>
        <p:nvSpPr>
          <p:cNvPr id="132" name="Google Shape;132;p19"/>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33" name="Google Shape;133;p1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Global temperature anomaly</a:t>
            </a:r>
            <a:endParaRPr/>
          </a:p>
        </p:txBody>
      </p:sp>
      <p:sp>
        <p:nvSpPr>
          <p:cNvPr id="140" name="Google Shape;140;p2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Before you learn about smoothing, let's get some visualizations going. Use the same data as before - the Global Temperature Anomaly dataset.</a:t>
            </a:r>
            <a:endParaRPr/>
          </a:p>
        </p:txBody>
      </p:sp>
      <p:sp>
        <p:nvSpPr>
          <p:cNvPr id="141" name="Google Shape;141;p2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Coding Challenge:</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n-US"/>
              <a:t>Visualize the raw data in a line plot, making sure that the dates are:</a:t>
            </a:r>
            <a:endParaRPr/>
          </a:p>
          <a:p>
            <a:pPr indent="-330200" lvl="1" marL="914400" rtl="0" algn="l">
              <a:spcBef>
                <a:spcPts val="0"/>
              </a:spcBef>
              <a:spcAft>
                <a:spcPts val="0"/>
              </a:spcAft>
              <a:buSzPts val="1600"/>
              <a:buAutoNum type="alphaLcPeriod"/>
            </a:pPr>
            <a:r>
              <a:rPr lang="en-US" sz="1600"/>
              <a:t>in </a:t>
            </a:r>
            <a:r>
              <a:rPr lang="en-US" sz="1600">
                <a:latin typeface="Courier New"/>
                <a:ea typeface="Courier New"/>
                <a:cs typeface="Courier New"/>
                <a:sym typeface="Courier New"/>
              </a:rPr>
              <a:t>datetime</a:t>
            </a:r>
            <a:r>
              <a:rPr lang="en-US" sz="1600"/>
              <a:t> format</a:t>
            </a:r>
            <a:endParaRPr sz="1600"/>
          </a:p>
          <a:p>
            <a:pPr indent="-330200" lvl="1" marL="914400" rtl="0" algn="l">
              <a:spcBef>
                <a:spcPts val="0"/>
              </a:spcBef>
              <a:spcAft>
                <a:spcPts val="0"/>
              </a:spcAft>
              <a:buSzPts val="1600"/>
              <a:buAutoNum type="alphaLcPeriod"/>
            </a:pPr>
            <a:r>
              <a:rPr lang="en-US" sz="1600"/>
              <a:t>the DataFrame's indices</a:t>
            </a:r>
            <a:endParaRPr sz="1600"/>
          </a:p>
        </p:txBody>
      </p:sp>
      <p:sp>
        <p:nvSpPr>
          <p:cNvPr id="142" name="Google Shape;142;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Coding challenge: solution</a:t>
            </a:r>
            <a:endParaRPr/>
          </a:p>
        </p:txBody>
      </p:sp>
      <p:sp>
        <p:nvSpPr>
          <p:cNvPr id="149" name="Google Shape;149;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50" name="Google Shape;150;p2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The plan:</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import the data</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extract date column</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convert date column to datetime object</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re-insert the date column into the dataframe</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replace indexes with datetime column and drop datetime column</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plot data</a:t>
            </a:r>
            <a:endParaRPr>
              <a:solidFill>
                <a:schemeClr val="dk1"/>
              </a:solidFill>
            </a:endParaRPr>
          </a:p>
        </p:txBody>
      </p:sp>
      <p:sp>
        <p:nvSpPr>
          <p:cNvPr id="151" name="Google Shape;151;p2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import pandas as pd</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import matplotlib.pyplot as plt</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def main():</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 import the data</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file_path = 'global_temp_anomaly_1880-2005.csv'</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df_temp_anom = pd.read_csv(file_path, skiprows=5)</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 extract, convert, re-insert, and change indexes</a:t>
            </a:r>
            <a:endParaRPr sz="600">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lang="en-US" sz="600">
                <a:solidFill>
                  <a:schemeClr val="dk1"/>
                </a:solidFill>
                <a:latin typeface="Courier New"/>
                <a:ea typeface="Courier New"/>
                <a:cs typeface="Courier New"/>
                <a:sym typeface="Courier New"/>
              </a:rPr>
              <a:t>	df_temp_anom['Year'] = pd.to_datetime(df_temp_anom['Year'], format='%Y')</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df_temp_anom = df_temp_anom.set_index(df_temp_anom['Year'])</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600">
                <a:solidFill>
                  <a:schemeClr val="dk1"/>
                </a:solidFill>
                <a:latin typeface="Courier New"/>
                <a:ea typeface="Courier New"/>
                <a:cs typeface="Courier New"/>
                <a:sym typeface="Courier New"/>
              </a:rPr>
              <a:t>	# plot</a:t>
            </a:r>
            <a:endParaRPr b="1"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a:t>
            </a:r>
            <a:r>
              <a:rPr b="1" lang="en-US" sz="600">
                <a:solidFill>
                  <a:schemeClr val="dk1"/>
                </a:solidFill>
                <a:latin typeface="Courier New"/>
                <a:ea typeface="Courier New"/>
                <a:cs typeface="Courier New"/>
                <a:sym typeface="Courier New"/>
              </a:rPr>
              <a:t>fig, ax = plt.subplots(1, 1)</a:t>
            </a:r>
            <a:endParaRPr b="1" sz="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600">
                <a:solidFill>
                  <a:schemeClr val="dk1"/>
                </a:solidFill>
                <a:latin typeface="Courier New"/>
                <a:ea typeface="Courier New"/>
                <a:cs typeface="Courier New"/>
                <a:sym typeface="Courier New"/>
              </a:rPr>
              <a:t>	ax.plot(df_temp_anom.index, df_temp_anom, alpha=0.5)</a:t>
            </a:r>
            <a:endParaRPr b="1" sz="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600">
                <a:solidFill>
                  <a:schemeClr val="dk1"/>
                </a:solidFill>
                <a:latin typeface="Courier New"/>
                <a:ea typeface="Courier New"/>
                <a:cs typeface="Courier New"/>
                <a:sym typeface="Courier New"/>
              </a:rPr>
              <a:t>	ax.tick_params(axis='x', rotation=90)</a:t>
            </a:r>
            <a:endParaRPr b="1"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600">
                <a:solidFill>
                  <a:schemeClr val="dk1"/>
                </a:solidFill>
                <a:latin typeface="Courier New"/>
                <a:ea typeface="Courier New"/>
                <a:cs typeface="Courier New"/>
                <a:sym typeface="Courier New"/>
              </a:rPr>
              <a:t>	# save the image</a:t>
            </a:r>
            <a:endParaRPr b="1" sz="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600">
                <a:solidFill>
                  <a:schemeClr val="dk1"/>
                </a:solidFill>
                <a:latin typeface="Courier New"/>
                <a:ea typeface="Courier New"/>
                <a:cs typeface="Courier New"/>
                <a:sym typeface="Courier New"/>
              </a:rPr>
              <a:t>	fig.savefig('Global Temperature Anomaly Visualization.png')</a:t>
            </a:r>
            <a:endParaRPr b="1"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if __name__ == '__main__':</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main()</a:t>
            </a:r>
            <a:endParaRPr sz="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Smoothing</a:t>
            </a:r>
            <a:endParaRPr/>
          </a:p>
        </p:txBody>
      </p:sp>
      <p:sp>
        <p:nvSpPr>
          <p:cNvPr id="158" name="Google Shape;158;p22"/>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800"/>
              <a:t>Sometimes you'll want to visualize data such that you can see every single detail in the dataset itself. But there will be other times when it makes sense to visualize longer-term trends rather than every minute detail. In these instances, one of the tools you can employ is smoothing. </a:t>
            </a:r>
            <a:r>
              <a:rPr b="1" lang="en-US" sz="1800"/>
              <a:t>Smoothing</a:t>
            </a:r>
            <a:r>
              <a:rPr lang="en-US" sz="1800"/>
              <a:t> is a technique which will average out data across a particular time period.</a:t>
            </a:r>
            <a:endParaRPr sz="1800"/>
          </a:p>
        </p:txBody>
      </p:sp>
      <p:sp>
        <p:nvSpPr>
          <p:cNvPr id="159" name="Google Shape;159;p2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Rolling</a:t>
            </a:r>
            <a:endParaRPr/>
          </a:p>
        </p:txBody>
      </p:sp>
      <p:sp>
        <p:nvSpPr>
          <p:cNvPr id="166" name="Google Shape;166;p2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67" name="Google Shape;167;p2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solidFill>
                  <a:schemeClr val="dk1"/>
                </a:solidFill>
              </a:rPr>
              <a:t>In order to smooth your data, you'll first need to define how you're going to smooth it. A </a:t>
            </a:r>
            <a:r>
              <a:rPr b="1" lang="en-US" sz="2000">
                <a:solidFill>
                  <a:schemeClr val="dk1"/>
                </a:solidFill>
              </a:rPr>
              <a:t>rolling window</a:t>
            </a:r>
            <a:r>
              <a:rPr lang="en-US" sz="2000">
                <a:solidFill>
                  <a:schemeClr val="dk1"/>
                </a:solidFill>
              </a:rPr>
              <a:t> will group the n neighbor records. These may be before, on either side, or after the original record. From there, you can aggregate each rolling window group into one record. Plotting the resulting data gives you a smoothed out version of the original dataset!</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Coding challenge: smoothing</a:t>
            </a:r>
            <a:endParaRPr/>
          </a:p>
        </p:txBody>
      </p:sp>
      <p:sp>
        <p:nvSpPr>
          <p:cNvPr id="174" name="Google Shape;174;p2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800">
                <a:solidFill>
                  <a:schemeClr val="dk1"/>
                </a:solidFill>
              </a:rPr>
              <a:t>Coding Challenge:</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US" sz="1800">
                <a:solidFill>
                  <a:schemeClr val="dk1"/>
                </a:solidFill>
              </a:rPr>
              <a:t>Smooth the data and visualize it so that you can see the longer-term trends. Use 10 years as the rolling window (</a:t>
            </a:r>
            <a:r>
              <a:rPr b="1" lang="en-US" sz="1800">
                <a:solidFill>
                  <a:schemeClr val="dk1"/>
                </a:solidFill>
                <a:latin typeface="Courier New"/>
                <a:ea typeface="Courier New"/>
                <a:cs typeface="Courier New"/>
                <a:sym typeface="Courier New"/>
              </a:rPr>
              <a:t>.rolling()</a:t>
            </a:r>
            <a:r>
              <a:rPr lang="en-US" sz="1800">
                <a:solidFill>
                  <a:schemeClr val="dk1"/>
                </a:solidFill>
              </a:rPr>
              <a:t>) size.</a:t>
            </a:r>
            <a:endParaRPr sz="1800"/>
          </a:p>
        </p:txBody>
      </p:sp>
      <p:sp>
        <p:nvSpPr>
          <p:cNvPr id="175" name="Google Shape;175;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Coding challenge: solution</a:t>
            </a:r>
            <a:endParaRPr/>
          </a:p>
        </p:txBody>
      </p:sp>
      <p:sp>
        <p:nvSpPr>
          <p:cNvPr id="182" name="Google Shape;182;p2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83" name="Google Shape;183;p2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solidFill>
                  <a:schemeClr val="dk1"/>
                </a:solidFill>
              </a:rPr>
              <a:t>The plan:</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import the data</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extract date column</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convert date column to datetime object</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re-insert the date column into the dataframe</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replace indexes with datetime column and drop datetime column</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plot raw data</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create rolling windows and aggregate them</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plot smoothed data</a:t>
            </a:r>
            <a:endParaRPr sz="1400">
              <a:solidFill>
                <a:schemeClr val="dk1"/>
              </a:solidFill>
            </a:endParaRPr>
          </a:p>
        </p:txBody>
      </p:sp>
      <p:sp>
        <p:nvSpPr>
          <p:cNvPr id="184" name="Google Shape;184;p2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import pandas as pd</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import matplotlib.pyplot as plt</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def main():</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 import the data</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file_path = 'global_temp_anomaly_1880-2005.csv'</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df_temp_anom = pd.read_csv(file_path, skiprows=5)</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 extract, convert, re-insert, and change indexes</a:t>
            </a:r>
            <a:endParaRPr sz="600">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lang="en-US" sz="600">
                <a:solidFill>
                  <a:schemeClr val="dk1"/>
                </a:solidFill>
                <a:latin typeface="Courier New"/>
                <a:ea typeface="Courier New"/>
                <a:cs typeface="Courier New"/>
                <a:sym typeface="Courier New"/>
              </a:rPr>
              <a:t>	df_temp_anom['Year'] = pd.to_datetime(df_temp_anom['Year'], format='%Y')</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df_temp_anom = df_temp_anom.set_index(df_temp_anom['Year'])</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 plot</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fig, ax = plt.subplots(1, 1)</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ax.plot(df_temp_anom.index, df_temp_anom, alpha=0.5, </a:t>
            </a:r>
            <a:r>
              <a:rPr b="1" lang="en-US" sz="600">
                <a:solidFill>
                  <a:schemeClr val="dk1"/>
                </a:solidFill>
                <a:latin typeface="Courier New"/>
                <a:ea typeface="Courier New"/>
                <a:cs typeface="Courier New"/>
                <a:sym typeface="Courier New"/>
              </a:rPr>
              <a:t>label='raw'</a:t>
            </a:r>
            <a:r>
              <a:rPr lang="en-US" sz="600">
                <a:solidFill>
                  <a:schemeClr val="dk1"/>
                </a:solidFill>
                <a:latin typeface="Courier New"/>
                <a:ea typeface="Courier New"/>
                <a:cs typeface="Courier New"/>
                <a:sym typeface="Courier New"/>
              </a:rPr>
              <a:t>)</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US" sz="600">
                <a:solidFill>
                  <a:schemeClr val="dk1"/>
                </a:solidFill>
                <a:latin typeface="Courier New"/>
                <a:ea typeface="Courier New"/>
                <a:cs typeface="Courier New"/>
                <a:sym typeface="Courier New"/>
              </a:rPr>
              <a:t>	ax.plot(df_temp_anom.rolling(20).mean(), label='smoothed')</a:t>
            </a:r>
            <a:endParaRPr b="1"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ax.tick_params(axis='x', rotation=90)</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a:t>
            </a:r>
            <a:r>
              <a:rPr b="1" lang="en-US" sz="600">
                <a:solidFill>
                  <a:schemeClr val="dk1"/>
                </a:solidFill>
                <a:latin typeface="Courier New"/>
                <a:ea typeface="Courier New"/>
                <a:cs typeface="Courier New"/>
                <a:sym typeface="Courier New"/>
              </a:rPr>
              <a:t>ax.legend()</a:t>
            </a:r>
            <a:endParaRPr b="1"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 save the image</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fig.savefig('Global Temperature Anomaly Visualization.png')</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if __name__ == '__main__':</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main()</a:t>
            </a:r>
            <a:endParaRPr sz="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REVISITING VISUALIZATIONS</a:t>
            </a:r>
            <a:endParaRPr/>
          </a:p>
        </p:txBody>
      </p:sp>
      <p:sp>
        <p:nvSpPr>
          <p:cNvPr id="191" name="Google Shape;191;p26"/>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92" name="Google Shape;192;p2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Pretty pictures</a:t>
            </a:r>
            <a:endParaRPr/>
          </a:p>
        </p:txBody>
      </p:sp>
      <p:sp>
        <p:nvSpPr>
          <p:cNvPr id="199" name="Google Shape;199;p2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00" name="Google Shape;200;p27"/>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Earlier in the semester, it was mentioned that matplotlib can visualize data in a number of ways, including but not limited to:</a:t>
            </a:r>
            <a:endParaRPr/>
          </a:p>
          <a:p>
            <a:pPr indent="-330200" lvl="0" marL="457200" rtl="0" algn="l">
              <a:spcBef>
                <a:spcPts val="0"/>
              </a:spcBef>
              <a:spcAft>
                <a:spcPts val="0"/>
              </a:spcAft>
              <a:buClr>
                <a:schemeClr val="dk1"/>
              </a:buClr>
              <a:buSzPts val="1600"/>
              <a:buChar char="•"/>
            </a:pPr>
            <a:r>
              <a:rPr lang="en-US">
                <a:solidFill>
                  <a:schemeClr val="dk1"/>
                </a:solidFill>
              </a:rPr>
              <a:t>line: </a:t>
            </a:r>
            <a:r>
              <a:rPr lang="en-US">
                <a:solidFill>
                  <a:schemeClr val="dk1"/>
                </a:solidFill>
                <a:latin typeface="Courier New"/>
                <a:ea typeface="Courier New"/>
                <a:cs typeface="Courier New"/>
                <a:sym typeface="Courier New"/>
              </a:rPr>
              <a:t>.plot()</a:t>
            </a:r>
            <a:endParaRPr>
              <a:solidFill>
                <a:schemeClr val="dk1"/>
              </a:solidFill>
              <a:latin typeface="Courier New"/>
              <a:ea typeface="Courier New"/>
              <a:cs typeface="Courier New"/>
              <a:sym typeface="Courier New"/>
            </a:endParaRPr>
          </a:p>
          <a:p>
            <a:pPr indent="-330200" lvl="0" marL="457200" rtl="0" algn="l">
              <a:spcBef>
                <a:spcPts val="0"/>
              </a:spcBef>
              <a:spcAft>
                <a:spcPts val="0"/>
              </a:spcAft>
              <a:buClr>
                <a:schemeClr val="dk1"/>
              </a:buClr>
              <a:buSzPts val="1600"/>
              <a:buChar char="•"/>
            </a:pPr>
            <a:r>
              <a:rPr lang="en-US">
                <a:solidFill>
                  <a:schemeClr val="dk1"/>
                </a:solidFill>
              </a:rPr>
              <a:t>scatter: </a:t>
            </a:r>
            <a:r>
              <a:rPr lang="en-US">
                <a:solidFill>
                  <a:schemeClr val="dk1"/>
                </a:solidFill>
                <a:latin typeface="Courier New"/>
                <a:ea typeface="Courier New"/>
                <a:cs typeface="Courier New"/>
                <a:sym typeface="Courier New"/>
              </a:rPr>
              <a:t>.scatter()</a:t>
            </a:r>
            <a:endParaRPr>
              <a:solidFill>
                <a:schemeClr val="dk1"/>
              </a:solidFill>
              <a:latin typeface="Courier New"/>
              <a:ea typeface="Courier New"/>
              <a:cs typeface="Courier New"/>
              <a:sym typeface="Courier New"/>
            </a:endParaRPr>
          </a:p>
          <a:p>
            <a:pPr indent="-330200" lvl="0" marL="457200" rtl="0" algn="l">
              <a:spcBef>
                <a:spcPts val="0"/>
              </a:spcBef>
              <a:spcAft>
                <a:spcPts val="0"/>
              </a:spcAft>
              <a:buClr>
                <a:schemeClr val="dk1"/>
              </a:buClr>
              <a:buSzPts val="1600"/>
              <a:buChar char="•"/>
            </a:pPr>
            <a:r>
              <a:rPr lang="en-US">
                <a:solidFill>
                  <a:schemeClr val="dk1"/>
                </a:solidFill>
              </a:rPr>
              <a:t>bar: </a:t>
            </a:r>
            <a:r>
              <a:rPr lang="en-US">
                <a:solidFill>
                  <a:schemeClr val="dk1"/>
                </a:solidFill>
                <a:latin typeface="Courier New"/>
                <a:ea typeface="Courier New"/>
                <a:cs typeface="Courier New"/>
                <a:sym typeface="Courier New"/>
              </a:rPr>
              <a:t>.bar()</a:t>
            </a:r>
            <a:endParaRPr>
              <a:solidFill>
                <a:schemeClr val="dk1"/>
              </a:solidFill>
              <a:latin typeface="Courier New"/>
              <a:ea typeface="Courier New"/>
              <a:cs typeface="Courier New"/>
              <a:sym typeface="Courier New"/>
            </a:endParaRPr>
          </a:p>
          <a:p>
            <a:pPr indent="-330200" lvl="0" marL="457200" rtl="0" algn="l">
              <a:spcBef>
                <a:spcPts val="0"/>
              </a:spcBef>
              <a:spcAft>
                <a:spcPts val="0"/>
              </a:spcAft>
              <a:buClr>
                <a:schemeClr val="dk1"/>
              </a:buClr>
              <a:buSzPts val="1600"/>
              <a:buChar char="•"/>
            </a:pPr>
            <a:r>
              <a:rPr lang="en-US">
                <a:solidFill>
                  <a:schemeClr val="dk1"/>
                </a:solidFill>
              </a:rPr>
              <a:t>pie: </a:t>
            </a:r>
            <a:r>
              <a:rPr lang="en-US">
                <a:solidFill>
                  <a:schemeClr val="dk1"/>
                </a:solidFill>
                <a:latin typeface="Courier New"/>
                <a:ea typeface="Courier New"/>
                <a:cs typeface="Courier New"/>
                <a:sym typeface="Courier New"/>
              </a:rPr>
              <a:t>.pie()</a:t>
            </a:r>
            <a:endParaRPr>
              <a:solidFill>
                <a:schemeClr val="dk1"/>
              </a:solidFill>
              <a:latin typeface="Courier New"/>
              <a:ea typeface="Courier New"/>
              <a:cs typeface="Courier New"/>
              <a:sym typeface="Courier New"/>
            </a:endParaRPr>
          </a:p>
          <a:p>
            <a:pPr indent="-330200" lvl="0" marL="457200" rtl="0" algn="l">
              <a:spcBef>
                <a:spcPts val="0"/>
              </a:spcBef>
              <a:spcAft>
                <a:spcPts val="0"/>
              </a:spcAft>
              <a:buClr>
                <a:schemeClr val="dk1"/>
              </a:buClr>
              <a:buSzPts val="1600"/>
              <a:buChar char="•"/>
            </a:pPr>
            <a:r>
              <a:rPr lang="en-US">
                <a:solidFill>
                  <a:schemeClr val="dk1"/>
                </a:solidFill>
              </a:rPr>
              <a:t>histogram: </a:t>
            </a:r>
            <a:r>
              <a:rPr lang="en-US">
                <a:solidFill>
                  <a:schemeClr val="dk1"/>
                </a:solidFill>
                <a:latin typeface="Courier New"/>
                <a:ea typeface="Courier New"/>
                <a:cs typeface="Courier New"/>
                <a:sym typeface="Courier New"/>
              </a:rPr>
              <a:t>.hist()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Let's explore each of these (and a couple others) just a little more.</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Coding Challenge</a:t>
            </a:r>
            <a:endParaRPr/>
          </a:p>
        </p:txBody>
      </p:sp>
      <p:sp>
        <p:nvSpPr>
          <p:cNvPr id="207" name="Google Shape;207;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08" name="Google Shape;208;p2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Plot the following data </a:t>
            </a:r>
            <a:r>
              <a:rPr b="1" lang="en-US" sz="1400"/>
              <a:t>as line plots</a:t>
            </a:r>
            <a:r>
              <a:rPr lang="en-US" sz="1400"/>
              <a:t> in one Axes in one Figure in matplotlib:</a:t>
            </a:r>
            <a:endParaRPr sz="1400"/>
          </a:p>
          <a:p>
            <a:pPr indent="0" lvl="0" marL="0" rtl="0" algn="l">
              <a:spcBef>
                <a:spcPts val="0"/>
              </a:spcBef>
              <a:spcAft>
                <a:spcPts val="0"/>
              </a:spcAft>
              <a:buNone/>
            </a:pPr>
            <a:r>
              <a:t/>
            </a:r>
            <a:endParaRPr sz="1400"/>
          </a:p>
          <a:p>
            <a:pPr indent="0" lvl="0" marL="457200" rtl="0" algn="l">
              <a:spcBef>
                <a:spcPts val="0"/>
              </a:spcBef>
              <a:spcAft>
                <a:spcPts val="0"/>
              </a:spcAft>
              <a:buNone/>
            </a:pPr>
            <a:r>
              <a:rPr lang="en-US" sz="1400">
                <a:latin typeface="Courier New"/>
                <a:ea typeface="Courier New"/>
                <a:cs typeface="Courier New"/>
                <a:sym typeface="Courier New"/>
              </a:rPr>
              <a:t>years = [2016, 2017, 2018, 2019, 2020]</a:t>
            </a:r>
            <a:endParaRPr sz="1400">
              <a:latin typeface="Courier New"/>
              <a:ea typeface="Courier New"/>
              <a:cs typeface="Courier New"/>
              <a:sym typeface="Courier New"/>
            </a:endParaRPr>
          </a:p>
          <a:p>
            <a:pPr indent="0" lvl="0" marL="457200" rtl="0" algn="l">
              <a:spcBef>
                <a:spcPts val="0"/>
              </a:spcBef>
              <a:spcAft>
                <a:spcPts val="0"/>
              </a:spcAft>
              <a:buNone/>
            </a:pPr>
            <a:r>
              <a:rPr lang="en-US" sz="1400">
                <a:latin typeface="Courier New"/>
                <a:ea typeface="Courier New"/>
                <a:cs typeface="Courier New"/>
                <a:sym typeface="Courier New"/>
              </a:rPr>
              <a:t>enrollment_</a:t>
            </a:r>
            <a:r>
              <a:rPr lang="en-US" sz="1400">
                <a:latin typeface="Courier New"/>
                <a:ea typeface="Courier New"/>
                <a:cs typeface="Courier New"/>
                <a:sym typeface="Courier New"/>
              </a:rPr>
              <a:t>TAC</a:t>
            </a:r>
            <a:r>
              <a:rPr lang="en-US" sz="1400">
                <a:latin typeface="Courier New"/>
                <a:ea typeface="Courier New"/>
                <a:cs typeface="Courier New"/>
                <a:sym typeface="Courier New"/>
              </a:rPr>
              <a:t>_115 = [180, 250, 390, 540, 720]</a:t>
            </a:r>
            <a:endParaRPr sz="1400">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sz="1400">
                <a:solidFill>
                  <a:schemeClr val="dk1"/>
                </a:solidFill>
                <a:latin typeface="Courier New"/>
                <a:ea typeface="Courier New"/>
                <a:cs typeface="Courier New"/>
                <a:sym typeface="Courier New"/>
              </a:rPr>
              <a:t>enrollment_</a:t>
            </a:r>
            <a:r>
              <a:rPr lang="en-US" sz="1400">
                <a:solidFill>
                  <a:schemeClr val="dk1"/>
                </a:solidFill>
                <a:latin typeface="Courier New"/>
                <a:ea typeface="Courier New"/>
                <a:cs typeface="Courier New"/>
                <a:sym typeface="Courier New"/>
              </a:rPr>
              <a:t>TAC</a:t>
            </a:r>
            <a:r>
              <a:rPr lang="en-US" sz="1400">
                <a:solidFill>
                  <a:schemeClr val="dk1"/>
                </a:solidFill>
                <a:latin typeface="Courier New"/>
                <a:ea typeface="Courier New"/>
                <a:cs typeface="Courier New"/>
                <a:sym typeface="Courier New"/>
              </a:rPr>
              <a:t>_449 = [70, 150, 130, 180, 220]</a:t>
            </a:r>
            <a:endParaRPr sz="14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400"/>
          </a:p>
          <a:p>
            <a:pPr indent="0" lvl="0" marL="0" rtl="0" algn="l">
              <a:spcBef>
                <a:spcPts val="0"/>
              </a:spcBef>
              <a:spcAft>
                <a:spcPts val="0"/>
              </a:spcAft>
              <a:buNone/>
            </a:pPr>
            <a:r>
              <a:rPr lang="en-US" sz="1400"/>
              <a:t>Make sure to add to the figure:</a:t>
            </a:r>
            <a:endParaRPr sz="1400"/>
          </a:p>
          <a:p>
            <a:pPr indent="-317500" lvl="0" marL="457200" rtl="0" algn="l">
              <a:spcBef>
                <a:spcPts val="0"/>
              </a:spcBef>
              <a:spcAft>
                <a:spcPts val="0"/>
              </a:spcAft>
              <a:buSzPts val="1400"/>
              <a:buChar char="•"/>
            </a:pPr>
            <a:r>
              <a:rPr lang="en-US" sz="1400"/>
              <a:t>title</a:t>
            </a:r>
            <a:endParaRPr sz="1400"/>
          </a:p>
          <a:p>
            <a:pPr indent="-317500" lvl="0" marL="457200" rtl="0" algn="l">
              <a:spcBef>
                <a:spcPts val="0"/>
              </a:spcBef>
              <a:spcAft>
                <a:spcPts val="0"/>
              </a:spcAft>
              <a:buSzPts val="1400"/>
              <a:buChar char="•"/>
            </a:pPr>
            <a:r>
              <a:rPr lang="en-US" sz="1400"/>
              <a:t>axis labels</a:t>
            </a:r>
            <a:endParaRPr sz="1400"/>
          </a:p>
          <a:p>
            <a:pPr indent="-317500" lvl="0" marL="457200" rtl="0" algn="l">
              <a:spcBef>
                <a:spcPts val="0"/>
              </a:spcBef>
              <a:spcAft>
                <a:spcPts val="0"/>
              </a:spcAft>
              <a:buSzPts val="1400"/>
              <a:buChar char="•"/>
            </a:pPr>
            <a:r>
              <a:rPr lang="en-US" sz="1400"/>
              <a:t>a legend</a:t>
            </a:r>
            <a:endParaRPr sz="1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Coding Challenge: solution</a:t>
            </a:r>
            <a:endParaRPr/>
          </a:p>
        </p:txBody>
      </p:sp>
      <p:sp>
        <p:nvSpPr>
          <p:cNvPr id="215" name="Google Shape;215;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16" name="Google Shape;216;p2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plan:</a:t>
            </a:r>
            <a:endParaRPr/>
          </a:p>
          <a:p>
            <a:pPr indent="-330200" lvl="0" marL="457200" rtl="0" algn="l">
              <a:spcBef>
                <a:spcPts val="0"/>
              </a:spcBef>
              <a:spcAft>
                <a:spcPts val="0"/>
              </a:spcAft>
              <a:buSzPts val="1600"/>
              <a:buChar char="•"/>
            </a:pPr>
            <a:r>
              <a:rPr lang="en-US"/>
              <a:t>import matplotlib</a:t>
            </a:r>
            <a:endParaRPr/>
          </a:p>
          <a:p>
            <a:pPr indent="-330200" lvl="0" marL="457200" rtl="0" algn="l">
              <a:spcBef>
                <a:spcPts val="0"/>
              </a:spcBef>
              <a:spcAft>
                <a:spcPts val="0"/>
              </a:spcAft>
              <a:buSzPts val="1600"/>
              <a:buChar char="•"/>
            </a:pPr>
            <a:r>
              <a:rPr lang="en-US"/>
              <a:t>plot the 115 data</a:t>
            </a:r>
            <a:endParaRPr/>
          </a:p>
          <a:p>
            <a:pPr indent="-330200" lvl="0" marL="457200" rtl="0" algn="l">
              <a:spcBef>
                <a:spcPts val="0"/>
              </a:spcBef>
              <a:spcAft>
                <a:spcPts val="0"/>
              </a:spcAft>
              <a:buSzPts val="1600"/>
              <a:buChar char="•"/>
            </a:pPr>
            <a:r>
              <a:rPr lang="en-US"/>
              <a:t>plot the 449 data (in the same area)</a:t>
            </a:r>
            <a:endParaRPr/>
          </a:p>
          <a:p>
            <a:pPr indent="-330200" lvl="0" marL="457200" rtl="0" algn="l">
              <a:spcBef>
                <a:spcPts val="0"/>
              </a:spcBef>
              <a:spcAft>
                <a:spcPts val="0"/>
              </a:spcAft>
              <a:buSzPts val="1600"/>
              <a:buChar char="•"/>
            </a:pPr>
            <a:r>
              <a:rPr lang="en-US"/>
              <a:t>add identifying attributes:</a:t>
            </a:r>
            <a:endParaRPr/>
          </a:p>
          <a:p>
            <a:pPr indent="-323850" lvl="1" marL="914400" rtl="0" algn="l">
              <a:spcBef>
                <a:spcPts val="0"/>
              </a:spcBef>
              <a:spcAft>
                <a:spcPts val="0"/>
              </a:spcAft>
              <a:buSzPts val="1500"/>
              <a:buChar char="–"/>
            </a:pPr>
            <a:r>
              <a:rPr lang="en-US"/>
              <a:t>label the axes</a:t>
            </a:r>
            <a:endParaRPr/>
          </a:p>
          <a:p>
            <a:pPr indent="-323850" lvl="1" marL="914400" rtl="0" algn="l">
              <a:spcBef>
                <a:spcPts val="0"/>
              </a:spcBef>
              <a:spcAft>
                <a:spcPts val="0"/>
              </a:spcAft>
              <a:buClr>
                <a:schemeClr val="dk1"/>
              </a:buClr>
              <a:buSzPts val="1500"/>
              <a:buChar char="–"/>
            </a:pPr>
            <a:r>
              <a:rPr lang="en-US">
                <a:solidFill>
                  <a:schemeClr val="dk1"/>
                </a:solidFill>
              </a:rPr>
              <a:t>add a title</a:t>
            </a:r>
            <a:endParaRPr/>
          </a:p>
          <a:p>
            <a:pPr indent="-323850" lvl="1" marL="914400" rtl="0" algn="l">
              <a:spcBef>
                <a:spcPts val="0"/>
              </a:spcBef>
              <a:spcAft>
                <a:spcPts val="0"/>
              </a:spcAft>
              <a:buSzPts val="1500"/>
              <a:buChar char="–"/>
            </a:pPr>
            <a:r>
              <a:rPr lang="en-US"/>
              <a:t>add a legend</a:t>
            </a:r>
            <a:endParaRPr/>
          </a:p>
          <a:p>
            <a:pPr indent="-330200" lvl="0" marL="457200" rtl="0" algn="l">
              <a:spcBef>
                <a:spcPts val="0"/>
              </a:spcBef>
              <a:spcAft>
                <a:spcPts val="0"/>
              </a:spcAft>
              <a:buSzPts val="1600"/>
              <a:buChar char="•"/>
            </a:pPr>
            <a:r>
              <a:rPr lang="en-US"/>
              <a:t>save the figure</a:t>
            </a:r>
            <a:endParaRPr/>
          </a:p>
        </p:txBody>
      </p:sp>
      <p:sp>
        <p:nvSpPr>
          <p:cNvPr id="217" name="Google Shape;217;p29"/>
          <p:cNvSpPr txBox="1"/>
          <p:nvPr>
            <p:ph idx="2" type="body"/>
          </p:nvPr>
        </p:nvSpPr>
        <p:spPr>
          <a:xfrm>
            <a:off x="4650575" y="998800"/>
            <a:ext cx="4456500" cy="3414600"/>
          </a:xfrm>
          <a:prstGeom prst="rect">
            <a:avLst/>
          </a:prstGeom>
          <a:noFill/>
        </p:spPr>
        <p:txBody>
          <a:bodyPr anchorCtr="0" anchor="t" bIns="45700" lIns="91425" spcFirstLastPara="1" rIns="91425" wrap="square" tIns="45700">
            <a:noAutofit/>
          </a:bodyPr>
          <a:lstStyle/>
          <a:p>
            <a:pPr indent="0" lvl="0" marL="0" rtl="0" algn="l">
              <a:spcBef>
                <a:spcPts val="0"/>
              </a:spcBef>
              <a:spcAft>
                <a:spcPts val="0"/>
              </a:spcAft>
              <a:buNone/>
            </a:pPr>
            <a:r>
              <a:rPr lang="en-US" sz="600">
                <a:latin typeface="Courier New"/>
                <a:ea typeface="Courier New"/>
                <a:cs typeface="Courier New"/>
                <a:sym typeface="Courier New"/>
              </a:rPr>
              <a:t>import matplotlib.pyplot as plt</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def main():</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latin typeface="Courier New"/>
                <a:ea typeface="Courier New"/>
                <a:cs typeface="Courier New"/>
                <a:sym typeface="Courier New"/>
              </a:rPr>
              <a:t>	years = [2016, 2017, 2018, 2019, 2020]</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latin typeface="Courier New"/>
                <a:ea typeface="Courier New"/>
                <a:cs typeface="Courier New"/>
                <a:sym typeface="Courier New"/>
              </a:rPr>
              <a:t>	enrollment_</a:t>
            </a:r>
            <a:r>
              <a:rPr lang="en-US" sz="600">
                <a:latin typeface="Courier New"/>
                <a:ea typeface="Courier New"/>
                <a:cs typeface="Courier New"/>
                <a:sym typeface="Courier New"/>
              </a:rPr>
              <a:t>TAC</a:t>
            </a:r>
            <a:r>
              <a:rPr lang="en-US" sz="600">
                <a:latin typeface="Courier New"/>
                <a:ea typeface="Courier New"/>
                <a:cs typeface="Courier New"/>
                <a:sym typeface="Courier New"/>
              </a:rPr>
              <a:t>_115 = [180, 250, 390, 540, 720]</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latin typeface="Courier New"/>
                <a:ea typeface="Courier New"/>
                <a:cs typeface="Courier New"/>
                <a:sym typeface="Courier New"/>
              </a:rPr>
              <a:t>	enrollment_</a:t>
            </a:r>
            <a:r>
              <a:rPr lang="en-US" sz="600">
                <a:latin typeface="Courier New"/>
                <a:ea typeface="Courier New"/>
                <a:cs typeface="Courier New"/>
                <a:sym typeface="Courier New"/>
              </a:rPr>
              <a:t>TAC</a:t>
            </a:r>
            <a:r>
              <a:rPr lang="en-US" sz="600">
                <a:latin typeface="Courier New"/>
                <a:ea typeface="Courier New"/>
                <a:cs typeface="Courier New"/>
                <a:sym typeface="Courier New"/>
              </a:rPr>
              <a:t>_449 = [70, 150, 130, 180, 220]</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 create the plotting area and </a:t>
            </a:r>
            <a:r>
              <a:rPr lang="en-US" sz="600">
                <a:solidFill>
                  <a:schemeClr val="dk1"/>
                </a:solidFill>
                <a:latin typeface="Courier New"/>
                <a:ea typeface="Courier New"/>
                <a:cs typeface="Courier New"/>
                <a:sym typeface="Courier New"/>
              </a:rPr>
              <a:t>plot the data</a:t>
            </a:r>
            <a:endParaRPr sz="6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fig, ax = plt.subplots(1, 1)</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ax.plot(years, enrollment_</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_115, label='</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 115')</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ax.plot(years, enrollment_</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_449, label='</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 449')</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 add identifying attributes</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ax.set(xlabel='Year', ylabel='Enrollment', title='</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 enrollments 2016 to 2020')</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ax.legend()</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latin typeface="Courier New"/>
                <a:ea typeface="Courier New"/>
                <a:cs typeface="Courier New"/>
                <a:sym typeface="Courier New"/>
              </a:rPr>
              <a:t>	# save the figure</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fig.savefig(</a:t>
            </a:r>
            <a:r>
              <a:rPr b="1" lang="en-US" sz="600">
                <a:latin typeface="Courier New"/>
                <a:ea typeface="Courier New"/>
                <a:cs typeface="Courier New"/>
                <a:sym typeface="Courier New"/>
              </a:rPr>
              <a:t>'</a:t>
            </a:r>
            <a:r>
              <a:rPr b="1" lang="en-US" sz="600">
                <a:latin typeface="Courier New"/>
                <a:ea typeface="Courier New"/>
                <a:cs typeface="Courier New"/>
                <a:sym typeface="Courier New"/>
              </a:rPr>
              <a:t>TAC</a:t>
            </a:r>
            <a:r>
              <a:rPr b="1" lang="en-US" sz="600">
                <a:latin typeface="Courier New"/>
                <a:ea typeface="Courier New"/>
                <a:cs typeface="Courier New"/>
                <a:sym typeface="Courier New"/>
              </a:rPr>
              <a:t> enrollments - line plot.png'</a:t>
            </a:r>
            <a:r>
              <a:rPr lang="en-US" sz="600">
                <a:latin typeface="Courier New"/>
                <a:ea typeface="Courier New"/>
                <a:cs typeface="Courier New"/>
                <a:sym typeface="Courier New"/>
              </a:rPr>
              <a:t>)</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latin typeface="Courier New"/>
                <a:ea typeface="Courier New"/>
                <a:cs typeface="Courier New"/>
                <a:sym typeface="Courier New"/>
              </a:rPr>
              <a:t>if __name__ == '__main__':</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main()</a:t>
            </a:r>
            <a:endParaRPr sz="6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line formatting</a:t>
            </a:r>
            <a:endParaRPr/>
          </a:p>
        </p:txBody>
      </p:sp>
      <p:sp>
        <p:nvSpPr>
          <p:cNvPr id="224" name="Google Shape;224;p3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25" name="Google Shape;225;p3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There are many many ways to modify the look of the data you plot. Options are passed as keyword arguments to the plotting method. Options include but are not limited to:</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alpha</a:t>
            </a:r>
            <a:r>
              <a:rPr lang="en-US" sz="1200"/>
              <a:t>: opacity (0 to 1, default 1)</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color</a:t>
            </a:r>
            <a:r>
              <a:rPr lang="en-US" sz="1200"/>
              <a:t>: color names, letters, or even hex code (default chosen by pyplot, used by legend)</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label</a:t>
            </a:r>
            <a:r>
              <a:rPr lang="en-US" sz="1200"/>
              <a:t>: how to refer to the data in the plot itself (used by the legend)</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linestyle</a:t>
            </a:r>
            <a:r>
              <a:rPr lang="en-US" sz="1200"/>
              <a:t>: solid line, dash, et al. (String, default '-', used by legend</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marker</a:t>
            </a:r>
            <a:r>
              <a:rPr lang="en-US" sz="1200"/>
              <a:t>: shape of the marker at each point (String, default '.', used by legend)</a:t>
            </a:r>
            <a:endParaRPr sz="1200"/>
          </a:p>
        </p:txBody>
      </p:sp>
      <p:sp>
        <p:nvSpPr>
          <p:cNvPr id="226" name="Google Shape;226;p3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a:t>
            </a: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a:t>
            </a:r>
            <a:r>
              <a:rPr lang="en-US" sz="900">
                <a:solidFill>
                  <a:schemeClr val="dk1"/>
                </a:solidFill>
                <a:latin typeface="Courier New"/>
                <a:ea typeface="Courier New"/>
                <a:cs typeface="Courier New"/>
                <a:sym typeface="Courier New"/>
              </a:rPr>
              <a:t>ax.plot(</a:t>
            </a:r>
            <a:r>
              <a:rPr lang="en-US" sz="900">
                <a:solidFill>
                  <a:schemeClr val="dk1"/>
                </a:solidFill>
                <a:latin typeface="Courier New"/>
                <a:ea typeface="Courier New"/>
                <a:cs typeface="Courier New"/>
                <a:sym typeface="Courier New"/>
              </a:rPr>
              <a:t>x, y, </a:t>
            </a:r>
            <a:r>
              <a:rPr b="1" lang="en-US" sz="900">
                <a:solidFill>
                  <a:schemeClr val="dk1"/>
                </a:solidFill>
                <a:latin typeface="Courier New"/>
                <a:ea typeface="Courier New"/>
                <a:cs typeface="Courier New"/>
                <a:sym typeface="Courier New"/>
              </a:rPr>
              <a:t>linestyle='--', color='g'</a:t>
            </a:r>
            <a:r>
              <a:rPr lang="en-US"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a:t>
            </a: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main()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Plotting: a note on ticks</a:t>
            </a:r>
            <a:endParaRPr/>
          </a:p>
        </p:txBody>
      </p:sp>
      <p:sp>
        <p:nvSpPr>
          <p:cNvPr id="233" name="Google Shape;233;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34" name="Google Shape;234;p3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Matplotlib automatically determines the range for each axis and sets the ticks accordingly. But o</a:t>
            </a:r>
            <a:r>
              <a:rPr lang="en-US" sz="1200"/>
              <a:t>ccasionally, you will want to readjust either the locations of tick labels, or what those labels say, or both. This can be done via:</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Font typeface="Courier New"/>
              <a:buChar char="•"/>
            </a:pPr>
            <a:r>
              <a:rPr lang="en-US" sz="1200"/>
              <a:t>Locations: </a:t>
            </a:r>
            <a:r>
              <a:rPr lang="en-US" sz="1200">
                <a:latin typeface="Courier New"/>
                <a:ea typeface="Courier New"/>
                <a:cs typeface="Courier New"/>
                <a:sym typeface="Courier New"/>
              </a:rPr>
              <a:t>Axes.xaxis.set_ticks()</a:t>
            </a:r>
            <a:r>
              <a:rPr lang="en-US" sz="1200"/>
              <a:t> and </a:t>
            </a:r>
            <a:r>
              <a:rPr lang="en-US" sz="1200">
                <a:latin typeface="Courier New"/>
                <a:ea typeface="Courier New"/>
                <a:cs typeface="Courier New"/>
                <a:sym typeface="Courier New"/>
              </a:rPr>
              <a:t>Axes.yaxis.set_ticks()</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Char char="•"/>
            </a:pPr>
            <a:r>
              <a:rPr lang="en-US" sz="1200"/>
              <a:t>Values: </a:t>
            </a:r>
            <a:r>
              <a:rPr lang="en-US" sz="1200">
                <a:latin typeface="Courier New"/>
                <a:ea typeface="Courier New"/>
                <a:cs typeface="Courier New"/>
                <a:sym typeface="Courier New"/>
              </a:rPr>
              <a:t>Axes.xaxis.set_ticklabels()</a:t>
            </a:r>
            <a:r>
              <a:rPr lang="en-US" sz="1200"/>
              <a:t> and </a:t>
            </a:r>
            <a:r>
              <a:rPr lang="en-US" sz="1200">
                <a:latin typeface="Courier New"/>
                <a:ea typeface="Courier New"/>
                <a:cs typeface="Courier New"/>
                <a:sym typeface="Courier New"/>
              </a:rPr>
              <a:t>Axes.yaxis.set_ticklabels()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 that these need to agree in length - so if you decide that you want 100 ticks, you will need to provide 100 labels!</a:t>
            </a:r>
            <a:endParaRPr sz="1200"/>
          </a:p>
        </p:txBody>
      </p:sp>
      <p:sp>
        <p:nvSpPr>
          <p:cNvPr id="235" name="Google Shape;235;p3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ax</a:t>
            </a:r>
            <a:r>
              <a:rPr b="1" lang="en-US" sz="900">
                <a:solidFill>
                  <a:schemeClr val="dk1"/>
                </a:solidFill>
                <a:latin typeface="Courier New"/>
                <a:ea typeface="Courier New"/>
                <a:cs typeface="Courier New"/>
                <a:sym typeface="Courier New"/>
              </a:rPr>
              <a:t>.xaxis.set_ticks</a:t>
            </a:r>
            <a:r>
              <a:rPr lang="en-US" sz="900">
                <a:solidFill>
                  <a:schemeClr val="dk1"/>
                </a:solidFill>
                <a:latin typeface="Courier New"/>
                <a:ea typeface="Courier New"/>
                <a:cs typeface="Courier New"/>
                <a:sym typeface="Courier New"/>
              </a:rPr>
              <a:t>(years</a:t>
            </a:r>
            <a:r>
              <a:rPr b="1" lang="en-US" sz="900">
                <a:solidFill>
                  <a:schemeClr val="dk1"/>
                </a:solidFill>
                <a:latin typeface="Courier New"/>
                <a:ea typeface="Courier New"/>
                <a:cs typeface="Courier New"/>
                <a:sym typeface="Courier New"/>
              </a:rPr>
              <a:t>)</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the_future = [year*1000 for year in years]</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ax.xaxis.set_ticklabels</a:t>
            </a:r>
            <a:r>
              <a:rPr lang="en-US" sz="900">
                <a:solidFill>
                  <a:schemeClr val="dk1"/>
                </a:solidFill>
                <a:latin typeface="Courier New"/>
                <a:ea typeface="Courier New"/>
                <a:cs typeface="Courier New"/>
                <a:sym typeface="Courier New"/>
              </a:rPr>
              <a:t>(the_future</a:t>
            </a:r>
            <a:r>
              <a:rPr b="1" lang="en-US" sz="900">
                <a:solidFill>
                  <a:schemeClr val="dk1"/>
                </a:solidFill>
                <a:latin typeface="Courier New"/>
                <a:ea typeface="Courier New"/>
                <a:cs typeface="Courier New"/>
                <a:sym typeface="Courier New"/>
              </a:rPr>
              <a:t>)</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main()</a:t>
            </a:r>
            <a:endParaRPr>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Coding Challenge</a:t>
            </a:r>
            <a:endParaRPr/>
          </a:p>
        </p:txBody>
      </p:sp>
      <p:sp>
        <p:nvSpPr>
          <p:cNvPr id="242" name="Google Shape;242;p3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43" name="Google Shape;243;p32"/>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Given what you now know about line plots, plot the following data </a:t>
            </a:r>
            <a:r>
              <a:rPr b="1" lang="en-US" sz="1300"/>
              <a:t>as scatter plots</a:t>
            </a:r>
            <a:r>
              <a:rPr lang="en-US" sz="1300"/>
              <a:t> in one Axes in one Figure in matplotlib:</a:t>
            </a:r>
            <a:endParaRPr sz="1300"/>
          </a:p>
          <a:p>
            <a:pPr indent="0" lvl="0" marL="0" rtl="0" algn="l">
              <a:spcBef>
                <a:spcPts val="0"/>
              </a:spcBef>
              <a:spcAft>
                <a:spcPts val="0"/>
              </a:spcAft>
              <a:buNone/>
            </a:pPr>
            <a:r>
              <a:t/>
            </a:r>
            <a:endParaRPr sz="1300"/>
          </a:p>
          <a:p>
            <a:pPr indent="0" lvl="0" marL="457200" rtl="0" algn="l">
              <a:spcBef>
                <a:spcPts val="0"/>
              </a:spcBef>
              <a:spcAft>
                <a:spcPts val="0"/>
              </a:spcAft>
              <a:buNone/>
            </a:pPr>
            <a:r>
              <a:rPr lang="en-US" sz="1300">
                <a:latin typeface="Courier New"/>
                <a:ea typeface="Courier New"/>
                <a:cs typeface="Courier New"/>
                <a:sym typeface="Courier New"/>
              </a:rPr>
              <a:t>years = [2016, 2017, 2018, 2019, 2020]</a:t>
            </a:r>
            <a:endParaRPr sz="1300">
              <a:latin typeface="Courier New"/>
              <a:ea typeface="Courier New"/>
              <a:cs typeface="Courier New"/>
              <a:sym typeface="Courier New"/>
            </a:endParaRPr>
          </a:p>
          <a:p>
            <a:pPr indent="0" lvl="0" marL="457200" rtl="0" algn="l">
              <a:spcBef>
                <a:spcPts val="0"/>
              </a:spcBef>
              <a:spcAft>
                <a:spcPts val="0"/>
              </a:spcAft>
              <a:buNone/>
            </a:pPr>
            <a:r>
              <a:rPr lang="en-US" sz="1300">
                <a:latin typeface="Courier New"/>
                <a:ea typeface="Courier New"/>
                <a:cs typeface="Courier New"/>
                <a:sym typeface="Courier New"/>
              </a:rPr>
              <a:t>enrollment_TAC_115 = [180, 250, 390, 540, 720]</a:t>
            </a:r>
            <a:endParaRPr sz="1300">
              <a:latin typeface="Courier New"/>
              <a:ea typeface="Courier New"/>
              <a:cs typeface="Courier New"/>
              <a:sym typeface="Courier New"/>
            </a:endParaRPr>
          </a:p>
          <a:p>
            <a:pPr indent="0" lvl="0" marL="457200" rtl="0" algn="l">
              <a:spcBef>
                <a:spcPts val="0"/>
              </a:spcBef>
              <a:spcAft>
                <a:spcPts val="0"/>
              </a:spcAft>
              <a:buNone/>
            </a:pPr>
            <a:r>
              <a:rPr lang="en-US" sz="1300">
                <a:solidFill>
                  <a:schemeClr val="dk1"/>
                </a:solidFill>
                <a:latin typeface="Courier New"/>
                <a:ea typeface="Courier New"/>
                <a:cs typeface="Courier New"/>
                <a:sym typeface="Courier New"/>
              </a:rPr>
              <a:t>enrollment_TAC_449 = [70, 150, 130, 180, 220]</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300"/>
          </a:p>
          <a:p>
            <a:pPr indent="0" lvl="0" marL="0" rtl="0" algn="l">
              <a:spcBef>
                <a:spcPts val="0"/>
              </a:spcBef>
              <a:spcAft>
                <a:spcPts val="0"/>
              </a:spcAft>
              <a:buNone/>
            </a:pPr>
            <a:r>
              <a:rPr lang="en-US" sz="1300"/>
              <a:t>Make sure to add to the figure:</a:t>
            </a:r>
            <a:endParaRPr sz="1300"/>
          </a:p>
          <a:p>
            <a:pPr indent="-311150" lvl="0" marL="457200" rtl="0" algn="l">
              <a:spcBef>
                <a:spcPts val="0"/>
              </a:spcBef>
              <a:spcAft>
                <a:spcPts val="0"/>
              </a:spcAft>
              <a:buSzPts val="1300"/>
              <a:buChar char="•"/>
            </a:pPr>
            <a:r>
              <a:rPr lang="en-US" sz="1300"/>
              <a:t>title</a:t>
            </a:r>
            <a:endParaRPr sz="1300"/>
          </a:p>
          <a:p>
            <a:pPr indent="-311150" lvl="0" marL="457200" rtl="0" algn="l">
              <a:spcBef>
                <a:spcPts val="0"/>
              </a:spcBef>
              <a:spcAft>
                <a:spcPts val="0"/>
              </a:spcAft>
              <a:buSzPts val="1300"/>
              <a:buChar char="•"/>
            </a:pPr>
            <a:r>
              <a:rPr lang="en-US" sz="1300"/>
              <a:t>axis labels</a:t>
            </a:r>
            <a:endParaRPr sz="1300"/>
          </a:p>
          <a:p>
            <a:pPr indent="-311150" lvl="0" marL="457200" rtl="0" algn="l">
              <a:spcBef>
                <a:spcPts val="0"/>
              </a:spcBef>
              <a:spcAft>
                <a:spcPts val="0"/>
              </a:spcAft>
              <a:buSzPts val="1300"/>
              <a:buChar char="•"/>
            </a:pPr>
            <a:r>
              <a:rPr lang="en-US" sz="1300"/>
              <a:t>a legend</a:t>
            </a:r>
            <a:endParaRPr sz="13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Coding Challenge: solution</a:t>
            </a:r>
            <a:endParaRPr/>
          </a:p>
        </p:txBody>
      </p:sp>
      <p:sp>
        <p:nvSpPr>
          <p:cNvPr id="250" name="Google Shape;250;p3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51" name="Google Shape;251;p3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plan:</a:t>
            </a:r>
            <a:endParaRPr/>
          </a:p>
          <a:p>
            <a:pPr indent="-330200" lvl="0" marL="457200" rtl="0" algn="l">
              <a:spcBef>
                <a:spcPts val="0"/>
              </a:spcBef>
              <a:spcAft>
                <a:spcPts val="0"/>
              </a:spcAft>
              <a:buSzPts val="1600"/>
              <a:buChar char="•"/>
            </a:pPr>
            <a:r>
              <a:rPr lang="en-US"/>
              <a:t>import matplotlib</a:t>
            </a:r>
            <a:endParaRPr/>
          </a:p>
          <a:p>
            <a:pPr indent="-330200" lvl="0" marL="457200" rtl="0" algn="l">
              <a:spcBef>
                <a:spcPts val="0"/>
              </a:spcBef>
              <a:spcAft>
                <a:spcPts val="0"/>
              </a:spcAft>
              <a:buSzPts val="1600"/>
              <a:buChar char="•"/>
            </a:pPr>
            <a:r>
              <a:rPr lang="en-US"/>
              <a:t>scatter plot the 115 data</a:t>
            </a:r>
            <a:endParaRPr/>
          </a:p>
          <a:p>
            <a:pPr indent="-330200" lvl="0" marL="457200" rtl="0" algn="l">
              <a:spcBef>
                <a:spcPts val="0"/>
              </a:spcBef>
              <a:spcAft>
                <a:spcPts val="0"/>
              </a:spcAft>
              <a:buSzPts val="1600"/>
              <a:buChar char="•"/>
            </a:pPr>
            <a:r>
              <a:rPr lang="en-US"/>
              <a:t>scatter plot the 449 data (in the same area)</a:t>
            </a:r>
            <a:endParaRPr/>
          </a:p>
          <a:p>
            <a:pPr indent="-330200" lvl="0" marL="457200" rtl="0" algn="l">
              <a:spcBef>
                <a:spcPts val="0"/>
              </a:spcBef>
              <a:spcAft>
                <a:spcPts val="0"/>
              </a:spcAft>
              <a:buSzPts val="1600"/>
              <a:buChar char="•"/>
            </a:pPr>
            <a:r>
              <a:rPr lang="en-US"/>
              <a:t>add identifying attributes:</a:t>
            </a:r>
            <a:endParaRPr/>
          </a:p>
          <a:p>
            <a:pPr indent="-323850" lvl="1" marL="914400" rtl="0" algn="l">
              <a:spcBef>
                <a:spcPts val="0"/>
              </a:spcBef>
              <a:spcAft>
                <a:spcPts val="0"/>
              </a:spcAft>
              <a:buSzPts val="1500"/>
              <a:buChar char="–"/>
            </a:pPr>
            <a:r>
              <a:rPr lang="en-US"/>
              <a:t>label the axes</a:t>
            </a:r>
            <a:endParaRPr/>
          </a:p>
          <a:p>
            <a:pPr indent="-323850" lvl="1" marL="914400" rtl="0" algn="l">
              <a:spcBef>
                <a:spcPts val="0"/>
              </a:spcBef>
              <a:spcAft>
                <a:spcPts val="0"/>
              </a:spcAft>
              <a:buClr>
                <a:schemeClr val="dk1"/>
              </a:buClr>
              <a:buSzPts val="1500"/>
              <a:buChar char="–"/>
            </a:pPr>
            <a:r>
              <a:rPr lang="en-US">
                <a:solidFill>
                  <a:schemeClr val="dk1"/>
                </a:solidFill>
              </a:rPr>
              <a:t>add a title</a:t>
            </a:r>
            <a:endParaRPr/>
          </a:p>
          <a:p>
            <a:pPr indent="-323850" lvl="1" marL="914400" rtl="0" algn="l">
              <a:spcBef>
                <a:spcPts val="0"/>
              </a:spcBef>
              <a:spcAft>
                <a:spcPts val="0"/>
              </a:spcAft>
              <a:buSzPts val="1500"/>
              <a:buChar char="–"/>
            </a:pPr>
            <a:r>
              <a:rPr lang="en-US"/>
              <a:t>add a legend</a:t>
            </a:r>
            <a:endParaRPr/>
          </a:p>
          <a:p>
            <a:pPr indent="-330200" lvl="0" marL="457200" rtl="0" algn="l">
              <a:spcBef>
                <a:spcPts val="0"/>
              </a:spcBef>
              <a:spcAft>
                <a:spcPts val="0"/>
              </a:spcAft>
              <a:buSzPts val="1600"/>
              <a:buChar char="•"/>
            </a:pPr>
            <a:r>
              <a:rPr lang="en-US"/>
              <a:t>save the figure</a:t>
            </a:r>
            <a:endParaRPr/>
          </a:p>
        </p:txBody>
      </p:sp>
      <p:sp>
        <p:nvSpPr>
          <p:cNvPr id="252" name="Google Shape;252;p33"/>
          <p:cNvSpPr txBox="1"/>
          <p:nvPr>
            <p:ph idx="2" type="body"/>
          </p:nvPr>
        </p:nvSpPr>
        <p:spPr>
          <a:xfrm>
            <a:off x="4650575" y="998800"/>
            <a:ext cx="4456500" cy="3414600"/>
          </a:xfrm>
          <a:prstGeom prst="rect">
            <a:avLst/>
          </a:prstGeom>
          <a:noFill/>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import matplotlib.pyplot as plt</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def main():</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years = [2016, 2017, 2018, 2019, 2020]</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enrollment_TAC_115 = [180, 250, 390, 540, 720]</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enrollment_</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_449 = [70, 150, 130, 180, 220]</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 create the plotting area and plot the data</a:t>
            </a:r>
            <a:endParaRPr sz="600">
              <a:solidFill>
                <a:schemeClr val="dk1"/>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fig, ax = plt.subplots(1, 1)</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a:t>
            </a:r>
            <a:r>
              <a:rPr b="1" lang="en-US" sz="600">
                <a:solidFill>
                  <a:schemeClr val="dk1"/>
                </a:solidFill>
                <a:latin typeface="Courier New"/>
                <a:ea typeface="Courier New"/>
                <a:cs typeface="Courier New"/>
                <a:sym typeface="Courier New"/>
              </a:rPr>
              <a:t>scatter</a:t>
            </a:r>
            <a:r>
              <a:rPr lang="en-US" sz="600">
                <a:solidFill>
                  <a:schemeClr val="dk1"/>
                </a:solidFill>
                <a:latin typeface="Courier New"/>
                <a:ea typeface="Courier New"/>
                <a:cs typeface="Courier New"/>
                <a:sym typeface="Courier New"/>
              </a:rPr>
              <a:t>(years, enrollment_</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_115, label='</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 115')</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a:t>
            </a:r>
            <a:r>
              <a:rPr b="1" lang="en-US" sz="600">
                <a:solidFill>
                  <a:schemeClr val="dk1"/>
                </a:solidFill>
                <a:latin typeface="Courier New"/>
                <a:ea typeface="Courier New"/>
                <a:cs typeface="Courier New"/>
                <a:sym typeface="Courier New"/>
              </a:rPr>
              <a:t>scatter</a:t>
            </a:r>
            <a:r>
              <a:rPr lang="en-US" sz="600">
                <a:solidFill>
                  <a:schemeClr val="dk1"/>
                </a:solidFill>
                <a:latin typeface="Courier New"/>
                <a:ea typeface="Courier New"/>
                <a:cs typeface="Courier New"/>
                <a:sym typeface="Courier New"/>
              </a:rPr>
              <a:t>(years, enrollment_</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_449, label='</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 449')</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 add identifying attributes</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ax.set(xlabel='Year', ylabel='Enrollment', title='</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 enrollments 2016 to 2020')</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ax.legend()</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 save the figure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fig.savefig(</a:t>
            </a:r>
            <a:r>
              <a:rPr b="1" lang="en-US" sz="600">
                <a:solidFill>
                  <a:schemeClr val="dk1"/>
                </a:solidFill>
                <a:latin typeface="Courier New"/>
                <a:ea typeface="Courier New"/>
                <a:cs typeface="Courier New"/>
                <a:sym typeface="Courier New"/>
              </a:rPr>
              <a:t>'</a:t>
            </a:r>
            <a:r>
              <a:rPr b="1" lang="en-US" sz="600">
                <a:solidFill>
                  <a:schemeClr val="dk1"/>
                </a:solidFill>
                <a:latin typeface="Courier New"/>
                <a:ea typeface="Courier New"/>
                <a:cs typeface="Courier New"/>
                <a:sym typeface="Courier New"/>
              </a:rPr>
              <a:t>TAC</a:t>
            </a:r>
            <a:r>
              <a:rPr b="1" lang="en-US" sz="600">
                <a:solidFill>
                  <a:schemeClr val="dk1"/>
                </a:solidFill>
                <a:latin typeface="Courier New"/>
                <a:ea typeface="Courier New"/>
                <a:cs typeface="Courier New"/>
                <a:sym typeface="Courier New"/>
              </a:rPr>
              <a:t> enrollments - scatter plot.png'</a:t>
            </a:r>
            <a:r>
              <a:rPr lang="en-US" sz="600">
                <a:solidFill>
                  <a:schemeClr val="dk1"/>
                </a:solidFill>
                <a:latin typeface="Courier New"/>
                <a:ea typeface="Courier New"/>
                <a:cs typeface="Courier New"/>
                <a:sym typeface="Courier New"/>
              </a:rPr>
              <a:t>)</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if __name__ == '__main__':</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main()</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scatter plot formatting</a:t>
            </a:r>
            <a:endParaRPr/>
          </a:p>
        </p:txBody>
      </p:sp>
      <p:sp>
        <p:nvSpPr>
          <p:cNvPr id="259" name="Google Shape;259;p3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60" name="Google Shape;260;p3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There are many many ways to modify the look of the data you plot. Options are passed as keyword arguments to the plotting method. Options for scatterplots include but are not limited to:</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alpha</a:t>
            </a:r>
            <a:r>
              <a:rPr lang="en-US" sz="1200"/>
              <a:t>: opacity (0 to 1, default 1)</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color</a:t>
            </a:r>
            <a:r>
              <a:rPr lang="en-US" sz="1200"/>
              <a:t>: color names, letters, or even hex code (default chosen by pyplot)</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label</a:t>
            </a:r>
            <a:r>
              <a:rPr lang="en-US" sz="1200"/>
              <a:t>: how to refer to the data in the plot itself (used by the legend)</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marker</a:t>
            </a:r>
            <a:r>
              <a:rPr lang="en-US" sz="1200"/>
              <a:t>: shape of the marker at each point (String, default 'o')</a:t>
            </a:r>
            <a:endParaRPr sz="1200"/>
          </a:p>
        </p:txBody>
      </p:sp>
      <p:sp>
        <p:nvSpPr>
          <p:cNvPr id="261" name="Google Shape;261;p34"/>
          <p:cNvSpPr txBox="1"/>
          <p:nvPr>
            <p:ph idx="2" type="body"/>
          </p:nvPr>
        </p:nvSpPr>
        <p:spPr>
          <a:xfrm>
            <a:off x="4650575" y="998800"/>
            <a:ext cx="4456500" cy="3414600"/>
          </a:xfrm>
          <a:prstGeom prst="rect">
            <a:avLst/>
          </a:prstGeom>
          <a:noFill/>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ax.scatter(x, y, </a:t>
            </a:r>
            <a:r>
              <a:rPr b="1" lang="en-US" sz="900">
                <a:solidFill>
                  <a:schemeClr val="dk1"/>
                </a:solidFill>
                <a:latin typeface="Courier New"/>
                <a:ea typeface="Courier New"/>
                <a:cs typeface="Courier New"/>
                <a:sym typeface="Courier New"/>
              </a:rPr>
              <a:t>marker='*', color='#0000ff'</a:t>
            </a:r>
            <a:r>
              <a:rPr lang="en-US"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main()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Coding Challenge</a:t>
            </a:r>
            <a:endParaRPr/>
          </a:p>
        </p:txBody>
      </p:sp>
      <p:sp>
        <p:nvSpPr>
          <p:cNvPr id="268" name="Google Shape;268;p3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69" name="Google Shape;269;p3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Given what you know about line and scatter plots, plot the following data </a:t>
            </a:r>
            <a:r>
              <a:rPr b="1" lang="en-US" sz="1400"/>
              <a:t>as bar plots</a:t>
            </a:r>
            <a:r>
              <a:rPr lang="en-US" sz="1400"/>
              <a:t> in one Figure in matplotlib:</a:t>
            </a:r>
            <a:endParaRPr sz="1400"/>
          </a:p>
          <a:p>
            <a:pPr indent="0" lvl="0" marL="0" rtl="0" algn="l">
              <a:spcBef>
                <a:spcPts val="0"/>
              </a:spcBef>
              <a:spcAft>
                <a:spcPts val="0"/>
              </a:spcAft>
              <a:buNone/>
            </a:pPr>
            <a:r>
              <a:t/>
            </a:r>
            <a:endParaRPr sz="1400"/>
          </a:p>
          <a:p>
            <a:pPr indent="0" lvl="0" marL="457200" rtl="0" algn="l">
              <a:spcBef>
                <a:spcPts val="0"/>
              </a:spcBef>
              <a:spcAft>
                <a:spcPts val="0"/>
              </a:spcAft>
              <a:buNone/>
            </a:pPr>
            <a:r>
              <a:rPr lang="en-US" sz="1400">
                <a:latin typeface="Courier New"/>
                <a:ea typeface="Courier New"/>
                <a:cs typeface="Courier New"/>
                <a:sym typeface="Courier New"/>
              </a:rPr>
              <a:t>years = [2016, 2017, 2018, 2019, 2020]</a:t>
            </a:r>
            <a:endParaRPr sz="1400">
              <a:latin typeface="Courier New"/>
              <a:ea typeface="Courier New"/>
              <a:cs typeface="Courier New"/>
              <a:sym typeface="Courier New"/>
            </a:endParaRPr>
          </a:p>
          <a:p>
            <a:pPr indent="0" lvl="0" marL="457200" rtl="0" algn="l">
              <a:spcBef>
                <a:spcPts val="0"/>
              </a:spcBef>
              <a:spcAft>
                <a:spcPts val="0"/>
              </a:spcAft>
              <a:buNone/>
            </a:pPr>
            <a:r>
              <a:rPr lang="en-US" sz="1400">
                <a:latin typeface="Courier New"/>
                <a:ea typeface="Courier New"/>
                <a:cs typeface="Courier New"/>
                <a:sym typeface="Courier New"/>
              </a:rPr>
              <a:t>enrollment_</a:t>
            </a:r>
            <a:r>
              <a:rPr lang="en-US" sz="1400">
                <a:latin typeface="Courier New"/>
                <a:ea typeface="Courier New"/>
                <a:cs typeface="Courier New"/>
                <a:sym typeface="Courier New"/>
              </a:rPr>
              <a:t>TAC</a:t>
            </a:r>
            <a:r>
              <a:rPr lang="en-US" sz="1400">
                <a:latin typeface="Courier New"/>
                <a:ea typeface="Courier New"/>
                <a:cs typeface="Courier New"/>
                <a:sym typeface="Courier New"/>
              </a:rPr>
              <a:t>_115 = [180, 250, 390, 540, 720]</a:t>
            </a:r>
            <a:endParaRPr sz="1400">
              <a:latin typeface="Courier New"/>
              <a:ea typeface="Courier New"/>
              <a:cs typeface="Courier New"/>
              <a:sym typeface="Courier New"/>
            </a:endParaRPr>
          </a:p>
          <a:p>
            <a:pPr indent="0" lvl="0" marL="457200" rtl="0" algn="l">
              <a:spcBef>
                <a:spcPts val="0"/>
              </a:spcBef>
              <a:spcAft>
                <a:spcPts val="0"/>
              </a:spcAft>
              <a:buNone/>
            </a:pPr>
            <a:r>
              <a:rPr lang="en-US" sz="1400">
                <a:solidFill>
                  <a:schemeClr val="dk1"/>
                </a:solidFill>
                <a:latin typeface="Courier New"/>
                <a:ea typeface="Courier New"/>
                <a:cs typeface="Courier New"/>
                <a:sym typeface="Courier New"/>
              </a:rPr>
              <a:t>enrollment_</a:t>
            </a:r>
            <a:r>
              <a:rPr lang="en-US" sz="1400">
                <a:solidFill>
                  <a:schemeClr val="dk1"/>
                </a:solidFill>
                <a:latin typeface="Courier New"/>
                <a:ea typeface="Courier New"/>
                <a:cs typeface="Courier New"/>
                <a:sym typeface="Courier New"/>
              </a:rPr>
              <a:t>TAC</a:t>
            </a:r>
            <a:r>
              <a:rPr lang="en-US" sz="1400">
                <a:solidFill>
                  <a:schemeClr val="dk1"/>
                </a:solidFill>
                <a:latin typeface="Courier New"/>
                <a:ea typeface="Courier New"/>
                <a:cs typeface="Courier New"/>
                <a:sym typeface="Courier New"/>
              </a:rPr>
              <a:t>_449 = [70, 150, 130, 180, 220]</a:t>
            </a:r>
            <a:endParaRPr sz="14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400"/>
          </a:p>
          <a:p>
            <a:pPr indent="0" lvl="0" marL="0" rtl="0" algn="l">
              <a:spcBef>
                <a:spcPts val="0"/>
              </a:spcBef>
              <a:spcAft>
                <a:spcPts val="0"/>
              </a:spcAft>
              <a:buNone/>
            </a:pPr>
            <a:r>
              <a:rPr lang="en-US" sz="1400"/>
              <a:t>Make sure to add to the figure:</a:t>
            </a:r>
            <a:endParaRPr sz="1400"/>
          </a:p>
          <a:p>
            <a:pPr indent="-317500" lvl="0" marL="457200" rtl="0" algn="l">
              <a:spcBef>
                <a:spcPts val="0"/>
              </a:spcBef>
              <a:spcAft>
                <a:spcPts val="0"/>
              </a:spcAft>
              <a:buSzPts val="1400"/>
              <a:buChar char="•"/>
            </a:pPr>
            <a:r>
              <a:rPr lang="en-US" sz="1400"/>
              <a:t>title</a:t>
            </a:r>
            <a:endParaRPr sz="1400"/>
          </a:p>
          <a:p>
            <a:pPr indent="-317500" lvl="0" marL="457200" rtl="0" algn="l">
              <a:spcBef>
                <a:spcPts val="0"/>
              </a:spcBef>
              <a:spcAft>
                <a:spcPts val="0"/>
              </a:spcAft>
              <a:buSzPts val="1400"/>
              <a:buChar char="•"/>
            </a:pPr>
            <a:r>
              <a:rPr lang="en-US" sz="1400"/>
              <a:t>axis labels</a:t>
            </a:r>
            <a:endParaRPr sz="1400"/>
          </a:p>
          <a:p>
            <a:pPr indent="-317500" lvl="0" marL="457200" rtl="0" algn="l">
              <a:spcBef>
                <a:spcPts val="0"/>
              </a:spcBef>
              <a:spcAft>
                <a:spcPts val="0"/>
              </a:spcAft>
              <a:buSzPts val="1400"/>
              <a:buChar char="•"/>
            </a:pPr>
            <a:r>
              <a:rPr lang="en-US" sz="1400"/>
              <a:t>a legend</a:t>
            </a:r>
            <a:endParaRPr sz="1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Coding Challenge: solution</a:t>
            </a:r>
            <a:endParaRPr/>
          </a:p>
        </p:txBody>
      </p:sp>
      <p:sp>
        <p:nvSpPr>
          <p:cNvPr id="276" name="Google Shape;276;p3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77" name="Google Shape;277;p3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plan:</a:t>
            </a:r>
            <a:endParaRPr/>
          </a:p>
          <a:p>
            <a:pPr indent="-330200" lvl="0" marL="457200" rtl="0" algn="l">
              <a:spcBef>
                <a:spcPts val="0"/>
              </a:spcBef>
              <a:spcAft>
                <a:spcPts val="0"/>
              </a:spcAft>
              <a:buSzPts val="1600"/>
              <a:buChar char="•"/>
            </a:pPr>
            <a:r>
              <a:rPr lang="en-US"/>
              <a:t>import matplotlib</a:t>
            </a:r>
            <a:endParaRPr/>
          </a:p>
          <a:p>
            <a:pPr indent="-330200" lvl="0" marL="457200" rtl="0" algn="l">
              <a:spcBef>
                <a:spcPts val="0"/>
              </a:spcBef>
              <a:spcAft>
                <a:spcPts val="0"/>
              </a:spcAft>
              <a:buSzPts val="1600"/>
              <a:buChar char="•"/>
            </a:pPr>
            <a:r>
              <a:rPr lang="en-US"/>
              <a:t>bar plot the 115 data</a:t>
            </a:r>
            <a:endParaRPr/>
          </a:p>
          <a:p>
            <a:pPr indent="-330200" lvl="0" marL="457200" rtl="0" algn="l">
              <a:spcBef>
                <a:spcPts val="0"/>
              </a:spcBef>
              <a:spcAft>
                <a:spcPts val="0"/>
              </a:spcAft>
              <a:buSzPts val="1600"/>
              <a:buChar char="•"/>
            </a:pPr>
            <a:r>
              <a:rPr lang="en-US"/>
              <a:t>bar plot the 449 data (in the same area)</a:t>
            </a:r>
            <a:endParaRPr/>
          </a:p>
          <a:p>
            <a:pPr indent="-330200" lvl="0" marL="457200" rtl="0" algn="l">
              <a:spcBef>
                <a:spcPts val="0"/>
              </a:spcBef>
              <a:spcAft>
                <a:spcPts val="0"/>
              </a:spcAft>
              <a:buSzPts val="1600"/>
              <a:buChar char="•"/>
            </a:pPr>
            <a:r>
              <a:rPr lang="en-US"/>
              <a:t>add identifying attributes:</a:t>
            </a:r>
            <a:endParaRPr/>
          </a:p>
          <a:p>
            <a:pPr indent="-323850" lvl="1" marL="914400" rtl="0" algn="l">
              <a:spcBef>
                <a:spcPts val="0"/>
              </a:spcBef>
              <a:spcAft>
                <a:spcPts val="0"/>
              </a:spcAft>
              <a:buSzPts val="1500"/>
              <a:buChar char="–"/>
            </a:pPr>
            <a:r>
              <a:rPr lang="en-US"/>
              <a:t>label the axes</a:t>
            </a:r>
            <a:endParaRPr/>
          </a:p>
          <a:p>
            <a:pPr indent="-323850" lvl="1" marL="914400" rtl="0" algn="l">
              <a:spcBef>
                <a:spcPts val="0"/>
              </a:spcBef>
              <a:spcAft>
                <a:spcPts val="0"/>
              </a:spcAft>
              <a:buClr>
                <a:schemeClr val="dk1"/>
              </a:buClr>
              <a:buSzPts val="1500"/>
              <a:buChar char="–"/>
            </a:pPr>
            <a:r>
              <a:rPr lang="en-US">
                <a:solidFill>
                  <a:schemeClr val="dk1"/>
                </a:solidFill>
              </a:rPr>
              <a:t>add a title</a:t>
            </a:r>
            <a:endParaRPr/>
          </a:p>
          <a:p>
            <a:pPr indent="-323850" lvl="1" marL="914400" rtl="0" algn="l">
              <a:spcBef>
                <a:spcPts val="0"/>
              </a:spcBef>
              <a:spcAft>
                <a:spcPts val="0"/>
              </a:spcAft>
              <a:buSzPts val="1500"/>
              <a:buChar char="–"/>
            </a:pPr>
            <a:r>
              <a:rPr lang="en-US"/>
              <a:t>add a legend</a:t>
            </a:r>
            <a:endParaRPr/>
          </a:p>
          <a:p>
            <a:pPr indent="-330200" lvl="0" marL="457200" rtl="0" algn="l">
              <a:spcBef>
                <a:spcPts val="0"/>
              </a:spcBef>
              <a:spcAft>
                <a:spcPts val="0"/>
              </a:spcAft>
              <a:buSzPts val="1600"/>
              <a:buChar char="•"/>
            </a:pPr>
            <a:r>
              <a:rPr lang="en-US"/>
              <a:t>save the figure</a:t>
            </a:r>
            <a:endParaRPr/>
          </a:p>
        </p:txBody>
      </p:sp>
      <p:sp>
        <p:nvSpPr>
          <p:cNvPr id="278" name="Google Shape;278;p36"/>
          <p:cNvSpPr txBox="1"/>
          <p:nvPr>
            <p:ph idx="2" type="body"/>
          </p:nvPr>
        </p:nvSpPr>
        <p:spPr>
          <a:xfrm>
            <a:off x="4650575" y="998800"/>
            <a:ext cx="4456500" cy="3414600"/>
          </a:xfrm>
          <a:prstGeom prst="rect">
            <a:avLst/>
          </a:prstGeom>
          <a:noFill/>
        </p:spPr>
        <p:txBody>
          <a:bodyPr anchorCtr="0" anchor="t" bIns="45700" lIns="91425" spcFirstLastPara="1" rIns="91425" wrap="square" tIns="45700">
            <a:noAutofit/>
          </a:bodyPr>
          <a:lstStyle/>
          <a:p>
            <a:pPr indent="0" lvl="0" marL="0" rtl="0" algn="l">
              <a:spcBef>
                <a:spcPts val="0"/>
              </a:spcBef>
              <a:spcAft>
                <a:spcPts val="0"/>
              </a:spcAft>
              <a:buNone/>
            </a:pPr>
            <a:r>
              <a:rPr lang="en-US" sz="600">
                <a:latin typeface="Courier New"/>
                <a:ea typeface="Courier New"/>
                <a:cs typeface="Courier New"/>
                <a:sym typeface="Courier New"/>
              </a:rPr>
              <a:t>import matplotlib.pyplot as plt</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def main():</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years = [2016, 2017, 2018, 2019, 2020]</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enrollment_</a:t>
            </a:r>
            <a:r>
              <a:rPr lang="en-US" sz="600">
                <a:latin typeface="Courier New"/>
                <a:ea typeface="Courier New"/>
                <a:cs typeface="Courier New"/>
                <a:sym typeface="Courier New"/>
              </a:rPr>
              <a:t>TAC</a:t>
            </a:r>
            <a:r>
              <a:rPr lang="en-US" sz="600">
                <a:latin typeface="Courier New"/>
                <a:ea typeface="Courier New"/>
                <a:cs typeface="Courier New"/>
                <a:sym typeface="Courier New"/>
              </a:rPr>
              <a:t>_115 = [180, 250, 390, 540, 720]</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enrollment_</a:t>
            </a:r>
            <a:r>
              <a:rPr lang="en-US" sz="600">
                <a:latin typeface="Courier New"/>
                <a:ea typeface="Courier New"/>
                <a:cs typeface="Courier New"/>
                <a:sym typeface="Courier New"/>
              </a:rPr>
              <a:t>TAC</a:t>
            </a:r>
            <a:r>
              <a:rPr lang="en-US" sz="600">
                <a:latin typeface="Courier New"/>
                <a:ea typeface="Courier New"/>
                <a:cs typeface="Courier New"/>
                <a:sym typeface="Courier New"/>
              </a:rPr>
              <a:t>_449 = [70, 150, 130, 180, 220]</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a:t>
            </a:r>
            <a:r>
              <a:rPr lang="en-US" sz="600">
                <a:solidFill>
                  <a:schemeClr val="dk1"/>
                </a:solidFill>
                <a:latin typeface="Courier New"/>
                <a:ea typeface="Courier New"/>
                <a:cs typeface="Courier New"/>
                <a:sym typeface="Courier New"/>
              </a:rPr>
              <a:t># create the plotting area and plot the data</a:t>
            </a:r>
            <a:endParaRPr sz="600">
              <a:solidFill>
                <a:schemeClr val="dk1"/>
              </a:solidFill>
              <a:latin typeface="Courier New"/>
              <a:ea typeface="Courier New"/>
              <a:cs typeface="Courier New"/>
              <a:sym typeface="Courier New"/>
            </a:endParaRPr>
          </a:p>
          <a:p>
            <a:pPr indent="457200" lvl="0" marL="0" rtl="0" algn="l">
              <a:spcBef>
                <a:spcPts val="0"/>
              </a:spcBef>
              <a:spcAft>
                <a:spcPts val="0"/>
              </a:spcAft>
              <a:buNone/>
            </a:pPr>
            <a:r>
              <a:rPr lang="en-US" sz="600">
                <a:solidFill>
                  <a:schemeClr val="dk1"/>
                </a:solidFill>
                <a:latin typeface="Courier New"/>
                <a:ea typeface="Courier New"/>
                <a:cs typeface="Courier New"/>
                <a:sym typeface="Courier New"/>
              </a:rPr>
              <a:t>fig, ax = plt.subplots(1, 1)</a:t>
            </a:r>
            <a:endParaRPr sz="600">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a:t>
            </a:r>
            <a:r>
              <a:rPr b="1" lang="en-US" sz="600">
                <a:solidFill>
                  <a:schemeClr val="dk1"/>
                </a:solidFill>
                <a:latin typeface="Courier New"/>
                <a:ea typeface="Courier New"/>
                <a:cs typeface="Courier New"/>
                <a:sym typeface="Courier New"/>
              </a:rPr>
              <a:t>ax.bar</a:t>
            </a:r>
            <a:r>
              <a:rPr lang="en-US" sz="600">
                <a:solidFill>
                  <a:schemeClr val="dk1"/>
                </a:solidFill>
                <a:latin typeface="Courier New"/>
                <a:ea typeface="Courier New"/>
                <a:cs typeface="Courier New"/>
                <a:sym typeface="Courier New"/>
              </a:rPr>
              <a:t>(years, enrollment_</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_115, label='</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 115')</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a:t>
            </a:r>
            <a:r>
              <a:rPr b="1" lang="en-US" sz="600">
                <a:latin typeface="Courier New"/>
                <a:ea typeface="Courier New"/>
                <a:cs typeface="Courier New"/>
                <a:sym typeface="Courier New"/>
              </a:rPr>
              <a:t>ax.bar</a:t>
            </a:r>
            <a:r>
              <a:rPr lang="en-US" sz="600">
                <a:latin typeface="Courier New"/>
                <a:ea typeface="Courier New"/>
                <a:cs typeface="Courier New"/>
                <a:sym typeface="Courier New"/>
              </a:rPr>
              <a:t>(years, enrollment_</a:t>
            </a:r>
            <a:r>
              <a:rPr lang="en-US" sz="600">
                <a:latin typeface="Courier New"/>
                <a:ea typeface="Courier New"/>
                <a:cs typeface="Courier New"/>
                <a:sym typeface="Courier New"/>
              </a:rPr>
              <a:t>TAC</a:t>
            </a:r>
            <a:r>
              <a:rPr lang="en-US" sz="600">
                <a:latin typeface="Courier New"/>
                <a:ea typeface="Courier New"/>
                <a:cs typeface="Courier New"/>
                <a:sym typeface="Courier New"/>
              </a:rPr>
              <a:t>_449, label='</a:t>
            </a:r>
            <a:r>
              <a:rPr lang="en-US" sz="600">
                <a:latin typeface="Courier New"/>
                <a:ea typeface="Courier New"/>
                <a:cs typeface="Courier New"/>
                <a:sym typeface="Courier New"/>
              </a:rPr>
              <a:t>TAC</a:t>
            </a:r>
            <a:r>
              <a:rPr lang="en-US" sz="600">
                <a:latin typeface="Courier New"/>
                <a:ea typeface="Courier New"/>
                <a:cs typeface="Courier New"/>
                <a:sym typeface="Courier New"/>
              </a:rPr>
              <a:t> 449')</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a:t>
            </a:r>
            <a:r>
              <a:rPr lang="en-US" sz="600">
                <a:solidFill>
                  <a:schemeClr val="dk1"/>
                </a:solidFill>
                <a:latin typeface="Courier New"/>
                <a:ea typeface="Courier New"/>
                <a:cs typeface="Courier New"/>
                <a:sym typeface="Courier New"/>
              </a:rPr>
              <a:t># add identifying attributes</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ax.set(xlabel='Year', ylabel='Enrollment', title='</a:t>
            </a:r>
            <a:r>
              <a:rPr lang="en-US" sz="600">
                <a:solidFill>
                  <a:schemeClr val="dk1"/>
                </a:solidFill>
                <a:latin typeface="Courier New"/>
                <a:ea typeface="Courier New"/>
                <a:cs typeface="Courier New"/>
                <a:sym typeface="Courier New"/>
              </a:rPr>
              <a:t>TAC</a:t>
            </a:r>
            <a:r>
              <a:rPr lang="en-US" sz="600">
                <a:solidFill>
                  <a:schemeClr val="dk1"/>
                </a:solidFill>
                <a:latin typeface="Courier New"/>
                <a:ea typeface="Courier New"/>
                <a:cs typeface="Courier New"/>
                <a:sym typeface="Courier New"/>
              </a:rPr>
              <a:t> enrollments 2016 to 2020')</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ax.legend()</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 save the figure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fig.savefig(</a:t>
            </a:r>
            <a:r>
              <a:rPr b="1" lang="en-US" sz="600">
                <a:solidFill>
                  <a:schemeClr val="dk1"/>
                </a:solidFill>
                <a:latin typeface="Courier New"/>
                <a:ea typeface="Courier New"/>
                <a:cs typeface="Courier New"/>
                <a:sym typeface="Courier New"/>
              </a:rPr>
              <a:t>'</a:t>
            </a:r>
            <a:r>
              <a:rPr b="1" lang="en-US" sz="600">
                <a:solidFill>
                  <a:schemeClr val="dk1"/>
                </a:solidFill>
                <a:latin typeface="Courier New"/>
                <a:ea typeface="Courier New"/>
                <a:cs typeface="Courier New"/>
                <a:sym typeface="Courier New"/>
              </a:rPr>
              <a:t>TAC</a:t>
            </a:r>
            <a:r>
              <a:rPr b="1" lang="en-US" sz="600">
                <a:solidFill>
                  <a:schemeClr val="dk1"/>
                </a:solidFill>
                <a:latin typeface="Courier New"/>
                <a:ea typeface="Courier New"/>
                <a:cs typeface="Courier New"/>
                <a:sym typeface="Courier New"/>
              </a:rPr>
              <a:t> enrollments - bar plot.png'</a:t>
            </a:r>
            <a:r>
              <a:rPr lang="en-US" sz="600">
                <a:solidFill>
                  <a:schemeClr val="dk1"/>
                </a:solidFill>
                <a:latin typeface="Courier New"/>
                <a:ea typeface="Courier New"/>
                <a:cs typeface="Courier New"/>
                <a:sym typeface="Courier New"/>
              </a:rPr>
              <a:t>)</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if __name__ == '__main__':</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main()</a:t>
            </a:r>
            <a:endParaRPr sz="600">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bar plot formatting</a:t>
            </a:r>
            <a:endParaRPr/>
          </a:p>
        </p:txBody>
      </p:sp>
      <p:sp>
        <p:nvSpPr>
          <p:cNvPr id="285" name="Google Shape;285;p3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86" name="Google Shape;286;p3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There are many many ways to modify the look of the data you plot. Options are passed as keyword arguments to the plotting method. Options for bar plots include but are not limited to:</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alpha</a:t>
            </a:r>
            <a:r>
              <a:rPr lang="en-US" sz="1200"/>
              <a:t>: opacity (0 to 1, default 1)</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color</a:t>
            </a:r>
            <a:r>
              <a:rPr lang="en-US" sz="1200"/>
              <a:t>: color names, letters, or even hex code (default chosen by pyplot)</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label</a:t>
            </a:r>
            <a:r>
              <a:rPr lang="en-US" sz="1200"/>
              <a:t>: how to refer to the data in the plot itself (used by the legend)</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width</a:t>
            </a:r>
            <a:r>
              <a:rPr lang="en-US" sz="1200"/>
              <a:t>: width of the bar </a:t>
            </a:r>
            <a:r>
              <a:rPr lang="en-US" sz="1200">
                <a:solidFill>
                  <a:schemeClr val="dk1"/>
                </a:solidFill>
              </a:rPr>
              <a:t>(0 to 1, default 1)</a:t>
            </a:r>
            <a:endParaRPr sz="1200"/>
          </a:p>
        </p:txBody>
      </p:sp>
      <p:sp>
        <p:nvSpPr>
          <p:cNvPr id="287" name="Google Shape;287;p37"/>
          <p:cNvSpPr txBox="1"/>
          <p:nvPr>
            <p:ph idx="2" type="body"/>
          </p:nvPr>
        </p:nvSpPr>
        <p:spPr>
          <a:xfrm>
            <a:off x="4650575" y="998800"/>
            <a:ext cx="4456500" cy="3414600"/>
          </a:xfrm>
          <a:prstGeom prst="rect">
            <a:avLst/>
          </a:prstGeom>
          <a:noFill/>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ax.bar(years, enrollment, </a:t>
            </a:r>
            <a:r>
              <a:rPr b="1" lang="en-US" sz="900">
                <a:solidFill>
                  <a:schemeClr val="dk1"/>
                </a:solidFill>
                <a:latin typeface="Courier New"/>
                <a:ea typeface="Courier New"/>
                <a:cs typeface="Courier New"/>
                <a:sym typeface="Courier New"/>
              </a:rPr>
              <a:t>width=0.5</a:t>
            </a:r>
            <a:r>
              <a:rPr lang="en-US" sz="900">
                <a:solidFill>
                  <a:schemeClr val="dk1"/>
                </a:solidFill>
                <a:latin typeface="Courier New"/>
                <a:ea typeface="Courier New"/>
                <a:cs typeface="Courier New"/>
                <a:sym typeface="Courier New"/>
              </a:rPr>
              <a:t>)</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main()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Layering: an observation</a:t>
            </a:r>
            <a:endParaRPr/>
          </a:p>
        </p:txBody>
      </p:sp>
      <p:sp>
        <p:nvSpPr>
          <p:cNvPr id="294" name="Google Shape;294;p3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95" name="Google Shape;295;p3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t>What happens if you bar plot the 449 data before the 115 data?</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What can be done about that?</a:t>
            </a:r>
            <a:endParaRPr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Coding Challenge</a:t>
            </a:r>
            <a:endParaRPr/>
          </a:p>
        </p:txBody>
      </p:sp>
      <p:sp>
        <p:nvSpPr>
          <p:cNvPr id="302" name="Google Shape;302;p3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03" name="Google Shape;303;p39"/>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Given what you know now about pyplot, plot the following data </a:t>
            </a:r>
            <a:r>
              <a:rPr b="1" lang="en-US" sz="1300"/>
              <a:t>as a pie plot</a:t>
            </a:r>
            <a:r>
              <a:rPr lang="en-US" sz="1300"/>
              <a:t> in one Figure in matplotlib:</a:t>
            </a:r>
            <a:endParaRPr sz="1300"/>
          </a:p>
          <a:p>
            <a:pPr indent="0" lvl="0" marL="0" rtl="0" algn="l">
              <a:spcBef>
                <a:spcPts val="0"/>
              </a:spcBef>
              <a:spcAft>
                <a:spcPts val="0"/>
              </a:spcAft>
              <a:buNone/>
            </a:pPr>
            <a:r>
              <a:t/>
            </a:r>
            <a:endParaRPr sz="1300"/>
          </a:p>
          <a:p>
            <a:pPr indent="0" lvl="0" marL="457200" rtl="0" algn="l">
              <a:spcBef>
                <a:spcPts val="0"/>
              </a:spcBef>
              <a:spcAft>
                <a:spcPts val="0"/>
              </a:spcAft>
              <a:buNone/>
            </a:pPr>
            <a:r>
              <a:rPr lang="en-US" sz="1300">
                <a:latin typeface="Courier New"/>
                <a:ea typeface="Courier New"/>
                <a:cs typeface="Courier New"/>
                <a:sym typeface="Courier New"/>
              </a:rPr>
              <a:t># browser market share as of 2022 Dec</a:t>
            </a:r>
            <a:endParaRPr sz="1300">
              <a:latin typeface="Courier New"/>
              <a:ea typeface="Courier New"/>
              <a:cs typeface="Courier New"/>
              <a:sym typeface="Courier New"/>
            </a:endParaRPr>
          </a:p>
          <a:p>
            <a:pPr indent="0" lvl="0" marL="457200" rtl="0" algn="l">
              <a:spcBef>
                <a:spcPts val="0"/>
              </a:spcBef>
              <a:spcAft>
                <a:spcPts val="0"/>
              </a:spcAft>
              <a:buNone/>
            </a:pPr>
            <a:r>
              <a:rPr lang="en-US" sz="1300">
                <a:latin typeface="Courier New"/>
                <a:ea typeface="Courier New"/>
                <a:cs typeface="Courier New"/>
                <a:sym typeface="Courier New"/>
              </a:rPr>
              <a:t># https://gs.statcounter.com/browser-market-share#monthly-200901-202212</a:t>
            </a:r>
            <a:endParaRPr sz="1300">
              <a:latin typeface="Courier New"/>
              <a:ea typeface="Courier New"/>
              <a:cs typeface="Courier New"/>
              <a:sym typeface="Courier New"/>
            </a:endParaRPr>
          </a:p>
          <a:p>
            <a:pPr indent="0" lvl="0" marL="457200" rtl="0" algn="l">
              <a:spcBef>
                <a:spcPts val="0"/>
              </a:spcBef>
              <a:spcAft>
                <a:spcPts val="0"/>
              </a:spcAft>
              <a:buNone/>
            </a:pPr>
            <a:r>
              <a:rPr lang="en-US" sz="1300">
                <a:latin typeface="Courier New"/>
                <a:ea typeface="Courier New"/>
                <a:cs typeface="Courier New"/>
                <a:sym typeface="Courier New"/>
              </a:rPr>
              <a:t>browsers = ['Chrome', 'Safari', 'Edge', 'Samsung Internet', 'Firefox', 'Opera']</a:t>
            </a:r>
            <a:endParaRPr sz="1300">
              <a:latin typeface="Courier New"/>
              <a:ea typeface="Courier New"/>
              <a:cs typeface="Courier New"/>
              <a:sym typeface="Courier New"/>
            </a:endParaRPr>
          </a:p>
          <a:p>
            <a:pPr indent="0" lvl="0" marL="457200" rtl="0" algn="l">
              <a:spcBef>
                <a:spcPts val="0"/>
              </a:spcBef>
              <a:spcAft>
                <a:spcPts val="0"/>
              </a:spcAft>
              <a:buNone/>
            </a:pPr>
            <a:r>
              <a:rPr lang="en-US" sz="1300">
                <a:solidFill>
                  <a:schemeClr val="dk1"/>
                </a:solidFill>
                <a:latin typeface="Courier New"/>
                <a:ea typeface="Courier New"/>
                <a:cs typeface="Courier New"/>
                <a:sym typeface="Courier New"/>
              </a:rPr>
              <a:t>percentage = [64.68, 18.29, 4.23, 3.05, 3.01, 2.25]</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300"/>
          </a:p>
          <a:p>
            <a:pPr indent="0" lvl="0" marL="0" rtl="0" algn="l">
              <a:spcBef>
                <a:spcPts val="0"/>
              </a:spcBef>
              <a:spcAft>
                <a:spcPts val="0"/>
              </a:spcAft>
              <a:buNone/>
            </a:pPr>
            <a:r>
              <a:rPr lang="en-US" sz="1300"/>
              <a:t>Make sure to add to the figure:</a:t>
            </a:r>
            <a:endParaRPr sz="1300"/>
          </a:p>
          <a:p>
            <a:pPr indent="-311150" lvl="0" marL="457200" rtl="0" algn="l">
              <a:spcBef>
                <a:spcPts val="0"/>
              </a:spcBef>
              <a:spcAft>
                <a:spcPts val="0"/>
              </a:spcAft>
              <a:buSzPts val="1300"/>
              <a:buChar char="•"/>
            </a:pPr>
            <a:r>
              <a:rPr lang="en-US" sz="1300"/>
              <a:t>title</a:t>
            </a:r>
            <a:endParaRPr sz="1300"/>
          </a:p>
          <a:p>
            <a:pPr indent="-311150" lvl="0" marL="457200" rtl="0" algn="l">
              <a:spcBef>
                <a:spcPts val="0"/>
              </a:spcBef>
              <a:spcAft>
                <a:spcPts val="0"/>
              </a:spcAft>
              <a:buSzPts val="1300"/>
              <a:buChar char="•"/>
            </a:pPr>
            <a:r>
              <a:rPr lang="en-US" sz="1300"/>
              <a:t>a legend</a:t>
            </a:r>
            <a:endParaRPr sz="13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Coding Challenge: solution</a:t>
            </a:r>
            <a:endParaRPr/>
          </a:p>
        </p:txBody>
      </p:sp>
      <p:sp>
        <p:nvSpPr>
          <p:cNvPr id="310" name="Google Shape;310;p4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11" name="Google Shape;311;p4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plan:</a:t>
            </a:r>
            <a:endParaRPr/>
          </a:p>
          <a:p>
            <a:pPr indent="-330200" lvl="0" marL="457200" rtl="0" algn="l">
              <a:spcBef>
                <a:spcPts val="0"/>
              </a:spcBef>
              <a:spcAft>
                <a:spcPts val="0"/>
              </a:spcAft>
              <a:buSzPts val="1600"/>
              <a:buChar char="•"/>
            </a:pPr>
            <a:r>
              <a:rPr lang="en-US"/>
              <a:t>import matplotlib</a:t>
            </a:r>
            <a:endParaRPr/>
          </a:p>
          <a:p>
            <a:pPr indent="-330200" lvl="0" marL="457200" rtl="0" algn="l">
              <a:spcBef>
                <a:spcPts val="0"/>
              </a:spcBef>
              <a:spcAft>
                <a:spcPts val="0"/>
              </a:spcAft>
              <a:buSzPts val="1600"/>
              <a:buChar char="•"/>
            </a:pPr>
            <a:r>
              <a:rPr lang="en-US"/>
              <a:t>pie plot </a:t>
            </a:r>
            <a:r>
              <a:rPr lang="en-US">
                <a:latin typeface="Courier New"/>
                <a:ea typeface="Courier New"/>
                <a:cs typeface="Courier New"/>
                <a:sym typeface="Courier New"/>
              </a:rPr>
              <a:t>percentages</a:t>
            </a:r>
            <a:endParaRPr>
              <a:latin typeface="Courier New"/>
              <a:ea typeface="Courier New"/>
              <a:cs typeface="Courier New"/>
              <a:sym typeface="Courier New"/>
            </a:endParaRPr>
          </a:p>
          <a:p>
            <a:pPr indent="-330200" lvl="0" marL="457200" rtl="0" algn="l">
              <a:spcBef>
                <a:spcPts val="0"/>
              </a:spcBef>
              <a:spcAft>
                <a:spcPts val="0"/>
              </a:spcAft>
              <a:buSzPts val="1600"/>
              <a:buChar char="•"/>
            </a:pPr>
            <a:r>
              <a:rPr lang="en-US"/>
              <a:t>add </a:t>
            </a:r>
            <a:r>
              <a:rPr lang="en-US">
                <a:latin typeface="Courier New"/>
                <a:ea typeface="Courier New"/>
                <a:cs typeface="Courier New"/>
                <a:sym typeface="Courier New"/>
              </a:rPr>
              <a:t>browsers</a:t>
            </a:r>
            <a:r>
              <a:rPr lang="en-US"/>
              <a:t> as labels on data</a:t>
            </a:r>
            <a:endParaRPr/>
          </a:p>
          <a:p>
            <a:pPr indent="-330200" lvl="0" marL="457200" rtl="0" algn="l">
              <a:spcBef>
                <a:spcPts val="0"/>
              </a:spcBef>
              <a:spcAft>
                <a:spcPts val="0"/>
              </a:spcAft>
              <a:buSzPts val="1600"/>
              <a:buChar char="•"/>
            </a:pPr>
            <a:r>
              <a:rPr lang="en-US"/>
              <a:t>add identifying attributes:</a:t>
            </a:r>
            <a:endParaRPr/>
          </a:p>
          <a:p>
            <a:pPr indent="-323850" lvl="1" marL="914400" rtl="0" algn="l">
              <a:spcBef>
                <a:spcPts val="0"/>
              </a:spcBef>
              <a:spcAft>
                <a:spcPts val="0"/>
              </a:spcAft>
              <a:buClr>
                <a:schemeClr val="dk1"/>
              </a:buClr>
              <a:buSzPts val="1500"/>
              <a:buChar char="–"/>
            </a:pPr>
            <a:r>
              <a:rPr lang="en-US">
                <a:solidFill>
                  <a:schemeClr val="dk1"/>
                </a:solidFill>
              </a:rPr>
              <a:t>add a title</a:t>
            </a:r>
            <a:endParaRPr/>
          </a:p>
          <a:p>
            <a:pPr indent="-323850" lvl="1" marL="914400" rtl="0" algn="l">
              <a:spcBef>
                <a:spcPts val="0"/>
              </a:spcBef>
              <a:spcAft>
                <a:spcPts val="0"/>
              </a:spcAft>
              <a:buSzPts val="1500"/>
              <a:buChar char="–"/>
            </a:pPr>
            <a:r>
              <a:rPr lang="en-US"/>
              <a:t>add a legend</a:t>
            </a:r>
            <a:endParaRPr/>
          </a:p>
          <a:p>
            <a:pPr indent="-330200" lvl="0" marL="457200" rtl="0" algn="l">
              <a:spcBef>
                <a:spcPts val="0"/>
              </a:spcBef>
              <a:spcAft>
                <a:spcPts val="0"/>
              </a:spcAft>
              <a:buSzPts val="1600"/>
              <a:buChar char="•"/>
            </a:pPr>
            <a:r>
              <a:rPr lang="en-US"/>
              <a:t>save the figure</a:t>
            </a:r>
            <a:endParaRPr/>
          </a:p>
        </p:txBody>
      </p:sp>
      <p:sp>
        <p:nvSpPr>
          <p:cNvPr id="312" name="Google Shape;312;p40"/>
          <p:cNvSpPr txBox="1"/>
          <p:nvPr>
            <p:ph idx="2" type="body"/>
          </p:nvPr>
        </p:nvSpPr>
        <p:spPr>
          <a:xfrm>
            <a:off x="4650575" y="998800"/>
            <a:ext cx="4456500" cy="3414600"/>
          </a:xfrm>
          <a:prstGeom prst="rect">
            <a:avLst/>
          </a:prstGeom>
          <a:noFill/>
        </p:spPr>
        <p:txBody>
          <a:bodyPr anchorCtr="0" anchor="t" bIns="45700" lIns="91425" spcFirstLastPara="1" rIns="91425" wrap="square" tIns="45700">
            <a:noAutofit/>
          </a:bodyPr>
          <a:lstStyle/>
          <a:p>
            <a:pPr indent="0" lvl="0" marL="0" rtl="0" algn="l">
              <a:spcBef>
                <a:spcPts val="0"/>
              </a:spcBef>
              <a:spcAft>
                <a:spcPts val="0"/>
              </a:spcAft>
              <a:buNone/>
            </a:pPr>
            <a:r>
              <a:rPr lang="en-US" sz="600">
                <a:latin typeface="Courier New"/>
                <a:ea typeface="Courier New"/>
                <a:cs typeface="Courier New"/>
                <a:sym typeface="Courier New"/>
              </a:rPr>
              <a:t>import matplotlib.pyplot as plt</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def main():</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browsers = ['Chrome', 'Safari', 'Edge', 'Samsung Internet', 'Firefox', 'Opera']</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percentages = [64.68, 18.29, 4.23, 3.05, 3.01, 2.25]</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a:t>
            </a:r>
            <a:r>
              <a:rPr lang="en-US" sz="600">
                <a:solidFill>
                  <a:schemeClr val="dk1"/>
                </a:solidFill>
                <a:latin typeface="Courier New"/>
                <a:ea typeface="Courier New"/>
                <a:cs typeface="Courier New"/>
                <a:sym typeface="Courier New"/>
              </a:rPr>
              <a:t># create the plotting area and plot the data</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fig, ax = plt.subplots(1, 1)</a:t>
            </a:r>
            <a:endParaRPr sz="6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US" sz="600">
                <a:latin typeface="Courier New"/>
                <a:ea typeface="Courier New"/>
                <a:cs typeface="Courier New"/>
                <a:sym typeface="Courier New"/>
              </a:rPr>
              <a:t>ax.pie(percentages, labels=browsers,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latin typeface="Courier New"/>
                <a:ea typeface="Courier New"/>
                <a:cs typeface="Courier New"/>
                <a:sym typeface="Courier New"/>
              </a:rPr>
              <a:t>           autopct='%.2f', explode=[0,.1,.3,.4,.6,.5],</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latin typeface="Courier New"/>
                <a:ea typeface="Courier New"/>
                <a:cs typeface="Courier New"/>
                <a:sym typeface="Courier New"/>
              </a:rPr>
              <a:t>           startangle=55)</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a:t>
            </a:r>
            <a:r>
              <a:rPr lang="en-US" sz="600">
                <a:solidFill>
                  <a:schemeClr val="dk1"/>
                </a:solidFill>
                <a:latin typeface="Courier New"/>
                <a:ea typeface="Courier New"/>
                <a:cs typeface="Courier New"/>
                <a:sym typeface="Courier New"/>
              </a:rPr>
              <a:t># add identifying attributes</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ax.set(title='Browser market share 2022.12')</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ax.legend()</a:t>
            </a:r>
            <a:r>
              <a:rPr lang="en-US"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 save the figure</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a:t>
            </a:r>
            <a:r>
              <a:rPr lang="en-US" sz="600">
                <a:solidFill>
                  <a:schemeClr val="dk1"/>
                </a:solidFill>
                <a:latin typeface="Courier New"/>
                <a:ea typeface="Courier New"/>
                <a:cs typeface="Courier New"/>
                <a:sym typeface="Courier New"/>
              </a:rPr>
              <a:t>fig.savefig(</a:t>
            </a:r>
            <a:r>
              <a:rPr b="1" lang="en-US" sz="600">
                <a:solidFill>
                  <a:schemeClr val="dk1"/>
                </a:solidFill>
                <a:latin typeface="Courier New"/>
                <a:ea typeface="Courier New"/>
                <a:cs typeface="Courier New"/>
                <a:sym typeface="Courier New"/>
              </a:rPr>
              <a:t>'Browser market share 2022.12.png'</a:t>
            </a:r>
            <a:r>
              <a:rPr lang="en-US" sz="600">
                <a:solidFill>
                  <a:schemeClr val="dk1"/>
                </a:solidFill>
                <a:latin typeface="Courier New"/>
                <a:ea typeface="Courier New"/>
                <a:cs typeface="Courier New"/>
                <a:sym typeface="Courier New"/>
              </a:rPr>
              <a:t>)</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if __name__ == '__main__':</a:t>
            </a:r>
            <a:endParaRPr sz="600">
              <a:latin typeface="Courier New"/>
              <a:ea typeface="Courier New"/>
              <a:cs typeface="Courier New"/>
              <a:sym typeface="Courier New"/>
            </a:endParaRPr>
          </a:p>
          <a:p>
            <a:pPr indent="0" lvl="0" marL="0" rtl="0" algn="l">
              <a:spcBef>
                <a:spcPts val="0"/>
              </a:spcBef>
              <a:spcAft>
                <a:spcPts val="0"/>
              </a:spcAft>
              <a:buNone/>
            </a:pPr>
            <a:r>
              <a:rPr lang="en-US" sz="600">
                <a:latin typeface="Courier New"/>
                <a:ea typeface="Courier New"/>
                <a:cs typeface="Courier New"/>
                <a:sym typeface="Courier New"/>
              </a:rPr>
              <a:t>	main()</a:t>
            </a:r>
            <a:endParaRPr sz="600">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matplotlib: pie plot formatting</a:t>
            </a:r>
            <a:endParaRPr/>
          </a:p>
        </p:txBody>
      </p:sp>
      <p:sp>
        <p:nvSpPr>
          <p:cNvPr id="319" name="Google Shape;319;p4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20" name="Google Shape;320;p4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There are many many ways to modify the look of the data you plot. Options are passed as keyword arguments to the plotting method. Options for pie plots include but are not limited to:</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autopct</a:t>
            </a:r>
            <a:r>
              <a:rPr lang="en-US" sz="1200"/>
              <a:t>: percentage label formatting</a:t>
            </a:r>
            <a:endParaRPr sz="1200"/>
          </a:p>
          <a:p>
            <a:pPr indent="-304800" lvl="0" marL="457200" rtl="0" algn="l">
              <a:spcBef>
                <a:spcPts val="0"/>
              </a:spcBef>
              <a:spcAft>
                <a:spcPts val="0"/>
              </a:spcAft>
              <a:buSzPts val="1200"/>
              <a:buChar char="•"/>
            </a:pPr>
            <a:r>
              <a:rPr b="1" lang="en-US" sz="1200">
                <a:latin typeface="Courier New"/>
                <a:ea typeface="Courier New"/>
                <a:cs typeface="Courier New"/>
                <a:sym typeface="Courier New"/>
              </a:rPr>
              <a:t>explode</a:t>
            </a:r>
            <a:r>
              <a:rPr lang="en-US" sz="1200"/>
              <a:t>: how far away from the center to plot the slice</a:t>
            </a:r>
            <a:endParaRPr sz="1200"/>
          </a:p>
          <a:p>
            <a:pPr indent="-304800" lvl="0" marL="457200" rtl="0" algn="l">
              <a:spcBef>
                <a:spcPts val="0"/>
              </a:spcBef>
              <a:spcAft>
                <a:spcPts val="0"/>
              </a:spcAft>
              <a:buClr>
                <a:schemeClr val="dk1"/>
              </a:buClr>
              <a:buSzPts val="1200"/>
              <a:buChar char="•"/>
            </a:pPr>
            <a:r>
              <a:rPr b="1" lang="en-US" sz="1200">
                <a:solidFill>
                  <a:schemeClr val="dk1"/>
                </a:solidFill>
                <a:latin typeface="Courier New"/>
                <a:ea typeface="Courier New"/>
                <a:cs typeface="Courier New"/>
                <a:sym typeface="Courier New"/>
              </a:rPr>
              <a:t>labels</a:t>
            </a:r>
            <a:r>
              <a:rPr lang="en-US" sz="1200">
                <a:solidFill>
                  <a:schemeClr val="dk1"/>
                </a:solidFill>
              </a:rPr>
              <a:t>: how to refer to the data in the plot itself (used by the legend)</a:t>
            </a:r>
            <a:endParaRPr sz="1200">
              <a:solidFill>
                <a:schemeClr val="dk1"/>
              </a:solidFill>
            </a:endParaRPr>
          </a:p>
          <a:p>
            <a:pPr indent="-304800" lvl="0" marL="457200" rtl="0" algn="l">
              <a:spcBef>
                <a:spcPts val="0"/>
              </a:spcBef>
              <a:spcAft>
                <a:spcPts val="0"/>
              </a:spcAft>
              <a:buSzPts val="1200"/>
              <a:buChar char="•"/>
            </a:pPr>
            <a:r>
              <a:rPr b="1" lang="en-US" sz="1200">
                <a:solidFill>
                  <a:schemeClr val="dk1"/>
                </a:solidFill>
                <a:latin typeface="Courier New"/>
                <a:ea typeface="Courier New"/>
                <a:cs typeface="Courier New"/>
                <a:sym typeface="Courier New"/>
              </a:rPr>
              <a:t>startangle</a:t>
            </a:r>
            <a:r>
              <a:rPr lang="en-US" sz="1200">
                <a:solidFill>
                  <a:schemeClr val="dk1"/>
                </a:solidFill>
              </a:rPr>
              <a:t>: where to begin plotting the slices of the pie</a:t>
            </a:r>
            <a:endParaRPr sz="1200"/>
          </a:p>
        </p:txBody>
      </p:sp>
      <p:sp>
        <p:nvSpPr>
          <p:cNvPr id="321" name="Google Shape;321;p41"/>
          <p:cNvSpPr txBox="1"/>
          <p:nvPr>
            <p:ph idx="2" type="body"/>
          </p:nvPr>
        </p:nvSpPr>
        <p:spPr>
          <a:xfrm>
            <a:off x="4650575" y="998800"/>
            <a:ext cx="4456500" cy="3414600"/>
          </a:xfrm>
          <a:prstGeom prst="rect">
            <a:avLst/>
          </a:prstGeom>
          <a:noFill/>
        </p:spPr>
        <p:txBody>
          <a:bodyPr anchorCtr="0" anchor="t" bIns="45700" lIns="91425" spcFirstLastPara="1" rIns="91425" wrap="square" tIns="45700">
            <a:noAutofit/>
          </a:bodyPr>
          <a:lstStyle/>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import matplotlib.pyplot as plt</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def main():</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 ... previous code goes here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600">
                <a:solidFill>
                  <a:schemeClr val="dk1"/>
                </a:solidFill>
                <a:latin typeface="Courier New"/>
                <a:ea typeface="Courier New"/>
                <a:cs typeface="Courier New"/>
                <a:sym typeface="Courier New"/>
              </a:rPr>
              <a:t>	ax.pie(percentages, </a:t>
            </a:r>
            <a:r>
              <a:rPr b="1" lang="en-US" sz="600">
                <a:solidFill>
                  <a:schemeClr val="dk1"/>
                </a:solidFill>
                <a:latin typeface="Courier New"/>
                <a:ea typeface="Courier New"/>
                <a:cs typeface="Courier New"/>
                <a:sym typeface="Courier New"/>
              </a:rPr>
              <a:t>labels=browsers, autopct='%.2f', explode=[0,.2,.4,.6,.8,1]</a:t>
            </a:r>
            <a:r>
              <a:rPr lang="en-US" sz="600">
                <a:solidFill>
                  <a:schemeClr val="dk1"/>
                </a:solidFill>
                <a:latin typeface="Courier New"/>
                <a:ea typeface="Courier New"/>
                <a:cs typeface="Courier New"/>
                <a:sym typeface="Courier New"/>
              </a:rPr>
              <a:t>)</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 ... previous code goes here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if __name__ == '__main__':</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600">
                <a:solidFill>
                  <a:schemeClr val="dk1"/>
                </a:solidFill>
                <a:latin typeface="Courier New"/>
                <a:ea typeface="Courier New"/>
                <a:cs typeface="Courier New"/>
                <a:sym typeface="Courier New"/>
              </a:rPr>
              <a:t>	main()</a:t>
            </a:r>
            <a:endParaRPr sz="6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Visuals: three more kinds</a:t>
            </a:r>
            <a:endParaRPr/>
          </a:p>
        </p:txBody>
      </p:sp>
      <p:sp>
        <p:nvSpPr>
          <p:cNvPr id="328" name="Google Shape;328;p4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29" name="Google Shape;329;p4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There are three other visualization types that you may encounter - all of which deal with probability distributions. You are absolutely allowed to use these in this course:</a:t>
            </a:r>
            <a:endParaRPr/>
          </a:p>
          <a:p>
            <a:pPr indent="-330200" lvl="0" marL="457200" rtl="0" algn="l">
              <a:spcBef>
                <a:spcPts val="0"/>
              </a:spcBef>
              <a:spcAft>
                <a:spcPts val="0"/>
              </a:spcAft>
              <a:buSzPts val="1600"/>
              <a:buAutoNum type="arabicPeriod"/>
            </a:pPr>
            <a:r>
              <a:rPr lang="en-US"/>
              <a:t>Histogram</a:t>
            </a:r>
            <a:endParaRPr/>
          </a:p>
          <a:p>
            <a:pPr indent="-330200" lvl="0" marL="457200" rtl="0" algn="l">
              <a:spcBef>
                <a:spcPts val="0"/>
              </a:spcBef>
              <a:spcAft>
                <a:spcPts val="0"/>
              </a:spcAft>
              <a:buSzPts val="1600"/>
              <a:buAutoNum type="arabicPeriod"/>
            </a:pPr>
            <a:r>
              <a:rPr lang="en-US"/>
              <a:t>Box Plot</a:t>
            </a:r>
            <a:endParaRPr/>
          </a:p>
          <a:p>
            <a:pPr indent="-330200" lvl="0" marL="457200" rtl="0" algn="l">
              <a:spcBef>
                <a:spcPts val="0"/>
              </a:spcBef>
              <a:spcAft>
                <a:spcPts val="0"/>
              </a:spcAft>
              <a:buSzPts val="1600"/>
              <a:buAutoNum type="arabicPeriod"/>
            </a:pPr>
            <a:r>
              <a:rPr lang="en-US"/>
              <a:t>Violin Plot </a:t>
            </a:r>
            <a:endParaRPr/>
          </a:p>
        </p:txBody>
      </p:sp>
      <p:pic>
        <p:nvPicPr>
          <p:cNvPr id="330" name="Google Shape;330;p42"/>
          <p:cNvPicPr preferRelativeResize="0"/>
          <p:nvPr/>
        </p:nvPicPr>
        <p:blipFill rotWithShape="1">
          <a:blip r:embed="rId3">
            <a:alphaModFix/>
          </a:blip>
          <a:srcRect b="0" l="8936" r="9157" t="0"/>
          <a:stretch/>
        </p:blipFill>
        <p:spPr>
          <a:xfrm>
            <a:off x="4139343" y="998800"/>
            <a:ext cx="4971908" cy="3414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Summary of terms</a:t>
            </a:r>
            <a:endParaRPr/>
          </a:p>
        </p:txBody>
      </p:sp>
      <p:sp>
        <p:nvSpPr>
          <p:cNvPr id="337" name="Google Shape;337;p4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Terminology:</a:t>
            </a:r>
            <a:endParaRPr sz="1200"/>
          </a:p>
          <a:p>
            <a:pPr indent="-304800" lvl="0" marL="457200" rtl="0" algn="l">
              <a:spcBef>
                <a:spcPts val="0"/>
              </a:spcBef>
              <a:spcAft>
                <a:spcPts val="0"/>
              </a:spcAft>
              <a:buSzPts val="1200"/>
              <a:buChar char="•"/>
            </a:pPr>
            <a:r>
              <a:rPr lang="en-US" sz="1200"/>
              <a:t>Smoothing</a:t>
            </a:r>
            <a:endParaRPr sz="1200"/>
          </a:p>
          <a:p>
            <a:pPr indent="-304800" lvl="0" marL="457200" rtl="0" algn="l">
              <a:spcBef>
                <a:spcPts val="0"/>
              </a:spcBef>
              <a:spcAft>
                <a:spcPts val="0"/>
              </a:spcAft>
              <a:buSzPts val="1200"/>
              <a:buChar char="•"/>
            </a:pPr>
            <a:r>
              <a:rPr lang="en-US" sz="1200"/>
              <a:t>Rolling window</a:t>
            </a:r>
            <a:endParaRPr sz="1200"/>
          </a:p>
          <a:p>
            <a:pPr indent="-304800" lvl="0" marL="457200" rtl="0" algn="l">
              <a:spcBef>
                <a:spcPts val="0"/>
              </a:spcBef>
              <a:spcAft>
                <a:spcPts val="0"/>
              </a:spcAft>
              <a:buSzPts val="1200"/>
              <a:buChar char="•"/>
            </a:pPr>
            <a:r>
              <a:rPr lang="en-US" sz="1200"/>
              <a:t>visualization options</a:t>
            </a:r>
            <a:endParaRPr sz="1200"/>
          </a:p>
        </p:txBody>
      </p:sp>
      <p:sp>
        <p:nvSpPr>
          <p:cNvPr id="338" name="Google Shape;338;p4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specific terminology/syntax:</a:t>
            </a:r>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datetime</a:t>
            </a:r>
            <a:r>
              <a:rPr lang="en-US" sz="1200">
                <a:solidFill>
                  <a:schemeClr val="dk1"/>
                </a:solidFill>
              </a:rPr>
              <a:t> module</a:t>
            </a:r>
            <a:endParaRPr sz="1200">
              <a:solidFill>
                <a:schemeClr val="dk1"/>
              </a:solidFill>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pandas.to_datetime()</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DataFrame.set_index()</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DataFrame.rolling()</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.plot()</a:t>
            </a:r>
            <a:r>
              <a:rPr lang="en-US" sz="1200">
                <a:solidFill>
                  <a:schemeClr val="dk1"/>
                </a:solidFill>
              </a:rPr>
              <a:t> options</a:t>
            </a:r>
            <a:endParaRPr sz="1200">
              <a:solidFill>
                <a:schemeClr val="dk1"/>
              </a:solidFill>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.scatter()</a:t>
            </a:r>
            <a:r>
              <a:rPr lang="en-US" sz="1200">
                <a:solidFill>
                  <a:schemeClr val="dk1"/>
                </a:solidFill>
              </a:rPr>
              <a:t> options</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.bar()</a:t>
            </a:r>
            <a:r>
              <a:rPr lang="en-US" sz="1200">
                <a:solidFill>
                  <a:schemeClr val="dk1"/>
                </a:solidFill>
              </a:rPr>
              <a:t> options</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.pie()</a:t>
            </a:r>
            <a:r>
              <a:rPr lang="en-US" sz="1200">
                <a:solidFill>
                  <a:schemeClr val="dk1"/>
                </a:solidFill>
              </a:rPr>
              <a:t> options</a:t>
            </a:r>
            <a:endParaRPr sz="1200">
              <a:solidFill>
                <a:schemeClr val="dk1"/>
              </a:solidFill>
              <a:latin typeface="Courier New"/>
              <a:ea typeface="Courier New"/>
              <a:cs typeface="Courier New"/>
              <a:sym typeface="Courier New"/>
            </a:endParaRPr>
          </a:p>
          <a:p>
            <a:pPr indent="-304800" lvl="0" marL="457200" rtl="0" algn="l">
              <a:spcBef>
                <a:spcPts val="0"/>
              </a:spcBef>
              <a:spcAft>
                <a:spcPts val="0"/>
              </a:spcAft>
              <a:buClr>
                <a:schemeClr val="dk1"/>
              </a:buClr>
              <a:buSzPts val="1200"/>
              <a:buFont typeface="Courier New"/>
              <a:buChar char="•"/>
            </a:pPr>
            <a:r>
              <a:rPr lang="en-US" sz="1200">
                <a:solidFill>
                  <a:schemeClr val="dk1"/>
                </a:solidFill>
                <a:latin typeface="Courier New"/>
                <a:ea typeface="Courier New"/>
                <a:cs typeface="Courier New"/>
                <a:sym typeface="Courier New"/>
              </a:rPr>
              <a:t>.hist()</a:t>
            </a:r>
            <a:r>
              <a:rPr lang="en-US" sz="1200">
                <a:solidFill>
                  <a:schemeClr val="dk1"/>
                </a:solidFill>
              </a:rPr>
              <a:t> options</a:t>
            </a:r>
            <a:endParaRPr sz="1200">
              <a:solidFill>
                <a:schemeClr val="dk1"/>
              </a:solidFill>
              <a:latin typeface="Courier New"/>
              <a:ea typeface="Courier New"/>
              <a:cs typeface="Courier New"/>
              <a:sym typeface="Courier New"/>
            </a:endParaRPr>
          </a:p>
        </p:txBody>
      </p:sp>
      <p:sp>
        <p:nvSpPr>
          <p:cNvPr id="339" name="Google Shape;339;p4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